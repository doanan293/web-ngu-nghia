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3F12B-8365-4B8F-934C-0135F1E8D4F0}">
  <a:tblStyle styleId="{F4A3F12B-8365-4B8F-934C-0135F1E8D4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3ceb2729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3ceb272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43ceb27295_0_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43ceb2729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17e44047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b17e440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b23f66f3f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b23f66f3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9f98d324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2a9f98d324c_0_3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9f98d324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2a9f98d324c_0_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9f98d32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a9f98d324c_0_1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9f98d324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2a9f98d324c_0_26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9f98d324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a9f98d324c_0_3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9f98d324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a9f98d324c_0_4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9f98d324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a9f98d324c_0_5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9f98d324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2a9f98d324c_0_6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9f98d324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2a9f98d324c_0_7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a074f1ef3_0_18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aa074f1ef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aa074f1ef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aa074f1ef3_0_1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aa074f1ef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2aa074f1ef3_0_3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a074f1ef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2aa074f1ef3_0_4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a074f1ef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aa074f1ef3_0_4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aa074f1ef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aa074f1ef3_0_56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aa074f1ef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aa074f1ef3_0_6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aa074f1e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aa074f1ef3_0_7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aa074f1ef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2aa074f1ef3_0_8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aa074f1ef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aa074f1ef3_0_93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a074f1ef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aa074f1ef3_0_10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a074f1ef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aa074f1ef3_0_20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a074f1ef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aa074f1ef3_0_21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aa074f1ef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2aa074f1ef3_0_22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aa074f1ef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2aa074f1ef3_0_23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aa074f1ef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2aa074f1ef3_0_24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aa074f1ef3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aa074f1ef3_0_24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aa074f1ef3_0_3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aa074f1ef3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aa074f1ef3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2aa074f1ef3_0_25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a074f1ef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2aa074f1ef3_0_26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aa074f1ef3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2aa074f1ef3_0_27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a074f1ef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2aa074f1ef3_0_28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aa074f1ef3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2aa074f1ef3_0_29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aa074f1ef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2aa074f1ef3_0_30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aa074f1ef3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2aa074f1ef3_0_41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aa074f1ef3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2aa074f1ef3_0_43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aa482239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2aa48223930_0_1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aa074f1ef3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2aa074f1ef3_0_44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aa48223930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aa4822393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aa48223930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aa4822393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aa48223930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aa4822393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aa074f1ef3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2aa074f1ef3_0_463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aa074f1ef3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2aa074f1ef3_0_46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aa074f1ef3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2aa074f1ef3_0_476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aa074f1ef3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2aa074f1ef3_0_483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aa074f1ef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2aa074f1ef3_0_68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aa074f1ef3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2aa074f1ef3_0_49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aa074f1ef3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2aa074f1ef3_0_68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aa074f1ef3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2aa074f1ef3_0_50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aa074f1ef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2aa074f1ef3_0_51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aa074f1ef3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2aa074f1ef3_0_52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aa074f1ef3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2aa074f1ef3_0_531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aa074f1ef3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2aa074f1ef3_0_54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aa074f1ef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2aa074f1ef3_0_54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aa074f1ef3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2aa074f1ef3_0_556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aa074f1ef3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2aa074f1ef3_0_56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aa074f1ef3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2aa074f1ef3_0_57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aa074f1ef3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2aa074f1ef3_0_57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aa074f1ef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2aa074f1ef3_0_58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aa380d962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2aa380d9629_0_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aa380d962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2aa380d9629_0_1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aa380d96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2aa380d9629_0_2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aa380d962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2aa380d9629_0_3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aa380d962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2aa380d9629_0_4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aa380d962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2aa380d9629_0_4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aa380d9629_0_1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aa380d962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a380d962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2aa380d9629_0_15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aa380d962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2aa380d9629_0_156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aa380d962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2aa380d9629_0_16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a380d962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g2aa380d9629_0_16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aa380d962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2aa380d9629_0_17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aa380d962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2aa380d9629_0_187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aa380d962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2aa380d9629_0_19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abc9125a20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abc9125a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abc9125a20_1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abc9125a2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143ceb27295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143ceb2729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57200" y="160020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0" type="dt"/>
          </p:nvPr>
        </p:nvSpPr>
        <p:spPr>
          <a:xfrm>
            <a:off x="457200" y="63563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3124200" y="6356351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6553200" y="63563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Times New Roman"/>
              <a:buChar char="●"/>
              <a:defRPr sz="24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Times New Roman"/>
              <a:buChar char="○"/>
              <a:defRPr sz="22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Times New Roman"/>
              <a:buChar char="■"/>
              <a:defRPr sz="18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imes New Roman"/>
              <a:buChar char="●"/>
              <a:defRPr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imes New Roman"/>
              <a:buChar char="○"/>
              <a:defRPr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imes New Roman"/>
              <a:buChar char="■"/>
              <a:defRPr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imes New Roman"/>
              <a:buChar char="●"/>
              <a:defRPr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imes New Roman"/>
              <a:buChar char="○"/>
              <a:defRPr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imes New Roman"/>
              <a:buChar char="■"/>
              <a:defRPr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3.org/TR/shacl/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://wimmics.inria.fr/corese" TargetMode="External"/><Relationship Id="rId10" Type="http://schemas.openxmlformats.org/officeDocument/2006/relationships/hyperlink" Target="https://github.com/RDFLib/pySHACL" TargetMode="External"/><Relationship Id="rId13" Type="http://schemas.openxmlformats.org/officeDocument/2006/relationships/hyperlink" Target="https://github.com/AKSW/RDFUnit" TargetMode="External"/><Relationship Id="rId12" Type="http://schemas.openxmlformats.org/officeDocument/2006/relationships/hyperlink" Target="https://github.com/AKSW/RDFUnit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TopQuadrant/shacl" TargetMode="External"/><Relationship Id="rId4" Type="http://schemas.openxmlformats.org/officeDocument/2006/relationships/hyperlink" Target="https://www.topquadrant.com/" TargetMode="External"/><Relationship Id="rId9" Type="http://schemas.openxmlformats.org/officeDocument/2006/relationships/hyperlink" Target="https://github.com/RDFLib/pySHACL" TargetMode="External"/><Relationship Id="rId15" Type="http://schemas.openxmlformats.org/officeDocument/2006/relationships/hyperlink" Target="https://rdf4j.org/documentation/programming/shacl/" TargetMode="External"/><Relationship Id="rId14" Type="http://schemas.openxmlformats.org/officeDocument/2006/relationships/hyperlink" Target="https://jena.apache.org/" TargetMode="External"/><Relationship Id="rId17" Type="http://schemas.openxmlformats.org/officeDocument/2006/relationships/hyperlink" Target="https://github.com/zazuko/rdf-validate-shacl" TargetMode="External"/><Relationship Id="rId16" Type="http://schemas.openxmlformats.org/officeDocument/2006/relationships/hyperlink" Target="https://www.stardog.com/" TargetMode="External"/><Relationship Id="rId5" Type="http://schemas.openxmlformats.org/officeDocument/2006/relationships/hyperlink" Target="http://shacl.org/playground/" TargetMode="External"/><Relationship Id="rId6" Type="http://schemas.openxmlformats.org/officeDocument/2006/relationships/hyperlink" Target="http://shacl.org/playground/" TargetMode="External"/><Relationship Id="rId7" Type="http://schemas.openxmlformats.org/officeDocument/2006/relationships/hyperlink" Target="http://labra.weso.es/shaclex/" TargetMode="External"/><Relationship Id="rId8" Type="http://schemas.openxmlformats.org/officeDocument/2006/relationships/hyperlink" Target="http://rdfshape.weso.e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4294967295" type="body"/>
          </p:nvPr>
        </p:nvSpPr>
        <p:spPr>
          <a:xfrm>
            <a:off x="464100" y="43553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65" name="Google Shape;65;p16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67" name="Google Shape;67;p16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68" name="Google Shape;68;p16"/>
          <p:cNvSpPr txBox="1"/>
          <p:nvPr/>
        </p:nvSpPr>
        <p:spPr>
          <a:xfrm>
            <a:off x="491750" y="4667633"/>
            <a:ext cx="2658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Chương 9</a:t>
            </a:r>
            <a:endParaRPr sz="3600"/>
          </a:p>
        </p:txBody>
      </p:sp>
      <p:sp>
        <p:nvSpPr>
          <p:cNvPr id="69" name="Google Shape;69;p16"/>
          <p:cNvSpPr txBox="1"/>
          <p:nvPr>
            <p:ph idx="4294967295" type="title"/>
          </p:nvPr>
        </p:nvSpPr>
        <p:spPr>
          <a:xfrm>
            <a:off x="464100" y="1627233"/>
            <a:ext cx="8520600" cy="26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2459625"/>
            <a:ext cx="85206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Chương 9.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SHACL</a:t>
            </a:r>
            <a:endParaRPr/>
          </a:p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</a:t>
            </a:r>
            <a:r>
              <a:rPr lang="en-GB"/>
              <a:t>ội dung</a:t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thành phần cơ bản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Khuôn hình và các ràng buộc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SHACL-SPARQL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thành phần cơ bản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Khuôn hình và các ràng buộc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SHACL-SPARQL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318450" y="818868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SHACL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chuẩn </a:t>
            </a:r>
            <a:r>
              <a:rPr lang="en-GB"/>
              <a:t>W3C: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https://www.w3.org/TR/shacl/</a:t>
            </a:r>
            <a:r>
              <a:rPr lang="en-GB"/>
              <a:t> </a:t>
            </a:r>
            <a:r>
              <a:rPr lang="en-GB">
                <a:solidFill>
                  <a:srgbClr val="002060"/>
                </a:solidFill>
              </a:rPr>
              <a:t>(</a:t>
            </a:r>
            <a:r>
              <a:rPr lang="en-GB">
                <a:solidFill>
                  <a:srgbClr val="002060"/>
                </a:solidFill>
              </a:rPr>
              <a:t>T7/</a:t>
            </a:r>
            <a:r>
              <a:rPr lang="en-GB">
                <a:solidFill>
                  <a:srgbClr val="002060"/>
                </a:solidFill>
              </a:rPr>
              <a:t>2017)</a:t>
            </a:r>
            <a:endParaRPr>
              <a:solidFill>
                <a:srgbClr val="00206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Khởi nguồn từ</a:t>
            </a:r>
            <a:r>
              <a:rPr lang="en-GB"/>
              <a:t> SPIN, OSLC &amp; </a:t>
            </a:r>
            <a:r>
              <a:rPr lang="en-GB"/>
              <a:t>và</a:t>
            </a:r>
            <a:r>
              <a:rPr lang="en-GB"/>
              <a:t> ShEx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Bao gồm 2 phần</a:t>
            </a:r>
            <a:r>
              <a:rPr lang="en-GB"/>
              <a:t>: SHACL-Core, SHACL-SPARQL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S</a:t>
            </a:r>
            <a:r>
              <a:rPr lang="en-GB"/>
              <a:t>ử dụng cú pháp RDF</a:t>
            </a:r>
            <a:endParaRPr/>
          </a:p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triển khai </a:t>
            </a:r>
            <a:r>
              <a:rPr lang="en-GB"/>
              <a:t>SHACL</a:t>
            </a:r>
            <a:endParaRPr/>
          </a:p>
        </p:txBody>
      </p:sp>
      <p:graphicFrame>
        <p:nvGraphicFramePr>
          <p:cNvPr id="103" name="Google Shape;103;p21"/>
          <p:cNvGraphicFramePr/>
          <p:nvPr/>
        </p:nvGraphicFramePr>
        <p:xfrm>
          <a:off x="221625" y="9209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112650"/>
                <a:gridCol w="1567900"/>
                <a:gridCol w="1697500"/>
                <a:gridCol w="3232600"/>
              </a:tblGrid>
              <a:tr h="31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Tên triển khai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Các phần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Ngôn ngữ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Liên kết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Topbraid SHACL API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Core,</a:t>
                      </a: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SPARQL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(Jena)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/>
                        </a:rPr>
                        <a:t>TopBraid composer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5"/>
                        </a:rPr>
                        <a:t>SHACL playground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JS (rdflib.js)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/>
                        </a:rPr>
                        <a:t>http://shacl.org/playground/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7"/>
                        </a:rPr>
                        <a:t>SHACL-S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Part</a:t>
                      </a: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of SHaclEX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Scala (Jena, RDF4j)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8"/>
                        </a:rPr>
                        <a:t>http://rdfshape.weso.es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9"/>
                        </a:rPr>
                        <a:t>pySHACL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</a:t>
                      </a: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, SPARQL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Python (rdflib)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0"/>
                        </a:rPr>
                        <a:t>https://github.com/RDFLib/pySHACL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Corese 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Core, SPARQL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Java (STTL)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1"/>
                        </a:rPr>
                        <a:t>http://wimmics.inria.fr/corese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2"/>
                        </a:rPr>
                        <a:t>RDFUnit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Core, SPARQL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Java (Jena)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3"/>
                        </a:rPr>
                        <a:t>https://github.com/AKSW/RDFUnit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Jena 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Core, SPARQL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Java (Jena)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4"/>
                        </a:rPr>
                        <a:t>https://jena.apache.org/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1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RDf4j 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Java (RDF4J)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5"/>
                        </a:rPr>
                        <a:t>https://rdf4j.org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Stardog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Core,</a:t>
                      </a: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SPARQL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6"/>
                        </a:rPr>
                        <a:t>https://www.stardog.com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2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Zazuko 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SHACL Core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JS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108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GB" sz="1600" u="sng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https://github.com/zazuko/rdf-validate-shacl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Ví dụ </a:t>
            </a:r>
            <a:r>
              <a:rPr lang="en-GB"/>
              <a:t>9.1. Minh họa cơ chế hoạt động</a:t>
            </a:r>
            <a:endParaRPr/>
          </a:p>
        </p:txBody>
      </p:sp>
      <p:sp>
        <p:nvSpPr>
          <p:cNvPr id="110" name="Google Shape;110;p22"/>
          <p:cNvSpPr txBox="1"/>
          <p:nvPr/>
        </p:nvSpPr>
        <p:spPr>
          <a:xfrm>
            <a:off x="183050" y="1095975"/>
            <a:ext cx="6213600" cy="4802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:       &lt;http://semweb.edu.vn/people#&gt; 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sh:     &lt;http://www.w3.org/ns/shacl#&gt; 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xsd:    &lt;http://www.w3.org/2001/XMLSchema#&gt;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:UserShape a sh:NodeShape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sh:targetNode :alice, :bob, :carol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sh:nodeKind sh:IRI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sh:property :hasName,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        :hasEmail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:hasName sh:path :name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sh:minCount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sh:maxCount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sh:datatype xsd:string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:hasEmail sh:path :email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sh:minCount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sh:maxCount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sh:nodeKind sh:IRI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4279350" y="2613725"/>
            <a:ext cx="4723800" cy="2688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: &lt;http://semweb.edu.vn/people#&gt;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:alice :name "Alice Cooper"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:email &lt;mailto:alice@mail.org&gt;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:bob   :firstName "Bob"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:email &lt;mailto:bob@mail.org&gt;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:carol :name "Carol"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:email "carol@mail.org"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3237350" y="5985250"/>
            <a:ext cx="209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Đồ thị </a:t>
            </a:r>
            <a:r>
              <a:rPr lang="en-GB" sz="1800">
                <a:solidFill>
                  <a:schemeClr val="dk1"/>
                </a:solidFill>
              </a:rPr>
              <a:t>khuôn hình</a:t>
            </a:r>
            <a:endParaRPr sz="1800"/>
          </a:p>
        </p:txBody>
      </p:sp>
      <p:sp>
        <p:nvSpPr>
          <p:cNvPr id="113" name="Google Shape;113;p22"/>
          <p:cNvSpPr txBox="1"/>
          <p:nvPr/>
        </p:nvSpPr>
        <p:spPr>
          <a:xfrm>
            <a:off x="7497475" y="5389825"/>
            <a:ext cx="15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Đồ thị dữ liệu</a:t>
            </a:r>
            <a:endParaRPr sz="1800"/>
          </a:p>
        </p:txBody>
      </p:sp>
      <p:sp>
        <p:nvSpPr>
          <p:cNvPr id="114" name="Google Shape;114;p22"/>
          <p:cNvSpPr txBox="1"/>
          <p:nvPr/>
        </p:nvSpPr>
        <p:spPr>
          <a:xfrm>
            <a:off x="8252800" y="3733800"/>
            <a:ext cx="5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8266500" y="4599913"/>
            <a:ext cx="48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Ví dụ </a:t>
            </a:r>
            <a:r>
              <a:rPr lang="en-GB"/>
              <a:t>9.2. C</a:t>
            </a:r>
            <a:r>
              <a:rPr lang="en-GB"/>
              <a:t>ác nút rỗng</a:t>
            </a:r>
            <a:endParaRPr/>
          </a:p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183050" y="1095975"/>
            <a:ext cx="6213600" cy="4531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:       &lt;http://semweb.edu.vn/people#&gt; 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sh:     &lt;http://www.w3.org/ns/shacl#&gt; 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xsd:    &lt;http://www.w3.org/2001/XMLSchema#&gt;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:UserShape a sh:NodeShape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sh:targetNode :alice, :bob, :carol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sh:nodeKind sh:IRI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sh:property [sh:path :name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	sh:minCount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	sh:maxCount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	sh:datatype xsd:string];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sh:property [sh:path :email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	sh:minCount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	sh:maxCount 1;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	sh:nodeKind sh:IRI]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4279350" y="2613725"/>
            <a:ext cx="4723800" cy="2688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@prefix : &lt;http://semweb.edu.vn/people#&gt;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:alice :name "Alice Cooper"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:email &lt;mailto:alice@mail.org&gt;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:bob   :firstName "Bob"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:email &lt;mailto:bob@mail.org&gt;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:carol :name "Carol" ;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</a:rPr>
              <a:t>       :email "carol@mail.org" .</a:t>
            </a:r>
            <a:endParaRPr sz="18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237350" y="5756650"/>
            <a:ext cx="209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Đồ thị khuôn hình</a:t>
            </a:r>
            <a:endParaRPr sz="1800"/>
          </a:p>
        </p:txBody>
      </p:sp>
      <p:sp>
        <p:nvSpPr>
          <p:cNvPr id="126" name="Google Shape;126;p23"/>
          <p:cNvSpPr txBox="1"/>
          <p:nvPr/>
        </p:nvSpPr>
        <p:spPr>
          <a:xfrm>
            <a:off x="7497475" y="5389825"/>
            <a:ext cx="15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Đồ thị dữ liệu</a:t>
            </a:r>
            <a:endParaRPr sz="1800"/>
          </a:p>
        </p:txBody>
      </p:sp>
      <p:sp>
        <p:nvSpPr>
          <p:cNvPr id="127" name="Google Shape;127;p23"/>
          <p:cNvSpPr txBox="1"/>
          <p:nvPr/>
        </p:nvSpPr>
        <p:spPr>
          <a:xfrm>
            <a:off x="8252800" y="3733800"/>
            <a:ext cx="5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8266500" y="4599913"/>
            <a:ext cx="48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khái niệm cơ bản của SHACL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Shape/</a:t>
            </a:r>
            <a:r>
              <a:rPr lang="en-GB"/>
              <a:t>Khuôn hình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- Tập các nút đích và các thành phần ràng buộc.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○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Nút đích: Các nút trong đồ thị được kiểm tra và phải tương thích với các yêu cầu.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○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Các thành phần ràng buộc: Các điều kiện mà nút phải đáp ứng.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2145975" y="3390575"/>
            <a:ext cx="1981200" cy="967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Khuôn hình</a:t>
            </a:r>
            <a:endParaRPr/>
          </a:p>
        </p:txBody>
      </p:sp>
      <p:cxnSp>
        <p:nvCxnSpPr>
          <p:cNvPr id="136" name="Google Shape;136;p24"/>
          <p:cNvCxnSpPr/>
          <p:nvPr/>
        </p:nvCxnSpPr>
        <p:spPr>
          <a:xfrm>
            <a:off x="2209307" y="3782309"/>
            <a:ext cx="186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4"/>
          <p:cNvSpPr txBox="1"/>
          <p:nvPr/>
        </p:nvSpPr>
        <p:spPr>
          <a:xfrm>
            <a:off x="2198292" y="3822234"/>
            <a:ext cx="191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Khai báo nút đích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Các ràng buộc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4668400" y="3448500"/>
            <a:ext cx="43527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16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];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4"/>
          <p:cNvSpPr/>
          <p:nvPr/>
        </p:nvSpPr>
        <p:spPr>
          <a:xfrm rot="-398169">
            <a:off x="4147875" y="3874378"/>
            <a:ext cx="436122" cy="2311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4"/>
          <p:cNvSpPr/>
          <p:nvPr/>
        </p:nvSpPr>
        <p:spPr>
          <a:xfrm rot="1092886">
            <a:off x="4136915" y="4209387"/>
            <a:ext cx="444367" cy="2288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2" name="Google Shape;142;p24"/>
          <p:cNvCxnSpPr/>
          <p:nvPr/>
        </p:nvCxnSpPr>
        <p:spPr>
          <a:xfrm flipH="1">
            <a:off x="4613350" y="4130300"/>
            <a:ext cx="396300" cy="9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4"/>
          <p:cNvCxnSpPr/>
          <p:nvPr/>
        </p:nvCxnSpPr>
        <p:spPr>
          <a:xfrm rot="10800000">
            <a:off x="4624525" y="4372575"/>
            <a:ext cx="3411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Đồ thị </a:t>
            </a:r>
            <a:r>
              <a:rPr lang="en-GB"/>
              <a:t>khuôn hình</a:t>
            </a:r>
            <a:r>
              <a:rPr lang="en-GB"/>
              <a:t> và đồ thị dữ liệu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</a:t>
            </a:r>
            <a:r>
              <a:rPr lang="en-GB"/>
              <a:t>ề mặt lô-gic các đồ thị được phân chia thành: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Đồ thị </a:t>
            </a:r>
            <a:r>
              <a:rPr lang="en-GB"/>
              <a:t>khuôn hình</a:t>
            </a:r>
            <a:r>
              <a:rPr lang="en-GB"/>
              <a:t>: Chứa các </a:t>
            </a:r>
            <a:r>
              <a:rPr lang="en-GB"/>
              <a:t>khuôn hình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Đồ thị dữ liệu: Chứa dữ liệu cần được kiểm tra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!</a:t>
            </a:r>
            <a:r>
              <a:rPr lang="en-GB"/>
              <a:t>Các đồ thị đều là những đồ thị RDF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/>
        </p:nvSpPr>
        <p:spPr>
          <a:xfrm>
            <a:off x="457200" y="2697375"/>
            <a:ext cx="36828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4301775" y="2697375"/>
            <a:ext cx="4625100" cy="2062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2081525" y="5269475"/>
            <a:ext cx="205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Đồ thị </a:t>
            </a: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khuôn hình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7153978" y="4813250"/>
            <a:ext cx="177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Đồ thị dữ liệu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Kết quả kiểm tra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Đầu ra của tiến trình kiểm tra là 1 danh sách lỗi vi phạm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Không có lỗi ⇒ RDF tương thích với đồ thị </a:t>
            </a:r>
            <a:r>
              <a:rPr lang="en-GB"/>
              <a:t>khuôn hình</a:t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815550" y="1865225"/>
            <a:ext cx="8016600" cy="329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    [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ValidationResult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focusNode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"MinCount violation. Expected 1, obtained: 0"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resultSeverity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Violation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sourceConstraintComponent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MinCountConstraintComponent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sourceShape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815550" y="5305300"/>
            <a:ext cx="5030700" cy="831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Sơ đồ nguyên lý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4920763" y="3366400"/>
            <a:ext cx="1047300" cy="894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Bộ xử lý SHACL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6201421" y="2901750"/>
            <a:ext cx="20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quả kiểm tra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6023611" y="3664802"/>
            <a:ext cx="214800" cy="29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1388207" y="1346970"/>
            <a:ext cx="3446100" cy="2801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11699" y="1402675"/>
            <a:ext cx="111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khuôn hình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1379402" y="4238450"/>
            <a:ext cx="34638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&lt;mailto:carol@mail.org&gt;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301446" y="4390850"/>
            <a:ext cx="96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 thị dữ liệu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6294000" y="3282050"/>
            <a:ext cx="2538600" cy="107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5000223" y="4355422"/>
            <a:ext cx="447300" cy="5955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/>
          <p:nvPr/>
        </p:nvSpPr>
        <p:spPr>
          <a:xfrm flipH="1" rot="10800000">
            <a:off x="5000223" y="2666515"/>
            <a:ext cx="431400" cy="648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Chèn các đồ thị </a:t>
            </a:r>
            <a:r>
              <a:rPr lang="en-GB"/>
              <a:t>khuôn hình</a:t>
            </a:r>
            <a:endParaRPr/>
          </a:p>
        </p:txBody>
      </p:sp>
      <p:sp>
        <p:nvSpPr>
          <p:cNvPr id="185" name="Google Shape;185;p28"/>
          <p:cNvSpPr txBox="1"/>
          <p:nvPr>
            <p:ph idx="4294967295" type="body"/>
          </p:nvPr>
        </p:nvSpPr>
        <p:spPr>
          <a:xfrm>
            <a:off x="457200" y="99060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Bộ xử lý SHACL </a:t>
            </a:r>
            <a:r>
              <a:rPr lang="en-GB"/>
              <a:t>dò</a:t>
            </a:r>
            <a:r>
              <a:rPr lang="en-GB"/>
              <a:t> theo các </a:t>
            </a:r>
            <a:r>
              <a:rPr lang="en-GB"/>
              <a:t>khai báo </a:t>
            </a: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owl</a:t>
            </a:r>
            <a:r>
              <a:rPr lang="en-GB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imports</a:t>
            </a:r>
            <a:r>
              <a:rPr lang="en-GB"/>
              <a:t> và </a:t>
            </a:r>
            <a:r>
              <a:rPr lang="en-GB"/>
              <a:t>mở rộng đồ thị </a:t>
            </a:r>
            <a:r>
              <a:rPr lang="en-GB"/>
              <a:t>khuôn </a:t>
            </a:r>
            <a:r>
              <a:rPr lang="en-GB"/>
              <a:t>hình đang được xử lý </a:t>
            </a:r>
            <a:r>
              <a:rPr lang="en-GB"/>
              <a:t>bằng</a:t>
            </a:r>
            <a:r>
              <a:rPr lang="en-GB"/>
              <a:t> các đồ thị </a:t>
            </a:r>
            <a:r>
              <a:rPr lang="en-GB"/>
              <a:t>được chèn vào</a:t>
            </a:r>
            <a:r>
              <a:rPr lang="en-GB"/>
              <a:t>.</a:t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457200" y="3159986"/>
            <a:ext cx="34461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4251960" y="3159986"/>
            <a:ext cx="4697700" cy="2801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owl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imports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600" u="sng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http://example.org/UserShapes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thành phần cơ bản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Khuôn hình và các ràng buộc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SHACL-SPARQL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318450" y="1210876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Phân loại khuôn hình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Có 2 loại </a:t>
            </a:r>
            <a:r>
              <a:rPr lang="en-GB"/>
              <a:t>khuôn hình</a:t>
            </a:r>
            <a:r>
              <a:rPr lang="en-GB"/>
              <a:t>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NodeShape: </a:t>
            </a:r>
            <a:r>
              <a:rPr lang="en-GB"/>
              <a:t>Khuôn hình cho các nút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PropertyShape: </a:t>
            </a:r>
            <a:r>
              <a:rPr lang="en-GB"/>
              <a:t>Khuôn hình cho </a:t>
            </a:r>
            <a:r>
              <a:rPr lang="en-GB"/>
              <a:t>các giá trị trên các đường dẫn thuộc tính của nút.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1123815" y="3262200"/>
            <a:ext cx="2123100" cy="967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endParaRPr/>
          </a:p>
        </p:txBody>
      </p:sp>
      <p:cxnSp>
        <p:nvCxnSpPr>
          <p:cNvPr id="204" name="Google Shape;204;p30"/>
          <p:cNvCxnSpPr/>
          <p:nvPr/>
        </p:nvCxnSpPr>
        <p:spPr>
          <a:xfrm flipH="1" rot="10800000">
            <a:off x="1117125" y="3652129"/>
            <a:ext cx="21231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30"/>
          <p:cNvSpPr txBox="1"/>
          <p:nvPr/>
        </p:nvSpPr>
        <p:spPr>
          <a:xfrm>
            <a:off x="1117125" y="3715875"/>
            <a:ext cx="2206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" lIns="18000" spcFirstLastPara="1" rIns="54000" wrap="square" tIns="10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target declarations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constraint components</a:t>
            </a:r>
            <a:endParaRPr/>
          </a:p>
        </p:txBody>
      </p:sp>
      <p:sp>
        <p:nvSpPr>
          <p:cNvPr id="206" name="Google Shape;206;p30"/>
          <p:cNvSpPr txBox="1"/>
          <p:nvPr/>
        </p:nvSpPr>
        <p:spPr>
          <a:xfrm>
            <a:off x="296563" y="5274152"/>
            <a:ext cx="1323300" cy="5940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30"/>
          <p:cNvCxnSpPr/>
          <p:nvPr/>
        </p:nvCxnSpPr>
        <p:spPr>
          <a:xfrm>
            <a:off x="296563" y="5699778"/>
            <a:ext cx="132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30"/>
          <p:cNvSpPr txBox="1"/>
          <p:nvPr/>
        </p:nvSpPr>
        <p:spPr>
          <a:xfrm>
            <a:off x="1341479" y="5704159"/>
            <a:ext cx="13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1838175" y="5278150"/>
            <a:ext cx="2204700" cy="868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30"/>
          <p:cNvCxnSpPr/>
          <p:nvPr/>
        </p:nvCxnSpPr>
        <p:spPr>
          <a:xfrm>
            <a:off x="1836401" y="5663954"/>
            <a:ext cx="2206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0"/>
          <p:cNvSpPr txBox="1"/>
          <p:nvPr/>
        </p:nvSpPr>
        <p:spPr>
          <a:xfrm>
            <a:off x="1836400" y="5761725"/>
            <a:ext cx="22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" spcFirstLastPara="1" rIns="54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F6128"/>
                </a:solidFill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:path: propertyPath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2" name="Google Shape;212;p30"/>
          <p:cNvCxnSpPr>
            <a:stCxn id="206" idx="0"/>
            <a:endCxn id="203" idx="2"/>
          </p:cNvCxnSpPr>
          <p:nvPr/>
        </p:nvCxnSpPr>
        <p:spPr>
          <a:xfrm rot="-5400000">
            <a:off x="1049413" y="4138052"/>
            <a:ext cx="1044900" cy="12273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30"/>
          <p:cNvCxnSpPr>
            <a:stCxn id="209" idx="0"/>
            <a:endCxn id="203" idx="2"/>
          </p:cNvCxnSpPr>
          <p:nvPr/>
        </p:nvCxnSpPr>
        <p:spPr>
          <a:xfrm flipH="1" rot="5400000">
            <a:off x="2038575" y="4376200"/>
            <a:ext cx="1048800" cy="755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30"/>
          <p:cNvSpPr/>
          <p:nvPr/>
        </p:nvSpPr>
        <p:spPr>
          <a:xfrm>
            <a:off x="2112094" y="4240283"/>
            <a:ext cx="155400" cy="2346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4990224" y="2838908"/>
            <a:ext cx="38427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3975875" y="4820875"/>
            <a:ext cx="1485900" cy="338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PropertyShape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3755425" y="3258675"/>
            <a:ext cx="1323300" cy="36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/>
        </p:nvSpPr>
        <p:spPr>
          <a:xfrm>
            <a:off x="883100" y="2802425"/>
            <a:ext cx="5359500" cy="1939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&lt;http://example.org/bob&gt; 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Khuôn hình nút</a:t>
            </a:r>
            <a:endParaRPr/>
          </a:p>
        </p:txBody>
      </p:sp>
      <p:sp>
        <p:nvSpPr>
          <p:cNvPr id="225" name="Google Shape;225;p31"/>
          <p:cNvSpPr txBox="1"/>
          <p:nvPr>
            <p:ph idx="4294967295" type="body"/>
          </p:nvPr>
        </p:nvSpPr>
        <p:spPr>
          <a:xfrm>
            <a:off x="311700" y="899675"/>
            <a:ext cx="8520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ràng buộc đối với nút được kiểm tra</a:t>
            </a:r>
            <a:endParaRPr/>
          </a:p>
        </p:txBody>
      </p:sp>
      <p:sp>
        <p:nvSpPr>
          <p:cNvPr id="226" name="Google Shape;226;p31"/>
          <p:cNvSpPr txBox="1"/>
          <p:nvPr/>
        </p:nvSpPr>
        <p:spPr>
          <a:xfrm>
            <a:off x="2750911" y="3869066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883098" y="1521050"/>
            <a:ext cx="46221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Khuôn hình thuộc tính</a:t>
            </a:r>
            <a:endParaRPr/>
          </a:p>
        </p:txBody>
      </p:sp>
      <p:sp>
        <p:nvSpPr>
          <p:cNvPr id="234" name="Google Shape;234;p32"/>
          <p:cNvSpPr txBox="1"/>
          <p:nvPr>
            <p:ph idx="4294967295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ràng buộc gắn với thuộc tính và các giá trị của nó đối với nút được kiểm tra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</a:t>
            </a:r>
            <a:r>
              <a:rPr lang="en-GB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Gắn kết 1 khuôn hình với 1 khuôn hình thuộc tính.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/>
              <a:t>Xác định đường dẫn.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520975" y="3057151"/>
            <a:ext cx="7329000" cy="1634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 .</a:t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520975" y="4831025"/>
            <a:ext cx="7329000" cy="163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2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20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2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20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2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20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6273784" y="5923052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Đường dẫn trong khuôn hình thuộc tính</a:t>
            </a:r>
            <a:endParaRPr/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Tập con của đường dẫn thuộc tính</a:t>
            </a:r>
            <a:r>
              <a:rPr lang="en-GB"/>
              <a:t> SPARQL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inversePath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alternativePath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zeroOrMorePath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oneOrMorePath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zeroOrOnePath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239325" y="4589825"/>
            <a:ext cx="7016100" cy="17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[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inversePath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]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20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20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33"/>
          <p:cNvSpPr txBox="1"/>
          <p:nvPr/>
        </p:nvSpPr>
        <p:spPr>
          <a:xfrm>
            <a:off x="5141875" y="1585100"/>
            <a:ext cx="3545100" cy="2754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7919952" y="3643125"/>
            <a:ext cx="63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</a:t>
            </a:r>
            <a:r>
              <a:rPr lang="en-GB"/>
              <a:t>ác thành phần ràng buộc</a:t>
            </a:r>
            <a:endParaRPr/>
          </a:p>
        </p:txBody>
      </p:sp>
      <p:sp>
        <p:nvSpPr>
          <p:cNvPr id="254" name="Google Shape;254;p34"/>
          <p:cNvSpPr txBox="1"/>
          <p:nvPr>
            <p:ph idx="4294967295" type="body"/>
          </p:nvPr>
        </p:nvSpPr>
        <p:spPr>
          <a:xfrm>
            <a:off x="311700" y="899675"/>
            <a:ext cx="85206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Các nút khai báo ràng buộc được gắn với khuôn hình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Chúng có các tham số với các giá trị đặc tả ràng buộc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SHACL-core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cung cấp 1 danh sách các thành phần ràng buộc đã được định nghĩa sẵn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Hầu hết đều có 1 tham số đại diện.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2699550" y="2925275"/>
            <a:ext cx="49680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UserShape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en-GB" sz="1800">
                <a:solidFill>
                  <a:srgbClr val="0000A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IRI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291069" y="5811400"/>
            <a:ext cx="467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5629375" y="4052800"/>
            <a:ext cx="1957800" cy="646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2465" y="-2022"/>
                </a:moveTo>
                <a:lnTo>
                  <a:pt x="-29383" y="-98906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 trị của tham số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en-GB" sz="1800">
                <a:solidFill>
                  <a:srgbClr val="0000A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IRI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3591201" y="4085907"/>
            <a:ext cx="1745400" cy="646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49505" y="1751"/>
                </a:moveTo>
                <a:lnTo>
                  <a:pt x="28003" y="-102122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Tham số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nodeKind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540275" y="5963800"/>
            <a:ext cx="8168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ý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tự định nghĩa các thành phần ràng buộc với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SHACL-SPARQL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1" name="Google Shape;261;p34"/>
          <p:cNvSpPr/>
          <p:nvPr/>
        </p:nvSpPr>
        <p:spPr>
          <a:xfrm>
            <a:off x="944825" y="4914325"/>
            <a:ext cx="3968400" cy="646500"/>
          </a:xfrm>
          <a:prstGeom prst="rect">
            <a:avLst/>
          </a:prstGeom>
          <a:noFill/>
          <a:ln cap="flat" cmpd="sng" w="19050">
            <a:solidFill>
              <a:srgbClr val="FF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0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phần ràng buộc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nodeKindConstraintComponent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2" name="Google Shape;262;p34"/>
          <p:cNvCxnSpPr>
            <a:endCxn id="258" idx="2"/>
          </p:cNvCxnSpPr>
          <p:nvPr/>
        </p:nvCxnSpPr>
        <p:spPr>
          <a:xfrm flipH="1" rot="10800000">
            <a:off x="2678601" y="4409007"/>
            <a:ext cx="912600" cy="514800"/>
          </a:xfrm>
          <a:prstGeom prst="straightConnector1">
            <a:avLst/>
          </a:prstGeom>
          <a:noFill/>
          <a:ln cap="flat" cmpd="sng" w="19050">
            <a:solidFill>
              <a:srgbClr val="FF8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</a:t>
            </a:r>
            <a:r>
              <a:rPr lang="en-GB"/>
              <a:t>ặp tham số</a:t>
            </a:r>
            <a:endParaRPr/>
          </a:p>
        </p:txBody>
      </p:sp>
      <p:sp>
        <p:nvSpPr>
          <p:cNvPr id="268" name="Google Shape;268;p35"/>
          <p:cNvSpPr txBox="1"/>
          <p:nvPr>
            <p:ph idx="4294967295" type="body"/>
          </p:nvPr>
        </p:nvSpPr>
        <p:spPr>
          <a:xfrm>
            <a:off x="311700" y="899675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Mỗi giá trị tham số khai báo 1 ràng buộc</a:t>
            </a:r>
            <a:endParaRPr/>
          </a:p>
        </p:txBody>
      </p:sp>
      <p:sp>
        <p:nvSpPr>
          <p:cNvPr id="269" name="Google Shape;269;p35"/>
          <p:cNvSpPr txBox="1"/>
          <p:nvPr/>
        </p:nvSpPr>
        <p:spPr>
          <a:xfrm>
            <a:off x="796722" y="1663175"/>
            <a:ext cx="45762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796722" y="2843125"/>
            <a:ext cx="4983600" cy="1200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6913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:bob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Person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3118003" y="3304800"/>
            <a:ext cx="62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thành phần ràng buộc trong </a:t>
            </a:r>
            <a:r>
              <a:rPr lang="en-GB"/>
              <a:t>SHACL Core</a:t>
            </a:r>
            <a:endParaRPr/>
          </a:p>
        </p:txBody>
      </p:sp>
      <p:graphicFrame>
        <p:nvGraphicFramePr>
          <p:cNvPr id="278" name="Google Shape;278;p36"/>
          <p:cNvGraphicFramePr/>
          <p:nvPr/>
        </p:nvGraphicFramePr>
        <p:xfrm>
          <a:off x="533400" y="9750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369800"/>
                <a:gridCol w="5872975"/>
              </a:tblGrid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Type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Ràng buộc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Cơ số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minCount, maxCount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Kiểu của giá trị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class, datatype, nodeKind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Giá trị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node, in, hasValue, property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Khoảng giá trị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minInclusive, maxInclusive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minExclusive,</a:t>
                      </a: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maxExclusive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Thuộc tính của chuỗi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minLength, maxLength, pattern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Ngôn ngữ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languageIn, uniqueLang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Liên kết lô-gic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not, and, or, xone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Khuôn hình</a:t>
                      </a:r>
                      <a:r>
                        <a:rPr lang="en-GB" sz="1800"/>
                        <a:t> đóng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closed, ignoredProperties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Ràng buộc theo cặp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equals, disjoint, lessThan, lessThanOrEquals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Thành phần bổ trợ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name, description, order, group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Khuôn hình</a:t>
                      </a:r>
                      <a:r>
                        <a:rPr lang="en-GB" sz="1800"/>
                        <a:t> có định kiểu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qualifiedValueShape, qualifiedValueShapesDisjoint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qualifiedMinCount, qualifiedMaxCount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Thông điệp thân thiện với người dùng</a:t>
            </a:r>
            <a:endParaRPr/>
          </a:p>
        </p:txBody>
      </p:sp>
      <p:sp>
        <p:nvSpPr>
          <p:cNvPr id="285" name="Google Shape;285;p37"/>
          <p:cNvSpPr txBox="1"/>
          <p:nvPr>
            <p:ph idx="4294967295" type="body"/>
          </p:nvPr>
        </p:nvSpPr>
        <p:spPr>
          <a:xfrm>
            <a:off x="311700" y="899675"/>
            <a:ext cx="8520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Khai báo thông điệp được đưa ra trong báo cáo trong trường hợp có vi phạm.</a:t>
            </a:r>
            <a:endParaRPr/>
          </a:p>
        </p:txBody>
      </p:sp>
      <p:sp>
        <p:nvSpPr>
          <p:cNvPr id="286" name="Google Shape;286;p37"/>
          <p:cNvSpPr txBox="1"/>
          <p:nvPr/>
        </p:nvSpPr>
        <p:spPr>
          <a:xfrm>
            <a:off x="464100" y="2461425"/>
            <a:ext cx="6030000" cy="156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"Where is the name?"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464100" y="1904375"/>
            <a:ext cx="4344600" cy="480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alias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37"/>
          <p:cNvSpPr txBox="1"/>
          <p:nvPr/>
        </p:nvSpPr>
        <p:spPr>
          <a:xfrm>
            <a:off x="4098597" y="1814925"/>
            <a:ext cx="59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453106" y="4108267"/>
            <a:ext cx="72738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report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 [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ValidationResult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resultSeverity     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Violation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sourceConstraintComponent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MinCountConstraintComponent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sourceShape       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focusNode         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resultPath         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resultMessage 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"Where is the name?"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mức cảnh báo</a:t>
            </a:r>
            <a:endParaRPr/>
          </a:p>
        </p:txBody>
      </p:sp>
      <p:sp>
        <p:nvSpPr>
          <p:cNvPr id="296" name="Google Shape;296;p38"/>
          <p:cNvSpPr txBox="1"/>
          <p:nvPr>
            <p:ph idx="4294967295" type="body"/>
          </p:nvPr>
        </p:nvSpPr>
        <p:spPr>
          <a:xfrm>
            <a:off x="311700" y="899675"/>
            <a:ext cx="85206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Xác định mức độ vi phạm, đã định nghĩa sẵn 3 mức độ</a:t>
            </a:r>
            <a:r>
              <a:rPr lang="en-GB"/>
              <a:t>: Violation (</a:t>
            </a:r>
            <a:r>
              <a:rPr lang="en-GB"/>
              <a:t>Mặc định</a:t>
            </a:r>
            <a:r>
              <a:rPr lang="en-GB"/>
              <a:t>), Warning, Info</a:t>
            </a:r>
            <a:endParaRPr/>
          </a:p>
        </p:txBody>
      </p:sp>
      <p:sp>
        <p:nvSpPr>
          <p:cNvPr id="297" name="Google Shape;297;p38"/>
          <p:cNvSpPr txBox="1"/>
          <p:nvPr/>
        </p:nvSpPr>
        <p:spPr>
          <a:xfrm>
            <a:off x="494150" y="2264575"/>
            <a:ext cx="6354000" cy="1788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severity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Warning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494150" y="1807475"/>
            <a:ext cx="3954000" cy="36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alias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494150" y="4140975"/>
            <a:ext cx="7421700" cy="255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report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ValidationReport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conforms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 [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ValidationResult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resultSeverity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Warning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sourceConstraintComponent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MinCountConstraintComponent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sourceShape       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focusNode         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resultPath         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resultMessage        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"MinCount Error"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0" name="Google Shape;300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Vô hiệu khuôn hình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Có thể vô hiệu khuôn hình trong đồ thị, ví dụ khi chèn vào</a:t>
            </a:r>
            <a:endParaRPr/>
          </a:p>
        </p:txBody>
      </p:sp>
      <p:sp>
        <p:nvSpPr>
          <p:cNvPr id="307" name="Google Shape;307;p39"/>
          <p:cNvSpPr txBox="1"/>
          <p:nvPr/>
        </p:nvSpPr>
        <p:spPr>
          <a:xfrm>
            <a:off x="457200" y="3271350"/>
            <a:ext cx="5785200" cy="287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owl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imports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600" u="sng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UserShapes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TeacherShape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deactivated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457200" y="1648275"/>
            <a:ext cx="8119200" cy="152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HasName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HasEmail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A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7016350" y="1431350"/>
            <a:ext cx="1455900" cy="338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UserShapes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X</a:t>
            </a:r>
            <a:r>
              <a:rPr lang="en-GB"/>
              <a:t>ác định</a:t>
            </a:r>
            <a:r>
              <a:rPr lang="en-GB"/>
              <a:t> các đối tượng được kiểm tra</a:t>
            </a:r>
            <a:endParaRPr/>
          </a:p>
        </p:txBody>
      </p:sp>
      <p:sp>
        <p:nvSpPr>
          <p:cNvPr id="316" name="Google Shape;316;p40"/>
          <p:cNvSpPr txBox="1"/>
          <p:nvPr>
            <p:ph idx="4294967295" type="body"/>
          </p:nvPr>
        </p:nvSpPr>
        <p:spPr>
          <a:xfrm>
            <a:off x="311700" y="899675"/>
            <a:ext cx="8520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</a:t>
            </a:r>
            <a:r>
              <a:rPr lang="en-GB"/>
              <a:t>ác định các nút cụ thể cần được kiểm tra theo khuôn hình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lựa chọn:</a:t>
            </a:r>
            <a:endParaRPr/>
          </a:p>
        </p:txBody>
      </p:sp>
      <p:graphicFrame>
        <p:nvGraphicFramePr>
          <p:cNvPr id="317" name="Google Shape;317;p40"/>
          <p:cNvGraphicFramePr/>
          <p:nvPr/>
        </p:nvGraphicFramePr>
        <p:xfrm>
          <a:off x="507646" y="23615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725475"/>
                <a:gridCol w="5495050"/>
              </a:tblGrid>
              <a:tr h="22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Bộ lọc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targetNode</a:t>
                      </a:r>
                      <a:endParaRPr sz="24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Liệt kê các nút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cụ thể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targetClass</a:t>
                      </a:r>
                      <a:endParaRPr sz="24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Các phần tử của lớp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targetSubjectsOf</a:t>
                      </a:r>
                      <a:endParaRPr sz="24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Các phần tử là chủ thể của thuộc tính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nsolas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targetObjectsOf</a:t>
                      </a:r>
                      <a:endParaRPr sz="24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Các phần tử là giá trị của thuộc tính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Liệt kê nút</a:t>
            </a:r>
            <a:endParaRPr/>
          </a:p>
        </p:txBody>
      </p:sp>
      <p:sp>
        <p:nvSpPr>
          <p:cNvPr id="324" name="Google Shape;324;p41"/>
          <p:cNvSpPr txBox="1"/>
          <p:nvPr>
            <p:ph idx="4294967295" type="body"/>
          </p:nvPr>
        </p:nvSpPr>
        <p:spPr>
          <a:xfrm>
            <a:off x="311700" y="899675"/>
            <a:ext cx="85206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Trực tiếp khai báo các nút cần được kiểm tra theo khuôn hình</a:t>
            </a:r>
            <a:endParaRPr/>
          </a:p>
        </p:txBody>
      </p:sp>
      <p:sp>
        <p:nvSpPr>
          <p:cNvPr id="325" name="Google Shape;325;p41"/>
          <p:cNvSpPr txBox="1"/>
          <p:nvPr/>
        </p:nvSpPr>
        <p:spPr>
          <a:xfrm>
            <a:off x="1848050" y="3689300"/>
            <a:ext cx="5369100" cy="258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a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alice,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bob,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41"/>
          <p:cNvSpPr txBox="1"/>
          <p:nvPr/>
        </p:nvSpPr>
        <p:spPr>
          <a:xfrm>
            <a:off x="1848046" y="1502677"/>
            <a:ext cx="5930400" cy="2015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41"/>
          <p:cNvSpPr/>
          <p:nvPr/>
        </p:nvSpPr>
        <p:spPr>
          <a:xfrm>
            <a:off x="1892349" y="2953350"/>
            <a:ext cx="750600" cy="3417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1"/>
          <p:cNvSpPr/>
          <p:nvPr/>
        </p:nvSpPr>
        <p:spPr>
          <a:xfrm>
            <a:off x="5414375" y="3920750"/>
            <a:ext cx="750600" cy="3417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41"/>
          <p:cNvCxnSpPr/>
          <p:nvPr/>
        </p:nvCxnSpPr>
        <p:spPr>
          <a:xfrm>
            <a:off x="2621075" y="3282650"/>
            <a:ext cx="2840100" cy="6165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0" name="Google Shape;330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Lựa chọn theo lớp</a:t>
            </a:r>
            <a:endParaRPr/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311700" y="899675"/>
            <a:ext cx="8520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i="1" lang="en-GB"/>
              <a:t>Lựa chọn các phần tử của 1 lớp, tìm các khai báo rdf:type:</a:t>
            </a:r>
            <a:endParaRPr i="1"/>
          </a:p>
        </p:txBody>
      </p:sp>
      <p:sp>
        <p:nvSpPr>
          <p:cNvPr id="337" name="Google Shape;337;p42"/>
          <p:cNvSpPr txBox="1"/>
          <p:nvPr/>
        </p:nvSpPr>
        <p:spPr>
          <a:xfrm>
            <a:off x="867750" y="5822825"/>
            <a:ext cx="8040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!Ngoài ra còn có thể suy diễn các phần tử theo </a:t>
            </a:r>
            <a:r>
              <a:rPr i="1" lang="en-GB" sz="2200" u="none" cap="none" strike="noStrike">
                <a:solidFill>
                  <a:srgbClr val="4F61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rdfs</a:t>
            </a:r>
            <a:r>
              <a:rPr i="1" lang="en-GB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:subClassOf*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507650" y="1579400"/>
            <a:ext cx="3709500" cy="397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4473900" y="1579400"/>
            <a:ext cx="44346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8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42"/>
          <p:cNvSpPr/>
          <p:nvPr/>
        </p:nvSpPr>
        <p:spPr>
          <a:xfrm>
            <a:off x="2615423" y="1897015"/>
            <a:ext cx="643800" cy="3417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2"/>
          <p:cNvSpPr/>
          <p:nvPr/>
        </p:nvSpPr>
        <p:spPr>
          <a:xfrm>
            <a:off x="5674459" y="2942950"/>
            <a:ext cx="667200" cy="3417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42"/>
          <p:cNvCxnSpPr>
            <a:stCxn id="340" idx="2"/>
            <a:endCxn id="341" idx="1"/>
          </p:cNvCxnSpPr>
          <p:nvPr/>
        </p:nvCxnSpPr>
        <p:spPr>
          <a:xfrm>
            <a:off x="2937323" y="2238715"/>
            <a:ext cx="2737200" cy="8751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Ngầm chọn lớp đích</a:t>
            </a:r>
            <a:endParaRPr/>
          </a:p>
        </p:txBody>
      </p:sp>
      <p:sp>
        <p:nvSpPr>
          <p:cNvPr id="349" name="Google Shape;349;p43"/>
          <p:cNvSpPr txBox="1"/>
          <p:nvPr>
            <p:ph idx="4294967295" type="body"/>
          </p:nvPr>
        </p:nvSpPr>
        <p:spPr>
          <a:xfrm>
            <a:off x="311700" y="899675"/>
            <a:ext cx="87096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</a:t>
            </a:r>
            <a:r>
              <a:rPr lang="en-GB"/>
              <a:t>huôn hình sh:NodeShape hoặc sh:PropertyShape</a:t>
            </a:r>
            <a:r>
              <a:rPr lang="en-GB"/>
              <a:t> </a:t>
            </a:r>
            <a:r>
              <a:rPr lang="en-GB"/>
              <a:t>được định nghĩa là</a:t>
            </a:r>
            <a:r>
              <a:rPr lang="en-GB"/>
              <a:t> rdfs:Class </a:t>
            </a:r>
            <a:r>
              <a:rPr lang="en-GB"/>
              <a:t>được ngầm định targetClass</a:t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892025" y="4039225"/>
            <a:ext cx="6369900" cy="25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NodeShape,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/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/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892025" y="1818025"/>
            <a:ext cx="6369900" cy="2062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&lt;mailto:alice@mail.org&gt;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&lt;mailto:bob@mail.org&gt;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email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"carol@mail.org"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953878" y="3332975"/>
            <a:ext cx="738000" cy="2811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/>
          <p:nvPr/>
        </p:nvSpPr>
        <p:spPr>
          <a:xfrm>
            <a:off x="953874" y="4092650"/>
            <a:ext cx="672000" cy="2895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43"/>
          <p:cNvCxnSpPr>
            <a:stCxn id="352" idx="2"/>
            <a:endCxn id="353" idx="0"/>
          </p:cNvCxnSpPr>
          <p:nvPr/>
        </p:nvCxnSpPr>
        <p:spPr>
          <a:xfrm flipH="1">
            <a:off x="1289878" y="3614075"/>
            <a:ext cx="33000" cy="4785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Lựa chọn chủ thể của thuộc tính</a:t>
            </a:r>
            <a:endParaRPr/>
          </a:p>
        </p:txBody>
      </p:sp>
      <p:sp>
        <p:nvSpPr>
          <p:cNvPr id="361" name="Google Shape;361;p44"/>
          <p:cNvSpPr txBox="1"/>
          <p:nvPr/>
        </p:nvSpPr>
        <p:spPr>
          <a:xfrm>
            <a:off x="464100" y="1200000"/>
            <a:ext cx="5640000" cy="20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targetSubjectsOf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44"/>
          <p:cNvSpPr txBox="1"/>
          <p:nvPr/>
        </p:nvSpPr>
        <p:spPr>
          <a:xfrm>
            <a:off x="464098" y="3481225"/>
            <a:ext cx="7033500" cy="25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Algebra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 # </a:t>
            </a:r>
            <a:r>
              <a:rPr lang="en-GB" sz="1800">
                <a:highlight>
                  <a:srgbClr val="FFFFFF"/>
                </a:highlight>
              </a:rPr>
              <a:t>Tương thích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UserShape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teaches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Logic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# </a:t>
            </a:r>
            <a:r>
              <a:rPr lang="en-GB" sz="1800">
                <a:highlight>
                  <a:srgbClr val="FFFFFF"/>
                </a:highlight>
              </a:rPr>
              <a:t>Không tương thích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UserShape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</a:rPr>
              <a:t># </a:t>
            </a:r>
            <a:r>
              <a:rPr lang="en-GB" sz="1800">
                <a:highlight>
                  <a:srgbClr val="FFFFFF"/>
                </a:highlight>
              </a:rPr>
              <a:t>Bỏ qua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63" name="Google Shape;363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Lựa chọn giá trị của thuộc tính</a:t>
            </a:r>
            <a:endParaRPr/>
          </a:p>
        </p:txBody>
      </p:sp>
      <p:sp>
        <p:nvSpPr>
          <p:cNvPr id="369" name="Google Shape;369;p45"/>
          <p:cNvSpPr txBox="1"/>
          <p:nvPr/>
        </p:nvSpPr>
        <p:spPr>
          <a:xfrm>
            <a:off x="457200" y="1005225"/>
            <a:ext cx="4717500" cy="2423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targetObjectsOf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isTaughtBy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439175" y="3571975"/>
            <a:ext cx="7267500" cy="2132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Tương thích với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Không tương thích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#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Bỏ qua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algebra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isTaughtBy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thành phần ràng buộc</a:t>
            </a:r>
            <a:endParaRPr/>
          </a:p>
        </p:txBody>
      </p:sp>
      <p:sp>
        <p:nvSpPr>
          <p:cNvPr id="377" name="Google Shape;377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Ràng buộc cơ số</a:t>
            </a:r>
            <a:endParaRPr/>
          </a:p>
        </p:txBody>
      </p:sp>
      <p:graphicFrame>
        <p:nvGraphicFramePr>
          <p:cNvPr id="383" name="Google Shape;383;p47"/>
          <p:cNvGraphicFramePr/>
          <p:nvPr/>
        </p:nvGraphicFramePr>
        <p:xfrm>
          <a:off x="483353" y="8996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535900"/>
                <a:gridCol w="68130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minCount</a:t>
                      </a:r>
                      <a:endParaRPr sz="1800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Giới hạn số lượng bộ-3 tối thiểu có chủ thể là nút được kiểm tra và thuộc tính được cho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Giá trị mặc định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: 0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maxCount</a:t>
                      </a:r>
                      <a:endParaRPr sz="1800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Giới hạn số lượng bộ-3 tối đa có chủ thể là nút được kiểm tra và thuộc tính được cho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Nếu không định nghĩa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không giới hạn.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4" name="Google Shape;384;p47"/>
          <p:cNvSpPr txBox="1"/>
          <p:nvPr/>
        </p:nvSpPr>
        <p:spPr>
          <a:xfrm>
            <a:off x="311700" y="3482775"/>
            <a:ext cx="36303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4154725" y="3491225"/>
            <a:ext cx="46776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7279577" y="3952875"/>
            <a:ext cx="63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7"/>
          <p:cNvSpPr txBox="1"/>
          <p:nvPr/>
        </p:nvSpPr>
        <p:spPr>
          <a:xfrm>
            <a:off x="7965376" y="4803075"/>
            <a:ext cx="5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Kiểu dữ liệu của giá trị</a:t>
            </a:r>
            <a:endParaRPr/>
          </a:p>
        </p:txBody>
      </p:sp>
      <p:graphicFrame>
        <p:nvGraphicFramePr>
          <p:cNvPr id="394" name="Google Shape;394;p48"/>
          <p:cNvGraphicFramePr/>
          <p:nvPr/>
        </p:nvGraphicFramePr>
        <p:xfrm>
          <a:off x="311697" y="1112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185325"/>
                <a:gridCol w="6335275"/>
              </a:tblGrid>
              <a:tr h="48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datatype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Giới hạn kiểu của tất cả các giá trị của thuộc tính được cho đối với nút được kiểm tra.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5" name="Google Shape;395;p48"/>
          <p:cNvSpPr txBox="1"/>
          <p:nvPr/>
        </p:nvSpPr>
        <p:spPr>
          <a:xfrm>
            <a:off x="317675" y="2719850"/>
            <a:ext cx="4900200" cy="155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283325" y="4548650"/>
            <a:ext cx="6091500" cy="159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"1985-08-20"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^^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1"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"Unknown"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^^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1"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birthDate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1990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.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" name="Google Shape;397;p48"/>
          <p:cNvSpPr txBox="1"/>
          <p:nvPr/>
        </p:nvSpPr>
        <p:spPr>
          <a:xfrm>
            <a:off x="5241723" y="4944845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8"/>
          <p:cNvSpPr txBox="1"/>
          <p:nvPr/>
        </p:nvSpPr>
        <p:spPr>
          <a:xfrm>
            <a:off x="3565326" y="5502000"/>
            <a:ext cx="5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</a:t>
            </a:r>
            <a:r>
              <a:rPr lang="en-GB"/>
              <a:t>ớp của giá trị</a:t>
            </a:r>
            <a:endParaRPr/>
          </a:p>
        </p:txBody>
      </p:sp>
      <p:graphicFrame>
        <p:nvGraphicFramePr>
          <p:cNvPr id="405" name="Google Shape;405;p49"/>
          <p:cNvGraphicFramePr/>
          <p:nvPr/>
        </p:nvGraphicFramePr>
        <p:xfrm>
          <a:off x="546274" y="899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725650"/>
                <a:gridCol w="65032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800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Kiểm tra nút là phần tử của lớp, đồng thời nó cũng cho phép là phần tử của các lớp khác theo quan hệ rdfs:subClassOf*.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49"/>
          <p:cNvSpPr txBox="1"/>
          <p:nvPr/>
        </p:nvSpPr>
        <p:spPr>
          <a:xfrm>
            <a:off x="546275" y="2302875"/>
            <a:ext cx="48819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49"/>
          <p:cNvSpPr txBox="1"/>
          <p:nvPr/>
        </p:nvSpPr>
        <p:spPr>
          <a:xfrm>
            <a:off x="546275" y="3505200"/>
            <a:ext cx="64008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Manager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subClassOf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Manager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</a:t>
            </a:r>
            <a:r>
              <a:rPr lang="en-GB" sz="1800">
                <a:solidFill>
                  <a:srgbClr val="0080C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49"/>
          <p:cNvSpPr txBox="1"/>
          <p:nvPr/>
        </p:nvSpPr>
        <p:spPr>
          <a:xfrm>
            <a:off x="4812280" y="4864200"/>
            <a:ext cx="6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Phân loại giá trị</a:t>
            </a:r>
            <a:endParaRPr/>
          </a:p>
        </p:txBody>
      </p:sp>
      <p:graphicFrame>
        <p:nvGraphicFramePr>
          <p:cNvPr id="415" name="Google Shape;415;p50"/>
          <p:cNvGraphicFramePr/>
          <p:nvPr/>
        </p:nvGraphicFramePr>
        <p:xfrm>
          <a:off x="377926" y="9436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731900"/>
                <a:gridCol w="631457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nodeKind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Các giá trị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  BlankNode, IRI, Literal,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  BlankNodeOrIRI, BlankNodeOrLiteral, IRIOrLiteral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6" name="Google Shape;416;p50"/>
          <p:cNvSpPr txBox="1"/>
          <p:nvPr/>
        </p:nvSpPr>
        <p:spPr>
          <a:xfrm>
            <a:off x="388094" y="2359475"/>
            <a:ext cx="5415000" cy="229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/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Literal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/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BlankNodeOrIRI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nodeKind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IRI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50"/>
          <p:cNvSpPr txBox="1"/>
          <p:nvPr/>
        </p:nvSpPr>
        <p:spPr>
          <a:xfrm>
            <a:off x="388093" y="4711225"/>
            <a:ext cx="64206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 _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[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follows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50"/>
          <p:cNvSpPr txBox="1"/>
          <p:nvPr/>
        </p:nvSpPr>
        <p:spPr>
          <a:xfrm>
            <a:off x="3918761" y="6238837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0"/>
          <p:cNvSpPr txBox="1"/>
          <p:nvPr/>
        </p:nvSpPr>
        <p:spPr>
          <a:xfrm>
            <a:off x="4928161" y="5778889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4405261" y="4597249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Ràng buộc đối với giá trị</a:t>
            </a:r>
            <a:endParaRPr/>
          </a:p>
        </p:txBody>
      </p:sp>
      <p:graphicFrame>
        <p:nvGraphicFramePr>
          <p:cNvPr id="427" name="Google Shape;427;p51"/>
          <p:cNvGraphicFramePr/>
          <p:nvPr/>
        </p:nvGraphicFramePr>
        <p:xfrm>
          <a:off x="311699" y="1005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592050"/>
                <a:gridCol w="69285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Ràng buộc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Mô tả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hasValue</a:t>
                      </a:r>
                      <a:endParaRPr sz="18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Kiểm tra nút đang được xử lý có giá trị được cho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Liệt kê các giá trị được phép của thuộc tính được cho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8" name="Google Shape;428;p51"/>
          <p:cNvSpPr txBox="1"/>
          <p:nvPr/>
        </p:nvSpPr>
        <p:spPr>
          <a:xfrm>
            <a:off x="692700" y="2432950"/>
            <a:ext cx="5955000" cy="2066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hasValue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Female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51"/>
          <p:cNvSpPr txBox="1"/>
          <p:nvPr/>
        </p:nvSpPr>
        <p:spPr>
          <a:xfrm>
            <a:off x="692700" y="4566175"/>
            <a:ext cx="6920400" cy="1802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Female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AnotherCompany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gender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Unknown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51"/>
          <p:cNvSpPr txBox="1"/>
          <p:nvPr/>
        </p:nvSpPr>
        <p:spPr>
          <a:xfrm>
            <a:off x="6361202" y="5571131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1"/>
          <p:cNvSpPr txBox="1"/>
          <p:nvPr/>
        </p:nvSpPr>
        <p:spPr>
          <a:xfrm>
            <a:off x="6589952" y="4982175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Ràng buộc giá trị với khuôn hình khác</a:t>
            </a:r>
            <a:endParaRPr/>
          </a:p>
        </p:txBody>
      </p:sp>
      <p:graphicFrame>
        <p:nvGraphicFramePr>
          <p:cNvPr id="438" name="Google Shape;438;p52"/>
          <p:cNvGraphicFramePr/>
          <p:nvPr/>
        </p:nvGraphicFramePr>
        <p:xfrm>
          <a:off x="311699" y="1005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461325"/>
                <a:gridCol w="7059275"/>
              </a:tblGrid>
              <a:tr h="4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Tất cả giá trị của thuộc tính được cho phải tương thích với khuôn hình. Đệ quy không được hỗ trợ trong phiên bản </a:t>
                      </a:r>
                      <a:r>
                        <a:rPr lang="en-GB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SHACL 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hiện tại.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9" name="Google Shape;439;p52"/>
          <p:cNvSpPr txBox="1"/>
          <p:nvPr/>
        </p:nvSpPr>
        <p:spPr>
          <a:xfrm>
            <a:off x="311700" y="2364825"/>
            <a:ext cx="67284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/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/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52"/>
          <p:cNvSpPr txBox="1"/>
          <p:nvPr/>
        </p:nvSpPr>
        <p:spPr>
          <a:xfrm>
            <a:off x="311700" y="4764750"/>
            <a:ext cx="7150500" cy="180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a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Another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OurCompany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"OurCompany"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Another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52"/>
          <p:cNvSpPr txBox="1"/>
          <p:nvPr/>
        </p:nvSpPr>
        <p:spPr>
          <a:xfrm>
            <a:off x="4141507" y="5017337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Khuôn hình và đệ quy</a:t>
            </a:r>
            <a:endParaRPr/>
          </a:p>
        </p:txBody>
      </p:sp>
      <p:sp>
        <p:nvSpPr>
          <p:cNvPr id="448" name="Google Shape;448;p53"/>
          <p:cNvSpPr txBox="1"/>
          <p:nvPr>
            <p:ph idx="4294967295" type="body"/>
          </p:nvPr>
        </p:nvSpPr>
        <p:spPr>
          <a:xfrm>
            <a:off x="311700" y="8996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Có thể tạo mô hình với chu trình như sau không</a:t>
            </a:r>
            <a:r>
              <a:rPr lang="en-GB"/>
              <a:t>?</a:t>
            </a:r>
            <a:endParaRPr/>
          </a:p>
        </p:txBody>
      </p:sp>
      <p:sp>
        <p:nvSpPr>
          <p:cNvPr id="449" name="Google Shape;449;p53"/>
          <p:cNvSpPr txBox="1"/>
          <p:nvPr/>
        </p:nvSpPr>
        <p:spPr>
          <a:xfrm>
            <a:off x="473550" y="1412550"/>
            <a:ext cx="3238200" cy="3540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53"/>
          <p:cNvSpPr txBox="1"/>
          <p:nvPr/>
        </p:nvSpPr>
        <p:spPr>
          <a:xfrm>
            <a:off x="4218980" y="1486172"/>
            <a:ext cx="782400" cy="12663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</a:t>
            </a:r>
            <a:endParaRPr/>
          </a:p>
        </p:txBody>
      </p:sp>
      <p:cxnSp>
        <p:nvCxnSpPr>
          <p:cNvPr id="451" name="Google Shape;451;p53"/>
          <p:cNvCxnSpPr/>
          <p:nvPr/>
        </p:nvCxnSpPr>
        <p:spPr>
          <a:xfrm>
            <a:off x="4218980" y="1831721"/>
            <a:ext cx="78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53"/>
          <p:cNvSpPr txBox="1"/>
          <p:nvPr/>
        </p:nvSpPr>
        <p:spPr>
          <a:xfrm>
            <a:off x="6507502" y="1486172"/>
            <a:ext cx="1839300" cy="12663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53"/>
          <p:cNvCxnSpPr/>
          <p:nvPr/>
        </p:nvCxnSpPr>
        <p:spPr>
          <a:xfrm flipH="1" rot="10800000">
            <a:off x="6507502" y="1831734"/>
            <a:ext cx="1839300" cy="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53"/>
          <p:cNvSpPr txBox="1"/>
          <p:nvPr/>
        </p:nvSpPr>
        <p:spPr>
          <a:xfrm>
            <a:off x="6507502" y="1831721"/>
            <a:ext cx="177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xsd:string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5" name="Google Shape;455;p53"/>
          <p:cNvCxnSpPr/>
          <p:nvPr/>
        </p:nvCxnSpPr>
        <p:spPr>
          <a:xfrm>
            <a:off x="5001372" y="1705321"/>
            <a:ext cx="1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56" name="Google Shape;456;p53"/>
          <p:cNvSpPr txBox="1"/>
          <p:nvPr/>
        </p:nvSpPr>
        <p:spPr>
          <a:xfrm>
            <a:off x="5108227" y="1383410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worksFor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7" name="Google Shape;457;p53"/>
          <p:cNvCxnSpPr/>
          <p:nvPr/>
        </p:nvCxnSpPr>
        <p:spPr>
          <a:xfrm rot="10800000">
            <a:off x="5001502" y="2516014"/>
            <a:ext cx="150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58" name="Google Shape;458;p53"/>
          <p:cNvSpPr txBox="1"/>
          <p:nvPr/>
        </p:nvSpPr>
        <p:spPr>
          <a:xfrm>
            <a:off x="5126139" y="2194103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53"/>
          <p:cNvSpPr txBox="1"/>
          <p:nvPr/>
        </p:nvSpPr>
        <p:spPr>
          <a:xfrm>
            <a:off x="3711749" y="5080050"/>
            <a:ext cx="512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Quy chuẩn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SHACL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hiện tại không hỗ trợ</a:t>
            </a:r>
            <a:endParaRPr/>
          </a:p>
        </p:txBody>
      </p:sp>
      <p:sp>
        <p:nvSpPr>
          <p:cNvPr id="460" name="Google Shape;460;p53"/>
          <p:cNvSpPr txBox="1"/>
          <p:nvPr/>
        </p:nvSpPr>
        <p:spPr>
          <a:xfrm>
            <a:off x="4218975" y="2990675"/>
            <a:ext cx="4613400" cy="196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4218975" y="5668825"/>
            <a:ext cx="38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Phụ thuộc vào triển khai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3"/>
          <p:cNvSpPr txBox="1"/>
          <p:nvPr/>
        </p:nvSpPr>
        <p:spPr>
          <a:xfrm>
            <a:off x="7314824" y="5582350"/>
            <a:ext cx="6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Bài tập 9.1</a:t>
            </a:r>
            <a:endParaRPr/>
          </a:p>
        </p:txBody>
      </p:sp>
      <p:sp>
        <p:nvSpPr>
          <p:cNvPr id="469" name="Google Shape;469;p54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Biểu diễn các khuôn hình với đường dẫn thuộc tính, không sử dụng đệ quy.</a:t>
            </a:r>
            <a:endParaRPr/>
          </a:p>
        </p:txBody>
      </p:sp>
      <p:sp>
        <p:nvSpPr>
          <p:cNvPr id="470" name="Google Shape;470;p54"/>
          <p:cNvSpPr txBox="1"/>
          <p:nvPr/>
        </p:nvSpPr>
        <p:spPr>
          <a:xfrm>
            <a:off x="4452480" y="2712273"/>
            <a:ext cx="782400" cy="12663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</a:t>
            </a:r>
            <a:endParaRPr/>
          </a:p>
        </p:txBody>
      </p:sp>
      <p:cxnSp>
        <p:nvCxnSpPr>
          <p:cNvPr id="471" name="Google Shape;471;p54"/>
          <p:cNvCxnSpPr/>
          <p:nvPr/>
        </p:nvCxnSpPr>
        <p:spPr>
          <a:xfrm>
            <a:off x="4452480" y="3057822"/>
            <a:ext cx="78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54"/>
          <p:cNvSpPr txBox="1"/>
          <p:nvPr/>
        </p:nvSpPr>
        <p:spPr>
          <a:xfrm>
            <a:off x="6741002" y="2712273"/>
            <a:ext cx="1839300" cy="12663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54"/>
          <p:cNvCxnSpPr/>
          <p:nvPr/>
        </p:nvCxnSpPr>
        <p:spPr>
          <a:xfrm flipH="1" rot="10800000">
            <a:off x="6741002" y="3057835"/>
            <a:ext cx="1839300" cy="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54"/>
          <p:cNvSpPr txBox="1"/>
          <p:nvPr/>
        </p:nvSpPr>
        <p:spPr>
          <a:xfrm>
            <a:off x="6741002" y="3057822"/>
            <a:ext cx="177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xsd:string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54"/>
          <p:cNvCxnSpPr/>
          <p:nvPr/>
        </p:nvCxnSpPr>
        <p:spPr>
          <a:xfrm>
            <a:off x="5234872" y="2931422"/>
            <a:ext cx="1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76" name="Google Shape;476;p54"/>
          <p:cNvSpPr txBox="1"/>
          <p:nvPr/>
        </p:nvSpPr>
        <p:spPr>
          <a:xfrm>
            <a:off x="5341727" y="2609511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worksFor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7" name="Google Shape;477;p54"/>
          <p:cNvCxnSpPr/>
          <p:nvPr/>
        </p:nvCxnSpPr>
        <p:spPr>
          <a:xfrm rot="10800000">
            <a:off x="5235002" y="3742115"/>
            <a:ext cx="150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478" name="Google Shape;478;p54"/>
          <p:cNvSpPr txBox="1"/>
          <p:nvPr/>
        </p:nvSpPr>
        <p:spPr>
          <a:xfrm>
            <a:off x="5359639" y="3420204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9" name="Google Shape;479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0" name="Google Shape;480;p54"/>
          <p:cNvSpPr txBox="1"/>
          <p:nvPr/>
        </p:nvSpPr>
        <p:spPr>
          <a:xfrm>
            <a:off x="433375" y="2184100"/>
            <a:ext cx="3801000" cy="40335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Thiết lập các ràng buộc: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-GB" sz="1800">
                <a:solidFill>
                  <a:schemeClr val="dk2"/>
                </a:solidFill>
              </a:rPr>
              <a:t>Giá trị của thuộc tính worksFor đối với các phần tử thuộc lớp :User phải thuộc lớp :Company.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-GB" sz="1800">
                <a:solidFill>
                  <a:schemeClr val="dk2"/>
                </a:solidFill>
              </a:rPr>
              <a:t>Đối với các phần tử thuộc lớp :Company thì: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-GB" sz="1800">
                <a:solidFill>
                  <a:schemeClr val="dk2"/>
                </a:solidFill>
              </a:rPr>
              <a:t>Giá trị của thuộc tính :name phải có kiểu xsd:string.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-GB" sz="1800">
                <a:solidFill>
                  <a:schemeClr val="dk2"/>
                </a:solidFill>
              </a:rPr>
              <a:t>Giá trị của thuộc tính employee phải thuộc lớp :User.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Bài tập </a:t>
            </a:r>
            <a:r>
              <a:rPr lang="en-GB"/>
              <a:t>9.1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486" name="Google Shape;486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7" name="Google Shape;487;p55"/>
          <p:cNvSpPr txBox="1"/>
          <p:nvPr/>
        </p:nvSpPr>
        <p:spPr>
          <a:xfrm>
            <a:off x="242300" y="1027675"/>
            <a:ext cx="5088300" cy="5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@prefix :       &lt;http://example.org/&gt; 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@prefix rdfs: &lt;http://www.w3.org/2000/01/rdf-schema#&gt; 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@prefix sh:     &lt;http://www.w3.org/ns/shacl#&gt; 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@prefix xsd: &lt;http://www.w3.org/2001/XMLSchema#&gt; 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:User a sh:NodeShape, rdfs:Class ;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sh:property [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  sh:path :worksFor;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  sh:class :Company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].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:Company a sh:NodeShape, rdfs:Class ;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sh:property [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  sh:path :name;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  sh:datatype xsd:string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];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sh:property [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  sh:path :employee ;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    sh:class :User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  ] 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88" name="Google Shape;488;p55"/>
          <p:cNvSpPr txBox="1"/>
          <p:nvPr/>
        </p:nvSpPr>
        <p:spPr>
          <a:xfrm>
            <a:off x="5229950" y="1027675"/>
            <a:ext cx="3833100" cy="5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@prefix :       &lt;http://example.org/&gt;.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:alice a :User 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  :worksFor :ABC 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:anton a :User 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  :worksFor :Something 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:alexa a :User 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  :worksFor "Pencil ltd".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:maria :worksFor :CMC.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:ABC a :Company 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  :name "ABC corp." 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  :employee :alice, :anton.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:CMC a :Company 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  :employee :maria.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Bài tập 9.1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494" name="Google Shape;494;p56"/>
          <p:cNvSpPr txBox="1"/>
          <p:nvPr>
            <p:ph idx="1" type="body"/>
          </p:nvPr>
        </p:nvSpPr>
        <p:spPr>
          <a:xfrm>
            <a:off x="311700" y="899675"/>
            <a:ext cx="85206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Một giải pháp khả thi: Định kiểu cho tài nguyên sau đó sử dụng ràng buộc lớp</a:t>
            </a:r>
            <a:r>
              <a:rPr lang="en-GB"/>
              <a:t> (</a:t>
            </a: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class)</a:t>
            </a:r>
            <a:endParaRPr/>
          </a:p>
        </p:txBody>
      </p:sp>
      <p:sp>
        <p:nvSpPr>
          <p:cNvPr id="495" name="Google Shape;495;p56"/>
          <p:cNvSpPr txBox="1"/>
          <p:nvPr/>
        </p:nvSpPr>
        <p:spPr>
          <a:xfrm>
            <a:off x="486349" y="2122217"/>
            <a:ext cx="3406200" cy="3786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56"/>
          <p:cNvSpPr txBox="1"/>
          <p:nvPr/>
        </p:nvSpPr>
        <p:spPr>
          <a:xfrm>
            <a:off x="4190400" y="3536025"/>
            <a:ext cx="4548900" cy="269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Something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OneCompany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56"/>
          <p:cNvSpPr txBox="1"/>
          <p:nvPr/>
        </p:nvSpPr>
        <p:spPr>
          <a:xfrm>
            <a:off x="7702223" y="4577325"/>
            <a:ext cx="62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6"/>
          <p:cNvSpPr txBox="1"/>
          <p:nvPr/>
        </p:nvSpPr>
        <p:spPr>
          <a:xfrm>
            <a:off x="4264043" y="2118603"/>
            <a:ext cx="782400" cy="12663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:User</a:t>
            </a:r>
            <a:endParaRPr/>
          </a:p>
        </p:txBody>
      </p:sp>
      <p:cxnSp>
        <p:nvCxnSpPr>
          <p:cNvPr id="499" name="Google Shape;499;p56"/>
          <p:cNvCxnSpPr/>
          <p:nvPr/>
        </p:nvCxnSpPr>
        <p:spPr>
          <a:xfrm>
            <a:off x="4264043" y="2464152"/>
            <a:ext cx="78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56"/>
          <p:cNvSpPr txBox="1"/>
          <p:nvPr/>
        </p:nvSpPr>
        <p:spPr>
          <a:xfrm>
            <a:off x="6552564" y="2118603"/>
            <a:ext cx="1839300" cy="12663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56"/>
          <p:cNvCxnSpPr/>
          <p:nvPr/>
        </p:nvCxnSpPr>
        <p:spPr>
          <a:xfrm flipH="1" rot="10800000">
            <a:off x="6552564" y="2464165"/>
            <a:ext cx="1839300" cy="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56"/>
          <p:cNvSpPr txBox="1"/>
          <p:nvPr/>
        </p:nvSpPr>
        <p:spPr>
          <a:xfrm>
            <a:off x="6552564" y="2464152"/>
            <a:ext cx="177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xsd:string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3" name="Google Shape;503;p56"/>
          <p:cNvCxnSpPr/>
          <p:nvPr/>
        </p:nvCxnSpPr>
        <p:spPr>
          <a:xfrm>
            <a:off x="5046434" y="2337752"/>
            <a:ext cx="15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504" name="Google Shape;504;p56"/>
          <p:cNvSpPr txBox="1"/>
          <p:nvPr/>
        </p:nvSpPr>
        <p:spPr>
          <a:xfrm>
            <a:off x="5153289" y="2015841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worksFor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5" name="Google Shape;505;p56"/>
          <p:cNvCxnSpPr/>
          <p:nvPr/>
        </p:nvCxnSpPr>
        <p:spPr>
          <a:xfrm rot="10800000">
            <a:off x="5046564" y="3148445"/>
            <a:ext cx="150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506" name="Google Shape;506;p56"/>
          <p:cNvSpPr txBox="1"/>
          <p:nvPr/>
        </p:nvSpPr>
        <p:spPr>
          <a:xfrm>
            <a:off x="5171201" y="2826534"/>
            <a:ext cx="125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7" name="Google Shape;507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sánh 2 đồ thị khuôn hình</a:t>
            </a:r>
            <a:endParaRPr/>
          </a:p>
        </p:txBody>
      </p:sp>
      <p:sp>
        <p:nvSpPr>
          <p:cNvPr id="513" name="Google Shape;513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4" name="Google Shape;514;p57"/>
          <p:cNvSpPr txBox="1"/>
          <p:nvPr/>
        </p:nvSpPr>
        <p:spPr>
          <a:xfrm>
            <a:off x="4930975" y="1488750"/>
            <a:ext cx="3406200" cy="3786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5" name="Google Shape;515;p57"/>
          <p:cNvSpPr txBox="1"/>
          <p:nvPr/>
        </p:nvSpPr>
        <p:spPr>
          <a:xfrm>
            <a:off x="473550" y="1488750"/>
            <a:ext cx="3539700" cy="3786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worksFor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Company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57"/>
          <p:cNvSpPr txBox="1"/>
          <p:nvPr/>
        </p:nvSpPr>
        <p:spPr>
          <a:xfrm>
            <a:off x="473425" y="5411975"/>
            <a:ext cx="3539700" cy="71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2"/>
                </a:solidFill>
              </a:rPr>
              <a:t>Phụ thuộc đệ quy</a:t>
            </a:r>
            <a:endParaRPr i="1" sz="2400">
              <a:solidFill>
                <a:schemeClr val="dk2"/>
              </a:solidFill>
            </a:endParaRPr>
          </a:p>
        </p:txBody>
      </p:sp>
      <p:sp>
        <p:nvSpPr>
          <p:cNvPr id="517" name="Google Shape;517;p57"/>
          <p:cNvSpPr txBox="1"/>
          <p:nvPr/>
        </p:nvSpPr>
        <p:spPr>
          <a:xfrm>
            <a:off x="4930975" y="5411975"/>
            <a:ext cx="3406200" cy="889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2"/>
                </a:solidFill>
              </a:rPr>
              <a:t>Phụ thuộc </a:t>
            </a:r>
            <a:r>
              <a:rPr i="1" lang="en-GB" sz="2400">
                <a:solidFill>
                  <a:schemeClr val="dk2"/>
                </a:solidFill>
              </a:rPr>
              <a:t>thường - Không đệ quy.</a:t>
            </a:r>
            <a:endParaRPr i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8"/>
          <p:cNvSpPr txBox="1"/>
          <p:nvPr/>
        </p:nvSpPr>
        <p:spPr>
          <a:xfrm>
            <a:off x="322750" y="796400"/>
            <a:ext cx="7401000" cy="54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Mô tả các ràng buộc cơ số trên sơ đồ bằng SHACL?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+ Các phần tử thuộc các lớp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:Motobike, :Engine, :Wheel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đều phải có ProductID.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+"/>
            </a:pPr>
            <a:r>
              <a:rPr lang="en-GB" sz="2400">
                <a:solidFill>
                  <a:schemeClr val="dk2"/>
                </a:solidFill>
              </a:rPr>
              <a:t>Thuộc tính useEngine cho 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phần tử thuộc lớp Motobike phải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có đúng 1 giá trị thuộc lớp :Engine.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+"/>
            </a:pPr>
            <a:r>
              <a:rPr lang="en-GB" sz="2400">
                <a:solidFill>
                  <a:schemeClr val="dk2"/>
                </a:solidFill>
              </a:rPr>
              <a:t>Thuộc tính useWheel cho phần tử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thuộc lớp Motobike phải có đúng 2 giá trị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khác nhau thuộc lớp :Wheel.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+"/>
            </a:pPr>
            <a:r>
              <a:rPr lang="en-GB" sz="2400">
                <a:solidFill>
                  <a:schemeClr val="dk2"/>
                </a:solidFill>
              </a:rPr>
              <a:t>Thuộc tính usedFor cho phần tử thuộc lớp :Engine phải có đúng 1 giá trị thuộc lớp Motobike.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+"/>
            </a:pPr>
            <a:r>
              <a:rPr lang="en-GB" sz="2400">
                <a:solidFill>
                  <a:schemeClr val="dk2"/>
                </a:solidFill>
              </a:rPr>
              <a:t>Thuộc tính usedFor cho phần tử thuộc lớp :Wheel phải có đúng 1 giá trị thuộc lớp Motobike.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23" name="Google Shape;523;p5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ài tập 9.2</a:t>
            </a:r>
            <a:endParaRPr/>
          </a:p>
        </p:txBody>
      </p:sp>
      <p:sp>
        <p:nvSpPr>
          <p:cNvPr id="524" name="Google Shape;524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5" name="Google Shape;525;p58"/>
          <p:cNvSpPr txBox="1"/>
          <p:nvPr/>
        </p:nvSpPr>
        <p:spPr>
          <a:xfrm>
            <a:off x="4741200" y="1598775"/>
            <a:ext cx="1250100" cy="970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Motobike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58"/>
          <p:cNvCxnSpPr/>
          <p:nvPr/>
        </p:nvCxnSpPr>
        <p:spPr>
          <a:xfrm>
            <a:off x="4741205" y="1944322"/>
            <a:ext cx="123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58"/>
          <p:cNvSpPr txBox="1"/>
          <p:nvPr/>
        </p:nvSpPr>
        <p:spPr>
          <a:xfrm>
            <a:off x="7636800" y="1598775"/>
            <a:ext cx="1250100" cy="970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58"/>
          <p:cNvCxnSpPr/>
          <p:nvPr/>
        </p:nvCxnSpPr>
        <p:spPr>
          <a:xfrm>
            <a:off x="7636805" y="1944322"/>
            <a:ext cx="123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58"/>
          <p:cNvSpPr txBox="1"/>
          <p:nvPr/>
        </p:nvSpPr>
        <p:spPr>
          <a:xfrm>
            <a:off x="7179600" y="2817975"/>
            <a:ext cx="1250100" cy="970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0" name="Google Shape;530;p58"/>
          <p:cNvCxnSpPr/>
          <p:nvPr/>
        </p:nvCxnSpPr>
        <p:spPr>
          <a:xfrm>
            <a:off x="7179605" y="3163522"/>
            <a:ext cx="123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58"/>
          <p:cNvCxnSpPr/>
          <p:nvPr/>
        </p:nvCxnSpPr>
        <p:spPr>
          <a:xfrm flipH="1" rot="10800000">
            <a:off x="5981225" y="1764450"/>
            <a:ext cx="1649100" cy="4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58"/>
          <p:cNvSpPr txBox="1"/>
          <p:nvPr/>
        </p:nvSpPr>
        <p:spPr>
          <a:xfrm>
            <a:off x="6041550" y="1390800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33" name="Google Shape;533;p58"/>
          <p:cNvSpPr txBox="1"/>
          <p:nvPr/>
        </p:nvSpPr>
        <p:spPr>
          <a:xfrm>
            <a:off x="7184550" y="1390800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1</a:t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534" name="Google Shape;534;p58"/>
          <p:cNvCxnSpPr/>
          <p:nvPr/>
        </p:nvCxnSpPr>
        <p:spPr>
          <a:xfrm>
            <a:off x="5739875" y="2578950"/>
            <a:ext cx="1407900" cy="8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58"/>
          <p:cNvSpPr txBox="1"/>
          <p:nvPr/>
        </p:nvSpPr>
        <p:spPr>
          <a:xfrm>
            <a:off x="6695175" y="3313025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2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36" name="Google Shape;536;p58"/>
          <p:cNvSpPr txBox="1"/>
          <p:nvPr/>
        </p:nvSpPr>
        <p:spPr>
          <a:xfrm>
            <a:off x="5552175" y="2474825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37" name="Google Shape;537;p58"/>
          <p:cNvSpPr txBox="1"/>
          <p:nvPr/>
        </p:nvSpPr>
        <p:spPr>
          <a:xfrm>
            <a:off x="6253275" y="1768675"/>
            <a:ext cx="982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:useEngine&gt;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38" name="Google Shape;538;p58"/>
          <p:cNvSpPr txBox="1"/>
          <p:nvPr/>
        </p:nvSpPr>
        <p:spPr>
          <a:xfrm rot="1842437">
            <a:off x="6036524" y="2647485"/>
            <a:ext cx="1160868" cy="410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:use</a:t>
            </a:r>
            <a:r>
              <a:rPr lang="en-GB">
                <a:solidFill>
                  <a:schemeClr val="dk2"/>
                </a:solidFill>
              </a:rPr>
              <a:t>Wheel</a:t>
            </a:r>
            <a:r>
              <a:rPr lang="en-GB">
                <a:solidFill>
                  <a:schemeClr val="dk2"/>
                </a:solidFill>
              </a:rPr>
              <a:t>&gt;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9" name="Google Shape;539;p58"/>
          <p:cNvSpPr txBox="1"/>
          <p:nvPr/>
        </p:nvSpPr>
        <p:spPr>
          <a:xfrm rot="1707194">
            <a:off x="5861538" y="2954186"/>
            <a:ext cx="1160479" cy="524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:use</a:t>
            </a:r>
            <a:r>
              <a:rPr lang="en-GB" sz="1500">
                <a:solidFill>
                  <a:schemeClr val="dk2"/>
                </a:solidFill>
              </a:rPr>
              <a:t>dFor&lt;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40" name="Google Shape;540;p58"/>
          <p:cNvSpPr txBox="1"/>
          <p:nvPr/>
        </p:nvSpPr>
        <p:spPr>
          <a:xfrm rot="889">
            <a:off x="6242538" y="1430207"/>
            <a:ext cx="116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:usedFor&lt;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</a:t>
            </a:r>
            <a:r>
              <a:rPr lang="en-GB"/>
              <a:t>9.2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546" name="Google Shape;546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7" name="Google Shape;547;p59"/>
          <p:cNvSpPr txBox="1"/>
          <p:nvPr/>
        </p:nvSpPr>
        <p:spPr>
          <a:xfrm>
            <a:off x="4741200" y="1217775"/>
            <a:ext cx="1250100" cy="970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:Motobike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Google Shape;548;p59"/>
          <p:cNvCxnSpPr/>
          <p:nvPr/>
        </p:nvCxnSpPr>
        <p:spPr>
          <a:xfrm>
            <a:off x="4741205" y="1563322"/>
            <a:ext cx="123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59"/>
          <p:cNvSpPr txBox="1"/>
          <p:nvPr/>
        </p:nvSpPr>
        <p:spPr>
          <a:xfrm>
            <a:off x="7636800" y="1217775"/>
            <a:ext cx="1250100" cy="970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:Engine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p59"/>
          <p:cNvCxnSpPr/>
          <p:nvPr/>
        </p:nvCxnSpPr>
        <p:spPr>
          <a:xfrm>
            <a:off x="7636805" y="1563322"/>
            <a:ext cx="123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59"/>
          <p:cNvSpPr txBox="1"/>
          <p:nvPr/>
        </p:nvSpPr>
        <p:spPr>
          <a:xfrm>
            <a:off x="7179600" y="2436975"/>
            <a:ext cx="1250100" cy="9702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:Wheel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59"/>
          <p:cNvCxnSpPr/>
          <p:nvPr/>
        </p:nvCxnSpPr>
        <p:spPr>
          <a:xfrm>
            <a:off x="7179605" y="2782522"/>
            <a:ext cx="123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59"/>
          <p:cNvCxnSpPr/>
          <p:nvPr/>
        </p:nvCxnSpPr>
        <p:spPr>
          <a:xfrm flipH="1" rot="10800000">
            <a:off x="5981225" y="1383450"/>
            <a:ext cx="1649100" cy="4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59"/>
          <p:cNvSpPr txBox="1"/>
          <p:nvPr/>
        </p:nvSpPr>
        <p:spPr>
          <a:xfrm>
            <a:off x="6041550" y="1009800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55" name="Google Shape;555;p59"/>
          <p:cNvSpPr txBox="1"/>
          <p:nvPr/>
        </p:nvSpPr>
        <p:spPr>
          <a:xfrm>
            <a:off x="7184550" y="1009800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1</a:t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556" name="Google Shape;556;p59"/>
          <p:cNvCxnSpPr/>
          <p:nvPr/>
        </p:nvCxnSpPr>
        <p:spPr>
          <a:xfrm>
            <a:off x="5739875" y="2197950"/>
            <a:ext cx="1407900" cy="8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59"/>
          <p:cNvSpPr txBox="1"/>
          <p:nvPr/>
        </p:nvSpPr>
        <p:spPr>
          <a:xfrm>
            <a:off x="6695175" y="2932025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2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58" name="Google Shape;558;p59"/>
          <p:cNvSpPr txBox="1"/>
          <p:nvPr/>
        </p:nvSpPr>
        <p:spPr>
          <a:xfrm>
            <a:off x="5552175" y="2093825"/>
            <a:ext cx="47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59" name="Google Shape;559;p59"/>
          <p:cNvSpPr txBox="1"/>
          <p:nvPr/>
        </p:nvSpPr>
        <p:spPr>
          <a:xfrm>
            <a:off x="6253275" y="1387675"/>
            <a:ext cx="982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:useEngine&gt;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60" name="Google Shape;560;p59"/>
          <p:cNvSpPr txBox="1"/>
          <p:nvPr/>
        </p:nvSpPr>
        <p:spPr>
          <a:xfrm rot="1842437">
            <a:off x="6036524" y="2266485"/>
            <a:ext cx="1160868" cy="410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:useWheel&gt;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61" name="Google Shape;561;p59"/>
          <p:cNvSpPr txBox="1"/>
          <p:nvPr/>
        </p:nvSpPr>
        <p:spPr>
          <a:xfrm rot="1707194">
            <a:off x="5861538" y="2573186"/>
            <a:ext cx="1160479" cy="524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:usedFor&lt;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62" name="Google Shape;562;p59"/>
          <p:cNvSpPr txBox="1"/>
          <p:nvPr/>
        </p:nvSpPr>
        <p:spPr>
          <a:xfrm rot="889">
            <a:off x="6242538" y="1049207"/>
            <a:ext cx="116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:usedFor&lt;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63" name="Google Shape;563;p59"/>
          <p:cNvSpPr txBox="1"/>
          <p:nvPr/>
        </p:nvSpPr>
        <p:spPr>
          <a:xfrm>
            <a:off x="282525" y="737175"/>
            <a:ext cx="8054700" cy="56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@prefix : &lt;http://semweb.edu.vn/vehicle#&gt;.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:cub1 a :Motobike;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:ProductID "11-22-33";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:useEngine :engine1;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:useWheel :w1, :w2.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:engine1 :ProductID "21-22-23-55";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:usedFor :cub1; a :Engine 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:w1 :ProductID "w111"; a :Wheel;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:usedFor :cub1.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:w2 :ProductID "w222"; a :Wheel;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:usedFor :cub1.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:engine2 :usedFor :cub1; a :Engine.  # Fail ???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:w3 :usedFor :cub1, :cub2; a :Wheel;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       :ProductID "W333".  #Failed ????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:cub2 a :Motobike .   # Failed ???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toán tử lô-gic</a:t>
            </a:r>
            <a:endParaRPr/>
          </a:p>
        </p:txBody>
      </p:sp>
      <p:graphicFrame>
        <p:nvGraphicFramePr>
          <p:cNvPr id="569" name="Google Shape;569;p60"/>
          <p:cNvGraphicFramePr/>
          <p:nvPr/>
        </p:nvGraphicFramePr>
        <p:xfrm>
          <a:off x="866125" y="968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966550"/>
                <a:gridCol w="5833700"/>
              </a:tblGrid>
              <a:tr h="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Toán tử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2400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Hội của 1 danh sách khuôn hình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Tuyển của 1 danh sách khuôn hình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not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Phủ định 1 khuôn hình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xone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Đúng 1 trong danh sách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0" name="Google Shape;570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Hội (và/</a:t>
            </a:r>
            <a:r>
              <a:rPr lang="en-GB"/>
              <a:t>and)</a:t>
            </a:r>
            <a:endParaRPr/>
          </a:p>
        </p:txBody>
      </p:sp>
      <p:sp>
        <p:nvSpPr>
          <p:cNvPr id="576" name="Google Shape;576;p61"/>
          <p:cNvSpPr txBox="1"/>
          <p:nvPr>
            <p:ph idx="4294967295" type="body"/>
          </p:nvPr>
        </p:nvSpPr>
        <p:spPr>
          <a:xfrm>
            <a:off x="311700" y="899675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Hội là liên kết mặc định</a:t>
            </a:r>
            <a:endParaRPr/>
          </a:p>
        </p:txBody>
      </p:sp>
      <p:sp>
        <p:nvSpPr>
          <p:cNvPr id="577" name="Google Shape;577;p61"/>
          <p:cNvSpPr txBox="1"/>
          <p:nvPr/>
        </p:nvSpPr>
        <p:spPr>
          <a:xfrm>
            <a:off x="740229" y="1665513"/>
            <a:ext cx="3744600" cy="329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61"/>
          <p:cNvSpPr txBox="1"/>
          <p:nvPr/>
        </p:nvSpPr>
        <p:spPr>
          <a:xfrm>
            <a:off x="4976989" y="1638324"/>
            <a:ext cx="3744600" cy="2801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affiliation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61"/>
          <p:cNvSpPr txBox="1"/>
          <p:nvPr/>
        </p:nvSpPr>
        <p:spPr>
          <a:xfrm>
            <a:off x="4595989" y="2915772"/>
            <a:ext cx="2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≡</a:t>
            </a:r>
            <a:endParaRPr/>
          </a:p>
        </p:txBody>
      </p:sp>
      <p:sp>
        <p:nvSpPr>
          <p:cNvPr id="580" name="Google Shape;580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Tuyển (hoặc/</a:t>
            </a:r>
            <a:r>
              <a:rPr lang="en-GB"/>
              <a:t>or)</a:t>
            </a:r>
            <a:endParaRPr/>
          </a:p>
        </p:txBody>
      </p:sp>
      <p:sp>
        <p:nvSpPr>
          <p:cNvPr id="586" name="Google Shape;586;p62"/>
          <p:cNvSpPr txBox="1"/>
          <p:nvPr/>
        </p:nvSpPr>
        <p:spPr>
          <a:xfrm>
            <a:off x="457200" y="1480200"/>
            <a:ext cx="4114800" cy="3791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62"/>
          <p:cNvSpPr txBox="1"/>
          <p:nvPr/>
        </p:nvSpPr>
        <p:spPr>
          <a:xfrm>
            <a:off x="4811475" y="1469575"/>
            <a:ext cx="4020900" cy="156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8" name="Google Shape;588;p62"/>
          <p:cNvSpPr txBox="1"/>
          <p:nvPr/>
        </p:nvSpPr>
        <p:spPr>
          <a:xfrm>
            <a:off x="8178473" y="2446250"/>
            <a:ext cx="5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Phủ định (</a:t>
            </a:r>
            <a:r>
              <a:rPr lang="en-GB"/>
              <a:t>not)</a:t>
            </a:r>
            <a:endParaRPr/>
          </a:p>
        </p:txBody>
      </p:sp>
      <p:sp>
        <p:nvSpPr>
          <p:cNvPr id="595" name="Google Shape;595;p63"/>
          <p:cNvSpPr txBox="1"/>
          <p:nvPr/>
        </p:nvSpPr>
        <p:spPr>
          <a:xfrm>
            <a:off x="423275" y="1306275"/>
            <a:ext cx="3579900" cy="219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NotFoaf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 [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63"/>
          <p:cNvSpPr txBox="1"/>
          <p:nvPr/>
        </p:nvSpPr>
        <p:spPr>
          <a:xfrm>
            <a:off x="4204225" y="1306275"/>
            <a:ext cx="4675800" cy="219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# ???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???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???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7" name="Google Shape;597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Phủ định (not)</a:t>
            </a:r>
            <a:r>
              <a:rPr baseline="-25000" lang="en-GB"/>
              <a:t>(</a:t>
            </a:r>
            <a:r>
              <a:rPr baseline="-25000" lang="en-GB"/>
              <a:t>2)</a:t>
            </a:r>
            <a:endParaRPr baseline="-25000"/>
          </a:p>
        </p:txBody>
      </p:sp>
      <p:sp>
        <p:nvSpPr>
          <p:cNvPr id="603" name="Google Shape;603;p64"/>
          <p:cNvSpPr txBox="1"/>
          <p:nvPr/>
        </p:nvSpPr>
        <p:spPr>
          <a:xfrm>
            <a:off x="423275" y="1306275"/>
            <a:ext cx="3579900" cy="219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NotFoaf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 [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predicate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64"/>
          <p:cNvSpPr txBox="1"/>
          <p:nvPr/>
        </p:nvSpPr>
        <p:spPr>
          <a:xfrm>
            <a:off x="4204225" y="1306275"/>
            <a:ext cx="4675800" cy="219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#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 # Fail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# Pass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5" name="Google Shape;605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Đúng 1 (xone)</a:t>
            </a:r>
            <a:endParaRPr/>
          </a:p>
        </p:txBody>
      </p:sp>
      <p:sp>
        <p:nvSpPr>
          <p:cNvPr id="611" name="Google Shape;611;p65"/>
          <p:cNvSpPr txBox="1"/>
          <p:nvPr/>
        </p:nvSpPr>
        <p:spPr>
          <a:xfrm>
            <a:off x="239475" y="1208325"/>
            <a:ext cx="3441900" cy="3786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xone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65"/>
          <p:cNvSpPr txBox="1"/>
          <p:nvPr/>
        </p:nvSpPr>
        <p:spPr>
          <a:xfrm>
            <a:off x="3896586" y="1208321"/>
            <a:ext cx="5077500" cy="3047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???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???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???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Đúng 1 (xone)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619" name="Google Shape;619;p66"/>
          <p:cNvSpPr txBox="1"/>
          <p:nvPr/>
        </p:nvSpPr>
        <p:spPr>
          <a:xfrm>
            <a:off x="239475" y="1208325"/>
            <a:ext cx="3441900" cy="3786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UserShape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xone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66"/>
          <p:cNvSpPr txBox="1"/>
          <p:nvPr/>
        </p:nvSpPr>
        <p:spPr>
          <a:xfrm>
            <a:off x="3896586" y="1208321"/>
            <a:ext cx="5077500" cy="3047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Pass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Pass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Fail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dave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#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Fail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"Dave"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</a:t>
            </a:r>
            <a:r>
              <a:rPr lang="en-GB"/>
              <a:t>ài tập 9.3</a:t>
            </a:r>
            <a:endParaRPr/>
          </a:p>
        </p:txBody>
      </p:sp>
      <p:sp>
        <p:nvSpPr>
          <p:cNvPr id="627" name="Google Shape;627;p67"/>
          <p:cNvSpPr txBox="1"/>
          <p:nvPr>
            <p:ph idx="4294967295" type="body"/>
          </p:nvPr>
        </p:nvSpPr>
        <p:spPr>
          <a:xfrm>
            <a:off x="311700" y="899675"/>
            <a:ext cx="8520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 </a:t>
            </a:r>
            <a:r>
              <a:rPr lang="en-GB"/>
              <a:t>Mẫu </a:t>
            </a:r>
            <a:r>
              <a:rPr lang="en-GB"/>
              <a:t>IF-THEN: IF X Then Y = (NOT X) OR Y</a:t>
            </a:r>
            <a:endParaRPr/>
          </a:p>
        </p:txBody>
      </p:sp>
      <p:sp>
        <p:nvSpPr>
          <p:cNvPr id="628" name="Google Shape;628;p67"/>
          <p:cNvSpPr txBox="1"/>
          <p:nvPr/>
        </p:nvSpPr>
        <p:spPr>
          <a:xfrm>
            <a:off x="409975" y="1379675"/>
            <a:ext cx="85206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434343"/>
                </a:solidFill>
              </a:rPr>
              <a:t>Tạo </a:t>
            </a:r>
            <a:r>
              <a:rPr i="1" lang="en-GB" sz="2400">
                <a:solidFill>
                  <a:srgbClr val="434343"/>
                </a:solidFill>
              </a:rPr>
              <a:t>khuôn hình</a:t>
            </a:r>
            <a:r>
              <a:rPr i="1" lang="en-GB" sz="2400">
                <a:solidFill>
                  <a:srgbClr val="434343"/>
                </a:solidFill>
              </a:rPr>
              <a:t> kiểm tra: Tất cả các các sản phẩm đều có đúng 1 productID, bên cạnh đó nếu sản phẩm thuộc lớp Vehicle thì các thuộc tính vehicleEngine và fuelType phải được cung cấp.</a:t>
            </a:r>
            <a:endParaRPr i="1" sz="2400">
              <a:solidFill>
                <a:srgbClr val="434343"/>
              </a:solidFill>
            </a:endParaRPr>
          </a:p>
        </p:txBody>
      </p:sp>
      <p:sp>
        <p:nvSpPr>
          <p:cNvPr id="629" name="Google Shape;629;p67"/>
          <p:cNvSpPr txBox="1"/>
          <p:nvPr/>
        </p:nvSpPr>
        <p:spPr>
          <a:xfrm>
            <a:off x="1623060" y="3068260"/>
            <a:ext cx="58218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p1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n-GB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GB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Tương thích</a:t>
            </a:r>
            <a:endParaRPr sz="18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"P1"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GB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GB" sz="18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Tương thích</a:t>
            </a:r>
            <a:endParaRPr sz="18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"P2"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fuelType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"Gasoline"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vehicleEngine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"X2"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p3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Không tương thích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"P3"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0" name="Google Shape;630;p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Bài tập 9.3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636" name="Google Shape;636;p68"/>
          <p:cNvSpPr txBox="1"/>
          <p:nvPr/>
        </p:nvSpPr>
        <p:spPr>
          <a:xfrm>
            <a:off x="388875" y="4331775"/>
            <a:ext cx="8300100" cy="239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@prefix :       &lt;http://semweb.edu.vn/people#&gt;  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@prefix sh:     &lt;http://www.w3.org/ns/shacl#&gt;  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@prefix xsd:    &lt;http://www.w3.org/2001/XMLSchema#&gt; 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:ProductShape a sh:NodeShape 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sh:targetNode :p1, :p2, :p3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sh:property [ sh:path :productID ; sh:minCount 1; sh:maxCount 1 ];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sh:or ([sh:not [sh:class :Vehicle]]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[sh:property [sh:path :fuelType; sh:minCount 1],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[sh:path :vehicleEngine; sh:minCount 1]]).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7" name="Google Shape;637;p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8" name="Google Shape;638;p68"/>
          <p:cNvSpPr txBox="1"/>
          <p:nvPr>
            <p:ph idx="4294967295" type="body"/>
          </p:nvPr>
        </p:nvSpPr>
        <p:spPr>
          <a:xfrm>
            <a:off x="311700" y="899675"/>
            <a:ext cx="8520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sz="2200"/>
              <a:t> Mẫu IF-THEN: IF X Then Y = (NOT X) OR Y</a:t>
            </a:r>
            <a:endParaRPr sz="2200"/>
          </a:p>
        </p:txBody>
      </p:sp>
      <p:sp>
        <p:nvSpPr>
          <p:cNvPr id="639" name="Google Shape;639;p68"/>
          <p:cNvSpPr txBox="1"/>
          <p:nvPr/>
        </p:nvSpPr>
        <p:spPr>
          <a:xfrm>
            <a:off x="409975" y="1379675"/>
            <a:ext cx="8520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434343"/>
                </a:solidFill>
              </a:rPr>
              <a:t>Tạo </a:t>
            </a:r>
            <a:r>
              <a:rPr i="1" lang="en-GB" sz="1800">
                <a:solidFill>
                  <a:srgbClr val="434343"/>
                </a:solidFill>
              </a:rPr>
              <a:t>khuôn hình</a:t>
            </a:r>
            <a:r>
              <a:rPr i="1" lang="en-GB" sz="1800">
                <a:solidFill>
                  <a:srgbClr val="434343"/>
                </a:solidFill>
              </a:rPr>
              <a:t> kiểm tra: Tất cả các các sản phẩm đều có đúng 1 productID, bên cạnh đó nếu sản phẩm thuộc lớp Vehicle thì các thuộc tính vehicleEngine và fuelType phải được cung cấp.</a:t>
            </a:r>
            <a:endParaRPr i="1" sz="1800">
              <a:solidFill>
                <a:srgbClr val="434343"/>
              </a:solidFill>
            </a:endParaRPr>
          </a:p>
        </p:txBody>
      </p:sp>
      <p:sp>
        <p:nvSpPr>
          <p:cNvPr id="640" name="Google Shape;640;p68"/>
          <p:cNvSpPr txBox="1"/>
          <p:nvPr/>
        </p:nvSpPr>
        <p:spPr>
          <a:xfrm>
            <a:off x="409975" y="2402600"/>
            <a:ext cx="8279100" cy="1773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p1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Tương thích</a:t>
            </a:r>
            <a:endParaRPr sz="16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"P1"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Tương thích</a:t>
            </a:r>
            <a:endParaRPr sz="16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"P2"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fuelType 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"Gasoline"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vehicleEngine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"X2"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p3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Vehicle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Không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"P3"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Bài tập 9.4</a:t>
            </a:r>
            <a:endParaRPr/>
          </a:p>
        </p:txBody>
      </p:sp>
      <p:sp>
        <p:nvSpPr>
          <p:cNvPr id="646" name="Google Shape;646;p69"/>
          <p:cNvSpPr txBox="1"/>
          <p:nvPr>
            <p:ph idx="1" type="body"/>
          </p:nvPr>
        </p:nvSpPr>
        <p:spPr>
          <a:xfrm>
            <a:off x="311700" y="899675"/>
            <a:ext cx="8520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Mẫu </a:t>
            </a:r>
            <a:r>
              <a:rPr lang="en-GB"/>
              <a:t>IF-THEN-ELSE</a:t>
            </a:r>
            <a:endParaRPr/>
          </a:p>
        </p:txBody>
      </p:sp>
      <p:sp>
        <p:nvSpPr>
          <p:cNvPr id="647" name="Google Shape;647;p69"/>
          <p:cNvSpPr txBox="1"/>
          <p:nvPr/>
        </p:nvSpPr>
        <p:spPr>
          <a:xfrm>
            <a:off x="417475" y="1492125"/>
            <a:ext cx="83220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434343"/>
                </a:solidFill>
              </a:rPr>
              <a:t>Tất cả sản phẩm đều phải có</a:t>
            </a:r>
            <a:r>
              <a:rPr i="1" lang="en-GB" sz="2400">
                <a:solidFill>
                  <a:srgbClr val="434343"/>
                </a:solidFill>
              </a:rPr>
              <a:t> :productID </a:t>
            </a:r>
            <a:r>
              <a:rPr i="1" lang="en-GB" sz="2400">
                <a:solidFill>
                  <a:srgbClr val="434343"/>
                </a:solidFill>
              </a:rPr>
              <a:t>và</a:t>
            </a:r>
            <a:r>
              <a:rPr i="1" lang="en-GB" sz="2400">
                <a:solidFill>
                  <a:srgbClr val="434343"/>
                </a:solidFill>
              </a:rPr>
              <a:t>, </a:t>
            </a:r>
            <a:r>
              <a:rPr i="1" lang="en-GB" sz="2400">
                <a:solidFill>
                  <a:srgbClr val="434343"/>
                </a:solidFill>
              </a:rPr>
              <a:t>nếu 1 sản phẩm có kiểu</a:t>
            </a:r>
            <a:r>
              <a:rPr i="1" lang="en-GB" sz="2400">
                <a:solidFill>
                  <a:srgbClr val="434343"/>
                </a:solidFill>
                <a:highlight>
                  <a:srgbClr val="FFFFFF"/>
                </a:highlight>
              </a:rPr>
              <a:t> :Vehicle </a:t>
            </a:r>
            <a:r>
              <a:rPr i="1" lang="en-GB" sz="2400">
                <a:solidFill>
                  <a:srgbClr val="434343"/>
                </a:solidFill>
              </a:rPr>
              <a:t>thì nó phải có thuộc tính</a:t>
            </a:r>
            <a:r>
              <a:rPr i="1" lang="en-GB" sz="2400">
                <a:solidFill>
                  <a:srgbClr val="434343"/>
                </a:solidFill>
              </a:rPr>
              <a:t> </a:t>
            </a:r>
            <a:r>
              <a:rPr i="1" lang="en-GB" sz="2400">
                <a:solidFill>
                  <a:srgbClr val="434343"/>
                </a:solidFill>
                <a:highlight>
                  <a:srgbClr val="FFFFFF"/>
                </a:highlight>
              </a:rPr>
              <a:t>:vehicleEngine </a:t>
            </a:r>
            <a:r>
              <a:rPr i="1" lang="en-GB" sz="2400">
                <a:solidFill>
                  <a:srgbClr val="434343"/>
                </a:solidFill>
              </a:rPr>
              <a:t>và</a:t>
            </a:r>
            <a:r>
              <a:rPr i="1" lang="en-GB" sz="2400">
                <a:solidFill>
                  <a:srgbClr val="434343"/>
                </a:solidFill>
              </a:rPr>
              <a:t> </a:t>
            </a:r>
            <a:r>
              <a:rPr i="1" lang="en-GB" sz="2400">
                <a:solidFill>
                  <a:srgbClr val="434343"/>
                </a:solidFill>
                <a:highlight>
                  <a:srgbClr val="FFFFFF"/>
                </a:highlight>
              </a:rPr>
              <a:t>:fuelType </a:t>
            </a:r>
            <a:r>
              <a:rPr i="1" lang="en-GB" sz="2400">
                <a:solidFill>
                  <a:srgbClr val="434343"/>
                </a:solidFill>
              </a:rPr>
              <a:t>ngược lại nó phải có thuộc tính</a:t>
            </a:r>
            <a:r>
              <a:rPr i="1" lang="en-GB" sz="2400">
                <a:solidFill>
                  <a:srgbClr val="434343"/>
                </a:solidFill>
              </a:rPr>
              <a:t> </a:t>
            </a:r>
            <a:r>
              <a:rPr i="1" lang="en-GB" sz="2400">
                <a:solidFill>
                  <a:srgbClr val="434343"/>
                </a:solidFill>
                <a:highlight>
                  <a:srgbClr val="FFFFFF"/>
                </a:highlight>
              </a:rPr>
              <a:t>:category</a:t>
            </a:r>
            <a:r>
              <a:rPr i="1" lang="en-GB" sz="2400">
                <a:solidFill>
                  <a:srgbClr val="434343"/>
                </a:solidFill>
              </a:rPr>
              <a:t> </a:t>
            </a:r>
            <a:r>
              <a:rPr i="1" lang="en-GB" sz="2400">
                <a:solidFill>
                  <a:srgbClr val="434343"/>
                </a:solidFill>
              </a:rPr>
              <a:t>với giá trị là chuỗi</a:t>
            </a:r>
            <a:r>
              <a:rPr i="1" lang="en-GB" sz="2400">
                <a:solidFill>
                  <a:srgbClr val="434343"/>
                </a:solidFill>
              </a:rPr>
              <a:t>.</a:t>
            </a:r>
            <a:endParaRPr i="1" sz="2400">
              <a:solidFill>
                <a:srgbClr val="434343"/>
              </a:solidFill>
            </a:endParaRPr>
          </a:p>
        </p:txBody>
      </p:sp>
      <p:sp>
        <p:nvSpPr>
          <p:cNvPr id="648" name="Google Shape;648;p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Khoảng giá trị</a:t>
            </a:r>
            <a:endParaRPr/>
          </a:p>
        </p:txBody>
      </p:sp>
      <p:graphicFrame>
        <p:nvGraphicFramePr>
          <p:cNvPr id="654" name="Google Shape;654;p70"/>
          <p:cNvGraphicFramePr/>
          <p:nvPr/>
        </p:nvGraphicFramePr>
        <p:xfrm>
          <a:off x="464194" y="10520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733925"/>
                <a:gridCol w="2584925"/>
              </a:tblGrid>
              <a:tr h="28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minInclusive</a:t>
                      </a:r>
                      <a:endParaRPr sz="18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maxInclusive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minExclusive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maxExclusive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5" name="Google Shape;655;p70"/>
          <p:cNvSpPr txBox="1"/>
          <p:nvPr/>
        </p:nvSpPr>
        <p:spPr>
          <a:xfrm>
            <a:off x="311700" y="3535675"/>
            <a:ext cx="42030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minInclusive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maxInclusive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</p:txBody>
      </p:sp>
      <p:sp>
        <p:nvSpPr>
          <p:cNvPr id="656" name="Google Shape;656;p70"/>
          <p:cNvSpPr txBox="1"/>
          <p:nvPr/>
        </p:nvSpPr>
        <p:spPr>
          <a:xfrm>
            <a:off x="4693826" y="3480525"/>
            <a:ext cx="41385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bad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average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veryGood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zero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ratingValue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57" name="Google Shape;657;p70"/>
          <p:cNvSpPr txBox="1"/>
          <p:nvPr/>
        </p:nvSpPr>
        <p:spPr>
          <a:xfrm>
            <a:off x="8114754" y="495538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dựa trên chuỗi</a:t>
            </a:r>
            <a:endParaRPr/>
          </a:p>
        </p:txBody>
      </p:sp>
      <p:graphicFrame>
        <p:nvGraphicFramePr>
          <p:cNvPr id="664" name="Google Shape;664;p71"/>
          <p:cNvGraphicFramePr/>
          <p:nvPr/>
        </p:nvGraphicFramePr>
        <p:xfrm>
          <a:off x="744476" y="10741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889325"/>
                <a:gridCol w="54771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minLength</a:t>
                      </a:r>
                      <a:endParaRPr sz="18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Giới hạn độ dài tối thiểu trên giá trị chuỗi của nút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maxLength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Giới hạn độ dài tối đa trên giá trị chuỗi của nút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pattern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Kiểm tra giá trị chuỗi khớp với biểu thức chính quy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5" name="Google Shape;665;p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Độ dài tối thiểu/tối đa</a:t>
            </a:r>
            <a:endParaRPr/>
          </a:p>
        </p:txBody>
      </p:sp>
      <p:sp>
        <p:nvSpPr>
          <p:cNvPr id="671" name="Google Shape;671;p72"/>
          <p:cNvSpPr txBox="1"/>
          <p:nvPr/>
        </p:nvSpPr>
        <p:spPr>
          <a:xfrm>
            <a:off x="443312" y="2699598"/>
            <a:ext cx="35097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minLength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maxLength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2" name="Google Shape;672;p72"/>
          <p:cNvSpPr txBox="1"/>
          <p:nvPr/>
        </p:nvSpPr>
        <p:spPr>
          <a:xfrm>
            <a:off x="4216459" y="2683751"/>
            <a:ext cx="40377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strange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_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strange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3" name="Google Shape;673;p72"/>
          <p:cNvSpPr txBox="1"/>
          <p:nvPr/>
        </p:nvSpPr>
        <p:spPr>
          <a:xfrm>
            <a:off x="7665147" y="4236986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72"/>
          <p:cNvSpPr txBox="1"/>
          <p:nvPr>
            <p:ph idx="1" type="body"/>
          </p:nvPr>
        </p:nvSpPr>
        <p:spPr>
          <a:xfrm>
            <a:off x="311700" y="899675"/>
            <a:ext cx="85206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Kiểm tra biểu diễn chuỗi của giá trị: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áp dụng được cho các nút rỗng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minLength = 0 </a:t>
            </a:r>
            <a:r>
              <a:rPr lang="en-GB"/>
              <a:t>được quy ước là</a:t>
            </a:r>
            <a:r>
              <a:rPr lang="en-GB"/>
              <a:t> </a:t>
            </a:r>
            <a:r>
              <a:rPr lang="en-GB"/>
              <a:t>không có giới hạn đối với độ dài chuỗi.</a:t>
            </a:r>
            <a:endParaRPr/>
          </a:p>
        </p:txBody>
      </p:sp>
      <p:sp>
        <p:nvSpPr>
          <p:cNvPr id="675" name="Google Shape;675;p72"/>
          <p:cNvSpPr txBox="1"/>
          <p:nvPr/>
        </p:nvSpPr>
        <p:spPr>
          <a:xfrm>
            <a:off x="7665147" y="3161351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72"/>
          <p:cNvSpPr txBox="1"/>
          <p:nvPr/>
        </p:nvSpPr>
        <p:spPr>
          <a:xfrm>
            <a:off x="7731271" y="3596241"/>
            <a:ext cx="29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Mẫu (pattern)</a:t>
            </a:r>
            <a:endParaRPr/>
          </a:p>
        </p:txBody>
      </p:sp>
      <p:sp>
        <p:nvSpPr>
          <p:cNvPr id="683" name="Google Shape;683;p73"/>
          <p:cNvSpPr txBox="1"/>
          <p:nvPr>
            <p:ph idx="1" type="body"/>
          </p:nvPr>
        </p:nvSpPr>
        <p:spPr>
          <a:xfrm>
            <a:off x="311700" y="899675"/>
            <a:ext cx="85206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544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Kiểm tra giá trị khớp với biểu thức chính quy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Có thể kết hợp với sh:flags</a:t>
            </a:r>
            <a:endParaRPr/>
          </a:p>
        </p:txBody>
      </p:sp>
      <p:sp>
        <p:nvSpPr>
          <p:cNvPr id="684" name="Google Shape;684;p73"/>
          <p:cNvSpPr txBox="1"/>
          <p:nvPr/>
        </p:nvSpPr>
        <p:spPr>
          <a:xfrm>
            <a:off x="376500" y="1961856"/>
            <a:ext cx="3711300" cy="2031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"^P\\d{3,4}"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p73"/>
          <p:cNvSpPr txBox="1"/>
          <p:nvPr/>
        </p:nvSpPr>
        <p:spPr>
          <a:xfrm>
            <a:off x="4384625" y="1958725"/>
            <a:ext cx="4163700" cy="2308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 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"P2345"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bus 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"p567"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truck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"P12"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C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bike  </a:t>
            </a:r>
            <a:r>
              <a:rPr lang="en-GB" sz="18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"B123"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73"/>
          <p:cNvSpPr txBox="1"/>
          <p:nvPr/>
        </p:nvSpPr>
        <p:spPr>
          <a:xfrm>
            <a:off x="7822544" y="3454999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73"/>
          <p:cNvSpPr txBox="1"/>
          <p:nvPr/>
        </p:nvSpPr>
        <p:spPr>
          <a:xfrm>
            <a:off x="7822544" y="294899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7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Ràng buộc dựa trên ngôn ngữ</a:t>
            </a:r>
            <a:endParaRPr/>
          </a:p>
        </p:txBody>
      </p:sp>
      <p:graphicFrame>
        <p:nvGraphicFramePr>
          <p:cNvPr id="694" name="Google Shape;694;p74"/>
          <p:cNvGraphicFramePr/>
          <p:nvPr/>
        </p:nvGraphicFramePr>
        <p:xfrm>
          <a:off x="381899" y="1417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643925"/>
                <a:gridCol w="6647650"/>
              </a:tblGrid>
              <a:tr h="36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languageIn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Khai báo các ngôn ngữ được phép của hằng giá trị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uniqueLang</a:t>
                      </a:r>
                      <a:endParaRPr sz="18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Quy định không có cặp nút nào có cùng thẻ ngôn ngữ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5" name="Google Shape;695;p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languageIn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75"/>
          <p:cNvSpPr txBox="1"/>
          <p:nvPr>
            <p:ph idx="4294967295" type="body"/>
          </p:nvPr>
        </p:nvSpPr>
        <p:spPr>
          <a:xfrm>
            <a:off x="311700" y="899675"/>
            <a:ext cx="85206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Giới hạn các thẻ ngôn ngữ có thể được sử dụng cho hằng giá trị</a:t>
            </a:r>
            <a:endParaRPr/>
          </a:p>
        </p:txBody>
      </p:sp>
      <p:sp>
        <p:nvSpPr>
          <p:cNvPr id="702" name="Google Shape;702;p75"/>
          <p:cNvSpPr txBox="1"/>
          <p:nvPr/>
        </p:nvSpPr>
        <p:spPr>
          <a:xfrm>
            <a:off x="914775" y="1997550"/>
            <a:ext cx="5586900" cy="1513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languageIn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"es"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75"/>
          <p:cNvSpPr txBox="1"/>
          <p:nvPr/>
        </p:nvSpPr>
        <p:spPr>
          <a:xfrm>
            <a:off x="914775" y="3663750"/>
            <a:ext cx="5586900" cy="286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p234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"jamón"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"ham"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p235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"milk"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p236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"Käse"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p237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"patatas"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"kartofeln"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4" name="Google Shape;704;p75"/>
          <p:cNvSpPr txBox="1"/>
          <p:nvPr/>
        </p:nvSpPr>
        <p:spPr>
          <a:xfrm>
            <a:off x="4523084" y="477984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5"/>
          <p:cNvSpPr txBox="1"/>
          <p:nvPr/>
        </p:nvSpPr>
        <p:spPr>
          <a:xfrm>
            <a:off x="4523084" y="5578571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7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uniqueLang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2" name="Google Shape;712;p76"/>
          <p:cNvSpPr txBox="1"/>
          <p:nvPr>
            <p:ph idx="4294967295" type="body"/>
          </p:nvPr>
        </p:nvSpPr>
        <p:spPr>
          <a:xfrm>
            <a:off x="311700" y="899675"/>
            <a:ext cx="85206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Đảm bảo không cặp bộ-3 nào của cùng 1 chủ thể có cùng thẻ ngôn ngữ</a:t>
            </a:r>
            <a:endParaRPr/>
          </a:p>
        </p:txBody>
      </p:sp>
      <p:sp>
        <p:nvSpPr>
          <p:cNvPr id="713" name="Google Shape;713;p76"/>
          <p:cNvSpPr txBox="1"/>
          <p:nvPr/>
        </p:nvSpPr>
        <p:spPr>
          <a:xfrm>
            <a:off x="523282" y="1816775"/>
            <a:ext cx="6114600" cy="1754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CountryShape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uniqueLang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4" name="Google Shape;714;p76"/>
          <p:cNvSpPr txBox="1"/>
          <p:nvPr/>
        </p:nvSpPr>
        <p:spPr>
          <a:xfrm>
            <a:off x="523275" y="3677025"/>
            <a:ext cx="6627300" cy="314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spain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"Spain"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"España"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france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"Francia"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italy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usa  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"USA"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"United States"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5" name="Google Shape;715;p76"/>
          <p:cNvSpPr txBox="1"/>
          <p:nvPr/>
        </p:nvSpPr>
        <p:spPr>
          <a:xfrm>
            <a:off x="5952021" y="612288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Bài tập 9.5</a:t>
            </a:r>
            <a:endParaRPr/>
          </a:p>
        </p:txBody>
      </p:sp>
      <p:sp>
        <p:nvSpPr>
          <p:cNvPr id="722" name="Google Shape;722;p77"/>
          <p:cNvSpPr txBox="1"/>
          <p:nvPr>
            <p:ph idx="1" type="body"/>
          </p:nvPr>
        </p:nvSpPr>
        <p:spPr>
          <a:xfrm>
            <a:off x="311700" y="899675"/>
            <a:ext cx="85206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Nút phải có đúng 1 giá trị chuỗi tiếng anh và 1 giá trị chuỗi tiếng tây ban nha cho thuộc tính skos:prefLabel.</a:t>
            </a:r>
            <a:endParaRPr/>
          </a:p>
        </p:txBody>
      </p:sp>
      <p:sp>
        <p:nvSpPr>
          <p:cNvPr id="723" name="Google Shape;723;p77"/>
          <p:cNvSpPr txBox="1"/>
          <p:nvPr/>
        </p:nvSpPr>
        <p:spPr>
          <a:xfrm>
            <a:off x="853440" y="2042410"/>
            <a:ext cx="52296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spain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"Spain"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"España"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france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"Francia"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italy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usa   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skos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prefLabel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"USA"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"United States"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p77"/>
          <p:cNvSpPr txBox="1"/>
          <p:nvPr/>
        </p:nvSpPr>
        <p:spPr>
          <a:xfrm>
            <a:off x="4957390" y="505253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77"/>
          <p:cNvSpPr txBox="1"/>
          <p:nvPr/>
        </p:nvSpPr>
        <p:spPr>
          <a:xfrm>
            <a:off x="4095977" y="411138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77"/>
          <p:cNvSpPr txBox="1"/>
          <p:nvPr/>
        </p:nvSpPr>
        <p:spPr>
          <a:xfrm>
            <a:off x="4476977" y="3273180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Ràng buộc cặp thuộc tính</a:t>
            </a:r>
            <a:endParaRPr/>
          </a:p>
        </p:txBody>
      </p:sp>
      <p:graphicFrame>
        <p:nvGraphicFramePr>
          <p:cNvPr id="733" name="Google Shape;733;p78"/>
          <p:cNvGraphicFramePr/>
          <p:nvPr/>
        </p:nvGraphicFramePr>
        <p:xfrm>
          <a:off x="457201" y="967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106525"/>
                <a:gridCol w="626857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equals</a:t>
                      </a:r>
                      <a:endParaRPr sz="18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Tập giá trị của 2 thuộc tính được cho đối với nút được kiểm tra phải bằng nhau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disjoint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Tập giá trị của 2 thuộc tính được cho đối với nút được kiểm tra phải khác nhau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lessThan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Các giá trị phải nhỏ hơn giá trị của thuộc tính kia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lessThanOrEquals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Các giá trị phải nhỏ hơn hoặc bằng giá trị của thuộc tính kia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4" name="Google Shape;734;p78"/>
          <p:cNvSpPr txBox="1"/>
          <p:nvPr/>
        </p:nvSpPr>
        <p:spPr>
          <a:xfrm>
            <a:off x="464100" y="3602225"/>
            <a:ext cx="8160900" cy="875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equals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disjoint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p78"/>
          <p:cNvSpPr txBox="1"/>
          <p:nvPr/>
        </p:nvSpPr>
        <p:spPr>
          <a:xfrm>
            <a:off x="464100" y="4577925"/>
            <a:ext cx="8160900" cy="156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"Cooper"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"Smith"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foaf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firstName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6" name="Google Shape;736;p78"/>
          <p:cNvSpPr txBox="1"/>
          <p:nvPr/>
        </p:nvSpPr>
        <p:spPr>
          <a:xfrm>
            <a:off x="5767178" y="4940686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78"/>
          <p:cNvSpPr txBox="1"/>
          <p:nvPr/>
        </p:nvSpPr>
        <p:spPr>
          <a:xfrm>
            <a:off x="5919578" y="5464391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khuôn hình đóng</a:t>
            </a:r>
            <a:endParaRPr/>
          </a:p>
        </p:txBody>
      </p:sp>
      <p:graphicFrame>
        <p:nvGraphicFramePr>
          <p:cNvPr id="744" name="Google Shape;744;p79"/>
          <p:cNvGraphicFramePr/>
          <p:nvPr/>
        </p:nvGraphicFramePr>
        <p:xfrm>
          <a:off x="457200" y="9267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990250"/>
                <a:gridCol w="6389250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closed</a:t>
                      </a:r>
                      <a:endParaRPr sz="18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Tài nguyên hợp lệ chỉ được có các thuộc tính xuất hiện trong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rgbClr val="4F612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:property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ignoredProperties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Danh sách thuộc tính được phép sử dụng nhưng không bắt buộc.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5" name="Google Shape;745;p79"/>
          <p:cNvSpPr txBox="1"/>
          <p:nvPr/>
        </p:nvSpPr>
        <p:spPr>
          <a:xfrm>
            <a:off x="457200" y="2761626"/>
            <a:ext cx="8272200" cy="1491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closed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ignoredProperties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79"/>
          <p:cNvSpPr txBox="1"/>
          <p:nvPr/>
        </p:nvSpPr>
        <p:spPr>
          <a:xfrm>
            <a:off x="457200" y="4426525"/>
            <a:ext cx="7075500" cy="2108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 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Employee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"Smith"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carol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lastName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"King"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"Carol"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79"/>
          <p:cNvSpPr txBox="1"/>
          <p:nvPr/>
        </p:nvSpPr>
        <p:spPr>
          <a:xfrm>
            <a:off x="3534893" y="5779184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7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Khu</a:t>
            </a:r>
            <a:r>
              <a:rPr lang="en-GB"/>
              <a:t>ôn hình giá trị đã được xác nhận </a:t>
            </a:r>
            <a:endParaRPr/>
          </a:p>
        </p:txBody>
      </p:sp>
      <p:sp>
        <p:nvSpPr>
          <p:cNvPr id="754" name="Google Shape;754;p80"/>
          <p:cNvSpPr txBox="1"/>
          <p:nvPr>
            <p:ph idx="4294967295" type="body"/>
          </p:nvPr>
        </p:nvSpPr>
        <p:spPr>
          <a:xfrm>
            <a:off x="311700" y="899675"/>
            <a:ext cx="85206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Vấn đề với thuộc tính lặp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Ví dụ</a:t>
            </a:r>
            <a:r>
              <a:rPr lang="en-GB"/>
              <a:t>: </a:t>
            </a:r>
            <a:r>
              <a:rPr lang="en-GB"/>
              <a:t>Sách có 2 mã định danh</a:t>
            </a:r>
            <a:r>
              <a:rPr lang="en-GB"/>
              <a:t> (isbn </a:t>
            </a:r>
            <a:r>
              <a:rPr lang="en-GB"/>
              <a:t>và</a:t>
            </a:r>
            <a:r>
              <a:rPr lang="en-GB"/>
              <a:t> </a:t>
            </a:r>
            <a:r>
              <a:rPr lang="en-GB"/>
              <a:t>mã nội bộ</a:t>
            </a:r>
            <a:r>
              <a:rPr lang="en-GB"/>
              <a:t>)</a:t>
            </a:r>
            <a:endParaRPr/>
          </a:p>
        </p:txBody>
      </p:sp>
      <p:sp>
        <p:nvSpPr>
          <p:cNvPr id="755" name="Google Shape;755;p80"/>
          <p:cNvSpPr txBox="1"/>
          <p:nvPr/>
        </p:nvSpPr>
        <p:spPr>
          <a:xfrm>
            <a:off x="390625" y="1892375"/>
            <a:ext cx="3793500" cy="3694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 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"^isbn"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datatype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xsd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GB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 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"^code"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6" name="Google Shape;756;p80"/>
          <p:cNvSpPr txBox="1"/>
          <p:nvPr/>
        </p:nvSpPr>
        <p:spPr>
          <a:xfrm>
            <a:off x="4314150" y="3162900"/>
            <a:ext cx="42744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b1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"isbn:123-456-789"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8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"code234"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7" name="Google Shape;757;p80"/>
          <p:cNvSpPr txBox="1"/>
          <p:nvPr/>
        </p:nvSpPr>
        <p:spPr>
          <a:xfrm>
            <a:off x="4314150" y="4145700"/>
            <a:ext cx="42744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</a:rPr>
              <a:t>!Hợp lệ nhưng kết quả kiểm tra sẽ không hợp lệ!</a:t>
            </a:r>
            <a:endParaRPr i="1" sz="1800"/>
          </a:p>
        </p:txBody>
      </p:sp>
      <p:sp>
        <p:nvSpPr>
          <p:cNvPr id="758" name="Google Shape;758;p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Khuôn hình giá trị tương thích ràng buộc</a:t>
            </a:r>
            <a:endParaRPr/>
          </a:p>
        </p:txBody>
      </p:sp>
      <p:sp>
        <p:nvSpPr>
          <p:cNvPr id="764" name="Google Shape;764;p81"/>
          <p:cNvSpPr txBox="1"/>
          <p:nvPr>
            <p:ph idx="4294967295" type="body"/>
          </p:nvPr>
        </p:nvSpPr>
        <p:spPr>
          <a:xfrm>
            <a:off x="311700" y="899675"/>
            <a:ext cx="85206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Chỉ đếm giá trị đã được xác định tương thích với ràng buộc khuôn hình được cho.</a:t>
            </a:r>
            <a:endParaRPr/>
          </a:p>
        </p:txBody>
      </p:sp>
      <p:sp>
        <p:nvSpPr>
          <p:cNvPr id="765" name="Google Shape;765;p81"/>
          <p:cNvSpPr txBox="1"/>
          <p:nvPr/>
        </p:nvSpPr>
        <p:spPr>
          <a:xfrm>
            <a:off x="571210" y="2293600"/>
            <a:ext cx="6858300" cy="329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Book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maxCount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qualifiedValueShape [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FF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"^isbn"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qualifiedMinCount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qualifiedValueShape [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FF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"^code"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81"/>
          <p:cNvSpPr txBox="1"/>
          <p:nvPr/>
        </p:nvSpPr>
        <p:spPr>
          <a:xfrm>
            <a:off x="573427" y="5713925"/>
            <a:ext cx="4143600" cy="60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b1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"isbn:123-456-789"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productID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"code234"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7" name="Google Shape;767;p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phi hành vi</a:t>
            </a:r>
            <a:endParaRPr/>
          </a:p>
        </p:txBody>
      </p:sp>
      <p:sp>
        <p:nvSpPr>
          <p:cNvPr id="773" name="Google Shape;773;p82"/>
          <p:cNvSpPr txBox="1"/>
          <p:nvPr>
            <p:ph idx="4294967295" type="body"/>
          </p:nvPr>
        </p:nvSpPr>
        <p:spPr>
          <a:xfrm>
            <a:off x="311700" y="899675"/>
            <a:ext cx="85206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Có thể hữu ích để tạo ghi chú cho các khuôn hình, sử dụng cho các giao diện đồ họa</a:t>
            </a:r>
            <a:endParaRPr/>
          </a:p>
        </p:txBody>
      </p:sp>
      <p:graphicFrame>
        <p:nvGraphicFramePr>
          <p:cNvPr id="774" name="Google Shape;774;p82"/>
          <p:cNvGraphicFramePr/>
          <p:nvPr/>
        </p:nvGraphicFramePr>
        <p:xfrm>
          <a:off x="583052" y="1949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674550"/>
                <a:gridCol w="5820525"/>
              </a:tblGrid>
              <a:tr h="41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Cung cấp nhãn cho người đọc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Cung cấp mô tả cho 1 thuộc tính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Thứ tự tương đối của thuộc tính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Gom nhiều ràng buộc thành nhóm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5" name="Google Shape;775;p82"/>
          <p:cNvSpPr txBox="1"/>
          <p:nvPr/>
        </p:nvSpPr>
        <p:spPr>
          <a:xfrm>
            <a:off x="583050" y="4143400"/>
            <a:ext cx="5551800" cy="231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a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url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"URL"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description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"User URL"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description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"User name"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8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phi hành vi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782" name="Google Shape;782;p83"/>
          <p:cNvSpPr txBox="1"/>
          <p:nvPr/>
        </p:nvSpPr>
        <p:spPr>
          <a:xfrm>
            <a:off x="311700" y="1074075"/>
            <a:ext cx="4978500" cy="3591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url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"URL"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userDetails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userDetails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address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"Address"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country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"Country"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3" name="Google Shape;783;p83"/>
          <p:cNvSpPr txBox="1"/>
          <p:nvPr/>
        </p:nvSpPr>
        <p:spPr>
          <a:xfrm>
            <a:off x="275725" y="4794000"/>
            <a:ext cx="5195700" cy="1423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userDetails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PropertyGroup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"User details"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location </a:t>
            </a: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PropertyGroup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order </a:t>
            </a:r>
            <a:r>
              <a:rPr lang="en-GB" sz="16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rdfs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"Location"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4" name="Google Shape;784;p83"/>
          <p:cNvSpPr txBox="1"/>
          <p:nvPr/>
        </p:nvSpPr>
        <p:spPr>
          <a:xfrm>
            <a:off x="5811174" y="1627575"/>
            <a:ext cx="2963100" cy="3170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User details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URL: _____________________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Name: ___________________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Address: 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Country: __________________</a:t>
            </a:r>
            <a:endParaRPr/>
          </a:p>
        </p:txBody>
      </p:sp>
      <p:sp>
        <p:nvSpPr>
          <p:cNvPr id="785" name="Google Shape;785;p83"/>
          <p:cNvSpPr txBox="1"/>
          <p:nvPr/>
        </p:nvSpPr>
        <p:spPr>
          <a:xfrm>
            <a:off x="5769125" y="899675"/>
            <a:ext cx="306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Công cụ phần mềm có thể sinh biểu mẫu, ví dụ</a:t>
            </a:r>
            <a:r>
              <a:rPr i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i="1"/>
          </a:p>
        </p:txBody>
      </p:sp>
      <p:sp>
        <p:nvSpPr>
          <p:cNvPr id="786" name="Google Shape;786;p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4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792" name="Google Shape;792;p84"/>
          <p:cNvSpPr txBox="1"/>
          <p:nvPr>
            <p:ph idx="1" type="body"/>
          </p:nvPr>
        </p:nvSpPr>
        <p:spPr>
          <a:xfrm>
            <a:off x="311700" y="899675"/>
            <a:ext cx="8520600" cy="54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thành phần cơ bản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Khuôn hình và các ràng buộc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SHACL-SPARQL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84"/>
          <p:cNvSpPr/>
          <p:nvPr/>
        </p:nvSpPr>
        <p:spPr>
          <a:xfrm>
            <a:off x="318450" y="1601931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85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SPARQL</a:t>
            </a:r>
            <a:endParaRPr/>
          </a:p>
        </p:txBody>
      </p:sp>
      <p:sp>
        <p:nvSpPr>
          <p:cNvPr id="800" name="Google Shape;800;p85"/>
          <p:cNvSpPr txBox="1"/>
          <p:nvPr>
            <p:ph idx="4294967295" type="body"/>
          </p:nvPr>
        </p:nvSpPr>
        <p:spPr>
          <a:xfrm>
            <a:off x="311700" y="899675"/>
            <a:ext cx="85206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Báo cáo vi phạm sẽ được tạo trong trường hợp </a:t>
            </a:r>
            <a:r>
              <a:rPr lang="en-GB"/>
              <a:t>truy vấn SPARQL trả về lỗi kiểm tra.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Ràng buộc </a:t>
            </a:r>
            <a:r>
              <a:rPr lang="en-GB" sz="2400"/>
              <a:t>SPARQL </a:t>
            </a:r>
            <a:r>
              <a:rPr lang="en-GB"/>
              <a:t>có kiểu</a:t>
            </a:r>
            <a:r>
              <a:rPr lang="en-GB" sz="2400"/>
              <a:t> sh:SPARQLConstraint</a:t>
            </a:r>
            <a:endParaRPr sz="2400"/>
          </a:p>
        </p:txBody>
      </p:sp>
      <p:graphicFrame>
        <p:nvGraphicFramePr>
          <p:cNvPr id="801" name="Google Shape;801;p85"/>
          <p:cNvGraphicFramePr/>
          <p:nvPr/>
        </p:nvGraphicFramePr>
        <p:xfrm>
          <a:off x="877420" y="2334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908800"/>
                <a:gridCol w="6046075"/>
              </a:tblGrid>
              <a:tr h="30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Ràng buộc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Mô tả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message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Thông điệp trong trường hợp lỗi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sparql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Truy vấn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SPARQL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được thực hiện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prefixes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ác k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hai báo tiền tố không gian tên với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sh:declare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Mỗi khai báo có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sh:prefix: 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Tiền tố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sh:namespace: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IRI của không gian tên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2" name="Google Shape;802;p8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6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</a:t>
            </a:r>
            <a:r>
              <a:rPr lang="en-GB"/>
              <a:t>SPARQL</a:t>
            </a:r>
            <a:r>
              <a:rPr baseline="-25000" lang="en-GB"/>
              <a:t>(</a:t>
            </a:r>
            <a:r>
              <a:rPr baseline="-25000" lang="en-GB"/>
              <a:t>2)</a:t>
            </a:r>
            <a:endParaRPr baseline="-25000"/>
          </a:p>
        </p:txBody>
      </p:sp>
      <p:sp>
        <p:nvSpPr>
          <p:cNvPr id="808" name="Google Shape;808;p86"/>
          <p:cNvSpPr txBox="1"/>
          <p:nvPr>
            <p:ph idx="1" type="body"/>
          </p:nvPr>
        </p:nvSpPr>
        <p:spPr>
          <a:xfrm>
            <a:off x="311700" y="899675"/>
            <a:ext cx="85206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Bộ xử lý </a:t>
            </a:r>
            <a:r>
              <a:rPr lang="en-GB"/>
              <a:t>SHACL-SPARQL </a:t>
            </a:r>
            <a:r>
              <a:rPr lang="en-GB"/>
              <a:t>thiết lập giá trị cho các biến đặc biệt</a:t>
            </a:r>
            <a:endParaRPr/>
          </a:p>
        </p:txBody>
      </p:sp>
      <p:graphicFrame>
        <p:nvGraphicFramePr>
          <p:cNvPr id="809" name="Google Shape;809;p86"/>
          <p:cNvGraphicFramePr/>
          <p:nvPr/>
        </p:nvGraphicFramePr>
        <p:xfrm>
          <a:off x="490470" y="18148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1848100"/>
                <a:gridCol w="6133875"/>
              </a:tblGrid>
              <a:tr h="1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$this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Nút được kiểm tra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$shapesGraph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Có thể được sử dụng để truy cập đồ thị khuôn hình, ví dụ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GRAPH</a:t>
                      </a:r>
                      <a:r>
                        <a:rPr lang="en-GB" sz="180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</a:t>
                      </a:r>
                      <a:r>
                        <a:rPr lang="en-GB" sz="180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shapesGraph { ... }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$currentShape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Khuôn hình hiện tại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0" name="Google Shape;810;p8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87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</a:t>
            </a:r>
            <a:r>
              <a:rPr lang="en-GB"/>
              <a:t>SPARQL</a:t>
            </a:r>
            <a:r>
              <a:rPr baseline="-25000" lang="en-GB"/>
              <a:t>(</a:t>
            </a:r>
            <a:r>
              <a:rPr baseline="-25000" lang="en-GB"/>
              <a:t>3)</a:t>
            </a:r>
            <a:endParaRPr baseline="-25000"/>
          </a:p>
        </p:txBody>
      </p:sp>
      <p:sp>
        <p:nvSpPr>
          <p:cNvPr id="816" name="Google Shape;816;p87"/>
          <p:cNvSpPr txBox="1"/>
          <p:nvPr>
            <p:ph idx="1" type="body"/>
          </p:nvPr>
        </p:nvSpPr>
        <p:spPr>
          <a:xfrm>
            <a:off x="311700" y="899675"/>
            <a:ext cx="8520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Ánh xạ giữa dòng kết quả và lỗi kiểm tra.</a:t>
            </a:r>
            <a:endParaRPr/>
          </a:p>
        </p:txBody>
      </p:sp>
      <p:graphicFrame>
        <p:nvGraphicFramePr>
          <p:cNvPr id="817" name="Google Shape;817;p87"/>
          <p:cNvGraphicFramePr/>
          <p:nvPr/>
        </p:nvGraphicFramePr>
        <p:xfrm>
          <a:off x="881869" y="14909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438600"/>
                <a:gridCol w="5295300"/>
              </a:tblGrid>
              <a:tr h="23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Thuộc tính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Truy vấn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sh:focusNode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Giá trị của biến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$this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sh:resultPath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Biến $path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sh:value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Giá trị của biến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sh:resultMessage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Giá trị của biến </a:t>
                      </a:r>
                      <a:r>
                        <a:rPr lang="en-GB" sz="1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?message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sh:sourceConstraint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Ràng buộc đang được áp dụng, ví dụ giá trị của sh:sparql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8" name="Google Shape;818;p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88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ràng buộc </a:t>
            </a:r>
            <a:r>
              <a:rPr lang="en-GB"/>
              <a:t>SPARQL</a:t>
            </a:r>
            <a:r>
              <a:rPr baseline="-25000" lang="en-GB"/>
              <a:t>(</a:t>
            </a:r>
            <a:r>
              <a:rPr baseline="-25000" lang="en-GB"/>
              <a:t>4)</a:t>
            </a:r>
            <a:endParaRPr baseline="-25000"/>
          </a:p>
        </p:txBody>
      </p:sp>
      <p:sp>
        <p:nvSpPr>
          <p:cNvPr id="824" name="Google Shape;824;p88"/>
          <p:cNvSpPr txBox="1"/>
          <p:nvPr>
            <p:ph idx="4294967295" type="body"/>
          </p:nvPr>
        </p:nvSpPr>
        <p:spPr>
          <a:xfrm>
            <a:off x="311700" y="899675"/>
            <a:ext cx="85206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Ví dụ name phải là kết quả kết hợp của given</a:t>
            </a:r>
            <a:r>
              <a:rPr lang="en-GB" sz="2400"/>
              <a:t>Name </a:t>
            </a:r>
            <a:r>
              <a:rPr lang="en-GB"/>
              <a:t>và</a:t>
            </a:r>
            <a:r>
              <a:rPr lang="en-GB" sz="2400"/>
              <a:t> familyName</a:t>
            </a:r>
            <a:endParaRPr sz="2400"/>
          </a:p>
        </p:txBody>
      </p:sp>
      <p:sp>
        <p:nvSpPr>
          <p:cNvPr id="825" name="Google Shape;825;p88"/>
          <p:cNvSpPr txBox="1"/>
          <p:nvPr/>
        </p:nvSpPr>
        <p:spPr>
          <a:xfrm>
            <a:off x="150300" y="1832075"/>
            <a:ext cx="7975800" cy="4771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:UserShape a sh:NodeShape 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sh:targetClass :User 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sh:sparql [ a sh:SPARQLConstraint 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sh:message ":name must equal :givenName+:familyName";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sh:prefixes [ sh:declare [ sh:prefix "" 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sh:namespace "http://semweb.edu.vn/user#"^^xsd:anyURI;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]] 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sh:select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"""SELECT $this (:name AS ?path)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(?name as ?value)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WHERE {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$this :name ?name .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$this :givenName ?givenName .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$this :familyName ?familyName .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FILTER (!isLiteral(?value) ||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!isLiteral(?givenName) || !isLiteral(?familyName) ||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concat(str(?givenName), ' ', str(?familyName))!=?name )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}""" ;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6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.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6" name="Google Shape;826;p88"/>
          <p:cNvSpPr txBox="1"/>
          <p:nvPr/>
        </p:nvSpPr>
        <p:spPr>
          <a:xfrm>
            <a:off x="5884450" y="3379950"/>
            <a:ext cx="3152400" cy="2050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alice a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familyName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"Alice Cooper"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bob a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givenName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familyName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"Smith"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"Robert Smith"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88"/>
          <p:cNvSpPr txBox="1"/>
          <p:nvPr/>
        </p:nvSpPr>
        <p:spPr>
          <a:xfrm>
            <a:off x="8547677" y="4783504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9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thành phần ràng buộc </a:t>
            </a:r>
            <a:r>
              <a:rPr lang="en-GB"/>
              <a:t>SPARQL</a:t>
            </a:r>
            <a:endParaRPr/>
          </a:p>
        </p:txBody>
      </p:sp>
      <p:sp>
        <p:nvSpPr>
          <p:cNvPr id="834" name="Google Shape;834;p89"/>
          <p:cNvSpPr txBox="1"/>
          <p:nvPr>
            <p:ph idx="1" type="body"/>
          </p:nvPr>
        </p:nvSpPr>
        <p:spPr>
          <a:xfrm>
            <a:off x="311700" y="899675"/>
            <a:ext cx="8520600" cy="1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SHACL-SPARQL </a:t>
            </a:r>
            <a:r>
              <a:rPr lang="en-GB"/>
              <a:t>cho phép tự định nghĩa các thành phần ràng buộc. Sau khi được định nghĩa</a:t>
            </a:r>
            <a:r>
              <a:rPr lang="en-GB"/>
              <a:t>, </a:t>
            </a:r>
            <a:r>
              <a:rPr lang="en-GB"/>
              <a:t>chúng có thể được sử dụng như các thành phần ràng buộc có sẵn.</a:t>
            </a:r>
            <a:endParaRPr/>
          </a:p>
        </p:txBody>
      </p:sp>
      <p:sp>
        <p:nvSpPr>
          <p:cNvPr id="835" name="Google Shape;835;p89"/>
          <p:cNvSpPr txBox="1"/>
          <p:nvPr/>
        </p:nvSpPr>
        <p:spPr>
          <a:xfrm>
            <a:off x="311700" y="2499350"/>
            <a:ext cx="4101000" cy="2027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ProductShape a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NodeShape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targetClass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 [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      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minCount </a:t>
            </a:r>
            <a:r>
              <a:rPr lang="en-GB" sz="18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8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6" name="Google Shape;836;p89"/>
          <p:cNvSpPr txBox="1"/>
          <p:nvPr/>
        </p:nvSpPr>
        <p:spPr>
          <a:xfrm>
            <a:off x="311700" y="4738325"/>
            <a:ext cx="7020000" cy="1477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:c1 a :Product; :color (255 0 255)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:c2 a :Product; :color (255 0 210 345)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43434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:c3 a :Product; :color (255 0) .</a:t>
            </a:r>
            <a:endParaRPr sz="1800">
              <a:solidFill>
                <a:srgbClr val="43434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7" name="Google Shape;837;p89"/>
          <p:cNvSpPr txBox="1"/>
          <p:nvPr/>
        </p:nvSpPr>
        <p:spPr>
          <a:xfrm>
            <a:off x="5575037" y="5153832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89"/>
          <p:cNvSpPr txBox="1"/>
          <p:nvPr/>
        </p:nvSpPr>
        <p:spPr>
          <a:xfrm>
            <a:off x="4670037" y="5678047"/>
            <a:ext cx="43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8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90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thành phần ràng buộc </a:t>
            </a:r>
            <a:r>
              <a:rPr lang="en-GB"/>
              <a:t>SPARQL</a:t>
            </a:r>
            <a:r>
              <a:rPr baseline="-25000" lang="en-GB"/>
              <a:t>(</a:t>
            </a:r>
            <a:r>
              <a:rPr baseline="-25000" lang="en-GB"/>
              <a:t>2)</a:t>
            </a:r>
            <a:endParaRPr baseline="-25000"/>
          </a:p>
        </p:txBody>
      </p:sp>
      <p:sp>
        <p:nvSpPr>
          <p:cNvPr id="845" name="Google Shape;845;p90"/>
          <p:cNvSpPr txBox="1"/>
          <p:nvPr/>
        </p:nvSpPr>
        <p:spPr>
          <a:xfrm>
            <a:off x="449575" y="1001075"/>
            <a:ext cx="6808800" cy="1880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FixedListConstraintComponent a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ConstraintComponent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parameter [</a:t>
            </a:r>
            <a:r>
              <a:rPr lang="en-GB"/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path       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       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"Size of list"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description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"The size of the list"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labelTemplate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"Size of values: \"{$size}\""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propertyValidator :fixedLengthValidator .</a:t>
            </a:r>
            <a:endParaRPr/>
          </a:p>
        </p:txBody>
      </p:sp>
      <p:sp>
        <p:nvSpPr>
          <p:cNvPr id="846" name="Google Shape;846;p90"/>
          <p:cNvSpPr txBox="1"/>
          <p:nvPr/>
        </p:nvSpPr>
        <p:spPr>
          <a:xfrm>
            <a:off x="449575" y="3048525"/>
            <a:ext cx="8116200" cy="260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:fixedLengthValidator  a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SPARQLSelectValidator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message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"{$PATH} must have length {?size}, not {?count}"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prefixes [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declare [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"rdf"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GB" sz="1600" u="sng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http://www.w3.org/1999/02/22-rdf-syntax-ns#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600">
                <a:solidFill>
                  <a:srgbClr val="00404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$count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$PATH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{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?member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?count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$size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*/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rdf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first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?member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}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GROUP BY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$this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$size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lang="en-GB" sz="16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isBlank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?value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?count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8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$size</a:t>
            </a:r>
            <a:r>
              <a:rPr lang="en-GB" sz="16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GB" sz="1600">
                <a:solidFill>
                  <a:srgbClr val="8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GB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7" name="Google Shape;847;p90"/>
          <p:cNvSpPr txBox="1"/>
          <p:nvPr/>
        </p:nvSpPr>
        <p:spPr>
          <a:xfrm>
            <a:off x="449575" y="5739475"/>
            <a:ext cx="811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Có 2 kiểu ràng buộc</a:t>
            </a:r>
            <a:r>
              <a:rPr lang="en-GB" sz="2200">
                <a:solidFill>
                  <a:srgbClr val="434343"/>
                </a:solidFill>
              </a:rPr>
              <a:t>:</a:t>
            </a:r>
            <a:r>
              <a:rPr lang="en-GB" sz="2200">
                <a:solidFill>
                  <a:srgbClr val="434343"/>
                </a:solidFill>
              </a:rPr>
              <a:t> </a:t>
            </a:r>
            <a:endParaRPr sz="22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SPARQLSelectValidator </a:t>
            </a:r>
            <a:r>
              <a:rPr lang="en-GB" sz="2200">
                <a:solidFill>
                  <a:srgbClr val="434343"/>
                </a:solidFill>
              </a:rPr>
              <a:t>và </a:t>
            </a:r>
            <a:r>
              <a:rPr lang="en-GB" sz="2200">
                <a:solidFill>
                  <a:srgbClr val="434343"/>
                </a:solidFill>
              </a:rPr>
              <a:t>SPARQLASKValidator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48" name="Google Shape;848;p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91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Các thành phần ràng buộc </a:t>
            </a:r>
            <a:r>
              <a:rPr lang="en-GB"/>
              <a:t>SPARQL</a:t>
            </a:r>
            <a:r>
              <a:rPr baseline="-25000" lang="en-GB"/>
              <a:t>(</a:t>
            </a:r>
            <a:r>
              <a:rPr baseline="-25000" lang="en-GB"/>
              <a:t>3)</a:t>
            </a:r>
            <a:endParaRPr baseline="-25000"/>
          </a:p>
        </p:txBody>
      </p:sp>
      <p:graphicFrame>
        <p:nvGraphicFramePr>
          <p:cNvPr id="854" name="Google Shape;854;p91"/>
          <p:cNvGraphicFramePr/>
          <p:nvPr/>
        </p:nvGraphicFramePr>
        <p:xfrm>
          <a:off x="562379" y="1052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{F4A3F12B-8365-4B8F-934C-0135F1E8D4F0}</a:tableStyleId>
              </a:tblPr>
              <a:tblGrid>
                <a:gridCol w="2389000"/>
                <a:gridCol w="5958325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Thuộc tính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sh:parameter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 tham số của thành phần ràng buộc.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Các giá trị là các lớp con của khuôn hình thuộc tính.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1"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sh:path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 tên tham số.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1"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sh:optional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khai báo tính chất bắt buộc của tham số.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sh:labelTemplate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Mô tả ràng buộc, có thể nhắc đến các tham số bằng biến</a:t>
                      </a: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: $varName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sh:nodeValidator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Gắn kết với 1 bộ xử lý khuôn hình nút.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sh:propertyValidator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Gắn kết với 1 bộ xử lý khuôn hình thuộc tính. 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5" name="Google Shape;855;p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92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ài tập 9.6</a:t>
            </a:r>
            <a:endParaRPr/>
          </a:p>
        </p:txBody>
      </p:sp>
      <p:sp>
        <p:nvSpPr>
          <p:cNvPr id="861" name="Google Shape;861;p9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2" name="Google Shape;862;p92"/>
          <p:cNvSpPr txBox="1"/>
          <p:nvPr/>
        </p:nvSpPr>
        <p:spPr>
          <a:xfrm>
            <a:off x="312700" y="801775"/>
            <a:ext cx="8517300" cy="4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@prefix : &lt;http://semweb.edu.vn/family#&gt; .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:nva :ho "Nguyen";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:ten "Van A".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:btc :ho "Bui";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:ten "Thi C".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:nvd :coBo :nva; :coMe :btc;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:ho "Nguyen";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:ten "Van D".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:nth :coBo :nva; :coMe :btc;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:ho "Tran";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:ten "Thi H".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3" name="Google Shape;863;p92"/>
          <p:cNvSpPr txBox="1"/>
          <p:nvPr/>
        </p:nvSpPr>
        <p:spPr>
          <a:xfrm>
            <a:off x="292575" y="5080150"/>
            <a:ext cx="85398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2"/>
                </a:solidFill>
              </a:rPr>
              <a:t>Thử thiết lập ràng buộc họ của 1 người phải giống với họ của bố hoặc mẹ với 2 nút :nvd, :nth?</a:t>
            </a:r>
            <a:endParaRPr i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3"/>
          <p:cNvSpPr txBox="1"/>
          <p:nvPr>
            <p:ph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9.6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869" name="Google Shape;869;p9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0" name="Google Shape;870;p93"/>
          <p:cNvSpPr txBox="1"/>
          <p:nvPr/>
        </p:nvSpPr>
        <p:spPr>
          <a:xfrm>
            <a:off x="423325" y="929550"/>
            <a:ext cx="7913700" cy="5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@prefix : &lt;http://semweb.edu.vn/family#&gt; .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@prefix sh:     &lt;http://www.w3.org/ns/shacl#&gt; .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:PersonShape a sh:NodeShape 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sh:targetNode :nvd, :nth;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sh:sparql [ a sh:SPARQLConstraint 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sh:message "Họ phải giống họ của bố hoặc mẹ";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sh:prefixes [ sh:declare [ sh:prefix "" 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sh:namespace "http://semweb.edu.vn/family#";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]] 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sh:select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"""SELECT *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WHERE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$this :ho ?ho ; :coBo ?bo; :coMe ?me.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?bo :ho ?ho_bo.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?me :ho ?ho_me.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FILTER (?ho != ?ho_bo &amp;&amp; ?ho != ?ho_me)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}""" 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1" name="Google Shape;871;p93"/>
          <p:cNvSpPr txBox="1"/>
          <p:nvPr/>
        </p:nvSpPr>
        <p:spPr>
          <a:xfrm>
            <a:off x="2977475" y="5995200"/>
            <a:ext cx="5279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B45F06"/>
                </a:solidFill>
              </a:rPr>
              <a:t>Các hạn chế cần khắc phục??</a:t>
            </a:r>
            <a:endParaRPr sz="2400">
              <a:solidFill>
                <a:srgbClr val="B45F06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9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77" name="Google Shape;87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