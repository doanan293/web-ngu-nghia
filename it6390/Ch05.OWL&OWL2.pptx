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Lst>
  <p:sldSz cy="6858000" cx="9144000"/>
  <p:notesSz cx="6858000" cy="9144000"/>
  <p:embeddedFontLst>
    <p:embeddedFont>
      <p:font typeface="Arial Narrow"/>
      <p:regular r:id="rId104"/>
      <p:bold r:id="rId105"/>
      <p:italic r:id="rId106"/>
      <p:boldItalic r:id="rId10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ArialNarrow-boldItalic.fntdata"/><Relationship Id="rId106" Type="http://schemas.openxmlformats.org/officeDocument/2006/relationships/font" Target="fonts/ArialNarrow-italic.fntdata"/><Relationship Id="rId105" Type="http://schemas.openxmlformats.org/officeDocument/2006/relationships/font" Target="fonts/ArialNarrow-bold.fntdata"/><Relationship Id="rId104" Type="http://schemas.openxmlformats.org/officeDocument/2006/relationships/font" Target="fonts/ArialNarrow-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402504e46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1402504e4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402504e46d_0_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402504e46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b17e44047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b17e4404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b23f66f37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b23f66f3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b17e440479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b17e44047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ae41a519e9_1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ae41a519e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ae41a51baa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ae41a51b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ae41a51baa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ae41a51b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ae41a51baa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ae41a51b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ae41a51baa_0_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ae41a51ba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ae41a51baa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ae41a51ba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ae41a51baa_0_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ae41a51ba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613649352_0_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761364935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ae41a51baa_0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ae41a51ba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b75b9109a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b75b9109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7b7197a08e_3_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7b7197a08e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7b7197a08e_3_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7b7197a08e_3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7b7197a08e_3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7b7197a08e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b75b9109ad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b75b9109a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b23f66f374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b23f66f37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b885e30e6b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b885e30e6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7b7197a08e_2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7b7197a08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b885e30e6b_0_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b885e30e6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b885e30e6b_0_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b885e30e6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b885e30e6b_0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b885e30e6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b885e30e6b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b885e30e6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b885e30e6b_0_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b885e30e6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98ebaa2284_0_2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98ebaa228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9a261e598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9a261e59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7b7197a08e_2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7b7197a08e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98ebaa2284_0_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98ebaa228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98ebaa2284_0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98ebaa228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98ebaa2284_0_3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98ebaa228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9a261e5984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9a261e59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198ebaa2284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198ebaa22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19a261e5984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19a261e598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98ebaa2284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98ebaa228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98ebaa2284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98ebaa228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98ebaa2284_0_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98ebaa228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98ebaa2284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98ebaa228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98ebaa2284_0_2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98ebaa228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b885e30e6b_0_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b885e30e6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b885e30e6b_0_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b885e30e6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b885e30e6b_0_8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b885e30e6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b885e30e6b_0_8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b885e30e6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b885e30e6b_0_9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b885e30e6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b885e30e6b_0_10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b885e30e6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b885e30e6b_0_10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b885e30e6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b885e30e6b_0_1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b885e30e6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b885e30e6b_0_1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b885e30e6b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b885e30e6b_0_1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b885e30e6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b885e30e6b_0_1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b885e30e6b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b885e30e6b_0_1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b885e30e6b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b885e30e6b_0_1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b885e30e6b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b885e30e6b_0_19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b885e30e6b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b885e30e6b_0_20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b885e30e6b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b885e30e6b_0_2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b885e30e6b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b885e30e6b_0_2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b885e30e6b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27b7197a08e_3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27b7197a08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b885e30e6b_0_2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b885e30e6b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b885e30e6b_0_22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b885e30e6b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b885e30e6b_0_2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b885e30e6b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b885e30e6b_0_23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b885e30e6b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17f569c863a_0_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17f569c863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b885e30e6b_0_24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b885e30e6b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23f163757c8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23f163757c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b885e30e6b_0_2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b885e30e6b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b885e30e6b_0_25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b885e30e6b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b885e30e6b_0_26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b885e30e6b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b885e30e6b_0_26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b885e30e6b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17f569c863a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17f569c863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17f569c863a_0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17f569c863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25cdedb1748_1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25cdedb1748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3f163757c8_0_3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3f163757c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40d90ed07b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40d90ed07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40d90ed07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40d90ed0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40d90ed07b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240d90ed07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7b7197a08e_3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27b7197a08e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c6bbeced33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c6bbeced3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c6bbeced33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c6bbeced33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c6bbeced33_0_2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c6bbeced3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c6bbeced33_0_2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c6bbeced3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b885e30e6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b885e30e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b885e30e6b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b885e30e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b885e30e6b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b885e30e6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b885e30e6b_0_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b885e30e6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b885e30e6b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5" name="Google Shape;855;gb885e30e6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5d4c8f6c7f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35d4c8f6c7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27b7197a08e_3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27b7197a08e_3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761ec659a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3761ec659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b87b5a2ea3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b87b5a2ea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761ec659ab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761ec659a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b87b5a2ea3_0_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b87b5a2ea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b87b5a2ea3_0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b87b5a2ea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b87b5a2ea3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b87b5a2ea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b17e440479_0_3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b17e44047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b87b5a2ea3_0_4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27" name="Google Shape;927;gb87b5a2ea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1402504e46d_0_6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1402504e46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1574475"/>
            <a:ext cx="8520600" cy="20994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FFFFF"/>
              </a:buClr>
              <a:buSzPts val="4800"/>
              <a:buNone/>
              <a:defRPr b="1" sz="4800">
                <a:solidFill>
                  <a:srgbClr val="FFFFFF"/>
                </a:solidFill>
              </a:defRPr>
            </a:lvl1pPr>
            <a:lvl2pPr lvl="1" algn="ctr">
              <a:spcBef>
                <a:spcPts val="0"/>
              </a:spcBef>
              <a:spcAft>
                <a:spcPts val="0"/>
              </a:spcAft>
              <a:buClr>
                <a:srgbClr val="FFFFFF"/>
              </a:buClr>
              <a:buSzPts val="5200"/>
              <a:buNone/>
              <a:defRPr sz="5200">
                <a:solidFill>
                  <a:srgbClr val="FFFFFF"/>
                </a:solidFill>
              </a:defRPr>
            </a:lvl2pPr>
            <a:lvl3pPr lvl="2" algn="ctr">
              <a:spcBef>
                <a:spcPts val="0"/>
              </a:spcBef>
              <a:spcAft>
                <a:spcPts val="0"/>
              </a:spcAft>
              <a:buClr>
                <a:srgbClr val="FFFFFF"/>
              </a:buClr>
              <a:buSzPts val="5200"/>
              <a:buNone/>
              <a:defRPr sz="5200">
                <a:solidFill>
                  <a:srgbClr val="FFFFFF"/>
                </a:solidFill>
              </a:defRPr>
            </a:lvl3pPr>
            <a:lvl4pPr lvl="3" algn="ctr">
              <a:spcBef>
                <a:spcPts val="0"/>
              </a:spcBef>
              <a:spcAft>
                <a:spcPts val="0"/>
              </a:spcAft>
              <a:buClr>
                <a:srgbClr val="FFFFFF"/>
              </a:buClr>
              <a:buSzPts val="5200"/>
              <a:buNone/>
              <a:defRPr sz="5200">
                <a:solidFill>
                  <a:srgbClr val="FFFFFF"/>
                </a:solidFill>
              </a:defRPr>
            </a:lvl4pPr>
            <a:lvl5pPr lvl="4" algn="ctr">
              <a:spcBef>
                <a:spcPts val="0"/>
              </a:spcBef>
              <a:spcAft>
                <a:spcPts val="0"/>
              </a:spcAft>
              <a:buClr>
                <a:srgbClr val="FFFFFF"/>
              </a:buClr>
              <a:buSzPts val="5200"/>
              <a:buNone/>
              <a:defRPr sz="5200">
                <a:solidFill>
                  <a:srgbClr val="FFFFFF"/>
                </a:solidFill>
              </a:defRPr>
            </a:lvl5pPr>
            <a:lvl6pPr lvl="5" algn="ctr">
              <a:spcBef>
                <a:spcPts val="0"/>
              </a:spcBef>
              <a:spcAft>
                <a:spcPts val="0"/>
              </a:spcAft>
              <a:buClr>
                <a:srgbClr val="FFFFFF"/>
              </a:buClr>
              <a:buSzPts val="5200"/>
              <a:buNone/>
              <a:defRPr sz="5200">
                <a:solidFill>
                  <a:srgbClr val="FFFFFF"/>
                </a:solidFill>
              </a:defRPr>
            </a:lvl6pPr>
            <a:lvl7pPr lvl="6" algn="ctr">
              <a:spcBef>
                <a:spcPts val="0"/>
              </a:spcBef>
              <a:spcAft>
                <a:spcPts val="0"/>
              </a:spcAft>
              <a:buClr>
                <a:srgbClr val="FFFFFF"/>
              </a:buClr>
              <a:buSzPts val="5200"/>
              <a:buNone/>
              <a:defRPr sz="5200">
                <a:solidFill>
                  <a:srgbClr val="FFFFFF"/>
                </a:solidFill>
              </a:defRPr>
            </a:lvl7pPr>
            <a:lvl8pPr lvl="7" algn="ctr">
              <a:spcBef>
                <a:spcPts val="0"/>
              </a:spcBef>
              <a:spcAft>
                <a:spcPts val="0"/>
              </a:spcAft>
              <a:buClr>
                <a:srgbClr val="FFFFFF"/>
              </a:buClr>
              <a:buSzPts val="5200"/>
              <a:buNone/>
              <a:defRPr sz="5200">
                <a:solidFill>
                  <a:srgbClr val="FFFFFF"/>
                </a:solidFill>
              </a:defRPr>
            </a:lvl8pPr>
            <a:lvl9pPr lvl="8" algn="ctr">
              <a:spcBef>
                <a:spcPts val="0"/>
              </a:spcBef>
              <a:spcAft>
                <a:spcPts val="0"/>
              </a:spcAft>
              <a:buClr>
                <a:srgbClr val="FFFFFF"/>
              </a:buClr>
              <a:buSzPts val="5200"/>
              <a:buNone/>
              <a:defRPr sz="5200">
                <a:solidFill>
                  <a:srgbClr val="FFFFFF"/>
                </a:solidFill>
              </a:defRPr>
            </a:lvl9pPr>
          </a:lstStyle>
          <a:p/>
        </p:txBody>
      </p:sp>
      <p:sp>
        <p:nvSpPr>
          <p:cNvPr id="11" name="Google Shape;11;p2"/>
          <p:cNvSpPr txBox="1"/>
          <p:nvPr>
            <p:ph idx="1" type="subTitle"/>
          </p:nvPr>
        </p:nvSpPr>
        <p:spPr>
          <a:xfrm>
            <a:off x="311700" y="38550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FFFFFF"/>
              </a:buClr>
              <a:buSzPts val="3200"/>
              <a:buNone/>
              <a:defRPr b="1" sz="3200">
                <a:solidFill>
                  <a:srgbClr val="FFFFFF"/>
                </a:solidFill>
              </a:defRPr>
            </a:lvl1pPr>
            <a:lvl2pPr lvl="1" algn="ctr">
              <a:lnSpc>
                <a:spcPct val="100000"/>
              </a:lnSpc>
              <a:spcBef>
                <a:spcPts val="0"/>
              </a:spcBef>
              <a:spcAft>
                <a:spcPts val="0"/>
              </a:spcAft>
              <a:buClr>
                <a:srgbClr val="FFFFFF"/>
              </a:buClr>
              <a:buSzPts val="2800"/>
              <a:buNone/>
              <a:defRPr sz="2800">
                <a:solidFill>
                  <a:srgbClr val="FFFFFF"/>
                </a:solidFill>
              </a:defRPr>
            </a:lvl2pPr>
            <a:lvl3pPr lvl="2" algn="ctr">
              <a:lnSpc>
                <a:spcPct val="100000"/>
              </a:lnSpc>
              <a:spcBef>
                <a:spcPts val="0"/>
              </a:spcBef>
              <a:spcAft>
                <a:spcPts val="0"/>
              </a:spcAft>
              <a:buClr>
                <a:srgbClr val="FFFFFF"/>
              </a:buClr>
              <a:buSzPts val="2800"/>
              <a:buNone/>
              <a:defRPr sz="2800">
                <a:solidFill>
                  <a:srgbClr val="FFFFFF"/>
                </a:solidFill>
              </a:defRPr>
            </a:lvl3pPr>
            <a:lvl4pPr lvl="3" algn="ctr">
              <a:lnSpc>
                <a:spcPct val="100000"/>
              </a:lnSpc>
              <a:spcBef>
                <a:spcPts val="0"/>
              </a:spcBef>
              <a:spcAft>
                <a:spcPts val="0"/>
              </a:spcAft>
              <a:buClr>
                <a:srgbClr val="FFFFFF"/>
              </a:buClr>
              <a:buSzPts val="2800"/>
              <a:buNone/>
              <a:defRPr sz="2800">
                <a:solidFill>
                  <a:srgbClr val="FFFFFF"/>
                </a:solidFill>
              </a:defRPr>
            </a:lvl4pPr>
            <a:lvl5pPr lvl="4" algn="ctr">
              <a:lnSpc>
                <a:spcPct val="100000"/>
              </a:lnSpc>
              <a:spcBef>
                <a:spcPts val="0"/>
              </a:spcBef>
              <a:spcAft>
                <a:spcPts val="0"/>
              </a:spcAft>
              <a:buClr>
                <a:srgbClr val="FFFFFF"/>
              </a:buClr>
              <a:buSzPts val="2800"/>
              <a:buNone/>
              <a:defRPr sz="2800">
                <a:solidFill>
                  <a:srgbClr val="FFFFFF"/>
                </a:solidFill>
              </a:defRPr>
            </a:lvl5pPr>
            <a:lvl6pPr lvl="5" algn="ctr">
              <a:lnSpc>
                <a:spcPct val="100000"/>
              </a:lnSpc>
              <a:spcBef>
                <a:spcPts val="0"/>
              </a:spcBef>
              <a:spcAft>
                <a:spcPts val="0"/>
              </a:spcAft>
              <a:buClr>
                <a:srgbClr val="FFFFFF"/>
              </a:buClr>
              <a:buSzPts val="2800"/>
              <a:buNone/>
              <a:defRPr sz="2800">
                <a:solidFill>
                  <a:srgbClr val="FFFFFF"/>
                </a:solidFill>
              </a:defRPr>
            </a:lvl6pPr>
            <a:lvl7pPr lvl="6" algn="ctr">
              <a:lnSpc>
                <a:spcPct val="100000"/>
              </a:lnSpc>
              <a:spcBef>
                <a:spcPts val="0"/>
              </a:spcBef>
              <a:spcAft>
                <a:spcPts val="0"/>
              </a:spcAft>
              <a:buClr>
                <a:srgbClr val="FFFFFF"/>
              </a:buClr>
              <a:buSzPts val="2800"/>
              <a:buNone/>
              <a:defRPr sz="2800">
                <a:solidFill>
                  <a:srgbClr val="FFFFFF"/>
                </a:solidFill>
              </a:defRPr>
            </a:lvl7pPr>
            <a:lvl8pPr lvl="7" algn="ctr">
              <a:lnSpc>
                <a:spcPct val="100000"/>
              </a:lnSpc>
              <a:spcBef>
                <a:spcPts val="0"/>
              </a:spcBef>
              <a:spcAft>
                <a:spcPts val="0"/>
              </a:spcAft>
              <a:buClr>
                <a:srgbClr val="FFFFFF"/>
              </a:buClr>
              <a:buSzPts val="2800"/>
              <a:buNone/>
              <a:defRPr sz="2800">
                <a:solidFill>
                  <a:srgbClr val="FFFFFF"/>
                </a:solidFill>
              </a:defRPr>
            </a:lvl8pPr>
            <a:lvl9pPr lvl="8" algn="ctr">
              <a:lnSpc>
                <a:spcPct val="100000"/>
              </a:lnSpc>
              <a:spcBef>
                <a:spcPts val="0"/>
              </a:spcBef>
              <a:spcAft>
                <a:spcPts val="0"/>
              </a:spcAft>
              <a:buClr>
                <a:srgbClr val="FFFFFF"/>
              </a:buClr>
              <a:buSzPts val="2800"/>
              <a:buNone/>
              <a:defRPr sz="2800">
                <a:solidFill>
                  <a:srgbClr val="FFFFFF"/>
                </a:solidFill>
              </a:defRPr>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3" name="Shape 13"/>
        <p:cNvGrpSpPr/>
        <p:nvPr/>
      </p:nvGrpSpPr>
      <p:grpSpPr>
        <a:xfrm>
          <a:off x="0" y="0"/>
          <a:ext cx="0" cy="0"/>
          <a:chOff x="0" y="0"/>
          <a:chExt cx="0" cy="0"/>
        </a:xfrm>
      </p:grpSpPr>
      <p:sp>
        <p:nvSpPr>
          <p:cNvPr id="14" name="Google Shape;14;p3"/>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0" name="Google Shape;20;p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1">
    <p:spTree>
      <p:nvGrpSpPr>
        <p:cNvPr id="22" name="Shape 22"/>
        <p:cNvGrpSpPr/>
        <p:nvPr/>
      </p:nvGrpSpPr>
      <p:grpSpPr>
        <a:xfrm>
          <a:off x="0" y="0"/>
          <a:ext cx="0" cy="0"/>
          <a:chOff x="0" y="0"/>
          <a:chExt cx="0" cy="0"/>
        </a:xfrm>
      </p:grpSpPr>
      <p:sp>
        <p:nvSpPr>
          <p:cNvPr id="23" name="Google Shape;23;p6"/>
          <p:cNvSpPr txBox="1"/>
          <p:nvPr>
            <p:ph idx="12" type="sldNum"/>
          </p:nvPr>
        </p:nvSpPr>
        <p:spPr>
          <a:xfrm>
            <a:off x="8556784" y="6333134"/>
            <a:ext cx="548700" cy="5250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6" name="Google Shape;26;p7"/>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7"/>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1" name="Google Shape;31;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9"/>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9"/>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10"/>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8" name="Google Shape;38;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11"/>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1"/>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11"/>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11"/>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81000" lvl="0" marL="457200">
              <a:spcBef>
                <a:spcPts val="0"/>
              </a:spcBef>
              <a:spcAft>
                <a:spcPts val="0"/>
              </a:spcAft>
              <a:buSzPts val="2400"/>
              <a:buChar char="●"/>
              <a:defRPr/>
            </a:lvl1pPr>
            <a:lvl2pPr indent="-368300" lvl="1" marL="914400">
              <a:spcBef>
                <a:spcPts val="0"/>
              </a:spcBef>
              <a:spcAft>
                <a:spcPts val="0"/>
              </a:spcAft>
              <a:buSzPts val="2200"/>
              <a:buChar char="○"/>
              <a:defRPr/>
            </a:lvl2pPr>
            <a:lvl3pPr indent="-342900" lvl="2" marL="1371600">
              <a:spcBef>
                <a:spcPts val="0"/>
              </a:spcBef>
              <a:spcAft>
                <a:spcPts val="0"/>
              </a:spcAft>
              <a:buSzPts val="18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4" name="Google Shape;44;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2"/>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None/>
              <a:defRPr/>
            </a:lvl1pPr>
          </a:lstStyle>
          <a:p/>
        </p:txBody>
      </p:sp>
      <p:sp>
        <p:nvSpPr>
          <p:cNvPr id="47" name="Google Shape;47;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3"/>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0" name="Google Shape;50;p13"/>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81000" lvl="0" marL="457200" algn="ctr">
              <a:spcBef>
                <a:spcPts val="0"/>
              </a:spcBef>
              <a:spcAft>
                <a:spcPts val="0"/>
              </a:spcAft>
              <a:buSzPts val="2400"/>
              <a:buChar char="●"/>
              <a:defRPr/>
            </a:lvl1pPr>
            <a:lvl2pPr indent="-368300" lvl="1" marL="914400" algn="ctr">
              <a:spcBef>
                <a:spcPts val="0"/>
              </a:spcBef>
              <a:spcAft>
                <a:spcPts val="0"/>
              </a:spcAft>
              <a:buSzPts val="2200"/>
              <a:buChar char="○"/>
              <a:defRPr/>
            </a:lvl2pPr>
            <a:lvl3pPr indent="-342900" lvl="2" marL="1371600" algn="ctr">
              <a:spcBef>
                <a:spcPts val="0"/>
              </a:spcBef>
              <a:spcAft>
                <a:spcPts val="0"/>
              </a:spcAft>
              <a:buSzPts val="18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1" name="Google Shape;51;p1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12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400"/>
              <a:buNone/>
              <a:defRPr sz="3400">
                <a:solidFill>
                  <a:schemeClr val="dk1"/>
                </a:solidFill>
              </a:defRPr>
            </a:lvl1pPr>
            <a:lvl2pPr lvl="1">
              <a:spcBef>
                <a:spcPts val="0"/>
              </a:spcBef>
              <a:spcAft>
                <a:spcPts val="0"/>
              </a:spcAft>
              <a:buClr>
                <a:schemeClr val="dk1"/>
              </a:buClr>
              <a:buSzPts val="3200"/>
              <a:buNone/>
              <a:defRPr sz="3200">
                <a:solidFill>
                  <a:schemeClr val="dk1"/>
                </a:solidFill>
              </a:defRPr>
            </a:lvl2pPr>
            <a:lvl3pPr lvl="2">
              <a:spcBef>
                <a:spcPts val="0"/>
              </a:spcBef>
              <a:spcAft>
                <a:spcPts val="0"/>
              </a:spcAft>
              <a:buClr>
                <a:schemeClr val="dk1"/>
              </a:buClr>
              <a:buSzPts val="3200"/>
              <a:buNone/>
              <a:defRPr sz="3200">
                <a:solidFill>
                  <a:schemeClr val="dk1"/>
                </a:solidFill>
              </a:defRPr>
            </a:lvl3pPr>
            <a:lvl4pPr lvl="3">
              <a:spcBef>
                <a:spcPts val="0"/>
              </a:spcBef>
              <a:spcAft>
                <a:spcPts val="0"/>
              </a:spcAft>
              <a:buClr>
                <a:schemeClr val="dk1"/>
              </a:buClr>
              <a:buSzPts val="3200"/>
              <a:buNone/>
              <a:defRPr sz="3200">
                <a:solidFill>
                  <a:schemeClr val="dk1"/>
                </a:solidFill>
              </a:defRPr>
            </a:lvl4pPr>
            <a:lvl5pPr lvl="4">
              <a:spcBef>
                <a:spcPts val="0"/>
              </a:spcBef>
              <a:spcAft>
                <a:spcPts val="0"/>
              </a:spcAft>
              <a:buClr>
                <a:schemeClr val="dk1"/>
              </a:buClr>
              <a:buSzPts val="3200"/>
              <a:buNone/>
              <a:defRPr sz="3200">
                <a:solidFill>
                  <a:schemeClr val="dk1"/>
                </a:solidFill>
              </a:defRPr>
            </a:lvl5pPr>
            <a:lvl6pPr lvl="5">
              <a:spcBef>
                <a:spcPts val="0"/>
              </a:spcBef>
              <a:spcAft>
                <a:spcPts val="0"/>
              </a:spcAft>
              <a:buClr>
                <a:schemeClr val="dk1"/>
              </a:buClr>
              <a:buSzPts val="3200"/>
              <a:buNone/>
              <a:defRPr sz="3200">
                <a:solidFill>
                  <a:schemeClr val="dk1"/>
                </a:solidFill>
              </a:defRPr>
            </a:lvl6pPr>
            <a:lvl7pPr lvl="6">
              <a:spcBef>
                <a:spcPts val="0"/>
              </a:spcBef>
              <a:spcAft>
                <a:spcPts val="0"/>
              </a:spcAft>
              <a:buClr>
                <a:schemeClr val="dk1"/>
              </a:buClr>
              <a:buSzPts val="3200"/>
              <a:buNone/>
              <a:defRPr sz="3200">
                <a:solidFill>
                  <a:schemeClr val="dk1"/>
                </a:solidFill>
              </a:defRPr>
            </a:lvl7pPr>
            <a:lvl8pPr lvl="7">
              <a:spcBef>
                <a:spcPts val="0"/>
              </a:spcBef>
              <a:spcAft>
                <a:spcPts val="0"/>
              </a:spcAft>
              <a:buClr>
                <a:schemeClr val="dk1"/>
              </a:buClr>
              <a:buSzPts val="3200"/>
              <a:buNone/>
              <a:defRPr sz="3200">
                <a:solidFill>
                  <a:schemeClr val="dk1"/>
                </a:solidFill>
              </a:defRPr>
            </a:lvl8pPr>
            <a:lvl9pPr lvl="8">
              <a:spcBef>
                <a:spcPts val="0"/>
              </a:spcBef>
              <a:spcAft>
                <a:spcPts val="0"/>
              </a:spcAft>
              <a:buClr>
                <a:schemeClr val="dk1"/>
              </a:buClr>
              <a:buSzPts val="3200"/>
              <a:buNone/>
              <a:defRPr sz="3200">
                <a:solidFill>
                  <a:schemeClr val="dk1"/>
                </a:solidFill>
              </a:defRPr>
            </a:lvl9pPr>
          </a:lstStyle>
          <a:p/>
        </p:txBody>
      </p:sp>
      <p:sp>
        <p:nvSpPr>
          <p:cNvPr id="7" name="Google Shape;7;p1"/>
          <p:cNvSpPr txBox="1"/>
          <p:nvPr>
            <p:ph idx="1" type="body"/>
          </p:nvPr>
        </p:nvSpPr>
        <p:spPr>
          <a:xfrm>
            <a:off x="311700" y="909775"/>
            <a:ext cx="8520600" cy="5481300"/>
          </a:xfrm>
          <a:prstGeom prst="rect">
            <a:avLst/>
          </a:prstGeom>
          <a:noFill/>
          <a:ln>
            <a:noFill/>
          </a:ln>
        </p:spPr>
        <p:txBody>
          <a:bodyPr anchorCtr="0" anchor="t" bIns="91425" lIns="91425" spcFirstLastPara="1" rIns="91425" wrap="square" tIns="91425">
            <a:no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68300" lvl="1" marL="914400">
              <a:lnSpc>
                <a:spcPct val="115000"/>
              </a:lnSpc>
              <a:spcBef>
                <a:spcPts val="0"/>
              </a:spcBef>
              <a:spcAft>
                <a:spcPts val="0"/>
              </a:spcAft>
              <a:buClr>
                <a:schemeClr val="dk2"/>
              </a:buClr>
              <a:buSzPts val="2200"/>
              <a:buChar char="○"/>
              <a:defRPr sz="2200">
                <a:solidFill>
                  <a:schemeClr val="dk2"/>
                </a:solidFill>
              </a:defRPr>
            </a:lvl2pPr>
            <a:lvl3pPr indent="-342900" lvl="2" marL="1371600">
              <a:lnSpc>
                <a:spcPct val="115000"/>
              </a:lnSpc>
              <a:spcBef>
                <a:spcPts val="0"/>
              </a:spcBef>
              <a:spcAft>
                <a:spcPts val="0"/>
              </a:spcAft>
              <a:buClr>
                <a:schemeClr val="dk2"/>
              </a:buClr>
              <a:buSzPts val="1800"/>
              <a:buChar char="■"/>
              <a:defRPr sz="1800">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hyperlink" Target="http://www.w3.org/2002/07/owl" TargetMode="External"/><Relationship Id="rId4" Type="http://schemas.openxmlformats.org/officeDocument/2006/relationships/hyperlink" Target="http://www.w3.org/1999/02/22-rdf-syntax-ns" TargetMode="External"/><Relationship Id="rId5" Type="http://schemas.openxmlformats.org/officeDocument/2006/relationships/hyperlink" Target="http://www.w3.org/2000/01/rdf-schema"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hyperlink" Target="https://jena.apache.org/documentation/fuseki2/fuseki-configuration.html" TargetMode="External"/><Relationship Id="rId4" Type="http://schemas.openxmlformats.org/officeDocument/2006/relationships/hyperlink" Target="https://github.com/apache/jena/tree/main/jena-fuseki2/examples"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5"/>
          <p:cNvSpPr txBox="1"/>
          <p:nvPr>
            <p:ph type="title"/>
          </p:nvPr>
        </p:nvSpPr>
        <p:spPr>
          <a:xfrm>
            <a:off x="311700" y="1474833"/>
            <a:ext cx="8520600" cy="261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4200"/>
              <a:t>Web ngữ nghĩa</a:t>
            </a:r>
            <a:endParaRPr sz="4200"/>
          </a:p>
        </p:txBody>
      </p:sp>
      <p:sp>
        <p:nvSpPr>
          <p:cNvPr id="59" name="Google Shape;59;p15"/>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600"/>
              <a:t>Soạn bởi: Nguyễn Bá Ngọc</a:t>
            </a:r>
            <a:endParaRPr sz="2600"/>
          </a:p>
        </p:txBody>
      </p:sp>
      <p:sp>
        <p:nvSpPr>
          <p:cNvPr id="60" name="Google Shape;60;p15"/>
          <p:cNvSpPr txBox="1"/>
          <p:nvPr/>
        </p:nvSpPr>
        <p:spPr>
          <a:xfrm>
            <a:off x="125" y="6116250"/>
            <a:ext cx="91440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600"/>
              <a:t>Hà Nội-2021</a:t>
            </a:r>
            <a:endParaRPr sz="2600"/>
          </a:p>
        </p:txBody>
      </p:sp>
      <p:sp>
        <p:nvSpPr>
          <p:cNvPr id="61" name="Google Shape;61;p15"/>
          <p:cNvSpPr txBox="1"/>
          <p:nvPr/>
        </p:nvSpPr>
        <p:spPr>
          <a:xfrm>
            <a:off x="491750" y="4667633"/>
            <a:ext cx="26586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600"/>
              <a:t>Chương 5</a:t>
            </a:r>
            <a:endParaRPr sz="3600"/>
          </a:p>
        </p:txBody>
      </p:sp>
      <p:sp>
        <p:nvSpPr>
          <p:cNvPr id="62" name="Google Shape;62;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6"/>
          <p:cNvSpPr txBox="1"/>
          <p:nvPr>
            <p:ph type="title"/>
          </p:nvPr>
        </p:nvSpPr>
        <p:spPr>
          <a:xfrm>
            <a:off x="311700" y="2459625"/>
            <a:ext cx="8520600" cy="1697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GB"/>
              <a:t>Chương 5.</a:t>
            </a:r>
            <a:endParaRPr/>
          </a:p>
          <a:p>
            <a:pPr indent="0" lvl="0" marL="0" rtl="0" algn="ctr">
              <a:spcBef>
                <a:spcPts val="0"/>
              </a:spcBef>
              <a:spcAft>
                <a:spcPts val="0"/>
              </a:spcAft>
              <a:buNone/>
            </a:pPr>
            <a:r>
              <a:rPr lang="en-GB"/>
              <a:t>OWL &amp; OWL2</a:t>
            </a:r>
            <a:endParaRPr/>
          </a:p>
        </p:txBody>
      </p:sp>
      <p:sp>
        <p:nvSpPr>
          <p:cNvPr id="68" name="Google Shape;68;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a:t>
            </a:r>
            <a:r>
              <a:rPr lang="en-GB"/>
              <a:t>ội dung</a:t>
            </a:r>
            <a:endParaRPr/>
          </a:p>
        </p:txBody>
      </p:sp>
      <p:sp>
        <p:nvSpPr>
          <p:cNvPr id="74" name="Google Shape;74;p17"/>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5.1. Tổng quan về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5.2. Ngữ nghĩa trực quan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5.3. Ví dụ tổng hợp: Thiên nhiên Châu Phi</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5.4. Các tầng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5.5. </a:t>
            </a:r>
            <a:r>
              <a:rPr lang="en-GB">
                <a:solidFill>
                  <a:schemeClr val="dk1"/>
                </a:solidFill>
                <a:latin typeface="Times New Roman"/>
                <a:ea typeface="Times New Roman"/>
                <a:cs typeface="Times New Roman"/>
                <a:sym typeface="Times New Roman"/>
              </a:rPr>
              <a:t>OWL 2</a:t>
            </a:r>
            <a:endParaRPr>
              <a:solidFill>
                <a:schemeClr val="dk1"/>
              </a:solidFill>
              <a:latin typeface="Times New Roman"/>
              <a:ea typeface="Times New Roman"/>
              <a:cs typeface="Times New Roman"/>
              <a:sym typeface="Times New Roman"/>
            </a:endParaRPr>
          </a:p>
        </p:txBody>
      </p:sp>
      <p:sp>
        <p:nvSpPr>
          <p:cNvPr id="75" name="Google Shape;75;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81" name="Google Shape;81;p18"/>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5.1. Tổng quan về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5.2. Ngữ nghĩa trực quan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5.3. Ví dụ tổng hợp: Thiên nhiên Châu Phi</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5.4. Các tầng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5.5. OWL 2</a:t>
            </a:r>
            <a:endParaRPr>
              <a:solidFill>
                <a:schemeClr val="dk1"/>
              </a:solidFill>
              <a:latin typeface="Times New Roman"/>
              <a:ea typeface="Times New Roman"/>
              <a:cs typeface="Times New Roman"/>
              <a:sym typeface="Times New Roman"/>
            </a:endParaRPr>
          </a:p>
        </p:txBody>
      </p:sp>
      <p:sp>
        <p:nvSpPr>
          <p:cNvPr id="82" name="Google Shape;82;p18"/>
          <p:cNvSpPr/>
          <p:nvPr/>
        </p:nvSpPr>
        <p:spPr>
          <a:xfrm>
            <a:off x="318450" y="830636"/>
            <a:ext cx="53529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Tổng quan về OWL</a:t>
            </a:r>
            <a:endParaRPr/>
          </a:p>
        </p:txBody>
      </p:sp>
      <p:sp>
        <p:nvSpPr>
          <p:cNvPr id="89" name="Google Shape;89;p19"/>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Clr>
                <a:srgbClr val="666666"/>
              </a:buClr>
              <a:buSzPts val="2400"/>
              <a:buChar char="●"/>
            </a:pPr>
            <a:r>
              <a:rPr lang="en-GB">
                <a:solidFill>
                  <a:srgbClr val="666666"/>
                </a:solidFill>
              </a:rPr>
              <a:t>OWL được xây dựng trên cơ sở RDF để "</a:t>
            </a:r>
            <a:r>
              <a:rPr i="1" lang="en-GB">
                <a:solidFill>
                  <a:srgbClr val="666666"/>
                </a:solidFill>
              </a:rPr>
              <a:t>biểu diễn những tri thức đa dạng và phức tạp về các đối tượng, các lớp, và các mối quan hệ</a:t>
            </a:r>
            <a:r>
              <a:rPr lang="en-GB">
                <a:solidFill>
                  <a:srgbClr val="666666"/>
                </a:solidFill>
              </a:rPr>
              <a:t>"</a:t>
            </a:r>
            <a:endParaRPr>
              <a:solidFill>
                <a:srgbClr val="666666"/>
              </a:solidFill>
            </a:endParaRPr>
          </a:p>
          <a:p>
            <a:pPr indent="-381000" lvl="0" marL="457200" rtl="0" algn="just">
              <a:spcBef>
                <a:spcPts val="0"/>
              </a:spcBef>
              <a:spcAft>
                <a:spcPts val="0"/>
              </a:spcAft>
              <a:buClr>
                <a:srgbClr val="666666"/>
              </a:buClr>
              <a:buSzPts val="2400"/>
              <a:buChar char="●"/>
            </a:pPr>
            <a:r>
              <a:rPr lang="en-GB">
                <a:solidFill>
                  <a:srgbClr val="666666"/>
                </a:solidFill>
              </a:rPr>
              <a:t>Được phát triển qua nhiều thập kỷ và kế thừa những thành tựu trong biểu diễn tri thức và suy diễn.</a:t>
            </a:r>
            <a:endParaRPr>
              <a:solidFill>
                <a:srgbClr val="666666"/>
              </a:solidFill>
            </a:endParaRPr>
          </a:p>
          <a:p>
            <a:pPr indent="-381000" lvl="0" marL="457200" rtl="0" algn="just">
              <a:spcBef>
                <a:spcPts val="0"/>
              </a:spcBef>
              <a:spcAft>
                <a:spcPts val="0"/>
              </a:spcAft>
              <a:buClr>
                <a:srgbClr val="666666"/>
              </a:buClr>
              <a:buSzPts val="2400"/>
              <a:buChar char="●"/>
            </a:pPr>
            <a:r>
              <a:rPr lang="en-GB">
                <a:solidFill>
                  <a:srgbClr val="666666"/>
                </a:solidFill>
              </a:rPr>
              <a:t>OWL được phát triển từ DAML+OIL 2001 và trở thành quy chuẩn W3C năm 2004.</a:t>
            </a:r>
            <a:endParaRPr>
              <a:solidFill>
                <a:srgbClr val="666666"/>
              </a:solidFill>
            </a:endParaRPr>
          </a:p>
          <a:p>
            <a:pPr indent="-393700" lvl="1" marL="914400" rtl="0" algn="just">
              <a:spcBef>
                <a:spcPts val="0"/>
              </a:spcBef>
              <a:spcAft>
                <a:spcPts val="0"/>
              </a:spcAft>
              <a:buClr>
                <a:srgbClr val="666666"/>
              </a:buClr>
              <a:buSzPts val="2600"/>
              <a:buChar char="○"/>
            </a:pPr>
            <a:r>
              <a:rPr lang="en-GB" sz="2600">
                <a:solidFill>
                  <a:srgbClr val="666666"/>
                </a:solidFill>
              </a:rPr>
              <a:t>Phiên bản tiếp theo là </a:t>
            </a:r>
            <a:r>
              <a:rPr lang="en-GB" sz="2600">
                <a:solidFill>
                  <a:srgbClr val="666666"/>
                </a:solidFill>
              </a:rPr>
              <a:t>OWL 2 (2012)</a:t>
            </a:r>
            <a:endParaRPr sz="2600">
              <a:solidFill>
                <a:srgbClr val="666666"/>
              </a:solidFill>
            </a:endParaRPr>
          </a:p>
          <a:p>
            <a:pPr indent="-381000" lvl="0" marL="457200" rtl="0" algn="just">
              <a:spcBef>
                <a:spcPts val="0"/>
              </a:spcBef>
              <a:spcAft>
                <a:spcPts val="0"/>
              </a:spcAft>
              <a:buClr>
                <a:srgbClr val="666666"/>
              </a:buClr>
              <a:buSzPts val="2400"/>
              <a:buChar char="●"/>
            </a:pPr>
            <a:r>
              <a:rPr lang="en-GB">
                <a:solidFill>
                  <a:srgbClr val="666666"/>
                </a:solidFill>
              </a:rPr>
              <a:t>OWL sử dụng cú pháp RDF và có ngữ nghĩa hình thức được xây dựng trên cơ sở lô-gic bậc nhất.</a:t>
            </a:r>
            <a:endParaRPr>
              <a:solidFill>
                <a:srgbClr val="666666"/>
              </a:solidFill>
            </a:endParaRPr>
          </a:p>
          <a:p>
            <a:pPr indent="-381000" lvl="0" marL="457200" rtl="0" algn="just">
              <a:spcBef>
                <a:spcPts val="0"/>
              </a:spcBef>
              <a:spcAft>
                <a:spcPts val="0"/>
              </a:spcAft>
              <a:buClr>
                <a:srgbClr val="666666"/>
              </a:buClr>
              <a:buSzPts val="2400"/>
              <a:buChar char="●"/>
            </a:pPr>
            <a:r>
              <a:rPr lang="en-GB">
                <a:solidFill>
                  <a:srgbClr val="666666"/>
                </a:solidFill>
              </a:rPr>
              <a:t>Nhiều công cụ phần mềm chất lượng.</a:t>
            </a:r>
            <a:endParaRPr>
              <a:solidFill>
                <a:srgbClr val="666666"/>
              </a:solidFill>
            </a:endParaRPr>
          </a:p>
        </p:txBody>
      </p:sp>
      <p:sp>
        <p:nvSpPr>
          <p:cNvPr id="90" name="Google Shape;90;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Tiến trình phát triển OWL</a:t>
            </a:r>
            <a:endParaRPr/>
          </a:p>
        </p:txBody>
      </p:sp>
      <p:grpSp>
        <p:nvGrpSpPr>
          <p:cNvPr id="96" name="Google Shape;96;p20"/>
          <p:cNvGrpSpPr/>
          <p:nvPr/>
        </p:nvGrpSpPr>
        <p:grpSpPr>
          <a:xfrm>
            <a:off x="255588" y="963613"/>
            <a:ext cx="8713700" cy="5387672"/>
            <a:chOff x="179388" y="1268413"/>
            <a:chExt cx="8713700" cy="5387672"/>
          </a:xfrm>
        </p:grpSpPr>
        <p:sp>
          <p:nvSpPr>
            <p:cNvPr id="97" name="Google Shape;97;p20"/>
            <p:cNvSpPr/>
            <p:nvPr/>
          </p:nvSpPr>
          <p:spPr>
            <a:xfrm>
              <a:off x="5694363" y="3857625"/>
              <a:ext cx="1755900" cy="330300"/>
            </a:xfrm>
            <a:prstGeom prst="roundRect">
              <a:avLst>
                <a:gd fmla="val 16667" name="adj"/>
              </a:avLst>
            </a:prstGeom>
            <a:solidFill>
              <a:srgbClr val="33CCCC">
                <a:alpha val="2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400" u="none" cap="none" strike="noStrike">
                  <a:solidFill>
                    <a:srgbClr val="666699"/>
                  </a:solidFill>
                  <a:latin typeface="Arial Narrow"/>
                  <a:ea typeface="Arial Narrow"/>
                  <a:cs typeface="Arial Narrow"/>
                  <a:sym typeface="Arial Narrow"/>
                </a:rPr>
                <a:t>Joint EU/US Committee</a:t>
              </a:r>
              <a:endParaRPr/>
            </a:p>
          </p:txBody>
        </p:sp>
        <p:sp>
          <p:nvSpPr>
            <p:cNvPr id="98" name="Google Shape;98;p20"/>
            <p:cNvSpPr/>
            <p:nvPr/>
          </p:nvSpPr>
          <p:spPr>
            <a:xfrm>
              <a:off x="4537075" y="2671775"/>
              <a:ext cx="763500" cy="330300"/>
            </a:xfrm>
            <a:prstGeom prst="roundRect">
              <a:avLst>
                <a:gd fmla="val 16667" name="adj"/>
              </a:avLst>
            </a:prstGeom>
            <a:solidFill>
              <a:srgbClr val="33CCCC">
                <a:alpha val="2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400" u="none" cap="none" strike="noStrike">
                  <a:solidFill>
                    <a:srgbClr val="666699"/>
                  </a:solidFill>
                  <a:latin typeface="Arial Narrow"/>
                  <a:ea typeface="Arial Narrow"/>
                  <a:cs typeface="Arial Narrow"/>
                  <a:sym typeface="Arial Narrow"/>
                </a:rPr>
                <a:t>DAML</a:t>
              </a:r>
              <a:endParaRPr/>
            </a:p>
          </p:txBody>
        </p:sp>
        <p:sp>
          <p:nvSpPr>
            <p:cNvPr id="99" name="Google Shape;99;p20"/>
            <p:cNvSpPr/>
            <p:nvPr/>
          </p:nvSpPr>
          <p:spPr>
            <a:xfrm>
              <a:off x="4034425" y="5332412"/>
              <a:ext cx="1776300" cy="330300"/>
            </a:xfrm>
            <a:prstGeom prst="roundRect">
              <a:avLst>
                <a:gd fmla="val 16667" name="adj"/>
              </a:avLst>
            </a:prstGeom>
            <a:solidFill>
              <a:srgbClr val="33CCCC">
                <a:alpha val="2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400" u="none" cap="none" strike="noStrike">
                  <a:solidFill>
                    <a:srgbClr val="666699"/>
                  </a:solidFill>
                  <a:latin typeface="Arial Narrow"/>
                  <a:ea typeface="Arial Narrow"/>
                  <a:cs typeface="Arial Narrow"/>
                  <a:sym typeface="Arial Narrow"/>
                </a:rPr>
                <a:t>OntoKnowledge+Others</a:t>
              </a:r>
              <a:endParaRPr b="0" i="0" sz="1400" u="none" cap="none" strike="noStrike">
                <a:solidFill>
                  <a:srgbClr val="666699"/>
                </a:solidFill>
                <a:latin typeface="Arial Narrow"/>
                <a:ea typeface="Arial Narrow"/>
                <a:cs typeface="Arial Narrow"/>
                <a:sym typeface="Arial Narrow"/>
              </a:endParaRPr>
            </a:p>
          </p:txBody>
        </p:sp>
        <p:sp>
          <p:nvSpPr>
            <p:cNvPr id="100" name="Google Shape;100;p20"/>
            <p:cNvSpPr/>
            <p:nvPr/>
          </p:nvSpPr>
          <p:spPr>
            <a:xfrm>
              <a:off x="290134" y="3840447"/>
              <a:ext cx="1041300" cy="4668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Frames</a:t>
              </a:r>
              <a:endParaRPr/>
            </a:p>
          </p:txBody>
        </p:sp>
        <p:sp>
          <p:nvSpPr>
            <p:cNvPr id="101" name="Google Shape;101;p20"/>
            <p:cNvSpPr/>
            <p:nvPr/>
          </p:nvSpPr>
          <p:spPr>
            <a:xfrm>
              <a:off x="1393468" y="5824185"/>
              <a:ext cx="1517700" cy="8319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Description </a:t>
              </a:r>
              <a:endParaRPr/>
            </a:p>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Logic</a:t>
              </a:r>
              <a:endParaRPr/>
            </a:p>
          </p:txBody>
        </p:sp>
        <p:sp>
          <p:nvSpPr>
            <p:cNvPr id="102" name="Google Shape;102;p20"/>
            <p:cNvSpPr/>
            <p:nvPr/>
          </p:nvSpPr>
          <p:spPr>
            <a:xfrm>
              <a:off x="1049338" y="3009900"/>
              <a:ext cx="1622400" cy="4668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RDF/RDF(S)</a:t>
              </a:r>
              <a:endParaRPr/>
            </a:p>
          </p:txBody>
        </p:sp>
        <p:sp>
          <p:nvSpPr>
            <p:cNvPr id="103" name="Google Shape;103;p20"/>
            <p:cNvSpPr/>
            <p:nvPr/>
          </p:nvSpPr>
          <p:spPr>
            <a:xfrm>
              <a:off x="3944938" y="4695825"/>
              <a:ext cx="597000" cy="4668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OIL</a:t>
              </a:r>
              <a:endParaRPr/>
            </a:p>
          </p:txBody>
        </p:sp>
        <p:sp>
          <p:nvSpPr>
            <p:cNvPr id="104" name="Google Shape;104;p20"/>
            <p:cNvSpPr/>
            <p:nvPr/>
          </p:nvSpPr>
          <p:spPr>
            <a:xfrm>
              <a:off x="3676650" y="3084513"/>
              <a:ext cx="1498500" cy="4668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DAML-ONT</a:t>
              </a:r>
              <a:endParaRPr/>
            </a:p>
          </p:txBody>
        </p:sp>
        <p:sp>
          <p:nvSpPr>
            <p:cNvPr id="105" name="Google Shape;105;p20"/>
            <p:cNvSpPr/>
            <p:nvPr/>
          </p:nvSpPr>
          <p:spPr>
            <a:xfrm>
              <a:off x="5846763" y="4270375"/>
              <a:ext cx="1436700" cy="4668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DAML+OIL</a:t>
              </a:r>
              <a:endParaRPr/>
            </a:p>
          </p:txBody>
        </p:sp>
        <p:sp>
          <p:nvSpPr>
            <p:cNvPr id="106" name="Google Shape;106;p20"/>
            <p:cNvSpPr/>
            <p:nvPr/>
          </p:nvSpPr>
          <p:spPr>
            <a:xfrm>
              <a:off x="8129588" y="4270375"/>
              <a:ext cx="763500" cy="4668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OWL</a:t>
              </a:r>
              <a:endParaRPr/>
            </a:p>
          </p:txBody>
        </p:sp>
        <p:cxnSp>
          <p:nvCxnSpPr>
            <p:cNvPr id="107" name="Google Shape;107;p20"/>
            <p:cNvCxnSpPr>
              <a:stCxn id="101" idx="3"/>
              <a:endCxn id="103" idx="1"/>
            </p:cNvCxnSpPr>
            <p:nvPr/>
          </p:nvCxnSpPr>
          <p:spPr>
            <a:xfrm flipH="1" rot="10800000">
              <a:off x="2911168" y="4929135"/>
              <a:ext cx="1033800" cy="1311000"/>
            </a:xfrm>
            <a:prstGeom prst="straightConnector1">
              <a:avLst/>
            </a:prstGeom>
            <a:noFill/>
            <a:ln cap="flat" cmpd="sng" w="57150">
              <a:solidFill>
                <a:srgbClr val="003366"/>
              </a:solidFill>
              <a:prstDash val="solid"/>
              <a:round/>
              <a:headEnd len="med" w="med" type="none"/>
              <a:tailEnd len="med" w="med" type="stealth"/>
            </a:ln>
          </p:spPr>
        </p:cxnSp>
        <p:cxnSp>
          <p:nvCxnSpPr>
            <p:cNvPr id="108" name="Google Shape;108;p20"/>
            <p:cNvCxnSpPr>
              <a:stCxn id="100" idx="3"/>
              <a:endCxn id="103" idx="1"/>
            </p:cNvCxnSpPr>
            <p:nvPr/>
          </p:nvCxnSpPr>
          <p:spPr>
            <a:xfrm>
              <a:off x="1331434" y="4073847"/>
              <a:ext cx="2613600" cy="855300"/>
            </a:xfrm>
            <a:prstGeom prst="straightConnector1">
              <a:avLst/>
            </a:prstGeom>
            <a:noFill/>
            <a:ln cap="flat" cmpd="sng" w="57150">
              <a:solidFill>
                <a:srgbClr val="003366"/>
              </a:solidFill>
              <a:prstDash val="solid"/>
              <a:round/>
              <a:headEnd len="med" w="med" type="none"/>
              <a:tailEnd len="med" w="med" type="stealth"/>
            </a:ln>
          </p:spPr>
        </p:cxnSp>
        <p:cxnSp>
          <p:nvCxnSpPr>
            <p:cNvPr id="109" name="Google Shape;109;p20"/>
            <p:cNvCxnSpPr>
              <a:stCxn id="100" idx="3"/>
              <a:endCxn id="104" idx="1"/>
            </p:cNvCxnSpPr>
            <p:nvPr/>
          </p:nvCxnSpPr>
          <p:spPr>
            <a:xfrm flipH="1" rot="10800000">
              <a:off x="1331434" y="3317847"/>
              <a:ext cx="2345100" cy="756000"/>
            </a:xfrm>
            <a:prstGeom prst="straightConnector1">
              <a:avLst/>
            </a:prstGeom>
            <a:noFill/>
            <a:ln cap="flat" cmpd="sng" w="57150">
              <a:solidFill>
                <a:srgbClr val="003366"/>
              </a:solidFill>
              <a:prstDash val="solid"/>
              <a:round/>
              <a:headEnd len="med" w="med" type="none"/>
              <a:tailEnd len="med" w="med" type="stealth"/>
            </a:ln>
          </p:spPr>
        </p:cxnSp>
        <p:cxnSp>
          <p:nvCxnSpPr>
            <p:cNvPr id="110" name="Google Shape;110;p20"/>
            <p:cNvCxnSpPr>
              <a:stCxn id="102" idx="3"/>
              <a:endCxn id="104" idx="1"/>
            </p:cNvCxnSpPr>
            <p:nvPr/>
          </p:nvCxnSpPr>
          <p:spPr>
            <a:xfrm>
              <a:off x="2671738" y="3243300"/>
              <a:ext cx="1005000" cy="74700"/>
            </a:xfrm>
            <a:prstGeom prst="straightConnector1">
              <a:avLst/>
            </a:prstGeom>
            <a:noFill/>
            <a:ln cap="flat" cmpd="sng" w="57150">
              <a:solidFill>
                <a:srgbClr val="003366"/>
              </a:solidFill>
              <a:prstDash val="solid"/>
              <a:round/>
              <a:headEnd len="med" w="med" type="none"/>
              <a:tailEnd len="med" w="med" type="stealth"/>
            </a:ln>
          </p:spPr>
        </p:cxnSp>
        <p:cxnSp>
          <p:nvCxnSpPr>
            <p:cNvPr id="111" name="Google Shape;111;p20"/>
            <p:cNvCxnSpPr>
              <a:stCxn id="102" idx="3"/>
              <a:endCxn id="103" idx="1"/>
            </p:cNvCxnSpPr>
            <p:nvPr/>
          </p:nvCxnSpPr>
          <p:spPr>
            <a:xfrm>
              <a:off x="2671738" y="3243300"/>
              <a:ext cx="1273200" cy="1686000"/>
            </a:xfrm>
            <a:prstGeom prst="straightConnector1">
              <a:avLst/>
            </a:prstGeom>
            <a:noFill/>
            <a:ln cap="flat" cmpd="sng" w="57150">
              <a:solidFill>
                <a:srgbClr val="003366"/>
              </a:solidFill>
              <a:prstDash val="solid"/>
              <a:round/>
              <a:headEnd len="med" w="med" type="none"/>
              <a:tailEnd len="med" w="med" type="stealth"/>
            </a:ln>
          </p:spPr>
        </p:cxnSp>
        <p:cxnSp>
          <p:nvCxnSpPr>
            <p:cNvPr id="112" name="Google Shape;112;p20"/>
            <p:cNvCxnSpPr>
              <a:stCxn id="103" idx="3"/>
              <a:endCxn id="105" idx="1"/>
            </p:cNvCxnSpPr>
            <p:nvPr/>
          </p:nvCxnSpPr>
          <p:spPr>
            <a:xfrm flipH="1" rot="10800000">
              <a:off x="4541938" y="4503825"/>
              <a:ext cx="1304700" cy="425400"/>
            </a:xfrm>
            <a:prstGeom prst="straightConnector1">
              <a:avLst/>
            </a:prstGeom>
            <a:noFill/>
            <a:ln cap="flat" cmpd="sng" w="57150">
              <a:solidFill>
                <a:srgbClr val="003366"/>
              </a:solidFill>
              <a:prstDash val="solid"/>
              <a:round/>
              <a:headEnd len="med" w="med" type="none"/>
              <a:tailEnd len="med" w="med" type="stealth"/>
            </a:ln>
          </p:spPr>
        </p:cxnSp>
        <p:cxnSp>
          <p:nvCxnSpPr>
            <p:cNvPr id="113" name="Google Shape;113;p20"/>
            <p:cNvCxnSpPr>
              <a:stCxn id="104" idx="3"/>
              <a:endCxn id="105" idx="1"/>
            </p:cNvCxnSpPr>
            <p:nvPr/>
          </p:nvCxnSpPr>
          <p:spPr>
            <a:xfrm>
              <a:off x="5175150" y="3317913"/>
              <a:ext cx="671700" cy="1185900"/>
            </a:xfrm>
            <a:prstGeom prst="straightConnector1">
              <a:avLst/>
            </a:prstGeom>
            <a:noFill/>
            <a:ln cap="flat" cmpd="sng" w="57150">
              <a:solidFill>
                <a:srgbClr val="003366"/>
              </a:solidFill>
              <a:prstDash val="solid"/>
              <a:round/>
              <a:headEnd len="med" w="med" type="none"/>
              <a:tailEnd len="med" w="med" type="stealth"/>
            </a:ln>
          </p:spPr>
        </p:cxnSp>
        <p:cxnSp>
          <p:nvCxnSpPr>
            <p:cNvPr id="114" name="Google Shape;114;p20"/>
            <p:cNvCxnSpPr>
              <a:stCxn id="105" idx="3"/>
              <a:endCxn id="106" idx="1"/>
            </p:cNvCxnSpPr>
            <p:nvPr/>
          </p:nvCxnSpPr>
          <p:spPr>
            <a:xfrm>
              <a:off x="7283463" y="4503775"/>
              <a:ext cx="846000" cy="0"/>
            </a:xfrm>
            <a:prstGeom prst="straightConnector1">
              <a:avLst/>
            </a:prstGeom>
            <a:noFill/>
            <a:ln cap="flat" cmpd="sng" w="57150">
              <a:solidFill>
                <a:srgbClr val="003366"/>
              </a:solidFill>
              <a:prstDash val="solid"/>
              <a:round/>
              <a:headEnd len="med" w="med" type="none"/>
              <a:tailEnd len="med" w="med" type="stealth"/>
            </a:ln>
          </p:spPr>
        </p:cxnSp>
        <p:sp>
          <p:nvSpPr>
            <p:cNvPr id="115" name="Google Shape;115;p20"/>
            <p:cNvSpPr/>
            <p:nvPr/>
          </p:nvSpPr>
          <p:spPr>
            <a:xfrm>
              <a:off x="8101030" y="4868875"/>
              <a:ext cx="763500" cy="330300"/>
            </a:xfrm>
            <a:prstGeom prst="roundRect">
              <a:avLst>
                <a:gd fmla="val 16667" name="adj"/>
              </a:avLst>
            </a:prstGeom>
            <a:solidFill>
              <a:srgbClr val="33CCCC">
                <a:alpha val="2471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400" u="none" cap="none" strike="noStrike">
                  <a:solidFill>
                    <a:srgbClr val="666699"/>
                  </a:solidFill>
                  <a:latin typeface="Arial Narrow"/>
                  <a:ea typeface="Arial Narrow"/>
                  <a:cs typeface="Arial Narrow"/>
                  <a:sym typeface="Arial Narrow"/>
                </a:rPr>
                <a:t>W3C</a:t>
              </a:r>
              <a:endParaRPr/>
            </a:p>
          </p:txBody>
        </p:sp>
        <p:cxnSp>
          <p:nvCxnSpPr>
            <p:cNvPr id="116" name="Google Shape;116;p20"/>
            <p:cNvCxnSpPr>
              <a:stCxn id="101" idx="3"/>
              <a:endCxn id="104" idx="2"/>
            </p:cNvCxnSpPr>
            <p:nvPr/>
          </p:nvCxnSpPr>
          <p:spPr>
            <a:xfrm flipH="1" rot="10800000">
              <a:off x="2911168" y="3551235"/>
              <a:ext cx="1514700" cy="2688900"/>
            </a:xfrm>
            <a:prstGeom prst="straightConnector1">
              <a:avLst/>
            </a:prstGeom>
            <a:noFill/>
            <a:ln cap="flat" cmpd="sng" w="57150">
              <a:solidFill>
                <a:srgbClr val="003366"/>
              </a:solidFill>
              <a:prstDash val="solid"/>
              <a:round/>
              <a:headEnd len="med" w="med" type="none"/>
              <a:tailEnd len="med" w="med" type="stealth"/>
            </a:ln>
          </p:spPr>
        </p:cxnSp>
        <p:sp>
          <p:nvSpPr>
            <p:cNvPr id="117" name="Google Shape;117;p20"/>
            <p:cNvSpPr/>
            <p:nvPr/>
          </p:nvSpPr>
          <p:spPr>
            <a:xfrm>
              <a:off x="1766888" y="1989138"/>
              <a:ext cx="903300" cy="4668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SHOE</a:t>
              </a:r>
              <a:endParaRPr/>
            </a:p>
          </p:txBody>
        </p:sp>
        <p:cxnSp>
          <p:nvCxnSpPr>
            <p:cNvPr id="118" name="Google Shape;118;p20"/>
            <p:cNvCxnSpPr>
              <a:stCxn id="117" idx="3"/>
            </p:cNvCxnSpPr>
            <p:nvPr/>
          </p:nvCxnSpPr>
          <p:spPr>
            <a:xfrm>
              <a:off x="2670188" y="2222538"/>
              <a:ext cx="1755900" cy="895500"/>
            </a:xfrm>
            <a:prstGeom prst="straightConnector1">
              <a:avLst/>
            </a:prstGeom>
            <a:noFill/>
            <a:ln cap="flat" cmpd="sng" w="57150">
              <a:solidFill>
                <a:srgbClr val="003366"/>
              </a:solidFill>
              <a:prstDash val="solid"/>
              <a:round/>
              <a:headEnd len="med" w="med" type="none"/>
              <a:tailEnd len="med" w="med" type="stealth"/>
            </a:ln>
          </p:spPr>
        </p:cxnSp>
        <p:sp>
          <p:nvSpPr>
            <p:cNvPr id="119" name="Google Shape;119;p20"/>
            <p:cNvSpPr/>
            <p:nvPr/>
          </p:nvSpPr>
          <p:spPr>
            <a:xfrm>
              <a:off x="179388" y="1268413"/>
              <a:ext cx="2365500" cy="4668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2400" u="none" cap="none" strike="noStrike">
                  <a:solidFill>
                    <a:srgbClr val="FFFFFF"/>
                  </a:solidFill>
                  <a:latin typeface="Arial Narrow"/>
                  <a:ea typeface="Arial Narrow"/>
                  <a:cs typeface="Arial Narrow"/>
                  <a:sym typeface="Arial Narrow"/>
                </a:rPr>
                <a:t>Logic Programming</a:t>
              </a:r>
              <a:endParaRPr/>
            </a:p>
          </p:txBody>
        </p:sp>
        <p:cxnSp>
          <p:nvCxnSpPr>
            <p:cNvPr id="120" name="Google Shape;120;p20"/>
            <p:cNvCxnSpPr>
              <a:stCxn id="119" idx="2"/>
              <a:endCxn id="117" idx="1"/>
            </p:cNvCxnSpPr>
            <p:nvPr/>
          </p:nvCxnSpPr>
          <p:spPr>
            <a:xfrm>
              <a:off x="1362138" y="1735213"/>
              <a:ext cx="404700" cy="487200"/>
            </a:xfrm>
            <a:prstGeom prst="straightConnector1">
              <a:avLst/>
            </a:prstGeom>
            <a:noFill/>
            <a:ln cap="flat" cmpd="sng" w="57150">
              <a:solidFill>
                <a:srgbClr val="003366"/>
              </a:solidFill>
              <a:prstDash val="solid"/>
              <a:round/>
              <a:headEnd len="med" w="med" type="none"/>
              <a:tailEnd len="med" w="med" type="stealth"/>
            </a:ln>
          </p:spPr>
        </p:cxnSp>
        <p:sp>
          <p:nvSpPr>
            <p:cNvPr id="121" name="Google Shape;121;p20"/>
            <p:cNvSpPr txBox="1"/>
            <p:nvPr/>
          </p:nvSpPr>
          <p:spPr>
            <a:xfrm>
              <a:off x="179388" y="1774310"/>
              <a:ext cx="813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1800" u="none" cap="none" strike="noStrike">
                  <a:solidFill>
                    <a:srgbClr val="003366"/>
                  </a:solidFill>
                  <a:latin typeface="Arial"/>
                  <a:ea typeface="Arial"/>
                  <a:cs typeface="Arial"/>
                  <a:sym typeface="Arial"/>
                </a:rPr>
                <a:t>1970s</a:t>
              </a:r>
              <a:endParaRPr/>
            </a:p>
          </p:txBody>
        </p:sp>
        <p:sp>
          <p:nvSpPr>
            <p:cNvPr id="122" name="Google Shape;122;p20"/>
            <p:cNvSpPr txBox="1"/>
            <p:nvPr/>
          </p:nvSpPr>
          <p:spPr>
            <a:xfrm>
              <a:off x="2161818" y="5454853"/>
              <a:ext cx="8130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latin typeface="Arial"/>
                  <a:ea typeface="Arial"/>
                  <a:cs typeface="Arial"/>
                  <a:sym typeface="Arial"/>
                </a:rPr>
                <a:t>1980s</a:t>
              </a:r>
              <a:endParaRPr/>
            </a:p>
          </p:txBody>
        </p:sp>
        <p:sp>
          <p:nvSpPr>
            <p:cNvPr id="123" name="Google Shape;123;p20"/>
            <p:cNvSpPr txBox="1"/>
            <p:nvPr/>
          </p:nvSpPr>
          <p:spPr>
            <a:xfrm>
              <a:off x="230967" y="3511177"/>
              <a:ext cx="6975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latin typeface="Arial"/>
                  <a:ea typeface="Arial"/>
                  <a:cs typeface="Arial"/>
                  <a:sym typeface="Arial"/>
                </a:rPr>
                <a:t>1974</a:t>
              </a:r>
              <a:endParaRPr/>
            </a:p>
          </p:txBody>
        </p:sp>
        <p:sp>
          <p:nvSpPr>
            <p:cNvPr id="124" name="Google Shape;124;p20"/>
            <p:cNvSpPr txBox="1"/>
            <p:nvPr/>
          </p:nvSpPr>
          <p:spPr>
            <a:xfrm>
              <a:off x="5824538" y="4770993"/>
              <a:ext cx="832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latin typeface="Arial"/>
                  <a:ea typeface="Arial"/>
                  <a:cs typeface="Arial"/>
                  <a:sym typeface="Arial"/>
                </a:rPr>
                <a:t>~2002</a:t>
              </a:r>
              <a:endParaRPr sz="1800">
                <a:solidFill>
                  <a:srgbClr val="003366"/>
                </a:solidFill>
                <a:latin typeface="Arial"/>
                <a:ea typeface="Arial"/>
                <a:cs typeface="Arial"/>
                <a:sym typeface="Arial"/>
              </a:endParaRPr>
            </a:p>
          </p:txBody>
        </p:sp>
        <p:sp>
          <p:nvSpPr>
            <p:cNvPr id="125" name="Google Shape;125;p20"/>
            <p:cNvSpPr txBox="1"/>
            <p:nvPr/>
          </p:nvSpPr>
          <p:spPr>
            <a:xfrm>
              <a:off x="8101013" y="3896003"/>
              <a:ext cx="6975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latin typeface="Arial"/>
                  <a:ea typeface="Arial"/>
                  <a:cs typeface="Arial"/>
                  <a:sym typeface="Arial"/>
                </a:rPr>
                <a:t>2004</a:t>
              </a:r>
              <a:endParaRPr sz="1800">
                <a:solidFill>
                  <a:srgbClr val="003366"/>
                </a:solidFill>
                <a:latin typeface="Arial"/>
                <a:ea typeface="Arial"/>
                <a:cs typeface="Arial"/>
                <a:sym typeface="Arial"/>
              </a:endParaRPr>
            </a:p>
          </p:txBody>
        </p:sp>
        <p:sp>
          <p:nvSpPr>
            <p:cNvPr id="126" name="Google Shape;126;p20"/>
            <p:cNvSpPr txBox="1"/>
            <p:nvPr/>
          </p:nvSpPr>
          <p:spPr>
            <a:xfrm>
              <a:off x="4361415" y="3582163"/>
              <a:ext cx="832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latin typeface="Arial"/>
                  <a:ea typeface="Arial"/>
                  <a:cs typeface="Arial"/>
                  <a:sym typeface="Arial"/>
                </a:rPr>
                <a:t>~2000</a:t>
              </a:r>
              <a:endParaRPr/>
            </a:p>
          </p:txBody>
        </p:sp>
        <p:sp>
          <p:nvSpPr>
            <p:cNvPr id="127" name="Google Shape;127;p20"/>
            <p:cNvSpPr txBox="1"/>
            <p:nvPr/>
          </p:nvSpPr>
          <p:spPr>
            <a:xfrm>
              <a:off x="1796407" y="2406067"/>
              <a:ext cx="6975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latin typeface="Arial"/>
                  <a:ea typeface="Arial"/>
                  <a:cs typeface="Arial"/>
                  <a:sym typeface="Arial"/>
                </a:rPr>
                <a:t>1996</a:t>
              </a:r>
              <a:endParaRPr/>
            </a:p>
          </p:txBody>
        </p:sp>
        <p:sp>
          <p:nvSpPr>
            <p:cNvPr id="128" name="Google Shape;128;p20"/>
            <p:cNvSpPr txBox="1"/>
            <p:nvPr/>
          </p:nvSpPr>
          <p:spPr>
            <a:xfrm>
              <a:off x="3860586" y="4397375"/>
              <a:ext cx="8322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latin typeface="Arial"/>
                  <a:ea typeface="Arial"/>
                  <a:cs typeface="Arial"/>
                  <a:sym typeface="Arial"/>
                </a:rPr>
                <a:t>~2000</a:t>
              </a:r>
              <a:endParaRPr/>
            </a:p>
          </p:txBody>
        </p:sp>
        <p:sp>
          <p:nvSpPr>
            <p:cNvPr id="129" name="Google Shape;129;p20"/>
            <p:cNvSpPr/>
            <p:nvPr/>
          </p:nvSpPr>
          <p:spPr>
            <a:xfrm>
              <a:off x="1050578" y="4766707"/>
              <a:ext cx="832200" cy="461700"/>
            </a:xfrm>
            <a:prstGeom prst="rect">
              <a:avLst/>
            </a:prstGeom>
            <a:solidFill>
              <a:srgbClr val="6666CC"/>
            </a:solidFill>
            <a:ln cap="flat" cmpd="sng" w="9525">
              <a:solidFill>
                <a:srgbClr val="0033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2400">
                  <a:solidFill>
                    <a:srgbClr val="FFFFFF"/>
                  </a:solidFill>
                  <a:latin typeface="Arial Narrow"/>
                  <a:ea typeface="Arial Narrow"/>
                  <a:cs typeface="Arial Narrow"/>
                  <a:sym typeface="Arial Narrow"/>
                </a:rPr>
                <a:t>Klone</a:t>
              </a:r>
              <a:endParaRPr sz="2400">
                <a:solidFill>
                  <a:srgbClr val="FFFFFF"/>
                </a:solidFill>
                <a:latin typeface="Arial Narrow"/>
                <a:ea typeface="Arial Narrow"/>
                <a:cs typeface="Arial Narrow"/>
                <a:sym typeface="Arial Narrow"/>
              </a:endParaRPr>
            </a:p>
          </p:txBody>
        </p:sp>
        <p:cxnSp>
          <p:nvCxnSpPr>
            <p:cNvPr id="130" name="Google Shape;130;p20"/>
            <p:cNvCxnSpPr>
              <a:endCxn id="101" idx="0"/>
            </p:cNvCxnSpPr>
            <p:nvPr/>
          </p:nvCxnSpPr>
          <p:spPr>
            <a:xfrm>
              <a:off x="1461718" y="5234085"/>
              <a:ext cx="690600" cy="590100"/>
            </a:xfrm>
            <a:prstGeom prst="straightConnector1">
              <a:avLst/>
            </a:prstGeom>
            <a:noFill/>
            <a:ln cap="flat" cmpd="sng" w="57150">
              <a:solidFill>
                <a:srgbClr val="003366"/>
              </a:solidFill>
              <a:prstDash val="solid"/>
              <a:round/>
              <a:headEnd len="med" w="med" type="none"/>
              <a:tailEnd len="med" w="med" type="stealth"/>
            </a:ln>
          </p:spPr>
        </p:cxnSp>
        <p:cxnSp>
          <p:nvCxnSpPr>
            <p:cNvPr id="131" name="Google Shape;131;p20"/>
            <p:cNvCxnSpPr>
              <a:endCxn id="129" idx="0"/>
            </p:cNvCxnSpPr>
            <p:nvPr/>
          </p:nvCxnSpPr>
          <p:spPr>
            <a:xfrm>
              <a:off x="750578" y="4312807"/>
              <a:ext cx="716100" cy="453900"/>
            </a:xfrm>
            <a:prstGeom prst="straightConnector1">
              <a:avLst/>
            </a:prstGeom>
            <a:noFill/>
            <a:ln cap="flat" cmpd="sng" w="57150">
              <a:solidFill>
                <a:srgbClr val="003366"/>
              </a:solidFill>
              <a:prstDash val="solid"/>
              <a:round/>
              <a:headEnd len="med" w="med" type="none"/>
              <a:tailEnd len="med" w="med" type="stealth"/>
            </a:ln>
          </p:spPr>
        </p:cxnSp>
        <p:sp>
          <p:nvSpPr>
            <p:cNvPr id="132" name="Google Shape;132;p20"/>
            <p:cNvSpPr txBox="1"/>
            <p:nvPr/>
          </p:nvSpPr>
          <p:spPr>
            <a:xfrm>
              <a:off x="356115" y="4808797"/>
              <a:ext cx="6975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3366"/>
                  </a:solidFill>
                  <a:latin typeface="Arial"/>
                  <a:ea typeface="Arial"/>
                  <a:cs typeface="Arial"/>
                  <a:sym typeface="Arial"/>
                </a:rPr>
                <a:t>1980</a:t>
              </a:r>
              <a:endParaRPr/>
            </a:p>
          </p:txBody>
        </p:sp>
      </p:grpSp>
      <p:sp>
        <p:nvSpPr>
          <p:cNvPr id="133" name="Google Shape;133;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idx="4294967295" type="title"/>
          </p:nvPr>
        </p:nvSpPr>
        <p:spPr>
          <a:xfrm>
            <a:off x="311700" y="288577"/>
            <a:ext cx="8520600" cy="72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yêu cầu cơ bản</a:t>
            </a:r>
            <a:endParaRPr/>
          </a:p>
        </p:txBody>
      </p:sp>
      <p:sp>
        <p:nvSpPr>
          <p:cNvPr id="139" name="Google Shape;139;p21"/>
          <p:cNvSpPr txBox="1"/>
          <p:nvPr>
            <p:ph idx="4294967295" type="body"/>
          </p:nvPr>
        </p:nvSpPr>
        <p:spPr>
          <a:xfrm>
            <a:off x="311700" y="1014574"/>
            <a:ext cx="8520600" cy="50772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N</a:t>
            </a:r>
            <a:r>
              <a:rPr lang="en-GB"/>
              <a:t>gôn ngữ Ontology được sử dụng để mô tả hình thức mô hình lĩnh vực, vì vậy cần đáp ứng các yêu cầu sau:</a:t>
            </a:r>
            <a:endParaRPr/>
          </a:p>
          <a:p>
            <a:pPr indent="-368300" lvl="1" marL="914400" rtl="0" algn="l">
              <a:spcBef>
                <a:spcPts val="0"/>
              </a:spcBef>
              <a:spcAft>
                <a:spcPts val="0"/>
              </a:spcAft>
              <a:buSzPts val="2200"/>
              <a:buChar char="○"/>
            </a:pPr>
            <a:r>
              <a:rPr lang="en-GB"/>
              <a:t>Khả năng diễn đạt đủ dùng</a:t>
            </a:r>
            <a:endParaRPr/>
          </a:p>
          <a:p>
            <a:pPr indent="-368300" lvl="1" marL="914400" rtl="0" algn="l">
              <a:spcBef>
                <a:spcPts val="0"/>
              </a:spcBef>
              <a:spcAft>
                <a:spcPts val="0"/>
              </a:spcAft>
              <a:buSzPts val="2200"/>
              <a:buChar char="○"/>
            </a:pPr>
            <a:r>
              <a:rPr lang="en-GB"/>
              <a:t>Ngữ nghĩa hình thức</a:t>
            </a:r>
            <a:endParaRPr/>
          </a:p>
          <a:p>
            <a:pPr indent="-368300" lvl="1" marL="914400" rtl="0" algn="l">
              <a:spcBef>
                <a:spcPts val="0"/>
              </a:spcBef>
              <a:spcAft>
                <a:spcPts val="0"/>
              </a:spcAft>
              <a:buSzPts val="2200"/>
              <a:buChar char="○"/>
            </a:pPr>
            <a:r>
              <a:rPr lang="en-GB"/>
              <a:t>Khả năng suy diễn hiệu quả</a:t>
            </a:r>
            <a:endParaRPr/>
          </a:p>
          <a:p>
            <a:pPr indent="-368300" lvl="1" marL="914400" rtl="0" algn="l">
              <a:spcBef>
                <a:spcPts val="0"/>
              </a:spcBef>
              <a:spcAft>
                <a:spcPts val="0"/>
              </a:spcAft>
              <a:buSzPts val="2200"/>
              <a:buChar char="○"/>
            </a:pPr>
            <a:r>
              <a:rPr lang="en-GB"/>
              <a:t>Cú pháp đơn giản</a:t>
            </a:r>
            <a:endParaRPr/>
          </a:p>
          <a:p>
            <a:pPr indent="-368300" lvl="1" marL="914400" rtl="0" algn="l">
              <a:spcBef>
                <a:spcPts val="0"/>
              </a:spcBef>
              <a:spcAft>
                <a:spcPts val="0"/>
              </a:spcAft>
              <a:buSzPts val="2200"/>
              <a:buChar char="○"/>
            </a:pPr>
            <a:r>
              <a:rPr lang="en-GB"/>
              <a:t>Dễ hiểu</a:t>
            </a:r>
            <a:endParaRPr/>
          </a:p>
        </p:txBody>
      </p:sp>
      <p:sp>
        <p:nvSpPr>
          <p:cNvPr id="140" name="Google Shape;140;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Kh</a:t>
            </a:r>
            <a:r>
              <a:rPr lang="en-GB"/>
              <a:t>ả năng diễn đạt vs. Suy diễn hiệu quả</a:t>
            </a:r>
            <a:endParaRPr/>
          </a:p>
        </p:txBody>
      </p:sp>
      <p:sp>
        <p:nvSpPr>
          <p:cNvPr id="146" name="Google Shape;146;p22"/>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a:t>
            </a:r>
            <a:r>
              <a:rPr lang="en-GB"/>
              <a:t>uôn có sự bù trừ giữa khả năng diễn đạt và khả năng suy diễn</a:t>
            </a:r>
            <a:endParaRPr/>
          </a:p>
          <a:p>
            <a:pPr indent="-381000" lvl="0" marL="457200" rtl="0" algn="just">
              <a:spcBef>
                <a:spcPts val="0"/>
              </a:spcBef>
              <a:spcAft>
                <a:spcPts val="0"/>
              </a:spcAft>
              <a:buSzPts val="2400"/>
              <a:buChar char="●"/>
            </a:pPr>
            <a:r>
              <a:rPr lang="en-GB"/>
              <a:t>Ng</a:t>
            </a:r>
            <a:r>
              <a:rPr lang="en-GB"/>
              <a:t>ôn ngữ có khả năng diễn đạt càng mạnh thì càng khó xây dựng công cụ suy diễn hiệu quả</a:t>
            </a:r>
            <a:endParaRPr/>
          </a:p>
          <a:p>
            <a:pPr indent="-381000" lvl="0" marL="457200" rtl="0" algn="just">
              <a:spcBef>
                <a:spcPts val="0"/>
              </a:spcBef>
              <a:spcAft>
                <a:spcPts val="0"/>
              </a:spcAft>
              <a:buSzPts val="2400"/>
              <a:buChar char="●"/>
            </a:pPr>
            <a:r>
              <a:rPr lang="en-GB"/>
              <a:t>Vấn đề suy diễn có thể không khả quyết hoặc bán khả quyết và nếu khả quyết thì có thể có độ phức tạp lũy thừa</a:t>
            </a:r>
            <a:endParaRPr/>
          </a:p>
          <a:p>
            <a:pPr indent="-381000" lvl="0" marL="457200" rtl="0" algn="l">
              <a:spcBef>
                <a:spcPts val="0"/>
              </a:spcBef>
              <a:spcAft>
                <a:spcPts val="0"/>
              </a:spcAft>
              <a:buSzPts val="2400"/>
              <a:buChar char="●"/>
            </a:pPr>
            <a:r>
              <a:rPr lang="en-GB"/>
              <a:t>Cần cân đối giữa:</a:t>
            </a:r>
            <a:endParaRPr/>
          </a:p>
          <a:p>
            <a:pPr indent="-368300" lvl="1" marL="914400" rtl="0" algn="l">
              <a:spcBef>
                <a:spcPts val="0"/>
              </a:spcBef>
              <a:spcAft>
                <a:spcPts val="0"/>
              </a:spcAft>
              <a:buSzPts val="2200"/>
              <a:buChar char="○"/>
            </a:pPr>
            <a:r>
              <a:rPr lang="en-GB"/>
              <a:t>Khả năng suy diễn hiệu quả và</a:t>
            </a:r>
            <a:endParaRPr/>
          </a:p>
          <a:p>
            <a:pPr indent="-368300" lvl="1" marL="914400" rtl="0" algn="l">
              <a:spcBef>
                <a:spcPts val="0"/>
              </a:spcBef>
              <a:spcAft>
                <a:spcPts val="0"/>
              </a:spcAft>
              <a:buSzPts val="2200"/>
              <a:buChar char="○"/>
            </a:pPr>
            <a:r>
              <a:rPr lang="en-GB"/>
              <a:t>Khả năng mô tả tri thức phức tạp</a:t>
            </a:r>
            <a:endParaRPr/>
          </a:p>
        </p:txBody>
      </p:sp>
      <p:sp>
        <p:nvSpPr>
          <p:cNvPr id="147" name="Google Shape;147;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t>
            </a:r>
            <a:r>
              <a:rPr lang="en-GB"/>
              <a:t>ột số vấn đề suy diễn</a:t>
            </a:r>
            <a:endParaRPr/>
          </a:p>
        </p:txBody>
      </p:sp>
      <p:sp>
        <p:nvSpPr>
          <p:cNvPr id="153" name="Google Shape;153;p23"/>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Th</a:t>
            </a:r>
            <a:r>
              <a:rPr lang="en-GB"/>
              <a:t>ành phần của lớp</a:t>
            </a:r>
            <a:endParaRPr/>
          </a:p>
          <a:p>
            <a:pPr indent="-368300" lvl="1" marL="914400" rtl="0" algn="l">
              <a:spcBef>
                <a:spcPts val="0"/>
              </a:spcBef>
              <a:spcAft>
                <a:spcPts val="0"/>
              </a:spcAft>
              <a:buSzPts val="2200"/>
              <a:buChar char="○"/>
            </a:pPr>
            <a:r>
              <a:rPr lang="en-GB"/>
              <a:t>Nếu x là 1 phần tử của lớp C và C là lớp con của D, thì chúng ta có thể kết luận x là phần tử của lớp D.</a:t>
            </a:r>
            <a:endParaRPr/>
          </a:p>
          <a:p>
            <a:pPr indent="-368300" lvl="1" marL="914400" rtl="0" algn="l">
              <a:spcBef>
                <a:spcPts val="0"/>
              </a:spcBef>
              <a:spcAft>
                <a:spcPts val="0"/>
              </a:spcAft>
              <a:buSzPts val="2200"/>
              <a:buChar char="○"/>
            </a:pPr>
            <a:r>
              <a:rPr lang="en-GB"/>
              <a:t>Dựa trên các cặp thuộc tính-giá trị có thể xác định 1 đối tượng là phần tử của lớp.</a:t>
            </a:r>
            <a:endParaRPr/>
          </a:p>
          <a:p>
            <a:pPr indent="-381000" lvl="0" marL="457200" rtl="0" algn="l">
              <a:spcBef>
                <a:spcPts val="0"/>
              </a:spcBef>
              <a:spcAft>
                <a:spcPts val="0"/>
              </a:spcAft>
              <a:buSzPts val="2400"/>
              <a:buChar char="●"/>
            </a:pPr>
            <a:r>
              <a:rPr lang="en-GB"/>
              <a:t>Sự tương đương</a:t>
            </a:r>
            <a:endParaRPr/>
          </a:p>
          <a:p>
            <a:pPr indent="-368300" lvl="1" marL="914400" rtl="0" algn="l">
              <a:spcBef>
                <a:spcPts val="0"/>
              </a:spcBef>
              <a:spcAft>
                <a:spcPts val="0"/>
              </a:spcAft>
              <a:buSzPts val="2200"/>
              <a:buChar char="○"/>
            </a:pPr>
            <a:r>
              <a:rPr lang="en-GB"/>
              <a:t>Nếu lớp A tương đương với lớp B, và lớp B tương đương với lớp C, thì A cũng tương đương với C.</a:t>
            </a:r>
            <a:endParaRPr/>
          </a:p>
          <a:p>
            <a:pPr indent="-381000" lvl="0" marL="457200" rtl="0" algn="l">
              <a:spcBef>
                <a:spcPts val="0"/>
              </a:spcBef>
              <a:spcAft>
                <a:spcPts val="0"/>
              </a:spcAft>
              <a:buSzPts val="2400"/>
              <a:buChar char="●"/>
            </a:pPr>
            <a:r>
              <a:rPr lang="en-GB"/>
              <a:t>Tính nhất quán</a:t>
            </a:r>
            <a:endParaRPr/>
          </a:p>
          <a:p>
            <a:pPr indent="-368300" lvl="1" marL="914400" rtl="0" algn="l">
              <a:spcBef>
                <a:spcPts val="0"/>
              </a:spcBef>
              <a:spcAft>
                <a:spcPts val="0"/>
              </a:spcAft>
              <a:buSzPts val="2200"/>
              <a:buChar char="○"/>
            </a:pPr>
            <a:r>
              <a:rPr lang="en-GB"/>
              <a:t>X là phần tử của lớp A và lớp B, A và B không giao nhau =&gt;Mâu thuẫn =&gt; Khả năng lỗi trong Ontology hoặc dữ liệu</a:t>
            </a:r>
            <a:endParaRPr/>
          </a:p>
        </p:txBody>
      </p:sp>
      <p:sp>
        <p:nvSpPr>
          <p:cNvPr id="154" name="Google Shape;154;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Ứ</a:t>
            </a:r>
            <a:r>
              <a:rPr lang="en-GB"/>
              <a:t>ng dụng suy diễn</a:t>
            </a:r>
            <a:endParaRPr/>
          </a:p>
        </p:txBody>
      </p:sp>
      <p:sp>
        <p:nvSpPr>
          <p:cNvPr id="160" name="Google Shape;160;p24"/>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a:t>
            </a:r>
            <a:r>
              <a:rPr lang="en-GB"/>
              <a:t>ả năng suy diễn là điều kiện quan trọng để</a:t>
            </a:r>
            <a:endParaRPr/>
          </a:p>
          <a:p>
            <a:pPr indent="-368300" lvl="1" marL="914400" rtl="0" algn="l">
              <a:spcBef>
                <a:spcPts val="0"/>
              </a:spcBef>
              <a:spcAft>
                <a:spcPts val="0"/>
              </a:spcAft>
              <a:buSzPts val="2200"/>
              <a:buChar char="○"/>
            </a:pPr>
            <a:r>
              <a:rPr lang="en-GB"/>
              <a:t>Phát hiện các mối quan hệ mới và các thuộc tính mới</a:t>
            </a:r>
            <a:endParaRPr/>
          </a:p>
          <a:p>
            <a:pPr indent="-368300" lvl="1" marL="914400" rtl="0" algn="l">
              <a:spcBef>
                <a:spcPts val="0"/>
              </a:spcBef>
              <a:spcAft>
                <a:spcPts val="0"/>
              </a:spcAft>
              <a:buSzPts val="2200"/>
              <a:buChar char="○"/>
            </a:pPr>
            <a:r>
              <a:rPr lang="en-GB"/>
              <a:t>Tự động xác định lớp của đối tượng</a:t>
            </a:r>
            <a:endParaRPr/>
          </a:p>
          <a:p>
            <a:pPr indent="-368300" lvl="1" marL="914400" rtl="0" algn="l">
              <a:spcBef>
                <a:spcPts val="0"/>
              </a:spcBef>
              <a:spcAft>
                <a:spcPts val="0"/>
              </a:spcAft>
              <a:buSzPts val="2200"/>
              <a:buChar char="○"/>
            </a:pPr>
            <a:r>
              <a:rPr lang="en-GB"/>
              <a:t>Kiểm tra tính nhất quán của cơ sở tri thức</a:t>
            </a:r>
            <a:endParaRPr/>
          </a:p>
          <a:p>
            <a:pPr indent="-368300" lvl="1" marL="914400" rtl="0" algn="l">
              <a:spcBef>
                <a:spcPts val="0"/>
              </a:spcBef>
              <a:spcAft>
                <a:spcPts val="0"/>
              </a:spcAft>
              <a:buSzPts val="2200"/>
              <a:buChar char="○"/>
            </a:pPr>
            <a:r>
              <a:rPr lang="en-GB"/>
              <a:t>Kiểm tra mối quan hệ giữa các lớp</a:t>
            </a:r>
            <a:endParaRPr/>
          </a:p>
          <a:p>
            <a:pPr indent="-381000" lvl="0" marL="457200" rtl="0" algn="l">
              <a:spcBef>
                <a:spcPts val="0"/>
              </a:spcBef>
              <a:spcAft>
                <a:spcPts val="0"/>
              </a:spcAft>
              <a:buSzPts val="2400"/>
              <a:buChar char="●"/>
            </a:pPr>
            <a:r>
              <a:rPr lang="en-GB"/>
              <a:t>Khả năng suy diễn là cần thiết để</a:t>
            </a:r>
            <a:endParaRPr/>
          </a:p>
          <a:p>
            <a:pPr indent="-368300" lvl="1" marL="914400" rtl="0" algn="l">
              <a:spcBef>
                <a:spcPts val="0"/>
              </a:spcBef>
              <a:spcAft>
                <a:spcPts val="0"/>
              </a:spcAft>
              <a:buSzPts val="2200"/>
              <a:buChar char="○"/>
            </a:pPr>
            <a:r>
              <a:rPr lang="en-GB"/>
              <a:t>Xây dựng cơ sở tri thức lớn với nhiều người </a:t>
            </a:r>
            <a:r>
              <a:rPr lang="en-GB"/>
              <a:t>cùng tham gia </a:t>
            </a:r>
            <a:r>
              <a:rPr lang="en-GB"/>
              <a:t>biên soạn</a:t>
            </a:r>
            <a:endParaRPr/>
          </a:p>
          <a:p>
            <a:pPr indent="-368300" lvl="1" marL="914400" rtl="0" algn="l">
              <a:spcBef>
                <a:spcPts val="0"/>
              </a:spcBef>
              <a:spcAft>
                <a:spcPts val="0"/>
              </a:spcAft>
              <a:buSzPts val="2200"/>
              <a:buChar char="○"/>
            </a:pPr>
            <a:r>
              <a:rPr lang="en-GB"/>
              <a:t>Tích hợp và chia sẻ các cơ sở tri thức từ nhiều nguồn</a:t>
            </a:r>
            <a:endParaRPr/>
          </a:p>
        </p:txBody>
      </p:sp>
      <p:sp>
        <p:nvSpPr>
          <p:cNvPr id="161" name="Google Shape;161;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a:t>
            </a:r>
            <a:r>
              <a:rPr lang="en-GB"/>
              <a:t>uy diễn với OWL</a:t>
            </a:r>
            <a:endParaRPr/>
          </a:p>
        </p:txBody>
      </p:sp>
      <p:sp>
        <p:nvSpPr>
          <p:cNvPr id="167" name="Google Shape;167;p2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Ngữ nghĩa là </a:t>
            </a:r>
            <a:r>
              <a:rPr lang="en-GB"/>
              <a:t>yếu tố cần thiết để có thể suy diễn:</a:t>
            </a:r>
            <a:endParaRPr/>
          </a:p>
          <a:p>
            <a:pPr indent="-368300" lvl="1" marL="914400" rtl="0" algn="just">
              <a:spcBef>
                <a:spcPts val="0"/>
              </a:spcBef>
              <a:spcAft>
                <a:spcPts val="0"/>
              </a:spcAft>
              <a:buSzPts val="2200"/>
              <a:buChar char="○"/>
            </a:pPr>
            <a:r>
              <a:rPr lang="en-GB"/>
              <a:t>Thiết lập ngữ nghĩa hình thức và suy diễn có thể được thực hiện bằng cách</a:t>
            </a:r>
            <a:endParaRPr/>
          </a:p>
          <a:p>
            <a:pPr indent="-368300" lvl="1" marL="914400" rtl="0" algn="just">
              <a:spcBef>
                <a:spcPts val="0"/>
              </a:spcBef>
              <a:spcAft>
                <a:spcPts val="0"/>
              </a:spcAft>
              <a:buSzPts val="2200"/>
              <a:buChar char="○"/>
            </a:pPr>
            <a:r>
              <a:rPr lang="en-GB"/>
              <a:t>Quy chiếu ngôn ngữ ontology sang 1 nền tảng lô-gic đã có và sử dụng các mô-đun suy diễn tự động đã tồn tại trong những nền tảng đó</a:t>
            </a:r>
            <a:endParaRPr/>
          </a:p>
          <a:p>
            <a:pPr indent="-381000" lvl="0" marL="457200" rtl="0" algn="just">
              <a:spcBef>
                <a:spcPts val="0"/>
              </a:spcBef>
              <a:spcAft>
                <a:spcPts val="0"/>
              </a:spcAft>
              <a:buSzPts val="2400"/>
              <a:buChar char="●"/>
            </a:pPr>
            <a:r>
              <a:rPr lang="en-GB"/>
              <a:t>OWL (1 phần) được quy chiếu sang lô-gic mô tả </a:t>
            </a:r>
            <a:endParaRPr/>
          </a:p>
          <a:p>
            <a:pPr indent="-368300" lvl="1" marL="914400" rtl="0" algn="just">
              <a:spcBef>
                <a:spcPts val="0"/>
              </a:spcBef>
              <a:spcAft>
                <a:spcPts val="0"/>
              </a:spcAft>
              <a:buSzPts val="2200"/>
              <a:buChar char="○"/>
            </a:pPr>
            <a:r>
              <a:rPr lang="en-GB"/>
              <a:t>DL (Description Logic) là 1 tập con của lô-gic bậc nhất trong đó có thể thực hiện suy diễn hiệu quả.</a:t>
            </a:r>
            <a:endParaRPr/>
          </a:p>
        </p:txBody>
      </p:sp>
      <p:sp>
        <p:nvSpPr>
          <p:cNvPr id="168" name="Google Shape;168;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 và RDFS</a:t>
            </a:r>
            <a:endParaRPr/>
          </a:p>
        </p:txBody>
      </p:sp>
      <p:sp>
        <p:nvSpPr>
          <p:cNvPr id="174" name="Google Shape;174;p26"/>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Tr</a:t>
            </a:r>
            <a:r>
              <a:rPr lang="en-GB"/>
              <a:t>ong trường hợp lý tưởng, OWL cần mở rộng RDFS, nhất quán với kiến trúc phân tầng của Web ngữ nghĩa.</a:t>
            </a:r>
            <a:endParaRPr/>
          </a:p>
          <a:p>
            <a:pPr indent="-381000" lvl="0" marL="457200" rtl="0" algn="just">
              <a:spcBef>
                <a:spcPts val="0"/>
              </a:spcBef>
              <a:spcAft>
                <a:spcPts val="0"/>
              </a:spcAft>
              <a:buSzPts val="2400"/>
              <a:buChar char="●"/>
            </a:pPr>
            <a:r>
              <a:rPr lang="en-GB"/>
              <a:t>Nhưng thuần túy mở rộng RDFS mâu thuẫn với mục tiêu cân bằng khả năng diễn đạt và suy diễn hiệu quả</a:t>
            </a:r>
            <a:endParaRPr/>
          </a:p>
          <a:p>
            <a:pPr indent="-368300" lvl="1" marL="914400" rtl="0" algn="l">
              <a:spcBef>
                <a:spcPts val="0"/>
              </a:spcBef>
              <a:spcAft>
                <a:spcPts val="0"/>
              </a:spcAft>
              <a:buSzPts val="2200"/>
              <a:buChar char="○"/>
            </a:pPr>
            <a:r>
              <a:rPr lang="en-GB"/>
              <a:t>Kết hợp RDFS với lô-gic dẫn đến các vấn đề tính toán không kiểm soát được.</a:t>
            </a:r>
            <a:endParaRPr/>
          </a:p>
          <a:p>
            <a:pPr indent="-381000" lvl="0" marL="457200" rtl="0" algn="l">
              <a:spcBef>
                <a:spcPts val="0"/>
              </a:spcBef>
              <a:spcAft>
                <a:spcPts val="0"/>
              </a:spcAft>
              <a:buSzPts val="2400"/>
              <a:buChar char="●"/>
            </a:pPr>
            <a:r>
              <a:rPr lang="en-GB"/>
              <a:t>OWL sử dụng RDF và 1 phần lớn của RDFS.</a:t>
            </a:r>
            <a:endParaRPr/>
          </a:p>
        </p:txBody>
      </p:sp>
      <p:sp>
        <p:nvSpPr>
          <p:cNvPr id="175" name="Google Shape;175;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Tính tương thích của OWL và RDF(S)</a:t>
            </a:r>
            <a:endParaRPr/>
          </a:p>
        </p:txBody>
      </p:sp>
      <p:sp>
        <p:nvSpPr>
          <p:cNvPr id="181" name="Google Shape;181;p27"/>
          <p:cNvSpPr txBox="1"/>
          <p:nvPr>
            <p:ph idx="4294967295" type="body"/>
          </p:nvPr>
        </p:nvSpPr>
        <p:spPr>
          <a:xfrm>
            <a:off x="-145500" y="1211900"/>
            <a:ext cx="4192800" cy="46491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GB" sz="2200"/>
              <a:t>Tất cả các phiên bản của OWL sử dụng cú pháp RDF.</a:t>
            </a:r>
            <a:endParaRPr sz="2200"/>
          </a:p>
          <a:p>
            <a:pPr indent="-368300" lvl="0" marL="457200" rtl="0" algn="l">
              <a:spcBef>
                <a:spcPts val="0"/>
              </a:spcBef>
              <a:spcAft>
                <a:spcPts val="0"/>
              </a:spcAft>
              <a:buSzPts val="2200"/>
              <a:buChar char="●"/>
            </a:pPr>
            <a:r>
              <a:rPr lang="en-GB" sz="2200"/>
              <a:t>Các phần tử được khai báo như trong RDF, sử dụng các mô tả RDF</a:t>
            </a:r>
            <a:endParaRPr sz="2200"/>
          </a:p>
          <a:p>
            <a:pPr indent="-368300" lvl="0" marL="457200" rtl="0" algn="l">
              <a:spcBef>
                <a:spcPts val="0"/>
              </a:spcBef>
              <a:spcAft>
                <a:spcPts val="0"/>
              </a:spcAft>
              <a:buSzPts val="2200"/>
              <a:buChar char="●"/>
            </a:pPr>
            <a:r>
              <a:rPr i="1" lang="en-GB" sz="2200"/>
              <a:t>Các cấu trúc OWL chi tiết hóa các cấu trúc tương ứng trong RDF(S)</a:t>
            </a:r>
            <a:endParaRPr i="1" sz="2200"/>
          </a:p>
          <a:p>
            <a:pPr indent="-368300" lvl="0" marL="457200" rtl="0" algn="l">
              <a:spcBef>
                <a:spcPts val="0"/>
              </a:spcBef>
              <a:spcAft>
                <a:spcPts val="0"/>
              </a:spcAft>
              <a:buSzPts val="2200"/>
              <a:buChar char="●"/>
            </a:pPr>
            <a:r>
              <a:rPr i="1" lang="en-GB" sz="2200"/>
              <a:t>Các lớp và thuộc tính OWL có nhiều ràng buộc hơn so với RDF(S)</a:t>
            </a:r>
            <a:endParaRPr i="1" sz="2200"/>
          </a:p>
        </p:txBody>
      </p:sp>
      <p:sp>
        <p:nvSpPr>
          <p:cNvPr id="182" name="Google Shape;182;p27"/>
          <p:cNvSpPr/>
          <p:nvPr/>
        </p:nvSpPr>
        <p:spPr>
          <a:xfrm>
            <a:off x="5292725" y="1252538"/>
            <a:ext cx="1871700" cy="935100"/>
          </a:xfrm>
          <a:prstGeom prst="ellipse">
            <a:avLst/>
          </a:prstGeom>
          <a:noFill/>
          <a:ln cap="flat" cmpd="sng" w="12700">
            <a:solidFill>
              <a:srgbClr val="000000"/>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spcBef>
                <a:spcPts val="0"/>
              </a:spcBef>
              <a:spcAft>
                <a:spcPts val="0"/>
              </a:spcAft>
              <a:buNone/>
            </a:pPr>
            <a:r>
              <a:rPr lang="en-GB" sz="1800">
                <a:solidFill>
                  <a:srgbClr val="434343"/>
                </a:solidFill>
                <a:latin typeface="Times New Roman"/>
                <a:ea typeface="Times New Roman"/>
                <a:cs typeface="Times New Roman"/>
                <a:sym typeface="Times New Roman"/>
              </a:rPr>
              <a:t>rdfs:Resource</a:t>
            </a:r>
            <a:endParaRPr sz="1800">
              <a:solidFill>
                <a:srgbClr val="434343"/>
              </a:solidFill>
              <a:latin typeface="Times New Roman"/>
              <a:ea typeface="Times New Roman"/>
              <a:cs typeface="Times New Roman"/>
              <a:sym typeface="Times New Roman"/>
            </a:endParaRPr>
          </a:p>
        </p:txBody>
      </p:sp>
      <p:sp>
        <p:nvSpPr>
          <p:cNvPr id="183" name="Google Shape;183;p27"/>
          <p:cNvSpPr/>
          <p:nvPr/>
        </p:nvSpPr>
        <p:spPr>
          <a:xfrm>
            <a:off x="4140200" y="2655888"/>
            <a:ext cx="1871700" cy="935100"/>
          </a:xfrm>
          <a:prstGeom prst="ellipse">
            <a:avLst/>
          </a:prstGeom>
          <a:noFill/>
          <a:ln cap="flat" cmpd="sng" w="12700">
            <a:solidFill>
              <a:srgbClr val="000000"/>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spcBef>
                <a:spcPts val="0"/>
              </a:spcBef>
              <a:spcAft>
                <a:spcPts val="0"/>
              </a:spcAft>
              <a:buNone/>
            </a:pPr>
            <a:r>
              <a:rPr lang="en-GB" sz="1800">
                <a:solidFill>
                  <a:srgbClr val="434343"/>
                </a:solidFill>
                <a:latin typeface="Times New Roman"/>
                <a:ea typeface="Times New Roman"/>
                <a:cs typeface="Times New Roman"/>
                <a:sym typeface="Times New Roman"/>
              </a:rPr>
              <a:t>rdfs:Class</a:t>
            </a:r>
            <a:endParaRPr sz="1800">
              <a:solidFill>
                <a:srgbClr val="434343"/>
              </a:solidFill>
              <a:latin typeface="Times New Roman"/>
              <a:ea typeface="Times New Roman"/>
              <a:cs typeface="Times New Roman"/>
              <a:sym typeface="Times New Roman"/>
            </a:endParaRPr>
          </a:p>
        </p:txBody>
      </p:sp>
      <p:sp>
        <p:nvSpPr>
          <p:cNvPr id="184" name="Google Shape;184;p27"/>
          <p:cNvSpPr/>
          <p:nvPr/>
        </p:nvSpPr>
        <p:spPr>
          <a:xfrm>
            <a:off x="6435075" y="4624400"/>
            <a:ext cx="2586000" cy="791400"/>
          </a:xfrm>
          <a:prstGeom prst="ellipse">
            <a:avLst/>
          </a:prstGeom>
          <a:noFill/>
          <a:ln cap="flat" cmpd="sng" w="12700">
            <a:solidFill>
              <a:srgbClr val="000000"/>
            </a:solidFill>
            <a:prstDash val="solid"/>
            <a:round/>
            <a:headEnd len="sm" w="sm" type="none"/>
            <a:tailEnd len="sm" w="sm" type="none"/>
          </a:ln>
        </p:spPr>
        <p:txBody>
          <a:bodyPr anchorCtr="0" anchor="ctr" bIns="10800" lIns="0" spcFirstLastPara="1" rIns="0" wrap="square" tIns="10800">
            <a:noAutofit/>
          </a:bodyPr>
          <a:lstStyle/>
          <a:p>
            <a:pPr indent="0" lvl="0" marL="0" marR="0" rtl="0" algn="ctr">
              <a:spcBef>
                <a:spcPts val="0"/>
              </a:spcBef>
              <a:spcAft>
                <a:spcPts val="0"/>
              </a:spcAft>
              <a:buNone/>
            </a:pPr>
            <a:r>
              <a:rPr lang="en-GB" sz="1600">
                <a:solidFill>
                  <a:srgbClr val="434343"/>
                </a:solidFill>
                <a:latin typeface="Times New Roman"/>
                <a:ea typeface="Times New Roman"/>
                <a:cs typeface="Times New Roman"/>
                <a:sym typeface="Times New Roman"/>
              </a:rPr>
              <a:t>owl:DatatypeProperty</a:t>
            </a:r>
            <a:endParaRPr sz="1600">
              <a:solidFill>
                <a:srgbClr val="434343"/>
              </a:solidFill>
              <a:latin typeface="Times New Roman"/>
              <a:ea typeface="Times New Roman"/>
              <a:cs typeface="Times New Roman"/>
              <a:sym typeface="Times New Roman"/>
            </a:endParaRPr>
          </a:p>
        </p:txBody>
      </p:sp>
      <p:sp>
        <p:nvSpPr>
          <p:cNvPr id="185" name="Google Shape;185;p27"/>
          <p:cNvSpPr/>
          <p:nvPr/>
        </p:nvSpPr>
        <p:spPr>
          <a:xfrm>
            <a:off x="4579577" y="5288313"/>
            <a:ext cx="2352600" cy="791400"/>
          </a:xfrm>
          <a:prstGeom prst="ellipse">
            <a:avLst/>
          </a:prstGeom>
          <a:noFill/>
          <a:ln cap="flat" cmpd="sng" w="12700">
            <a:solidFill>
              <a:srgbClr val="000000"/>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spcBef>
                <a:spcPts val="0"/>
              </a:spcBef>
              <a:spcAft>
                <a:spcPts val="0"/>
              </a:spcAft>
              <a:buNone/>
            </a:pPr>
            <a:r>
              <a:rPr lang="en-GB" sz="1600">
                <a:solidFill>
                  <a:srgbClr val="434343"/>
                </a:solidFill>
                <a:latin typeface="Times New Roman"/>
                <a:ea typeface="Times New Roman"/>
                <a:cs typeface="Times New Roman"/>
                <a:sym typeface="Times New Roman"/>
              </a:rPr>
              <a:t>owl:ObjectProperty</a:t>
            </a:r>
            <a:endParaRPr sz="1600">
              <a:solidFill>
                <a:srgbClr val="434343"/>
              </a:solidFill>
              <a:latin typeface="Times New Roman"/>
              <a:ea typeface="Times New Roman"/>
              <a:cs typeface="Times New Roman"/>
              <a:sym typeface="Times New Roman"/>
            </a:endParaRPr>
          </a:p>
        </p:txBody>
      </p:sp>
      <p:sp>
        <p:nvSpPr>
          <p:cNvPr id="186" name="Google Shape;186;p27"/>
          <p:cNvSpPr/>
          <p:nvPr/>
        </p:nvSpPr>
        <p:spPr>
          <a:xfrm>
            <a:off x="6516688" y="2655888"/>
            <a:ext cx="1871700" cy="935100"/>
          </a:xfrm>
          <a:prstGeom prst="ellipse">
            <a:avLst/>
          </a:prstGeom>
          <a:noFill/>
          <a:ln cap="flat" cmpd="sng" w="12700">
            <a:solidFill>
              <a:srgbClr val="000000"/>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spcBef>
                <a:spcPts val="0"/>
              </a:spcBef>
              <a:spcAft>
                <a:spcPts val="0"/>
              </a:spcAft>
              <a:buNone/>
            </a:pPr>
            <a:r>
              <a:rPr lang="en-GB" sz="1800">
                <a:solidFill>
                  <a:srgbClr val="434343"/>
                </a:solidFill>
                <a:latin typeface="Times New Roman"/>
                <a:ea typeface="Times New Roman"/>
                <a:cs typeface="Times New Roman"/>
                <a:sym typeface="Times New Roman"/>
              </a:rPr>
              <a:t>rdf:Property</a:t>
            </a:r>
            <a:endParaRPr sz="1800">
              <a:solidFill>
                <a:srgbClr val="434343"/>
              </a:solidFill>
              <a:latin typeface="Times New Roman"/>
              <a:ea typeface="Times New Roman"/>
              <a:cs typeface="Times New Roman"/>
              <a:sym typeface="Times New Roman"/>
            </a:endParaRPr>
          </a:p>
        </p:txBody>
      </p:sp>
      <p:cxnSp>
        <p:nvCxnSpPr>
          <p:cNvPr id="187" name="Google Shape;187;p27"/>
          <p:cNvCxnSpPr>
            <a:stCxn id="183" idx="0"/>
          </p:cNvCxnSpPr>
          <p:nvPr/>
        </p:nvCxnSpPr>
        <p:spPr>
          <a:xfrm flipH="1" rot="10800000">
            <a:off x="5076050" y="2158188"/>
            <a:ext cx="784500" cy="497700"/>
          </a:xfrm>
          <a:prstGeom prst="straightConnector1">
            <a:avLst/>
          </a:prstGeom>
          <a:noFill/>
          <a:ln cap="flat" cmpd="sng" w="19050">
            <a:solidFill>
              <a:srgbClr val="000000"/>
            </a:solidFill>
            <a:prstDash val="solid"/>
            <a:round/>
            <a:headEnd len="med" w="med" type="none"/>
            <a:tailEnd len="med" w="med" type="triangle"/>
          </a:ln>
        </p:spPr>
      </p:cxnSp>
      <p:cxnSp>
        <p:nvCxnSpPr>
          <p:cNvPr id="188" name="Google Shape;188;p27"/>
          <p:cNvCxnSpPr>
            <a:stCxn id="186" idx="0"/>
          </p:cNvCxnSpPr>
          <p:nvPr/>
        </p:nvCxnSpPr>
        <p:spPr>
          <a:xfrm rot="10800000">
            <a:off x="6559438" y="2138388"/>
            <a:ext cx="893100" cy="517500"/>
          </a:xfrm>
          <a:prstGeom prst="straightConnector1">
            <a:avLst/>
          </a:prstGeom>
          <a:noFill/>
          <a:ln cap="flat" cmpd="sng" w="19050">
            <a:solidFill>
              <a:srgbClr val="000000"/>
            </a:solidFill>
            <a:prstDash val="solid"/>
            <a:round/>
            <a:headEnd len="med" w="med" type="none"/>
            <a:tailEnd len="med" w="med" type="triangle"/>
          </a:ln>
        </p:spPr>
      </p:cxnSp>
      <p:cxnSp>
        <p:nvCxnSpPr>
          <p:cNvPr id="189" name="Google Shape;189;p27"/>
          <p:cNvCxnSpPr>
            <a:stCxn id="185" idx="0"/>
            <a:endCxn id="186" idx="3"/>
          </p:cNvCxnSpPr>
          <p:nvPr/>
        </p:nvCxnSpPr>
        <p:spPr>
          <a:xfrm flipH="1" rot="10800000">
            <a:off x="5755877" y="3454113"/>
            <a:ext cx="1035000" cy="1834200"/>
          </a:xfrm>
          <a:prstGeom prst="straightConnector1">
            <a:avLst/>
          </a:prstGeom>
          <a:noFill/>
          <a:ln cap="flat" cmpd="sng" w="19050">
            <a:solidFill>
              <a:srgbClr val="000000"/>
            </a:solidFill>
            <a:prstDash val="solid"/>
            <a:round/>
            <a:headEnd len="med" w="med" type="none"/>
            <a:tailEnd len="med" w="med" type="triangle"/>
          </a:ln>
        </p:spPr>
      </p:cxnSp>
      <p:cxnSp>
        <p:nvCxnSpPr>
          <p:cNvPr id="190" name="Google Shape;190;p27"/>
          <p:cNvCxnSpPr>
            <a:stCxn id="184" idx="0"/>
            <a:endCxn id="186" idx="4"/>
          </p:cNvCxnSpPr>
          <p:nvPr/>
        </p:nvCxnSpPr>
        <p:spPr>
          <a:xfrm rot="10800000">
            <a:off x="7452675" y="3590900"/>
            <a:ext cx="275400" cy="1033500"/>
          </a:xfrm>
          <a:prstGeom prst="straightConnector1">
            <a:avLst/>
          </a:prstGeom>
          <a:noFill/>
          <a:ln cap="flat" cmpd="sng" w="19050">
            <a:solidFill>
              <a:srgbClr val="000000"/>
            </a:solidFill>
            <a:prstDash val="solid"/>
            <a:round/>
            <a:headEnd len="med" w="med" type="none"/>
            <a:tailEnd len="med" w="med" type="triangle"/>
          </a:ln>
        </p:spPr>
      </p:cxnSp>
      <p:sp>
        <p:nvSpPr>
          <p:cNvPr id="191" name="Google Shape;191;p27"/>
          <p:cNvSpPr/>
          <p:nvPr/>
        </p:nvSpPr>
        <p:spPr>
          <a:xfrm>
            <a:off x="4140199" y="4147794"/>
            <a:ext cx="1871700" cy="935100"/>
          </a:xfrm>
          <a:prstGeom prst="ellipse">
            <a:avLst/>
          </a:prstGeom>
          <a:noFill/>
          <a:ln cap="flat" cmpd="sng" w="12700">
            <a:solidFill>
              <a:srgbClr val="000000"/>
            </a:solidFill>
            <a:prstDash val="solid"/>
            <a:round/>
            <a:headEnd len="sm" w="sm" type="none"/>
            <a:tailEnd len="sm" w="sm" type="none"/>
          </a:ln>
        </p:spPr>
        <p:txBody>
          <a:bodyPr anchorCtr="0" anchor="ctr" bIns="45700" lIns="18000" spcFirstLastPara="1" rIns="18000" wrap="square" tIns="45700">
            <a:noAutofit/>
          </a:bodyPr>
          <a:lstStyle/>
          <a:p>
            <a:pPr indent="0" lvl="0" marL="0" marR="0" rtl="0" algn="ctr">
              <a:spcBef>
                <a:spcPts val="0"/>
              </a:spcBef>
              <a:spcAft>
                <a:spcPts val="0"/>
              </a:spcAft>
              <a:buNone/>
            </a:pPr>
            <a:r>
              <a:rPr lang="en-GB" sz="1800">
                <a:solidFill>
                  <a:srgbClr val="434343"/>
                </a:solidFill>
                <a:latin typeface="Times New Roman"/>
                <a:ea typeface="Times New Roman"/>
                <a:cs typeface="Times New Roman"/>
                <a:sym typeface="Times New Roman"/>
              </a:rPr>
              <a:t>owl:Class</a:t>
            </a:r>
            <a:endParaRPr sz="1800">
              <a:solidFill>
                <a:srgbClr val="434343"/>
              </a:solidFill>
              <a:latin typeface="Times New Roman"/>
              <a:ea typeface="Times New Roman"/>
              <a:cs typeface="Times New Roman"/>
              <a:sym typeface="Times New Roman"/>
            </a:endParaRPr>
          </a:p>
        </p:txBody>
      </p:sp>
      <p:cxnSp>
        <p:nvCxnSpPr>
          <p:cNvPr id="192" name="Google Shape;192;p27"/>
          <p:cNvCxnSpPr>
            <a:stCxn id="191" idx="0"/>
            <a:endCxn id="183" idx="4"/>
          </p:cNvCxnSpPr>
          <p:nvPr/>
        </p:nvCxnSpPr>
        <p:spPr>
          <a:xfrm rot="10800000">
            <a:off x="5076049" y="3590994"/>
            <a:ext cx="0" cy="556800"/>
          </a:xfrm>
          <a:prstGeom prst="straightConnector1">
            <a:avLst/>
          </a:prstGeom>
          <a:noFill/>
          <a:ln cap="flat" cmpd="sng" w="19050">
            <a:solidFill>
              <a:srgbClr val="000000"/>
            </a:solidFill>
            <a:prstDash val="solid"/>
            <a:round/>
            <a:headEnd len="med" w="med" type="none"/>
            <a:tailEnd len="med" w="med" type="triangle"/>
          </a:ln>
        </p:spPr>
      </p:cxnSp>
      <p:sp>
        <p:nvSpPr>
          <p:cNvPr id="193" name="Google Shape;193;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94" name="Google Shape;194;p27"/>
          <p:cNvSpPr txBox="1"/>
          <p:nvPr/>
        </p:nvSpPr>
        <p:spPr>
          <a:xfrm>
            <a:off x="1045525" y="6128150"/>
            <a:ext cx="7003200" cy="46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400">
                <a:solidFill>
                  <a:srgbClr val="1155CC"/>
                </a:solidFill>
              </a:rPr>
              <a:t>Vì sao owl cần có owl:Class?</a:t>
            </a:r>
            <a:endParaRPr sz="2400">
              <a:solidFill>
                <a:srgbClr val="1155CC"/>
              </a:solidFill>
            </a:endParaRPr>
          </a:p>
        </p:txBody>
      </p:sp>
      <p:sp>
        <p:nvSpPr>
          <p:cNvPr id="195" name="Google Shape;195;p27"/>
          <p:cNvSpPr txBox="1"/>
          <p:nvPr/>
        </p:nvSpPr>
        <p:spPr>
          <a:xfrm>
            <a:off x="5302775" y="2295275"/>
            <a:ext cx="1820400" cy="3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rdfs:subClassOf</a:t>
            </a:r>
            <a:endParaRPr>
              <a:solidFill>
                <a:schemeClr val="dk2"/>
              </a:solidFill>
            </a:endParaRPr>
          </a:p>
        </p:txBody>
      </p:sp>
      <p:sp>
        <p:nvSpPr>
          <p:cNvPr id="196" name="Google Shape;196;p27"/>
          <p:cNvSpPr txBox="1"/>
          <p:nvPr/>
        </p:nvSpPr>
        <p:spPr>
          <a:xfrm>
            <a:off x="7207775" y="2219075"/>
            <a:ext cx="1820400" cy="3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rdfs:subClassOf</a:t>
            </a:r>
            <a:endParaRPr>
              <a:solidFill>
                <a:schemeClr val="dk2"/>
              </a:solidFill>
            </a:endParaRPr>
          </a:p>
        </p:txBody>
      </p:sp>
      <p:sp>
        <p:nvSpPr>
          <p:cNvPr id="197" name="Google Shape;197;p27"/>
          <p:cNvSpPr txBox="1"/>
          <p:nvPr/>
        </p:nvSpPr>
        <p:spPr>
          <a:xfrm>
            <a:off x="5036503" y="3666875"/>
            <a:ext cx="1508700" cy="3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rdfs:subClassOf</a:t>
            </a:r>
            <a:endParaRPr>
              <a:solidFill>
                <a:schemeClr val="dk2"/>
              </a:solidFill>
            </a:endParaRPr>
          </a:p>
        </p:txBody>
      </p:sp>
      <p:sp>
        <p:nvSpPr>
          <p:cNvPr id="198" name="Google Shape;198;p27"/>
          <p:cNvSpPr txBox="1"/>
          <p:nvPr/>
        </p:nvSpPr>
        <p:spPr>
          <a:xfrm>
            <a:off x="6217175" y="4276475"/>
            <a:ext cx="1820400" cy="3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rdfs:subClassOf</a:t>
            </a:r>
            <a:endParaRPr>
              <a:solidFill>
                <a:schemeClr val="dk2"/>
              </a:solidFill>
            </a:endParaRPr>
          </a:p>
        </p:txBody>
      </p:sp>
      <p:sp>
        <p:nvSpPr>
          <p:cNvPr id="199" name="Google Shape;199;p27"/>
          <p:cNvSpPr txBox="1"/>
          <p:nvPr/>
        </p:nvSpPr>
        <p:spPr>
          <a:xfrm>
            <a:off x="7512575" y="3666875"/>
            <a:ext cx="1508700" cy="38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2"/>
                </a:solidFill>
              </a:rPr>
              <a:t>rdfs:subClassOf</a:t>
            </a:r>
            <a:endParaRPr>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t>
            </a:r>
            <a:r>
              <a:rPr lang="en-GB"/>
              <a:t>ô tơ suy diễn </a:t>
            </a:r>
            <a:r>
              <a:rPr i="1" lang="en-GB"/>
              <a:t>đúng đắn</a:t>
            </a:r>
            <a:r>
              <a:rPr lang="en-GB"/>
              <a:t> và </a:t>
            </a:r>
            <a:r>
              <a:rPr i="1" lang="en-GB"/>
              <a:t>đầy đủ</a:t>
            </a:r>
            <a:endParaRPr i="1"/>
          </a:p>
        </p:txBody>
      </p:sp>
      <p:sp>
        <p:nvSpPr>
          <p:cNvPr id="205" name="Google Shape;205;p28"/>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M</a:t>
            </a:r>
            <a:r>
              <a:rPr lang="en-GB"/>
              <a:t>ột mô-đun suy diễn </a:t>
            </a:r>
            <a:r>
              <a:rPr i="1" lang="en-GB"/>
              <a:t>đúng đắn</a:t>
            </a:r>
            <a:r>
              <a:rPr lang="en-GB"/>
              <a:t> chỉ đưa ra các kết luận đúng có thể suy ra được từ đầu vào theo lô-gic</a:t>
            </a:r>
            <a:endParaRPr/>
          </a:p>
          <a:p>
            <a:pPr indent="-368300" lvl="1" marL="914400" rtl="0" algn="just">
              <a:spcBef>
                <a:spcPts val="0"/>
              </a:spcBef>
              <a:spcAft>
                <a:spcPts val="0"/>
              </a:spcAft>
              <a:buSzPts val="2200"/>
              <a:buChar char="○"/>
            </a:pPr>
            <a:r>
              <a:rPr lang="en-GB"/>
              <a:t>Sound reasoner.</a:t>
            </a:r>
            <a:endParaRPr/>
          </a:p>
          <a:p>
            <a:pPr indent="-368300" lvl="1" marL="914400" rtl="0" algn="just">
              <a:spcBef>
                <a:spcPts val="0"/>
              </a:spcBef>
              <a:spcAft>
                <a:spcPts val="0"/>
              </a:spcAft>
              <a:buSzPts val="2200"/>
              <a:buChar char="○"/>
            </a:pPr>
            <a:r>
              <a:rPr lang="en-GB"/>
              <a:t>Chúng ta thường </a:t>
            </a:r>
            <a:r>
              <a:rPr i="1" lang="en-GB"/>
              <a:t>yêu cầu</a:t>
            </a:r>
            <a:r>
              <a:rPr lang="en-GB"/>
              <a:t> các mô-đun suy diễn đúng đắn.</a:t>
            </a:r>
            <a:endParaRPr/>
          </a:p>
          <a:p>
            <a:pPr indent="-381000" lvl="0" marL="457200" rtl="0" algn="just">
              <a:spcBef>
                <a:spcPts val="0"/>
              </a:spcBef>
              <a:spcAft>
                <a:spcPts val="0"/>
              </a:spcAft>
              <a:buSzPts val="2400"/>
              <a:buChar char="●"/>
            </a:pPr>
            <a:r>
              <a:rPr lang="en-GB"/>
              <a:t>Một mô-đun suy diễn </a:t>
            </a:r>
            <a:r>
              <a:rPr i="1" lang="en-GB"/>
              <a:t>đầy đủ</a:t>
            </a:r>
            <a:r>
              <a:rPr lang="en-GB"/>
              <a:t> có thể đưa ra tất cả các kết luận có thể suy ra được từ đầu vào theo lô-gic</a:t>
            </a:r>
            <a:endParaRPr/>
          </a:p>
          <a:p>
            <a:pPr indent="-368300" lvl="1" marL="914400" rtl="0" algn="just">
              <a:spcBef>
                <a:spcPts val="0"/>
              </a:spcBef>
              <a:spcAft>
                <a:spcPts val="0"/>
              </a:spcAft>
              <a:buSzPts val="2200"/>
              <a:buChar char="○"/>
            </a:pPr>
            <a:r>
              <a:rPr lang="en-GB"/>
              <a:t>Complete reasoner</a:t>
            </a:r>
            <a:endParaRPr/>
          </a:p>
          <a:p>
            <a:pPr indent="-368300" lvl="1" marL="914400" rtl="0" algn="just">
              <a:spcBef>
                <a:spcPts val="0"/>
              </a:spcBef>
              <a:spcAft>
                <a:spcPts val="0"/>
              </a:spcAft>
              <a:buSzPts val="2200"/>
              <a:buChar char="○"/>
            </a:pPr>
            <a:r>
              <a:rPr lang="en-GB"/>
              <a:t>Đưa ra tất cả các kết luận đúng và không đúng.</a:t>
            </a:r>
            <a:endParaRPr/>
          </a:p>
          <a:p>
            <a:pPr indent="-368300" lvl="1" marL="914400" rtl="0" algn="just">
              <a:spcBef>
                <a:spcPts val="0"/>
              </a:spcBef>
              <a:spcAft>
                <a:spcPts val="0"/>
              </a:spcAft>
              <a:buSzPts val="2200"/>
              <a:buChar char="○"/>
            </a:pPr>
            <a:r>
              <a:rPr lang="en-GB"/>
              <a:t>Không có mô-đun suy diễn đầy đủ cho toàn bộ FOL và nhiều tập con của nó</a:t>
            </a:r>
            <a:endParaRPr/>
          </a:p>
          <a:p>
            <a:pPr indent="-368300" lvl="1" marL="914400" rtl="0" algn="just">
              <a:spcBef>
                <a:spcPts val="0"/>
              </a:spcBef>
              <a:spcAft>
                <a:spcPts val="0"/>
              </a:spcAft>
              <a:buSzPts val="2200"/>
              <a:buChar char="○"/>
            </a:pPr>
            <a:r>
              <a:rPr lang="en-GB"/>
              <a:t>… và tương ứng mô-tơ suy diễn đầy đủ không được xây dựng cho OWL Full.</a:t>
            </a:r>
            <a:endParaRPr/>
          </a:p>
        </p:txBody>
      </p:sp>
      <p:sp>
        <p:nvSpPr>
          <p:cNvPr id="206" name="Google Shape;206;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cú pháp OWL</a:t>
            </a:r>
            <a:endParaRPr/>
          </a:p>
        </p:txBody>
      </p:sp>
      <p:sp>
        <p:nvSpPr>
          <p:cNvPr id="212" name="Google Shape;212;p29"/>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OWL được phát triển trên cơ sở RDF</a:t>
            </a:r>
            <a:endParaRPr/>
          </a:p>
          <a:p>
            <a:pPr indent="-368300" lvl="1" marL="914400" rtl="0" algn="l">
              <a:spcBef>
                <a:spcPts val="0"/>
              </a:spcBef>
              <a:spcAft>
                <a:spcPts val="0"/>
              </a:spcAft>
              <a:buSzPts val="2200"/>
              <a:buChar char="○"/>
            </a:pPr>
            <a:r>
              <a:rPr lang="en-GB"/>
              <a:t>Có thể viết các ontologies OWL bằng các định dạng RDF</a:t>
            </a:r>
            <a:endParaRPr/>
          </a:p>
          <a:p>
            <a:pPr indent="-381000" lvl="0" marL="457200" rtl="0" algn="l">
              <a:spcBef>
                <a:spcPts val="0"/>
              </a:spcBef>
              <a:spcAft>
                <a:spcPts val="0"/>
              </a:spcAft>
              <a:buSzPts val="2400"/>
              <a:buChar char="●"/>
            </a:pPr>
            <a:r>
              <a:rPr lang="en-GB"/>
              <a:t>Bên cạnh đó các định dạng khác cho OWL cũng đã được phát triển</a:t>
            </a:r>
            <a:endParaRPr/>
          </a:p>
          <a:p>
            <a:pPr indent="-368300" lvl="1" marL="914400" rtl="0" algn="l">
              <a:spcBef>
                <a:spcPts val="0"/>
              </a:spcBef>
              <a:spcAft>
                <a:spcPts val="0"/>
              </a:spcAft>
              <a:buSzPts val="2200"/>
              <a:buChar char="○"/>
            </a:pPr>
            <a:r>
              <a:rPr lang="en-GB"/>
              <a:t>Ví dụ, cú pháp Manchester được sử dụng trong 1 số môi trường chuyên dụng.</a:t>
            </a:r>
            <a:endParaRPr/>
          </a:p>
          <a:p>
            <a:pPr indent="-368300" lvl="1" marL="914400" rtl="0" algn="l">
              <a:spcBef>
                <a:spcPts val="0"/>
              </a:spcBef>
              <a:spcAft>
                <a:spcPts val="0"/>
              </a:spcAft>
              <a:buSzPts val="2200"/>
              <a:buChar char="○"/>
            </a:pPr>
            <a:r>
              <a:rPr lang="en-GB"/>
              <a:t>Cú pháp hàm (Functional).</a:t>
            </a:r>
            <a:endParaRPr/>
          </a:p>
          <a:p>
            <a:pPr indent="-368300" lvl="1" marL="914400" rtl="0" algn="l">
              <a:spcBef>
                <a:spcPts val="0"/>
              </a:spcBef>
              <a:spcAft>
                <a:spcPts val="0"/>
              </a:spcAft>
              <a:buSzPts val="2200"/>
              <a:buChar char="○"/>
            </a:pPr>
            <a:r>
              <a:rPr lang="en-GB"/>
              <a:t>Có thể ngắn gọn, dễ đọc, dễ viết hơn so với cú pháp dựa trên RDF.</a:t>
            </a:r>
            <a:endParaRPr/>
          </a:p>
          <a:p>
            <a:pPr indent="0" lvl="0" marL="0" rtl="0" algn="l">
              <a:spcBef>
                <a:spcPts val="0"/>
              </a:spcBef>
              <a:spcAft>
                <a:spcPts val="0"/>
              </a:spcAft>
              <a:buNone/>
            </a:pPr>
            <a:r>
              <a:t/>
            </a:r>
            <a:endParaRPr/>
          </a:p>
        </p:txBody>
      </p:sp>
      <p:sp>
        <p:nvSpPr>
          <p:cNvPr id="213" name="Google Shape;213;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5.1. </a:t>
            </a:r>
            <a:r>
              <a:rPr lang="en-GB"/>
              <a:t>Cú pháp hàm</a:t>
            </a:r>
            <a:endParaRPr/>
          </a:p>
        </p:txBody>
      </p:sp>
      <p:sp>
        <p:nvSpPr>
          <p:cNvPr id="219" name="Google Shape;219;p30"/>
          <p:cNvSpPr txBox="1"/>
          <p:nvPr>
            <p:ph idx="1" type="body"/>
          </p:nvPr>
        </p:nvSpPr>
        <p:spPr>
          <a:xfrm>
            <a:off x="311700" y="1138375"/>
            <a:ext cx="8520600" cy="459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t>SubClassOf( </a:t>
            </a:r>
            <a:endParaRPr sz="1800"/>
          </a:p>
          <a:p>
            <a:pPr indent="0" lvl="0" marL="0" rtl="0" algn="l">
              <a:spcBef>
                <a:spcPts val="0"/>
              </a:spcBef>
              <a:spcAft>
                <a:spcPts val="0"/>
              </a:spcAft>
              <a:buClr>
                <a:schemeClr val="dk1"/>
              </a:buClr>
              <a:buSzPts val="1100"/>
              <a:buFont typeface="Arial"/>
              <a:buNone/>
            </a:pPr>
            <a:r>
              <a:rPr lang="en-GB" sz="1800"/>
              <a:t>   :ChildlessPerson </a:t>
            </a:r>
            <a:endParaRPr sz="1800"/>
          </a:p>
          <a:p>
            <a:pPr indent="0" lvl="0" marL="0" rtl="0" algn="l">
              <a:spcBef>
                <a:spcPts val="0"/>
              </a:spcBef>
              <a:spcAft>
                <a:spcPts val="0"/>
              </a:spcAft>
              <a:buClr>
                <a:schemeClr val="dk1"/>
              </a:buClr>
              <a:buSzPts val="1100"/>
              <a:buFont typeface="Arial"/>
              <a:buNone/>
            </a:pPr>
            <a:r>
              <a:rPr lang="en-GB" sz="1800"/>
              <a:t>   ObjectIntersectionOf(</a:t>
            </a:r>
            <a:endParaRPr sz="1800"/>
          </a:p>
          <a:p>
            <a:pPr indent="0" lvl="0" marL="0" rtl="0" algn="l">
              <a:spcBef>
                <a:spcPts val="0"/>
              </a:spcBef>
              <a:spcAft>
                <a:spcPts val="0"/>
              </a:spcAft>
              <a:buClr>
                <a:schemeClr val="dk1"/>
              </a:buClr>
              <a:buSzPts val="1100"/>
              <a:buFont typeface="Arial"/>
              <a:buNone/>
            </a:pPr>
            <a:r>
              <a:rPr lang="en-GB" sz="1800"/>
              <a:t>     :Person </a:t>
            </a:r>
            <a:endParaRPr sz="1800"/>
          </a:p>
          <a:p>
            <a:pPr indent="0" lvl="0" marL="0" rtl="0" algn="l">
              <a:spcBef>
                <a:spcPts val="0"/>
              </a:spcBef>
              <a:spcAft>
                <a:spcPts val="0"/>
              </a:spcAft>
              <a:buClr>
                <a:schemeClr val="dk1"/>
              </a:buClr>
              <a:buSzPts val="1100"/>
              <a:buFont typeface="Arial"/>
              <a:buNone/>
            </a:pPr>
            <a:r>
              <a:rPr lang="en-GB" sz="1800"/>
              <a:t>     ObjectComplementOf(</a:t>
            </a:r>
            <a:endParaRPr sz="1800"/>
          </a:p>
          <a:p>
            <a:pPr indent="0" lvl="0" marL="0" rtl="0" algn="l">
              <a:spcBef>
                <a:spcPts val="0"/>
              </a:spcBef>
              <a:spcAft>
                <a:spcPts val="0"/>
              </a:spcAft>
              <a:buClr>
                <a:schemeClr val="dk1"/>
              </a:buClr>
              <a:buSzPts val="1100"/>
              <a:buFont typeface="Arial"/>
              <a:buNone/>
            </a:pPr>
            <a:r>
              <a:rPr lang="en-GB" sz="1800"/>
              <a:t>       ObjectSomeValuesFrom(</a:t>
            </a:r>
            <a:endParaRPr sz="1800"/>
          </a:p>
          <a:p>
            <a:pPr indent="0" lvl="0" marL="0" rtl="0" algn="l">
              <a:spcBef>
                <a:spcPts val="0"/>
              </a:spcBef>
              <a:spcAft>
                <a:spcPts val="0"/>
              </a:spcAft>
              <a:buClr>
                <a:schemeClr val="dk1"/>
              </a:buClr>
              <a:buSzPts val="1100"/>
              <a:buFont typeface="Arial"/>
              <a:buNone/>
            </a:pPr>
            <a:r>
              <a:rPr lang="en-GB" sz="1800"/>
              <a:t>         ObjectInverseOf( :hasParent )</a:t>
            </a:r>
            <a:endParaRPr sz="1800"/>
          </a:p>
          <a:p>
            <a:pPr indent="0" lvl="0" marL="0" rtl="0" algn="l">
              <a:spcBef>
                <a:spcPts val="0"/>
              </a:spcBef>
              <a:spcAft>
                <a:spcPts val="0"/>
              </a:spcAft>
              <a:buClr>
                <a:schemeClr val="dk1"/>
              </a:buClr>
              <a:buSzPts val="1100"/>
              <a:buFont typeface="Arial"/>
              <a:buNone/>
            </a:pPr>
            <a:r>
              <a:rPr lang="en-GB" sz="1800"/>
              <a:t>         owl:Thing)))) </a:t>
            </a:r>
            <a:endParaRPr sz="1800"/>
          </a:p>
          <a:p>
            <a:pPr indent="0" lvl="0" marL="0" rtl="0" algn="l">
              <a:spcBef>
                <a:spcPts val="0"/>
              </a:spcBef>
              <a:spcAft>
                <a:spcPts val="0"/>
              </a:spcAft>
              <a:buClr>
                <a:schemeClr val="dk1"/>
              </a:buClr>
              <a:buSzPts val="1100"/>
              <a:buFont typeface="Arial"/>
              <a:buNone/>
            </a:pPr>
            <a:r>
              <a:rPr lang="en-GB" sz="1800"/>
              <a:t> DisjointClasses(:Mother :Father :YoungChild)</a:t>
            </a:r>
            <a:endParaRPr sz="1800"/>
          </a:p>
          <a:p>
            <a:pPr indent="0" lvl="0" marL="0" rtl="0" algn="l">
              <a:spcBef>
                <a:spcPts val="0"/>
              </a:spcBef>
              <a:spcAft>
                <a:spcPts val="0"/>
              </a:spcAft>
              <a:buClr>
                <a:schemeClr val="dk1"/>
              </a:buClr>
              <a:buSzPts val="1100"/>
              <a:buFont typeface="Arial"/>
              <a:buNone/>
            </a:pPr>
            <a:r>
              <a:rPr lang="en-GB" sz="1800"/>
              <a:t> DisjointObjectProperties(:hasSon :hasDaughter)</a:t>
            </a:r>
            <a:endParaRPr sz="1800"/>
          </a:p>
          <a:p>
            <a:pPr indent="0" lvl="0" marL="0" rtl="0" algn="l">
              <a:spcBef>
                <a:spcPts val="0"/>
              </a:spcBef>
              <a:spcAft>
                <a:spcPts val="0"/>
              </a:spcAft>
              <a:buClr>
                <a:schemeClr val="dk1"/>
              </a:buClr>
              <a:buSzPts val="1100"/>
              <a:buFont typeface="Arial"/>
              <a:buNone/>
            </a:pPr>
            <a:r>
              <a:rPr lang="en-GB" sz="1800"/>
              <a:t> SubObjectPropertyOf(:hasFather :hasParent)</a:t>
            </a:r>
            <a:endParaRPr sz="1800"/>
          </a:p>
          <a:p>
            <a:pPr indent="0" lvl="0" marL="0" rtl="0" algn="l">
              <a:spcBef>
                <a:spcPts val="0"/>
              </a:spcBef>
              <a:spcAft>
                <a:spcPts val="0"/>
              </a:spcAft>
              <a:buNone/>
            </a:pPr>
            <a:r>
              <a:t/>
            </a:r>
            <a:endParaRPr sz="1800"/>
          </a:p>
        </p:txBody>
      </p:sp>
      <p:sp>
        <p:nvSpPr>
          <p:cNvPr id="220" name="Google Shape;220;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1" name="Google Shape;221;p30"/>
          <p:cNvSpPr txBox="1"/>
          <p:nvPr/>
        </p:nvSpPr>
        <p:spPr>
          <a:xfrm>
            <a:off x="1897350" y="5672525"/>
            <a:ext cx="4959600" cy="61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1155CC"/>
                </a:solidFill>
              </a:rPr>
              <a:t>Thử c</a:t>
            </a:r>
            <a:r>
              <a:rPr lang="en-GB" sz="2400">
                <a:solidFill>
                  <a:srgbClr val="1155CC"/>
                </a:solidFill>
              </a:rPr>
              <a:t>huyển sang cú pháp Turtle?</a:t>
            </a:r>
            <a:endParaRPr sz="2400">
              <a:solidFill>
                <a:srgbClr val="1155CC"/>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5.1. </a:t>
            </a:r>
            <a:r>
              <a:rPr lang="en-GB"/>
              <a:t>Cú pháp hàm</a:t>
            </a:r>
            <a:r>
              <a:rPr baseline="-25000" lang="en-GB"/>
              <a:t>(2)</a:t>
            </a:r>
            <a:endParaRPr baseline="-25000"/>
          </a:p>
        </p:txBody>
      </p:sp>
      <p:sp>
        <p:nvSpPr>
          <p:cNvPr id="227" name="Google Shape;227;p31"/>
          <p:cNvSpPr txBox="1"/>
          <p:nvPr>
            <p:ph idx="4294967295" type="body"/>
          </p:nvPr>
        </p:nvSpPr>
        <p:spPr>
          <a:xfrm>
            <a:off x="311700" y="1138375"/>
            <a:ext cx="8520600" cy="473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SubClassOf( </a:t>
            </a:r>
            <a:endParaRPr sz="1800"/>
          </a:p>
          <a:p>
            <a:pPr indent="0" lvl="0" marL="0" rtl="0" algn="l">
              <a:spcBef>
                <a:spcPts val="0"/>
              </a:spcBef>
              <a:spcAft>
                <a:spcPts val="0"/>
              </a:spcAft>
              <a:buNone/>
            </a:pPr>
            <a:r>
              <a:rPr lang="en-GB" sz="1800"/>
              <a:t>   :ChildlessPerson </a:t>
            </a:r>
            <a:endParaRPr sz="1800"/>
          </a:p>
          <a:p>
            <a:pPr indent="0" lvl="0" marL="0" rtl="0" algn="l">
              <a:spcBef>
                <a:spcPts val="0"/>
              </a:spcBef>
              <a:spcAft>
                <a:spcPts val="0"/>
              </a:spcAft>
              <a:buNone/>
            </a:pPr>
            <a:r>
              <a:rPr lang="en-GB" sz="1800"/>
              <a:t>   ObjectIntersectionOf(</a:t>
            </a:r>
            <a:endParaRPr sz="1800"/>
          </a:p>
          <a:p>
            <a:pPr indent="0" lvl="0" marL="0" rtl="0" algn="l">
              <a:spcBef>
                <a:spcPts val="0"/>
              </a:spcBef>
              <a:spcAft>
                <a:spcPts val="0"/>
              </a:spcAft>
              <a:buNone/>
            </a:pPr>
            <a:r>
              <a:rPr lang="en-GB" sz="1800"/>
              <a:t>     :Person </a:t>
            </a:r>
            <a:endParaRPr sz="1800"/>
          </a:p>
          <a:p>
            <a:pPr indent="0" lvl="0" marL="0" rtl="0" algn="l">
              <a:spcBef>
                <a:spcPts val="0"/>
              </a:spcBef>
              <a:spcAft>
                <a:spcPts val="0"/>
              </a:spcAft>
              <a:buNone/>
            </a:pPr>
            <a:r>
              <a:rPr lang="en-GB" sz="1800"/>
              <a:t>     ObjectComplementOf(</a:t>
            </a:r>
            <a:endParaRPr sz="1800"/>
          </a:p>
          <a:p>
            <a:pPr indent="0" lvl="0" marL="0" rtl="0" algn="l">
              <a:spcBef>
                <a:spcPts val="0"/>
              </a:spcBef>
              <a:spcAft>
                <a:spcPts val="0"/>
              </a:spcAft>
              <a:buNone/>
            </a:pPr>
            <a:r>
              <a:rPr lang="en-GB" sz="1800"/>
              <a:t>       ObjectSomeValuesFrom(</a:t>
            </a:r>
            <a:endParaRPr sz="1800"/>
          </a:p>
          <a:p>
            <a:pPr indent="0" lvl="0" marL="0" rtl="0" algn="l">
              <a:spcBef>
                <a:spcPts val="0"/>
              </a:spcBef>
              <a:spcAft>
                <a:spcPts val="0"/>
              </a:spcAft>
              <a:buNone/>
            </a:pPr>
            <a:r>
              <a:rPr lang="en-GB" sz="1800"/>
              <a:t>         ObjectInverseOf( :hasParent )</a:t>
            </a:r>
            <a:endParaRPr sz="1800"/>
          </a:p>
          <a:p>
            <a:pPr indent="0" lvl="0" marL="0" rtl="0" algn="l">
              <a:spcBef>
                <a:spcPts val="0"/>
              </a:spcBef>
              <a:spcAft>
                <a:spcPts val="0"/>
              </a:spcAft>
              <a:buNone/>
            </a:pPr>
            <a:r>
              <a:rPr lang="en-GB" sz="1800"/>
              <a:t>         owl:Thing)))) </a:t>
            </a:r>
            <a:endParaRPr sz="1800"/>
          </a:p>
          <a:p>
            <a:pPr indent="0" lvl="0" marL="0" rtl="0" algn="l">
              <a:spcBef>
                <a:spcPts val="0"/>
              </a:spcBef>
              <a:spcAft>
                <a:spcPts val="0"/>
              </a:spcAft>
              <a:buNone/>
            </a:pPr>
            <a:r>
              <a:rPr lang="en-GB" sz="1800"/>
              <a:t> DisjointClasses( </a:t>
            </a:r>
            <a:endParaRPr sz="1800"/>
          </a:p>
          <a:p>
            <a:pPr indent="0" lvl="0" marL="0" rtl="0" algn="l">
              <a:spcBef>
                <a:spcPts val="0"/>
              </a:spcBef>
              <a:spcAft>
                <a:spcPts val="0"/>
              </a:spcAft>
              <a:buNone/>
            </a:pPr>
            <a:r>
              <a:rPr lang="en-GB" sz="1800"/>
              <a:t>   :Mother    :Father   :YoungChild)</a:t>
            </a:r>
            <a:endParaRPr sz="1800"/>
          </a:p>
          <a:p>
            <a:pPr indent="0" lvl="0" marL="0" rtl="0" algn="l">
              <a:spcBef>
                <a:spcPts val="0"/>
              </a:spcBef>
              <a:spcAft>
                <a:spcPts val="0"/>
              </a:spcAft>
              <a:buNone/>
            </a:pPr>
            <a:r>
              <a:rPr lang="en-GB" sz="1800"/>
              <a:t> DisjointObjectProperties( </a:t>
            </a:r>
            <a:endParaRPr sz="1800"/>
          </a:p>
          <a:p>
            <a:pPr indent="0" lvl="0" marL="0" rtl="0" algn="l">
              <a:spcBef>
                <a:spcPts val="0"/>
              </a:spcBef>
              <a:spcAft>
                <a:spcPts val="0"/>
              </a:spcAft>
              <a:buNone/>
            </a:pPr>
            <a:r>
              <a:rPr lang="en-GB" sz="1800"/>
              <a:t>   :hasSon    :hasDaughter)</a:t>
            </a:r>
            <a:endParaRPr sz="1800"/>
          </a:p>
          <a:p>
            <a:pPr indent="0" lvl="0" marL="0" rtl="0" algn="l">
              <a:spcBef>
                <a:spcPts val="0"/>
              </a:spcBef>
              <a:spcAft>
                <a:spcPts val="0"/>
              </a:spcAft>
              <a:buNone/>
            </a:pPr>
            <a:r>
              <a:rPr lang="en-GB" sz="1800"/>
              <a:t> SubObjectPropertyOf( </a:t>
            </a:r>
            <a:endParaRPr sz="1800"/>
          </a:p>
          <a:p>
            <a:pPr indent="0" lvl="0" marL="0" rtl="0" algn="l">
              <a:spcBef>
                <a:spcPts val="0"/>
              </a:spcBef>
              <a:spcAft>
                <a:spcPts val="0"/>
              </a:spcAft>
              <a:buNone/>
            </a:pPr>
            <a:r>
              <a:rPr lang="en-GB" sz="1800"/>
              <a:t>   :hasFather    :hasParent)</a:t>
            </a:r>
            <a:endParaRPr sz="1800"/>
          </a:p>
          <a:p>
            <a:pPr indent="0" lvl="0" marL="0" rtl="0" algn="l">
              <a:spcBef>
                <a:spcPts val="0"/>
              </a:spcBef>
              <a:spcAft>
                <a:spcPts val="0"/>
              </a:spcAft>
              <a:buNone/>
            </a:pPr>
            <a:r>
              <a:t/>
            </a:r>
            <a:endParaRPr sz="1800"/>
          </a:p>
        </p:txBody>
      </p:sp>
      <p:sp>
        <p:nvSpPr>
          <p:cNvPr id="228" name="Google Shape;228;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29" name="Google Shape;229;p31"/>
          <p:cNvSpPr txBox="1"/>
          <p:nvPr/>
        </p:nvSpPr>
        <p:spPr>
          <a:xfrm>
            <a:off x="4389125" y="1117000"/>
            <a:ext cx="4647300" cy="45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666666"/>
                </a:solidFill>
              </a:rPr>
              <a:t>:ChildlessPerson là những người không nằm trong tập các giá trị của thuộc tính :hasParent.</a:t>
            </a:r>
            <a:endParaRPr sz="1800">
              <a:solidFill>
                <a:srgbClr val="666666"/>
              </a:solidFill>
            </a:endParaRPr>
          </a:p>
          <a:p>
            <a:pPr indent="0" lvl="0" marL="0" rtl="0" algn="l">
              <a:spcBef>
                <a:spcPts val="0"/>
              </a:spcBef>
              <a:spcAft>
                <a:spcPts val="0"/>
              </a:spcAft>
              <a:buNone/>
            </a:pPr>
            <a:r>
              <a:rPr lang="en-GB" sz="1800">
                <a:solidFill>
                  <a:srgbClr val="666666"/>
                </a:solidFill>
              </a:rPr>
              <a:t>:Mother :Father :YoungChild là các lớp tách biệt.</a:t>
            </a:r>
            <a:endParaRPr sz="1800">
              <a:solidFill>
                <a:srgbClr val="666666"/>
              </a:solidFill>
            </a:endParaRPr>
          </a:p>
          <a:p>
            <a:pPr indent="0" lvl="0" marL="0" rtl="0" algn="l">
              <a:spcBef>
                <a:spcPts val="0"/>
              </a:spcBef>
              <a:spcAft>
                <a:spcPts val="0"/>
              </a:spcAft>
              <a:buNone/>
            </a:pPr>
            <a:r>
              <a:rPr lang="en-GB" sz="1800">
                <a:solidFill>
                  <a:srgbClr val="666666"/>
                </a:solidFill>
              </a:rPr>
              <a:t>:hasSon :hasDaughter là các thuộc tính tách biệt.</a:t>
            </a:r>
            <a:endParaRPr sz="1800">
              <a:solidFill>
                <a:srgbClr val="666666"/>
              </a:solidFill>
            </a:endParaRPr>
          </a:p>
          <a:p>
            <a:pPr indent="0" lvl="0" marL="0" rtl="0" algn="l">
              <a:spcBef>
                <a:spcPts val="0"/>
              </a:spcBef>
              <a:spcAft>
                <a:spcPts val="0"/>
              </a:spcAft>
              <a:buNone/>
            </a:pPr>
            <a:r>
              <a:rPr lang="en-GB" sz="1800">
                <a:solidFill>
                  <a:srgbClr val="666666"/>
                </a:solidFill>
              </a:rPr>
              <a:t>:hasFather là thuộc tính con của :hasParent.</a:t>
            </a:r>
            <a:endParaRPr sz="1800">
              <a:solidFill>
                <a:srgbClr val="666666"/>
              </a:solidFill>
            </a:endParaRPr>
          </a:p>
        </p:txBody>
      </p:sp>
      <p:sp>
        <p:nvSpPr>
          <p:cNvPr id="230" name="Google Shape;230;p31"/>
          <p:cNvSpPr txBox="1"/>
          <p:nvPr/>
        </p:nvSpPr>
        <p:spPr>
          <a:xfrm>
            <a:off x="1897350" y="5824925"/>
            <a:ext cx="49596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1155CC"/>
                </a:solidFill>
              </a:rPr>
              <a:t>Thử chuyển sang cú pháp Turtle?</a:t>
            </a:r>
            <a:endParaRPr sz="2400">
              <a:solidFill>
                <a:srgbClr val="1155CC"/>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5.1. </a:t>
            </a:r>
            <a:r>
              <a:rPr lang="en-GB"/>
              <a:t>Cú pháp hàm</a:t>
            </a:r>
            <a:r>
              <a:rPr baseline="-25000" lang="en-GB"/>
              <a:t>(3)</a:t>
            </a:r>
            <a:endParaRPr baseline="-25000"/>
          </a:p>
        </p:txBody>
      </p:sp>
      <p:sp>
        <p:nvSpPr>
          <p:cNvPr id="236" name="Google Shape;236;p32"/>
          <p:cNvSpPr txBox="1"/>
          <p:nvPr>
            <p:ph idx="4294967295" type="body"/>
          </p:nvPr>
        </p:nvSpPr>
        <p:spPr>
          <a:xfrm>
            <a:off x="572375" y="1052075"/>
            <a:ext cx="8259900" cy="462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800"/>
              <a:t>SubClassOf( </a:t>
            </a:r>
            <a:endParaRPr sz="1800"/>
          </a:p>
          <a:p>
            <a:pPr indent="0" lvl="0" marL="0" rtl="0" algn="l">
              <a:spcBef>
                <a:spcPts val="0"/>
              </a:spcBef>
              <a:spcAft>
                <a:spcPts val="0"/>
              </a:spcAft>
              <a:buNone/>
            </a:pPr>
            <a:r>
              <a:rPr lang="en-GB" sz="1800"/>
              <a:t>   :ChildlessPerson </a:t>
            </a:r>
            <a:endParaRPr sz="1800"/>
          </a:p>
          <a:p>
            <a:pPr indent="0" lvl="0" marL="0" rtl="0" algn="l">
              <a:spcBef>
                <a:spcPts val="0"/>
              </a:spcBef>
              <a:spcAft>
                <a:spcPts val="0"/>
              </a:spcAft>
              <a:buNone/>
            </a:pPr>
            <a:r>
              <a:rPr lang="en-GB" sz="1800"/>
              <a:t>   ObjectIntersectionOf(</a:t>
            </a:r>
            <a:endParaRPr sz="1800"/>
          </a:p>
          <a:p>
            <a:pPr indent="0" lvl="0" marL="0" rtl="0" algn="l">
              <a:spcBef>
                <a:spcPts val="0"/>
              </a:spcBef>
              <a:spcAft>
                <a:spcPts val="0"/>
              </a:spcAft>
              <a:buNone/>
            </a:pPr>
            <a:r>
              <a:rPr lang="en-GB" sz="1800"/>
              <a:t>     :Person </a:t>
            </a:r>
            <a:endParaRPr sz="1800"/>
          </a:p>
          <a:p>
            <a:pPr indent="0" lvl="0" marL="0" rtl="0" algn="l">
              <a:spcBef>
                <a:spcPts val="0"/>
              </a:spcBef>
              <a:spcAft>
                <a:spcPts val="0"/>
              </a:spcAft>
              <a:buNone/>
            </a:pPr>
            <a:r>
              <a:rPr lang="en-GB" sz="1800"/>
              <a:t>     ObjectComplementOf(</a:t>
            </a:r>
            <a:endParaRPr sz="1800"/>
          </a:p>
          <a:p>
            <a:pPr indent="0" lvl="0" marL="0" rtl="0" algn="l">
              <a:spcBef>
                <a:spcPts val="0"/>
              </a:spcBef>
              <a:spcAft>
                <a:spcPts val="0"/>
              </a:spcAft>
              <a:buNone/>
            </a:pPr>
            <a:r>
              <a:rPr lang="en-GB" sz="1800"/>
              <a:t>       ObjectSomeValuesFrom(</a:t>
            </a:r>
            <a:endParaRPr sz="1800"/>
          </a:p>
          <a:p>
            <a:pPr indent="0" lvl="0" marL="0" rtl="0" algn="l">
              <a:spcBef>
                <a:spcPts val="0"/>
              </a:spcBef>
              <a:spcAft>
                <a:spcPts val="0"/>
              </a:spcAft>
              <a:buNone/>
            </a:pPr>
            <a:r>
              <a:rPr lang="en-GB" sz="1800"/>
              <a:t>         ObjectInverseOf( :hasParent )</a:t>
            </a:r>
            <a:endParaRPr sz="1800"/>
          </a:p>
          <a:p>
            <a:pPr indent="0" lvl="0" marL="0" rtl="0" algn="l">
              <a:spcBef>
                <a:spcPts val="0"/>
              </a:spcBef>
              <a:spcAft>
                <a:spcPts val="0"/>
              </a:spcAft>
              <a:buNone/>
            </a:pPr>
            <a:r>
              <a:rPr lang="en-GB" sz="1800"/>
              <a:t>         owl:Thing)))) </a:t>
            </a:r>
            <a:endParaRPr sz="1800"/>
          </a:p>
          <a:p>
            <a:pPr indent="0" lvl="0" marL="0" rtl="0" algn="l">
              <a:spcBef>
                <a:spcPts val="0"/>
              </a:spcBef>
              <a:spcAft>
                <a:spcPts val="0"/>
              </a:spcAft>
              <a:buNone/>
            </a:pPr>
            <a:r>
              <a:rPr lang="en-GB" sz="1800"/>
              <a:t> DisjointClasses( </a:t>
            </a:r>
            <a:endParaRPr sz="1800"/>
          </a:p>
          <a:p>
            <a:pPr indent="0" lvl="0" marL="0" rtl="0" algn="l">
              <a:spcBef>
                <a:spcPts val="0"/>
              </a:spcBef>
              <a:spcAft>
                <a:spcPts val="0"/>
              </a:spcAft>
              <a:buNone/>
            </a:pPr>
            <a:r>
              <a:rPr lang="en-GB" sz="1800"/>
              <a:t>   :Mother    :Father   :YoungChild)</a:t>
            </a:r>
            <a:endParaRPr sz="1800"/>
          </a:p>
          <a:p>
            <a:pPr indent="0" lvl="0" marL="0" rtl="0" algn="l">
              <a:spcBef>
                <a:spcPts val="0"/>
              </a:spcBef>
              <a:spcAft>
                <a:spcPts val="0"/>
              </a:spcAft>
              <a:buNone/>
            </a:pPr>
            <a:r>
              <a:rPr lang="en-GB" sz="1800"/>
              <a:t> DisjointObjectProperties( </a:t>
            </a:r>
            <a:endParaRPr sz="1800"/>
          </a:p>
          <a:p>
            <a:pPr indent="0" lvl="0" marL="0" rtl="0" algn="l">
              <a:spcBef>
                <a:spcPts val="0"/>
              </a:spcBef>
              <a:spcAft>
                <a:spcPts val="0"/>
              </a:spcAft>
              <a:buNone/>
            </a:pPr>
            <a:r>
              <a:rPr lang="en-GB" sz="1800"/>
              <a:t>   :hasSon    :hasDaughter)</a:t>
            </a:r>
            <a:endParaRPr sz="1800"/>
          </a:p>
          <a:p>
            <a:pPr indent="0" lvl="0" marL="0" rtl="0" algn="l">
              <a:spcBef>
                <a:spcPts val="0"/>
              </a:spcBef>
              <a:spcAft>
                <a:spcPts val="0"/>
              </a:spcAft>
              <a:buNone/>
            </a:pPr>
            <a:r>
              <a:rPr lang="en-GB" sz="1800"/>
              <a:t> SubObjectPropertyOf( </a:t>
            </a:r>
            <a:endParaRPr sz="1800"/>
          </a:p>
          <a:p>
            <a:pPr indent="0" lvl="0" marL="0" rtl="0" algn="l">
              <a:spcBef>
                <a:spcPts val="0"/>
              </a:spcBef>
              <a:spcAft>
                <a:spcPts val="0"/>
              </a:spcAft>
              <a:buNone/>
            </a:pPr>
            <a:r>
              <a:rPr lang="en-GB" sz="1800"/>
              <a:t>   :hasFather    :hasParent)</a:t>
            </a:r>
            <a:endParaRPr sz="1800"/>
          </a:p>
          <a:p>
            <a:pPr indent="0" lvl="0" marL="0" rtl="0" algn="l">
              <a:spcBef>
                <a:spcPts val="0"/>
              </a:spcBef>
              <a:spcAft>
                <a:spcPts val="0"/>
              </a:spcAft>
              <a:buNone/>
            </a:pPr>
            <a:r>
              <a:t/>
            </a:r>
            <a:endParaRPr sz="1800"/>
          </a:p>
        </p:txBody>
      </p:sp>
      <p:sp>
        <p:nvSpPr>
          <p:cNvPr id="237" name="Google Shape;237;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8" name="Google Shape;238;p32"/>
          <p:cNvSpPr txBox="1"/>
          <p:nvPr/>
        </p:nvSpPr>
        <p:spPr>
          <a:xfrm>
            <a:off x="4389125" y="1063225"/>
            <a:ext cx="4647300" cy="488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434343"/>
                </a:solidFill>
              </a:rPr>
              <a:t>:ChildlessPerson là những người không nằm trong tập các giá trị của thuộc tính :hasParent.</a:t>
            </a:r>
            <a:endParaRPr sz="1800">
              <a:solidFill>
                <a:srgbClr val="1155CC"/>
              </a:solidFill>
            </a:endParaRPr>
          </a:p>
          <a:p>
            <a:pPr indent="0" lvl="0" marL="0" rtl="0" algn="l">
              <a:spcBef>
                <a:spcPts val="0"/>
              </a:spcBef>
              <a:spcAft>
                <a:spcPts val="0"/>
              </a:spcAft>
              <a:buNone/>
            </a:pPr>
            <a:r>
              <a:rPr lang="en-GB" sz="1800">
                <a:solidFill>
                  <a:srgbClr val="1155CC"/>
                </a:solidFill>
              </a:rPr>
              <a:t>owl:inverseOf, owl:complementOf, owl:interSectionOf, rdfs:subClassOf</a:t>
            </a:r>
            <a:endParaRPr sz="1800">
              <a:solidFill>
                <a:srgbClr val="1155CC"/>
              </a:solidFill>
            </a:endParaRPr>
          </a:p>
          <a:p>
            <a:pPr indent="0" lvl="0" marL="0" rtl="0" algn="l">
              <a:spcBef>
                <a:spcPts val="0"/>
              </a:spcBef>
              <a:spcAft>
                <a:spcPts val="0"/>
              </a:spcAft>
              <a:buNone/>
            </a:pPr>
            <a:r>
              <a:rPr lang="en-GB" sz="1800">
                <a:solidFill>
                  <a:srgbClr val="434343"/>
                </a:solidFill>
              </a:rPr>
              <a:t>:Mother :Father :YoungChild là các lớp tách biệt.</a:t>
            </a:r>
            <a:endParaRPr sz="1800">
              <a:solidFill>
                <a:srgbClr val="434343"/>
              </a:solidFill>
            </a:endParaRPr>
          </a:p>
          <a:p>
            <a:pPr indent="0" lvl="0" marL="0" rtl="0" algn="l">
              <a:spcBef>
                <a:spcPts val="0"/>
              </a:spcBef>
              <a:spcAft>
                <a:spcPts val="0"/>
              </a:spcAft>
              <a:buNone/>
            </a:pPr>
            <a:r>
              <a:rPr lang="en-GB" sz="1800">
                <a:solidFill>
                  <a:srgbClr val="1155CC"/>
                </a:solidFill>
              </a:rPr>
              <a:t>owl:AllDisjointClasses</a:t>
            </a:r>
            <a:endParaRPr sz="1800">
              <a:solidFill>
                <a:srgbClr val="1155CC"/>
              </a:solidFill>
            </a:endParaRPr>
          </a:p>
          <a:p>
            <a:pPr indent="0" lvl="0" marL="0" rtl="0" algn="l">
              <a:spcBef>
                <a:spcPts val="0"/>
              </a:spcBef>
              <a:spcAft>
                <a:spcPts val="0"/>
              </a:spcAft>
              <a:buNone/>
            </a:pPr>
            <a:r>
              <a:rPr lang="en-GB" sz="1800">
                <a:solidFill>
                  <a:srgbClr val="434343"/>
                </a:solidFill>
              </a:rPr>
              <a:t>:hasSon :hasDaughter là các thuộc tính tách biệt.</a:t>
            </a:r>
            <a:endParaRPr sz="1800">
              <a:solidFill>
                <a:srgbClr val="434343"/>
              </a:solidFill>
            </a:endParaRPr>
          </a:p>
          <a:p>
            <a:pPr indent="0" lvl="0" marL="0" rtl="0" algn="l">
              <a:spcBef>
                <a:spcPts val="0"/>
              </a:spcBef>
              <a:spcAft>
                <a:spcPts val="0"/>
              </a:spcAft>
              <a:buNone/>
            </a:pPr>
            <a:r>
              <a:rPr lang="en-GB" sz="1800">
                <a:solidFill>
                  <a:srgbClr val="1155CC"/>
                </a:solidFill>
              </a:rPr>
              <a:t>owl:propertyDisjointWith</a:t>
            </a:r>
            <a:endParaRPr sz="1800">
              <a:solidFill>
                <a:srgbClr val="1155CC"/>
              </a:solidFill>
            </a:endParaRPr>
          </a:p>
          <a:p>
            <a:pPr indent="0" lvl="0" marL="0" rtl="0" algn="l">
              <a:spcBef>
                <a:spcPts val="0"/>
              </a:spcBef>
              <a:spcAft>
                <a:spcPts val="0"/>
              </a:spcAft>
              <a:buNone/>
            </a:pPr>
            <a:r>
              <a:rPr lang="en-GB" sz="1800">
                <a:solidFill>
                  <a:srgbClr val="434343"/>
                </a:solidFill>
              </a:rPr>
              <a:t>:hasFather là thuộc tính con của :hasParent.</a:t>
            </a:r>
            <a:endParaRPr sz="1800">
              <a:solidFill>
                <a:srgbClr val="434343"/>
              </a:solidFill>
            </a:endParaRPr>
          </a:p>
          <a:p>
            <a:pPr indent="0" lvl="0" marL="0" rtl="0" algn="l">
              <a:spcBef>
                <a:spcPts val="0"/>
              </a:spcBef>
              <a:spcAft>
                <a:spcPts val="0"/>
              </a:spcAft>
              <a:buNone/>
            </a:pPr>
            <a:r>
              <a:rPr lang="en-GB" sz="1800">
                <a:solidFill>
                  <a:srgbClr val="1155CC"/>
                </a:solidFill>
              </a:rPr>
              <a:t>rdfs:subPropertyOf</a:t>
            </a:r>
            <a:endParaRPr sz="1800">
              <a:solidFill>
                <a:srgbClr val="1155CC"/>
              </a:solidFill>
            </a:endParaRPr>
          </a:p>
        </p:txBody>
      </p:sp>
      <p:sp>
        <p:nvSpPr>
          <p:cNvPr id="239" name="Google Shape;239;p32"/>
          <p:cNvSpPr txBox="1"/>
          <p:nvPr/>
        </p:nvSpPr>
        <p:spPr>
          <a:xfrm>
            <a:off x="1897350" y="5748725"/>
            <a:ext cx="49596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1155CC"/>
                </a:solidFill>
              </a:rPr>
              <a:t>Thử chuyển sang cú pháp Turtle?</a:t>
            </a:r>
            <a:endParaRPr sz="2400">
              <a:solidFill>
                <a:srgbClr val="1155CC"/>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không gian tên</a:t>
            </a:r>
            <a:endParaRPr/>
          </a:p>
        </p:txBody>
      </p:sp>
      <p:sp>
        <p:nvSpPr>
          <p:cNvPr id="245" name="Google Shape;245;p33"/>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Clr>
                <a:schemeClr val="dk1"/>
              </a:buClr>
              <a:buSzPts val="1800"/>
              <a:buFont typeface="Noto Sans Symbols"/>
              <a:buNone/>
            </a:pPr>
            <a:r>
              <a:rPr lang="en-GB">
                <a:solidFill>
                  <a:srgbClr val="434343"/>
                </a:solidFill>
              </a:rPr>
              <a:t>@prefix owl: &lt;</a:t>
            </a:r>
            <a:r>
              <a:rPr lang="en-GB" u="sng">
                <a:solidFill>
                  <a:srgbClr val="434343"/>
                </a:solidFill>
                <a:hlinkClick r:id="rId3">
                  <a:extLst>
                    <a:ext uri="{A12FA001-AC4F-418D-AE19-62706E023703}">
                      <ahyp:hlinkClr val="tx"/>
                    </a:ext>
                  </a:extLst>
                </a:hlinkClick>
              </a:rPr>
              <a:t>http://www.w3.org/2002/07/owl#</a:t>
            </a:r>
            <a:r>
              <a:rPr lang="en-GB">
                <a:solidFill>
                  <a:srgbClr val="434343"/>
                </a:solidFill>
              </a:rPr>
              <a:t>&gt; .</a:t>
            </a:r>
            <a:endParaRPr>
              <a:solidFill>
                <a:srgbClr val="434343"/>
              </a:solidFill>
            </a:endParaRPr>
          </a:p>
          <a:p>
            <a:pPr indent="-342900" lvl="0" marL="342900" rtl="0" algn="l">
              <a:lnSpc>
                <a:spcPct val="100000"/>
              </a:lnSpc>
              <a:spcBef>
                <a:spcPts val="480"/>
              </a:spcBef>
              <a:spcAft>
                <a:spcPts val="0"/>
              </a:spcAft>
              <a:buClr>
                <a:schemeClr val="dk1"/>
              </a:buClr>
              <a:buSzPts val="1800"/>
              <a:buFont typeface="Noto Sans Symbols"/>
              <a:buNone/>
            </a:pPr>
            <a:r>
              <a:rPr lang="en-GB">
                <a:solidFill>
                  <a:srgbClr val="434343"/>
                </a:solidFill>
              </a:rPr>
              <a:t>@prefix rdf: &lt;</a:t>
            </a:r>
            <a:r>
              <a:rPr lang="en-GB" u="sng">
                <a:solidFill>
                  <a:srgbClr val="434343"/>
                </a:solidFill>
                <a:hlinkClick r:id="rId4">
                  <a:extLst>
                    <a:ext uri="{A12FA001-AC4F-418D-AE19-62706E023703}">
                      <ahyp:hlinkClr val="tx"/>
                    </a:ext>
                  </a:extLst>
                </a:hlinkClick>
              </a:rPr>
              <a:t>http://www.w3.org/1999/02/22-rdf-syntax-ns#</a:t>
            </a:r>
            <a:r>
              <a:rPr lang="en-GB">
                <a:solidFill>
                  <a:srgbClr val="434343"/>
                </a:solidFill>
              </a:rPr>
              <a:t>&gt; .</a:t>
            </a:r>
            <a:endParaRPr>
              <a:solidFill>
                <a:srgbClr val="434343"/>
              </a:solidFill>
            </a:endParaRPr>
          </a:p>
          <a:p>
            <a:pPr indent="-342900" lvl="0" marL="342900" rtl="0" algn="l">
              <a:lnSpc>
                <a:spcPct val="100000"/>
              </a:lnSpc>
              <a:spcBef>
                <a:spcPts val="480"/>
              </a:spcBef>
              <a:spcAft>
                <a:spcPts val="0"/>
              </a:spcAft>
              <a:buClr>
                <a:schemeClr val="dk1"/>
              </a:buClr>
              <a:buSzPts val="1800"/>
              <a:buFont typeface="Noto Sans Symbols"/>
              <a:buNone/>
            </a:pPr>
            <a:r>
              <a:rPr lang="en-GB">
                <a:solidFill>
                  <a:srgbClr val="434343"/>
                </a:solidFill>
              </a:rPr>
              <a:t>@prefix rdfs: &lt;</a:t>
            </a:r>
            <a:r>
              <a:rPr lang="en-GB" u="sng">
                <a:solidFill>
                  <a:srgbClr val="434343"/>
                </a:solidFill>
                <a:hlinkClick r:id="rId5">
                  <a:extLst>
                    <a:ext uri="{A12FA001-AC4F-418D-AE19-62706E023703}">
                      <ahyp:hlinkClr val="tx"/>
                    </a:ext>
                  </a:extLst>
                </a:hlinkClick>
              </a:rPr>
              <a:t>http://www.w3.org/2000/01/rdf-schema#</a:t>
            </a:r>
            <a:r>
              <a:rPr lang="en-GB">
                <a:solidFill>
                  <a:srgbClr val="434343"/>
                </a:solidFill>
              </a:rPr>
              <a:t>&gt; .</a:t>
            </a:r>
            <a:endParaRPr>
              <a:solidFill>
                <a:srgbClr val="434343"/>
              </a:solidFill>
            </a:endParaRPr>
          </a:p>
          <a:p>
            <a:pPr indent="-342900" lvl="0" marL="342900" rtl="0" algn="l">
              <a:lnSpc>
                <a:spcPct val="100000"/>
              </a:lnSpc>
              <a:spcBef>
                <a:spcPts val="480"/>
              </a:spcBef>
              <a:spcAft>
                <a:spcPts val="0"/>
              </a:spcAft>
              <a:buNone/>
            </a:pPr>
            <a:r>
              <a:rPr lang="en-GB">
                <a:solidFill>
                  <a:srgbClr val="434343"/>
                </a:solidFill>
              </a:rPr>
              <a:t>@prefix xsd: &lt;http://www.w3.org/2001/XLMSchema#&gt; .</a:t>
            </a:r>
            <a:endParaRPr>
              <a:solidFill>
                <a:srgbClr val="434343"/>
              </a:solidFill>
            </a:endParaRPr>
          </a:p>
          <a:p>
            <a:pPr indent="-381000" lvl="0" marL="457200" rtl="0" algn="l">
              <a:lnSpc>
                <a:spcPct val="115000"/>
              </a:lnSpc>
              <a:spcBef>
                <a:spcPts val="480"/>
              </a:spcBef>
              <a:spcAft>
                <a:spcPts val="0"/>
              </a:spcAft>
              <a:buClr>
                <a:srgbClr val="434343"/>
              </a:buClr>
              <a:buSzPts val="2400"/>
              <a:buChar char="●"/>
            </a:pPr>
            <a:r>
              <a:rPr lang="en-GB">
                <a:solidFill>
                  <a:srgbClr val="434343"/>
                </a:solidFill>
              </a:rPr>
              <a:t>Các văn bản OWL là các văn bản RDF</a:t>
            </a:r>
            <a:endParaRPr>
              <a:solidFill>
                <a:srgbClr val="434343"/>
              </a:solidFill>
            </a:endParaRPr>
          </a:p>
          <a:p>
            <a:pPr indent="-381000" lvl="0" marL="457200" marR="0" rtl="0" algn="l">
              <a:lnSpc>
                <a:spcPct val="115000"/>
              </a:lnSpc>
              <a:spcBef>
                <a:spcPts val="0"/>
              </a:spcBef>
              <a:spcAft>
                <a:spcPts val="0"/>
              </a:spcAft>
              <a:buClr>
                <a:srgbClr val="434343"/>
              </a:buClr>
              <a:buSzPts val="2400"/>
              <a:buChar char="●"/>
            </a:pPr>
            <a:r>
              <a:rPr lang="en-GB">
                <a:solidFill>
                  <a:srgbClr val="434343"/>
                </a:solidFill>
              </a:rPr>
              <a:t>Bắt đầu với các khai báo không gian tên</a:t>
            </a:r>
            <a:endParaRPr>
              <a:solidFill>
                <a:srgbClr val="434343"/>
              </a:solidFill>
            </a:endParaRPr>
          </a:p>
          <a:p>
            <a:pPr indent="-381000" lvl="0" marL="457200" marR="0" rtl="0" algn="l">
              <a:lnSpc>
                <a:spcPct val="115000"/>
              </a:lnSpc>
              <a:spcBef>
                <a:spcPts val="0"/>
              </a:spcBef>
              <a:spcAft>
                <a:spcPts val="0"/>
              </a:spcAft>
              <a:buClr>
                <a:srgbClr val="434343"/>
              </a:buClr>
              <a:buSzPts val="2400"/>
              <a:buChar char="●"/>
            </a:pPr>
            <a:r>
              <a:rPr lang="en-GB">
                <a:solidFill>
                  <a:srgbClr val="434343"/>
                </a:solidFill>
              </a:rPr>
              <a:t>Quy chuẩn OWL của W3C có không gian tên</a:t>
            </a:r>
            <a:endParaRPr>
              <a:solidFill>
                <a:srgbClr val="434343"/>
              </a:solidFill>
            </a:endParaRPr>
          </a:p>
          <a:p>
            <a:pPr indent="0" lvl="0" marL="457200" marR="0" rtl="0" algn="l">
              <a:lnSpc>
                <a:spcPct val="115000"/>
              </a:lnSpc>
              <a:spcBef>
                <a:spcPts val="0"/>
              </a:spcBef>
              <a:spcAft>
                <a:spcPts val="0"/>
              </a:spcAft>
              <a:buNone/>
            </a:pPr>
            <a:r>
              <a:rPr lang="en-GB">
                <a:solidFill>
                  <a:srgbClr val="434343"/>
                </a:solidFill>
              </a:rPr>
              <a:t>http://www.w3.org/2002/07/owl#</a:t>
            </a:r>
            <a:endParaRPr>
              <a:solidFill>
                <a:srgbClr val="434343"/>
              </a:solidFill>
            </a:endParaRPr>
          </a:p>
        </p:txBody>
      </p:sp>
      <p:sp>
        <p:nvSpPr>
          <p:cNvPr id="246" name="Google Shape;246;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252" name="Google Shape;252;p34"/>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5.1. Tổng quan về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5.2. Ngữ nghĩa trực quan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Clr>
                <a:schemeClr val="dk1"/>
              </a:buClr>
              <a:buSzPts val="1100"/>
              <a:buFont typeface="Arial"/>
              <a:buNone/>
            </a:pPr>
            <a:r>
              <a:rPr lang="en-GB">
                <a:solidFill>
                  <a:schemeClr val="dk1"/>
                </a:solidFill>
                <a:latin typeface="Times New Roman"/>
                <a:ea typeface="Times New Roman"/>
                <a:cs typeface="Times New Roman"/>
                <a:sym typeface="Times New Roman"/>
              </a:rPr>
              <a:t>5.3. Ví dụ tổng hợp: Thiên nhiên Châu Phi</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5.4. Các tầng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5.5. OWL 2</a:t>
            </a:r>
            <a:endParaRPr>
              <a:solidFill>
                <a:schemeClr val="dk1"/>
              </a:solidFill>
              <a:latin typeface="Times New Roman"/>
              <a:ea typeface="Times New Roman"/>
              <a:cs typeface="Times New Roman"/>
              <a:sym typeface="Times New Roman"/>
            </a:endParaRPr>
          </a:p>
        </p:txBody>
      </p:sp>
      <p:sp>
        <p:nvSpPr>
          <p:cNvPr id="253" name="Google Shape;253;p34"/>
          <p:cNvSpPr/>
          <p:nvPr/>
        </p:nvSpPr>
        <p:spPr>
          <a:xfrm>
            <a:off x="318450" y="1231350"/>
            <a:ext cx="57867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owl:Ontology</a:t>
            </a:r>
            <a:endParaRPr/>
          </a:p>
        </p:txBody>
      </p:sp>
      <p:sp>
        <p:nvSpPr>
          <p:cNvPr id="260" name="Google Shape;260;p3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&lt;</a:t>
            </a:r>
            <a:r>
              <a:rPr lang="en-GB"/>
              <a:t>https://semweb.edu.vn/uni-ns</a:t>
            </a:r>
            <a:r>
              <a:rPr lang="en-GB"/>
              <a:t>&gt; a owl:Ontology;</a:t>
            </a:r>
            <a:endParaRPr/>
          </a:p>
          <a:p>
            <a:pPr indent="0" lvl="0" marL="0" rtl="0" algn="l">
              <a:spcBef>
                <a:spcPts val="0"/>
              </a:spcBef>
              <a:spcAft>
                <a:spcPts val="0"/>
              </a:spcAft>
              <a:buNone/>
            </a:pPr>
            <a:r>
              <a:rPr lang="en-GB"/>
              <a:t>       rdfs:comment "Example OWL ontology";</a:t>
            </a:r>
            <a:endParaRPr/>
          </a:p>
          <a:p>
            <a:pPr indent="0" lvl="0" marL="0" rtl="0" algn="l">
              <a:spcBef>
                <a:spcPts val="0"/>
              </a:spcBef>
              <a:spcAft>
                <a:spcPts val="0"/>
              </a:spcAft>
              <a:buNone/>
            </a:pPr>
            <a:r>
              <a:rPr lang="en-GB"/>
              <a:t>       owl:priorVersion &lt;</a:t>
            </a:r>
            <a:r>
              <a:rPr lang="en-GB"/>
              <a:t>https://semweb.edu.vn/</a:t>
            </a:r>
            <a:r>
              <a:rPr lang="en-GB"/>
              <a:t>uni-ns-</a:t>
            </a:r>
            <a:r>
              <a:rPr lang="en-GB"/>
              <a:t>old</a:t>
            </a:r>
            <a:r>
              <a:rPr lang="en-GB"/>
              <a:t>&gt;;</a:t>
            </a:r>
            <a:endParaRPr/>
          </a:p>
          <a:p>
            <a:pPr indent="0" lvl="0" marL="0" rtl="0" algn="l">
              <a:spcBef>
                <a:spcPts val="0"/>
              </a:spcBef>
              <a:spcAft>
                <a:spcPts val="0"/>
              </a:spcAft>
              <a:buNone/>
            </a:pPr>
            <a:r>
              <a:rPr lang="en-GB"/>
              <a:t>       owl:imports &lt;</a:t>
            </a:r>
            <a:r>
              <a:rPr lang="en-GB"/>
              <a:t>https://semweb.edu.vn/</a:t>
            </a:r>
            <a:r>
              <a:rPr lang="en-GB"/>
              <a:t>persons&gt; ;</a:t>
            </a:r>
            <a:endParaRPr/>
          </a:p>
          <a:p>
            <a:pPr indent="0" lvl="0" marL="0" rtl="0" algn="l">
              <a:spcBef>
                <a:spcPts val="0"/>
              </a:spcBef>
              <a:spcAft>
                <a:spcPts val="0"/>
              </a:spcAft>
              <a:buNone/>
            </a:pPr>
            <a:r>
              <a:rPr lang="en-GB"/>
              <a:t>       rdfs:label "University Ontology" .</a:t>
            </a:r>
            <a:endParaRPr/>
          </a:p>
          <a:p>
            <a:pPr indent="-381000" lvl="0" marL="457200" rtl="0" algn="l">
              <a:spcBef>
                <a:spcPts val="0"/>
              </a:spcBef>
              <a:spcAft>
                <a:spcPts val="0"/>
              </a:spcAft>
              <a:buSzPts val="2400"/>
              <a:buChar char="●"/>
            </a:pPr>
            <a:r>
              <a:rPr lang="en-GB"/>
              <a:t>owl:Ontology -</a:t>
            </a:r>
            <a:r>
              <a:rPr lang="en-GB"/>
              <a:t> Lớp của các ontologies.</a:t>
            </a:r>
            <a:endParaRPr/>
          </a:p>
          <a:p>
            <a:pPr indent="-381000" lvl="0" marL="457200" rtl="0" algn="l">
              <a:spcBef>
                <a:spcPts val="0"/>
              </a:spcBef>
              <a:spcAft>
                <a:spcPts val="0"/>
              </a:spcAft>
              <a:buSzPts val="2400"/>
              <a:buChar char="●"/>
            </a:pPr>
            <a:r>
              <a:rPr lang="en-GB"/>
              <a:t>owl:imports - Thuộc tính bắc cầu, </a:t>
            </a:r>
            <a:r>
              <a:rPr lang="en-GB"/>
              <a:t>lệnh</a:t>
            </a:r>
            <a:r>
              <a:rPr lang="en-GB"/>
              <a:t> </a:t>
            </a:r>
            <a:r>
              <a:rPr lang="en-GB"/>
              <a:t>chèn</a:t>
            </a:r>
            <a:r>
              <a:rPr lang="en-GB"/>
              <a:t> 1 tài liệu.</a:t>
            </a:r>
            <a:endParaRPr/>
          </a:p>
          <a:p>
            <a:pPr indent="-381000" lvl="0" marL="457200" rtl="0" algn="l">
              <a:spcBef>
                <a:spcPts val="0"/>
              </a:spcBef>
              <a:spcAft>
                <a:spcPts val="0"/>
              </a:spcAft>
              <a:buSzPts val="2400"/>
              <a:buChar char="●"/>
            </a:pPr>
            <a:r>
              <a:rPr lang="en-GB"/>
              <a:t>owl:priorVersion -</a:t>
            </a:r>
            <a:r>
              <a:rPr lang="en-GB"/>
              <a:t> P</a:t>
            </a:r>
            <a:r>
              <a:rPr lang="en-GB"/>
              <a:t>hiên bản </a:t>
            </a:r>
            <a:r>
              <a:rPr lang="en-GB"/>
              <a:t>liền trước</a:t>
            </a:r>
            <a:r>
              <a:rPr lang="en-GB"/>
              <a:t> của tài liệu này</a:t>
            </a:r>
            <a:endParaRPr/>
          </a:p>
        </p:txBody>
      </p:sp>
      <p:sp>
        <p:nvSpPr>
          <p:cNvPr id="261" name="Google Shape;261;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Định nghĩa thuộc tính</a:t>
            </a:r>
            <a:endParaRPr/>
          </a:p>
        </p:txBody>
      </p:sp>
      <p:sp>
        <p:nvSpPr>
          <p:cNvPr id="267" name="Google Shape;267;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Phân loại</a:t>
            </a:r>
            <a:r>
              <a:rPr lang="en-GB"/>
              <a:t> thuộc tính </a:t>
            </a:r>
            <a:r>
              <a:rPr lang="en-GB"/>
              <a:t>trong </a:t>
            </a:r>
            <a:r>
              <a:rPr lang="en-GB"/>
              <a:t>OWL</a:t>
            </a:r>
            <a:endParaRPr/>
          </a:p>
        </p:txBody>
      </p:sp>
      <p:sp>
        <p:nvSpPr>
          <p:cNvPr id="273" name="Google Shape;273;p37"/>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OWL </a:t>
            </a:r>
            <a:r>
              <a:rPr lang="en-GB"/>
              <a:t>phân biệt</a:t>
            </a:r>
            <a:r>
              <a:rPr lang="en-GB"/>
              <a:t> 2 loại thuộc tính</a:t>
            </a:r>
            <a:endParaRPr/>
          </a:p>
          <a:p>
            <a:pPr indent="-381000" lvl="0" marL="457200" rtl="0" algn="l">
              <a:spcBef>
                <a:spcPts val="0"/>
              </a:spcBef>
              <a:spcAft>
                <a:spcPts val="0"/>
              </a:spcAft>
              <a:buSzPts val="2400"/>
              <a:buChar char="●"/>
            </a:pPr>
            <a:r>
              <a:rPr lang="en-GB"/>
              <a:t>Thuộc tính đối tượng </a:t>
            </a:r>
            <a:r>
              <a:rPr lang="en-GB"/>
              <a:t>có giá trị là tài nguyên</a:t>
            </a:r>
            <a:endParaRPr/>
          </a:p>
          <a:p>
            <a:pPr indent="-368300" lvl="1" marL="914400" rtl="0" algn="l">
              <a:spcBef>
                <a:spcPts val="0"/>
              </a:spcBef>
              <a:spcAft>
                <a:spcPts val="0"/>
              </a:spcAft>
              <a:buSzPts val="2200"/>
              <a:buChar char="○"/>
            </a:pPr>
            <a:r>
              <a:rPr lang="en-GB"/>
              <a:t>owl:ObjectProperty, ví dụ, isTaughtBy, supervises</a:t>
            </a:r>
            <a:endParaRPr/>
          </a:p>
          <a:p>
            <a:pPr indent="-381000" lvl="0" marL="457200" rtl="0" algn="l">
              <a:spcBef>
                <a:spcPts val="0"/>
              </a:spcBef>
              <a:spcAft>
                <a:spcPts val="0"/>
              </a:spcAft>
              <a:buSzPts val="2400"/>
              <a:buChar char="●"/>
            </a:pPr>
            <a:r>
              <a:rPr lang="en-GB"/>
              <a:t>Thuộc tính </a:t>
            </a:r>
            <a:r>
              <a:rPr lang="en-GB"/>
              <a:t>dữ liệu</a:t>
            </a:r>
            <a:r>
              <a:rPr lang="en-GB"/>
              <a:t> </a:t>
            </a:r>
            <a:r>
              <a:rPr lang="en-GB"/>
              <a:t>có giá trị là hằng</a:t>
            </a:r>
            <a:endParaRPr/>
          </a:p>
          <a:p>
            <a:pPr indent="-368300" lvl="1" marL="914400" rtl="0" algn="l">
              <a:spcBef>
                <a:spcPts val="0"/>
              </a:spcBef>
              <a:spcAft>
                <a:spcPts val="0"/>
              </a:spcAft>
              <a:buSzPts val="2200"/>
              <a:buChar char="○"/>
            </a:pPr>
            <a:r>
              <a:rPr lang="en-GB"/>
              <a:t>owl:DatatypeProperty, ví dụ, SĐT, tên, tuổi, v.v…</a:t>
            </a:r>
            <a:endParaRPr/>
          </a:p>
          <a:p>
            <a:pPr indent="-381000" lvl="0" marL="457200" rtl="0" algn="l">
              <a:spcBef>
                <a:spcPts val="0"/>
              </a:spcBef>
              <a:spcAft>
                <a:spcPts val="0"/>
              </a:spcAft>
              <a:buSzPts val="2400"/>
              <a:buChar char="●"/>
            </a:pPr>
            <a:r>
              <a:rPr lang="en-GB"/>
              <a:t>Được tách biệt để </a:t>
            </a:r>
            <a:r>
              <a:rPr lang="en-GB"/>
              <a:t>tạo thuận lợi</a:t>
            </a:r>
            <a:r>
              <a:rPr lang="en-GB"/>
              <a:t> cho việc xây dựng các mô-đun suy diễn </a:t>
            </a:r>
            <a:r>
              <a:rPr lang="en-GB"/>
              <a:t>đúng đắn</a:t>
            </a:r>
            <a:r>
              <a:rPr lang="en-GB"/>
              <a:t> và đầy đủ.</a:t>
            </a:r>
            <a:endParaRPr/>
          </a:p>
        </p:txBody>
      </p:sp>
      <p:sp>
        <p:nvSpPr>
          <p:cNvPr id="274" name="Google Shape;274;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thuộc tính dữ liệu</a:t>
            </a:r>
            <a:endParaRPr/>
          </a:p>
        </p:txBody>
      </p:sp>
      <p:sp>
        <p:nvSpPr>
          <p:cNvPr id="280" name="Google Shape;280;p38"/>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Có giá trị là hằng, có thể được định kiểu, ví dụ sử dụng</a:t>
            </a:r>
            <a:r>
              <a:rPr i="1" lang="en-GB"/>
              <a:t> kiểu dữ liệu </a:t>
            </a:r>
            <a:r>
              <a:rPr i="1" lang="en-GB"/>
              <a:t>trong </a:t>
            </a:r>
            <a:r>
              <a:rPr i="1" lang="en-GB"/>
              <a:t>lược đồ XML.</a:t>
            </a:r>
            <a:endParaRPr i="1"/>
          </a:p>
          <a:p>
            <a:pPr indent="0" lvl="0" marL="450000" rtl="0" algn="l">
              <a:spcBef>
                <a:spcPts val="0"/>
              </a:spcBef>
              <a:spcAft>
                <a:spcPts val="0"/>
              </a:spcAft>
              <a:buNone/>
            </a:pPr>
            <a:r>
              <a:rPr lang="en-GB"/>
              <a:t>:age a owl:DatatypeProperty;</a:t>
            </a:r>
            <a:endParaRPr/>
          </a:p>
          <a:p>
            <a:pPr indent="0" lvl="0" marL="450000" rtl="0" algn="l">
              <a:spcBef>
                <a:spcPts val="0"/>
              </a:spcBef>
              <a:spcAft>
                <a:spcPts val="0"/>
              </a:spcAft>
              <a:buNone/>
            </a:pPr>
            <a:r>
              <a:rPr lang="en-GB"/>
              <a:t>    rdfs:domain foaf:Person;</a:t>
            </a:r>
            <a:endParaRPr/>
          </a:p>
          <a:p>
            <a:pPr indent="0" lvl="0" marL="450000" rtl="0" algn="l">
              <a:spcBef>
                <a:spcPts val="0"/>
              </a:spcBef>
              <a:spcAft>
                <a:spcPts val="0"/>
              </a:spcAft>
              <a:buNone/>
            </a:pPr>
            <a:r>
              <a:rPr lang="en-GB"/>
              <a:t>    rdfs:range xsd:nonNegativeInteger .</a:t>
            </a:r>
            <a:endParaRPr/>
          </a:p>
        </p:txBody>
      </p:sp>
      <p:sp>
        <p:nvSpPr>
          <p:cNvPr id="281" name="Google Shape;281;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thuộc tính đối tượng</a:t>
            </a:r>
            <a:endParaRPr/>
          </a:p>
        </p:txBody>
      </p:sp>
      <p:sp>
        <p:nvSpPr>
          <p:cNvPr id="287" name="Google Shape;287;p39"/>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Có giá trị là tài nguyên</a:t>
            </a:r>
            <a:endParaRPr i="1"/>
          </a:p>
          <a:p>
            <a:pPr indent="457200" lvl="0" marL="0" rtl="0" algn="l">
              <a:spcBef>
                <a:spcPts val="0"/>
              </a:spcBef>
              <a:spcAft>
                <a:spcPts val="0"/>
              </a:spcAft>
              <a:buNone/>
            </a:pPr>
            <a:r>
              <a:rPr lang="en-GB"/>
              <a:t>:isTaughtBy a owl:ObjectProperty;</a:t>
            </a:r>
            <a:endParaRPr/>
          </a:p>
          <a:p>
            <a:pPr indent="0" lvl="0" marL="0" rtl="0" algn="l">
              <a:spcBef>
                <a:spcPts val="0"/>
              </a:spcBef>
              <a:spcAft>
                <a:spcPts val="0"/>
              </a:spcAft>
              <a:buNone/>
            </a:pPr>
            <a:r>
              <a:rPr lang="en-GB"/>
              <a:t>   		rdfs:domain :Course;</a:t>
            </a:r>
            <a:endParaRPr/>
          </a:p>
          <a:p>
            <a:pPr indent="0" lvl="0" marL="0" rtl="0" algn="l">
              <a:spcBef>
                <a:spcPts val="0"/>
              </a:spcBef>
              <a:spcAft>
                <a:spcPts val="0"/>
              </a:spcAft>
              <a:buNone/>
            </a:pPr>
            <a:r>
              <a:rPr lang="en-GB"/>
              <a:t>   		rdfs:range :AcademicStaffMember;</a:t>
            </a:r>
            <a:endParaRPr/>
          </a:p>
          <a:p>
            <a:pPr indent="0" lvl="0" marL="0" rtl="0" algn="l">
              <a:spcBef>
                <a:spcPts val="0"/>
              </a:spcBef>
              <a:spcAft>
                <a:spcPts val="0"/>
              </a:spcAft>
              <a:buNone/>
            </a:pPr>
            <a:r>
              <a:rPr lang="en-GB"/>
              <a:t>   		rdfs:subPropertyOf :involves.</a:t>
            </a:r>
            <a:endParaRPr/>
          </a:p>
        </p:txBody>
      </p:sp>
      <p:sp>
        <p:nvSpPr>
          <p:cNvPr id="288" name="Google Shape;288;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a:t>
            </a:r>
            <a:r>
              <a:rPr lang="en-GB"/>
              <a:t>cặp </a:t>
            </a:r>
            <a:r>
              <a:rPr lang="en-GB"/>
              <a:t>thuộc tính nghịch đảo</a:t>
            </a:r>
            <a:endParaRPr/>
          </a:p>
        </p:txBody>
      </p:sp>
      <p:sp>
        <p:nvSpPr>
          <p:cNvPr id="294" name="Google Shape;294;p40"/>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GB"/>
              <a:t>owl:inverseOf</a:t>
            </a:r>
            <a:r>
              <a:rPr lang="en-GB"/>
              <a:t>, ví dụ:</a:t>
            </a:r>
            <a:endParaRPr/>
          </a:p>
          <a:p>
            <a:pPr indent="457200" lvl="0" marL="0" rtl="0" algn="l">
              <a:lnSpc>
                <a:spcPct val="100000"/>
              </a:lnSpc>
              <a:spcBef>
                <a:spcPts val="0"/>
              </a:spcBef>
              <a:spcAft>
                <a:spcPts val="0"/>
              </a:spcAft>
              <a:buNone/>
            </a:pPr>
            <a:r>
              <a:rPr lang="en-GB" sz="2400"/>
              <a:t>:teaches a owl:ObjectProperty;</a:t>
            </a:r>
            <a:endParaRPr sz="2400"/>
          </a:p>
          <a:p>
            <a:pPr indent="0" lvl="0" marL="0" rtl="0" algn="l">
              <a:lnSpc>
                <a:spcPct val="100000"/>
              </a:lnSpc>
              <a:spcBef>
                <a:spcPts val="0"/>
              </a:spcBef>
              <a:spcAft>
                <a:spcPts val="0"/>
              </a:spcAft>
              <a:buNone/>
            </a:pPr>
            <a:r>
              <a:rPr lang="en-GB" sz="2400"/>
              <a:t>    		rdfs:range :Course;</a:t>
            </a:r>
            <a:endParaRPr sz="2400"/>
          </a:p>
          <a:p>
            <a:pPr indent="0" lvl="0" marL="0" rtl="0" algn="l">
              <a:lnSpc>
                <a:spcPct val="100000"/>
              </a:lnSpc>
              <a:spcBef>
                <a:spcPts val="0"/>
              </a:spcBef>
              <a:spcAft>
                <a:spcPts val="0"/>
              </a:spcAft>
              <a:buNone/>
            </a:pPr>
            <a:r>
              <a:rPr lang="en-GB" sz="2400"/>
              <a:t>    		rdfs:domain :AcademicStaffMember;</a:t>
            </a:r>
            <a:endParaRPr sz="2400"/>
          </a:p>
          <a:p>
            <a:pPr indent="0" lvl="0" marL="0" rtl="0" algn="l">
              <a:lnSpc>
                <a:spcPct val="100000"/>
              </a:lnSpc>
              <a:spcBef>
                <a:spcPts val="0"/>
              </a:spcBef>
              <a:spcAft>
                <a:spcPts val="0"/>
              </a:spcAft>
              <a:buNone/>
            </a:pPr>
            <a:r>
              <a:rPr lang="en-GB" sz="2400"/>
              <a:t>    		owl:inverseOf  :isTaughtBy.</a:t>
            </a:r>
            <a:endParaRPr sz="2400"/>
          </a:p>
          <a:p>
            <a:pPr indent="0" lvl="0" marL="0" rtl="0" algn="l">
              <a:lnSpc>
                <a:spcPct val="100000"/>
              </a:lnSpc>
              <a:spcBef>
                <a:spcPts val="1000"/>
              </a:spcBef>
              <a:spcAft>
                <a:spcPts val="0"/>
              </a:spcAft>
              <a:buNone/>
            </a:pPr>
            <a:r>
              <a:rPr i="1" lang="en-GB" sz="2400"/>
              <a:t>Hoặc chỉ đơn giản là:</a:t>
            </a:r>
            <a:endParaRPr i="1" sz="2400"/>
          </a:p>
          <a:p>
            <a:pPr indent="0" lvl="0" marL="457200" rtl="0" algn="l">
              <a:lnSpc>
                <a:spcPct val="100000"/>
              </a:lnSpc>
              <a:spcBef>
                <a:spcPts val="0"/>
              </a:spcBef>
              <a:spcAft>
                <a:spcPts val="0"/>
              </a:spcAft>
              <a:buNone/>
            </a:pPr>
            <a:r>
              <a:rPr lang="en-GB" sz="2400"/>
              <a:t>:teaches owl:InverseOf :isTaughtBy .</a:t>
            </a:r>
            <a:endParaRPr sz="2400"/>
          </a:p>
          <a:p>
            <a:pPr indent="-381000" lvl="0" marL="457200" rtl="0" algn="l">
              <a:lnSpc>
                <a:spcPct val="100000"/>
              </a:lnSpc>
              <a:spcBef>
                <a:spcPts val="1000"/>
              </a:spcBef>
              <a:spcAft>
                <a:spcPts val="0"/>
              </a:spcAft>
              <a:buSzPts val="2400"/>
              <a:buChar char="●"/>
            </a:pPr>
            <a:r>
              <a:rPr lang="en-GB" sz="2400"/>
              <a:t>Các bộ-3 tiên</a:t>
            </a:r>
            <a:r>
              <a:rPr lang="en-GB" sz="2400"/>
              <a:t> đề:</a:t>
            </a:r>
            <a:endParaRPr sz="2400"/>
          </a:p>
          <a:p>
            <a:pPr indent="0" lvl="1" marL="457200" rtl="0" algn="l">
              <a:lnSpc>
                <a:spcPct val="100000"/>
              </a:lnSpc>
              <a:spcBef>
                <a:spcPts val="0"/>
              </a:spcBef>
              <a:spcAft>
                <a:spcPts val="0"/>
              </a:spcAft>
              <a:buClr>
                <a:schemeClr val="dk1"/>
              </a:buClr>
              <a:buSzPts val="1350"/>
              <a:buFont typeface="Calibri"/>
              <a:buNone/>
            </a:pPr>
            <a:r>
              <a:rPr lang="en-GB" sz="2400">
                <a:solidFill>
                  <a:srgbClr val="666666"/>
                </a:solidFill>
              </a:rPr>
              <a:t>owl:inverseOf rdfs:domain owl:ObjectProperty;</a:t>
            </a:r>
            <a:br>
              <a:rPr lang="en-GB" sz="2400">
                <a:solidFill>
                  <a:srgbClr val="666666"/>
                </a:solidFill>
              </a:rPr>
            </a:br>
            <a:r>
              <a:rPr lang="en-GB" sz="2400">
                <a:solidFill>
                  <a:srgbClr val="666666"/>
                </a:solidFill>
              </a:rPr>
              <a:t>	rdfs:range owl:ObjectProperty; </a:t>
            </a:r>
            <a:br>
              <a:rPr lang="en-GB" sz="2400">
                <a:solidFill>
                  <a:srgbClr val="666666"/>
                </a:solidFill>
              </a:rPr>
            </a:br>
            <a:r>
              <a:rPr lang="en-GB" sz="2400">
                <a:solidFill>
                  <a:srgbClr val="666666"/>
                </a:solidFill>
              </a:rPr>
              <a:t>	a owl:SymmetricProperty. </a:t>
            </a:r>
            <a:endParaRPr sz="2400">
              <a:solidFill>
                <a:srgbClr val="666666"/>
              </a:solidFill>
            </a:endParaRPr>
          </a:p>
          <a:p>
            <a:pPr indent="-381000" lvl="0" marL="457200" rtl="0" algn="l">
              <a:lnSpc>
                <a:spcPct val="100000"/>
              </a:lnSpc>
              <a:spcBef>
                <a:spcPts val="0"/>
              </a:spcBef>
              <a:spcAft>
                <a:spcPts val="0"/>
              </a:spcAft>
              <a:buClr>
                <a:srgbClr val="666666"/>
              </a:buClr>
              <a:buSzPts val="2400"/>
              <a:buChar char="●"/>
            </a:pPr>
            <a:r>
              <a:rPr lang="en-GB" sz="2400">
                <a:solidFill>
                  <a:srgbClr val="666666"/>
                </a:solidFill>
              </a:rPr>
              <a:t>Suy diễn:</a:t>
            </a:r>
            <a:endParaRPr sz="2400">
              <a:solidFill>
                <a:srgbClr val="666666"/>
              </a:solidFill>
            </a:endParaRPr>
          </a:p>
          <a:p>
            <a:pPr indent="0" lvl="0" marL="0" rtl="0" algn="l">
              <a:lnSpc>
                <a:spcPct val="100000"/>
              </a:lnSpc>
              <a:spcBef>
                <a:spcPts val="360"/>
              </a:spcBef>
              <a:spcAft>
                <a:spcPts val="0"/>
              </a:spcAft>
              <a:buClr>
                <a:schemeClr val="dk1"/>
              </a:buClr>
              <a:buSzPts val="1100"/>
              <a:buFont typeface="Arial"/>
              <a:buNone/>
            </a:pPr>
            <a:r>
              <a:rPr lang="en-GB" sz="2200">
                <a:solidFill>
                  <a:srgbClr val="666666"/>
                </a:solidFill>
              </a:rPr>
              <a:t>(?P owl:inverseOf ?Q), (?S ?P ?O) =&gt; (?O ?Q ?S)</a:t>
            </a:r>
            <a:endParaRPr sz="2200">
              <a:solidFill>
                <a:srgbClr val="666666"/>
              </a:solidFill>
            </a:endParaRPr>
          </a:p>
          <a:p>
            <a:pPr indent="0" lvl="0" marL="0" rtl="0" algn="l">
              <a:lnSpc>
                <a:spcPct val="100000"/>
              </a:lnSpc>
              <a:spcBef>
                <a:spcPts val="360"/>
              </a:spcBef>
              <a:spcAft>
                <a:spcPts val="0"/>
              </a:spcAft>
              <a:buClr>
                <a:schemeClr val="dk1"/>
              </a:buClr>
              <a:buSzPts val="1100"/>
              <a:buFont typeface="Arial"/>
              <a:buNone/>
            </a:pPr>
            <a:r>
              <a:rPr lang="en-GB" sz="2200">
                <a:solidFill>
                  <a:srgbClr val="666666"/>
                </a:solidFill>
              </a:rPr>
              <a:t>(?P owl:inverseOf ?Q), (?P rdfs:domain ?C) =&gt; (?Q rdfs:range ?C)</a:t>
            </a:r>
            <a:endParaRPr sz="2400">
              <a:solidFill>
                <a:srgbClr val="666666"/>
              </a:solidFill>
            </a:endParaRPr>
          </a:p>
        </p:txBody>
      </p:sp>
      <p:sp>
        <p:nvSpPr>
          <p:cNvPr id="295" name="Google Shape;295;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thuộc tính tương đương</a:t>
            </a:r>
            <a:endParaRPr/>
          </a:p>
        </p:txBody>
      </p:sp>
      <p:sp>
        <p:nvSpPr>
          <p:cNvPr id="301" name="Google Shape;301;p41"/>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rgbClr val="666666"/>
                </a:solidFill>
              </a:rPr>
              <a:t>owl:equivalentProperty,</a:t>
            </a:r>
            <a:r>
              <a:rPr lang="en-GB">
                <a:solidFill>
                  <a:srgbClr val="666666"/>
                </a:solidFill>
              </a:rPr>
              <a:t> ví dụ:</a:t>
            </a:r>
            <a:endParaRPr>
              <a:solidFill>
                <a:srgbClr val="666666"/>
              </a:solidFill>
            </a:endParaRPr>
          </a:p>
          <a:p>
            <a:pPr indent="457200" lvl="0" marL="0" rtl="0" algn="l">
              <a:spcBef>
                <a:spcPts val="0"/>
              </a:spcBef>
              <a:spcAft>
                <a:spcPts val="0"/>
              </a:spcAft>
              <a:buNone/>
            </a:pPr>
            <a:r>
              <a:rPr lang="en-GB" sz="2400">
                <a:solidFill>
                  <a:srgbClr val="666666"/>
                </a:solidFill>
              </a:rPr>
              <a:t>:lectures owl:equivalentProperty :teaches .</a:t>
            </a:r>
            <a:endParaRPr sz="2400">
              <a:solidFill>
                <a:srgbClr val="666666"/>
              </a:solidFill>
            </a:endParaRPr>
          </a:p>
          <a:p>
            <a:pPr indent="-381000" lvl="0" marL="457200" rtl="0" algn="l">
              <a:spcBef>
                <a:spcPts val="0"/>
              </a:spcBef>
              <a:spcAft>
                <a:spcPts val="0"/>
              </a:spcAft>
              <a:buSzPts val="2400"/>
              <a:buChar char="●"/>
            </a:pPr>
            <a:r>
              <a:rPr lang="en-GB" sz="2400"/>
              <a:t>Các thuộc tính tương đương</a:t>
            </a:r>
            <a:r>
              <a:rPr lang="en-GB" sz="2400"/>
              <a:t> có cùng </a:t>
            </a:r>
            <a:r>
              <a:rPr b="1" i="1" lang="en-GB" sz="2400"/>
              <a:t>mở rộng</a:t>
            </a:r>
            <a:endParaRPr b="1" i="1" sz="2400"/>
          </a:p>
          <a:p>
            <a:pPr indent="-368300" lvl="1" marL="914400" rtl="0" algn="l">
              <a:spcBef>
                <a:spcPts val="0"/>
              </a:spcBef>
              <a:spcAft>
                <a:spcPts val="0"/>
              </a:spcAft>
              <a:buSzPts val="2200"/>
              <a:buChar char="○"/>
            </a:pPr>
            <a:r>
              <a:rPr lang="en-GB"/>
              <a:t>T</a:t>
            </a:r>
            <a:r>
              <a:rPr lang="en-GB"/>
              <a:t>ập t</a:t>
            </a:r>
            <a:r>
              <a:rPr lang="en-GB"/>
              <a:t>ất cả các cặp subject-object</a:t>
            </a:r>
            <a:endParaRPr/>
          </a:p>
          <a:p>
            <a:pPr indent="-381000" lvl="0" marL="457200" rtl="0" algn="l">
              <a:lnSpc>
                <a:spcPct val="100000"/>
              </a:lnSpc>
              <a:spcBef>
                <a:spcPts val="0"/>
              </a:spcBef>
              <a:spcAft>
                <a:spcPts val="0"/>
              </a:spcAft>
              <a:buSzPts val="2400"/>
              <a:buChar char="●"/>
            </a:pPr>
            <a:r>
              <a:rPr lang="en-GB" sz="2400"/>
              <a:t>Suy diễn</a:t>
            </a:r>
            <a:endParaRPr sz="2400"/>
          </a:p>
          <a:p>
            <a:pPr indent="457200" lvl="0" marL="0" rtl="0" algn="l">
              <a:spcBef>
                <a:spcPts val="0"/>
              </a:spcBef>
              <a:spcAft>
                <a:spcPts val="0"/>
              </a:spcAft>
              <a:buNone/>
            </a:pPr>
            <a:r>
              <a:rPr lang="en-GB" sz="2200">
                <a:solidFill>
                  <a:srgbClr val="666666"/>
                </a:solidFill>
              </a:rPr>
              <a:t>(</a:t>
            </a:r>
            <a:r>
              <a:rPr lang="en-GB" sz="2200">
                <a:solidFill>
                  <a:srgbClr val="666666"/>
                </a:solidFill>
              </a:rPr>
              <a:t>?A rdfs:subPropertyOf ?B), (?B rdfs:subPropertyOf ?A)</a:t>
            </a:r>
            <a:endParaRPr sz="2200">
              <a:solidFill>
                <a:srgbClr val="666666"/>
              </a:solidFill>
            </a:endParaRPr>
          </a:p>
          <a:p>
            <a:pPr indent="0" lvl="0" marL="914400" rtl="0" algn="l">
              <a:spcBef>
                <a:spcPts val="0"/>
              </a:spcBef>
              <a:spcAft>
                <a:spcPts val="0"/>
              </a:spcAft>
              <a:buNone/>
            </a:pPr>
            <a:r>
              <a:rPr lang="en-GB" sz="2200">
                <a:solidFill>
                  <a:srgbClr val="666666"/>
                </a:solidFill>
              </a:rPr>
              <a:t>=&gt;</a:t>
            </a:r>
            <a:r>
              <a:rPr lang="en-GB" sz="2200">
                <a:solidFill>
                  <a:srgbClr val="666666"/>
                </a:solidFill>
              </a:rPr>
              <a:t> (?A owl:equivalentProperty ?B)</a:t>
            </a:r>
            <a:endParaRPr sz="2200">
              <a:solidFill>
                <a:srgbClr val="666666"/>
              </a:solidFill>
            </a:endParaRPr>
          </a:p>
          <a:p>
            <a:pPr indent="457200" lvl="0" marL="0" rtl="0" algn="l">
              <a:spcBef>
                <a:spcPts val="0"/>
              </a:spcBef>
              <a:spcAft>
                <a:spcPts val="0"/>
              </a:spcAft>
              <a:buNone/>
            </a:pPr>
            <a:r>
              <a:rPr lang="en-GB" sz="2200">
                <a:solidFill>
                  <a:srgbClr val="666666"/>
                </a:solidFill>
              </a:rPr>
              <a:t>(?A owl:equivalentProperty ?B) </a:t>
            </a:r>
            <a:endParaRPr sz="2200">
              <a:solidFill>
                <a:srgbClr val="666666"/>
              </a:solidFill>
            </a:endParaRPr>
          </a:p>
          <a:p>
            <a:pPr indent="0" lvl="0" marL="0" rtl="0" algn="l">
              <a:spcBef>
                <a:spcPts val="0"/>
              </a:spcBef>
              <a:spcAft>
                <a:spcPts val="0"/>
              </a:spcAft>
              <a:buNone/>
            </a:pPr>
            <a:r>
              <a:rPr lang="en-GB" sz="2200">
                <a:solidFill>
                  <a:srgbClr val="666666"/>
                </a:solidFill>
              </a:rPr>
              <a:t>            =&gt; (?A rdfs:subPropertyOf ?B), (?B rdfs:subPropertyOf ?A)</a:t>
            </a:r>
            <a:endParaRPr sz="2200">
              <a:solidFill>
                <a:srgbClr val="666666"/>
              </a:solidFill>
            </a:endParaRPr>
          </a:p>
          <a:p>
            <a:pPr indent="-381000" lvl="0" marL="457200" rtl="0" algn="l">
              <a:spcBef>
                <a:spcPts val="0"/>
              </a:spcBef>
              <a:spcAft>
                <a:spcPts val="0"/>
              </a:spcAft>
              <a:buClr>
                <a:srgbClr val="666666"/>
              </a:buClr>
              <a:buSzPts val="2400"/>
              <a:buChar char="●"/>
            </a:pPr>
            <a:r>
              <a:rPr lang="en-GB" sz="2400">
                <a:solidFill>
                  <a:srgbClr val="666666"/>
                </a:solidFill>
              </a:rPr>
              <a:t>Th</a:t>
            </a:r>
            <a:r>
              <a:rPr lang="en-GB" sz="2400">
                <a:solidFill>
                  <a:srgbClr val="666666"/>
                </a:solidFill>
              </a:rPr>
              <a:t>uộc tính nghịch đảo và thuộc tính tương đương</a:t>
            </a:r>
            <a:endParaRPr sz="2200">
              <a:solidFill>
                <a:srgbClr val="666666"/>
              </a:solidFill>
            </a:endParaRPr>
          </a:p>
          <a:p>
            <a:pPr indent="457200" lvl="0" marL="0" rtl="0" algn="l">
              <a:lnSpc>
                <a:spcPct val="100000"/>
              </a:lnSpc>
              <a:spcBef>
                <a:spcPts val="360"/>
              </a:spcBef>
              <a:spcAft>
                <a:spcPts val="0"/>
              </a:spcAft>
              <a:buNone/>
            </a:pPr>
            <a:r>
              <a:rPr lang="en-GB" sz="2200">
                <a:solidFill>
                  <a:srgbClr val="666666"/>
                </a:solidFill>
              </a:rPr>
              <a:t>(?A owl:inverseOf ?C), (?B owl:inverseOf ?C) </a:t>
            </a:r>
            <a:endParaRPr sz="2200">
              <a:solidFill>
                <a:srgbClr val="666666"/>
              </a:solidFill>
            </a:endParaRPr>
          </a:p>
          <a:p>
            <a:pPr indent="0" lvl="0" marL="0" rtl="0" algn="l">
              <a:lnSpc>
                <a:spcPct val="100000"/>
              </a:lnSpc>
              <a:spcBef>
                <a:spcPts val="360"/>
              </a:spcBef>
              <a:spcAft>
                <a:spcPts val="0"/>
              </a:spcAft>
              <a:buNone/>
            </a:pPr>
            <a:r>
              <a:rPr lang="en-GB" sz="2200">
                <a:solidFill>
                  <a:srgbClr val="666666"/>
                </a:solidFill>
              </a:rPr>
              <a:t>            =&gt; (?A owl:equivalentProperty ?B)</a:t>
            </a:r>
            <a:endParaRPr sz="2200"/>
          </a:p>
          <a:p>
            <a:pPr indent="0" lvl="0" marL="0" rtl="0" algn="l">
              <a:spcBef>
                <a:spcPts val="0"/>
              </a:spcBef>
              <a:spcAft>
                <a:spcPts val="0"/>
              </a:spcAft>
              <a:buNone/>
            </a:pPr>
            <a:r>
              <a:t/>
            </a:r>
            <a:endParaRPr sz="2400">
              <a:solidFill>
                <a:srgbClr val="666666"/>
              </a:solidFill>
            </a:endParaRPr>
          </a:p>
        </p:txBody>
      </p:sp>
      <p:sp>
        <p:nvSpPr>
          <p:cNvPr id="302" name="Google Shape;302;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tính chất của thuộc tính</a:t>
            </a:r>
            <a:endParaRPr/>
          </a:p>
        </p:txBody>
      </p:sp>
      <p:sp>
        <p:nvSpPr>
          <p:cNvPr id="308" name="Google Shape;308;p42"/>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GB"/>
              <a:t>owl:TransitiveProperty</a:t>
            </a:r>
            <a:endParaRPr b="1"/>
          </a:p>
          <a:p>
            <a:pPr indent="-368300" lvl="1" marL="914400" rtl="0" algn="l">
              <a:spcBef>
                <a:spcPts val="0"/>
              </a:spcBef>
              <a:spcAft>
                <a:spcPts val="0"/>
              </a:spcAft>
              <a:buSzPts val="2200"/>
              <a:buChar char="○"/>
            </a:pPr>
            <a:r>
              <a:rPr lang="en-GB"/>
              <a:t>L</a:t>
            </a:r>
            <a:r>
              <a:rPr lang="en-GB"/>
              <a:t>ớp thuộc tính bắc cầu</a:t>
            </a:r>
            <a:endParaRPr/>
          </a:p>
          <a:p>
            <a:pPr indent="-368300" lvl="1" marL="914400" rtl="0" algn="l">
              <a:spcBef>
                <a:spcPts val="0"/>
              </a:spcBef>
              <a:spcAft>
                <a:spcPts val="0"/>
              </a:spcAft>
              <a:buSzPts val="2200"/>
              <a:buChar char="○"/>
            </a:pPr>
            <a:r>
              <a:rPr lang="en-GB"/>
              <a:t>(?P rdf:type  owl:TransitiveProperty), (?A ?P ?B), (?B ?P ?C) =&gt; (?A ?P ?C)</a:t>
            </a:r>
            <a:endParaRPr/>
          </a:p>
          <a:p>
            <a:pPr indent="-368300" lvl="1" marL="914400" rtl="0" algn="l">
              <a:spcBef>
                <a:spcPts val="0"/>
              </a:spcBef>
              <a:spcAft>
                <a:spcPts val="0"/>
              </a:spcAft>
              <a:buSzPts val="2200"/>
              <a:buChar char="○"/>
            </a:pPr>
            <a:r>
              <a:rPr lang="en-GB"/>
              <a:t>Ví dụ: :subRegion a owl:TransitiveProperty .</a:t>
            </a:r>
            <a:endParaRPr/>
          </a:p>
          <a:p>
            <a:pPr indent="-381000" lvl="0" marL="457200" rtl="0" algn="l">
              <a:spcBef>
                <a:spcPts val="0"/>
              </a:spcBef>
              <a:spcAft>
                <a:spcPts val="0"/>
              </a:spcAft>
              <a:buSzPts val="2400"/>
              <a:buChar char="●"/>
            </a:pPr>
            <a:r>
              <a:rPr b="1" lang="en-GB"/>
              <a:t>owl:SymmetricProperty </a:t>
            </a:r>
            <a:endParaRPr b="1"/>
          </a:p>
          <a:p>
            <a:pPr indent="-368300" lvl="1" marL="914400" rtl="0" algn="l">
              <a:spcBef>
                <a:spcPts val="0"/>
              </a:spcBef>
              <a:spcAft>
                <a:spcPts val="0"/>
              </a:spcAft>
              <a:buSzPts val="2200"/>
              <a:buChar char="○"/>
            </a:pPr>
            <a:r>
              <a:rPr lang="en-GB"/>
              <a:t>Lớp thuộc tính đối xứng</a:t>
            </a:r>
            <a:endParaRPr/>
          </a:p>
          <a:p>
            <a:pPr indent="-368300" lvl="1" marL="914400" rtl="0" algn="l">
              <a:spcBef>
                <a:spcPts val="0"/>
              </a:spcBef>
              <a:spcAft>
                <a:spcPts val="0"/>
              </a:spcAft>
              <a:buSzPts val="2200"/>
              <a:buChar char="○"/>
            </a:pPr>
            <a:r>
              <a:rPr lang="en-GB"/>
              <a:t>(?</a:t>
            </a:r>
            <a:r>
              <a:rPr lang="en-GB"/>
              <a:t>P rdf:type owl:SymmetricProperty), (?A ?P ?B)</a:t>
            </a:r>
            <a:endParaRPr/>
          </a:p>
          <a:p>
            <a:pPr indent="0" lvl="0" marL="914400" rtl="0" algn="l">
              <a:spcBef>
                <a:spcPts val="0"/>
              </a:spcBef>
              <a:spcAft>
                <a:spcPts val="0"/>
              </a:spcAft>
              <a:buNone/>
            </a:pPr>
            <a:r>
              <a:rPr lang="en-GB" sz="2200"/>
              <a:t>=&gt; (?B ?P ?A)</a:t>
            </a:r>
            <a:endParaRPr sz="2200"/>
          </a:p>
          <a:p>
            <a:pPr indent="-368300" lvl="1" marL="914400" rtl="0" algn="l">
              <a:spcBef>
                <a:spcPts val="0"/>
              </a:spcBef>
              <a:spcAft>
                <a:spcPts val="0"/>
              </a:spcAft>
              <a:buSzPts val="2200"/>
              <a:buChar char="○"/>
            </a:pPr>
            <a:r>
              <a:rPr lang="en-GB"/>
              <a:t>Ví dụ: :friendOf a owl:SymmetricProperty.</a:t>
            </a:r>
            <a:endParaRPr sz="2200"/>
          </a:p>
        </p:txBody>
      </p:sp>
      <p:sp>
        <p:nvSpPr>
          <p:cNvPr id="309" name="Google Shape;309;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tính chất của thuộc tính</a:t>
            </a:r>
            <a:r>
              <a:rPr baseline="-25000" lang="en-GB"/>
              <a:t>(2)</a:t>
            </a:r>
            <a:endParaRPr baseline="-25000"/>
          </a:p>
        </p:txBody>
      </p:sp>
      <p:sp>
        <p:nvSpPr>
          <p:cNvPr id="315" name="Google Shape;315;p43"/>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GB"/>
              <a:t>owl:FunctionalProperty</a:t>
            </a:r>
            <a:endParaRPr b="1"/>
          </a:p>
          <a:p>
            <a:pPr indent="-368300" lvl="1" marL="914400" rtl="0" algn="l">
              <a:spcBef>
                <a:spcPts val="0"/>
              </a:spcBef>
              <a:spcAft>
                <a:spcPts val="0"/>
              </a:spcAft>
              <a:buSzPts val="2200"/>
              <a:buChar char="○"/>
            </a:pPr>
            <a:r>
              <a:rPr lang="en-GB"/>
              <a:t>Lớp thuộc tính hàm</a:t>
            </a:r>
            <a:endParaRPr/>
          </a:p>
          <a:p>
            <a:pPr indent="-368300" lvl="1" marL="914400" rtl="0" algn="l">
              <a:spcBef>
                <a:spcPts val="0"/>
              </a:spcBef>
              <a:spcAft>
                <a:spcPts val="0"/>
              </a:spcAft>
              <a:buSzPts val="2200"/>
              <a:buChar char="○"/>
            </a:pPr>
            <a:r>
              <a:rPr lang="en-GB"/>
              <a:t>(?P rdf:type owl:FunctionalProperty), (?A ?P ?B), (?A ?P ?C) =&gt; (?B owl:sameAs ?C)</a:t>
            </a:r>
            <a:endParaRPr/>
          </a:p>
          <a:p>
            <a:pPr indent="-368300" lvl="1" marL="914400" rtl="0" algn="l">
              <a:spcBef>
                <a:spcPts val="0"/>
              </a:spcBef>
              <a:spcAft>
                <a:spcPts val="0"/>
              </a:spcAft>
              <a:buSzPts val="2200"/>
              <a:buChar char="○"/>
            </a:pPr>
            <a:r>
              <a:rPr lang="en-GB"/>
              <a:t>Ví dụ :</a:t>
            </a:r>
            <a:r>
              <a:rPr lang="en-GB"/>
              <a:t>hasFather a owl:FunctionalProperty .</a:t>
            </a:r>
            <a:endParaRPr/>
          </a:p>
          <a:p>
            <a:pPr indent="-381000" lvl="0" marL="457200" rtl="0" algn="l">
              <a:spcBef>
                <a:spcPts val="0"/>
              </a:spcBef>
              <a:spcAft>
                <a:spcPts val="0"/>
              </a:spcAft>
              <a:buSzPts val="2400"/>
              <a:buChar char="●"/>
            </a:pPr>
            <a:r>
              <a:rPr b="1" lang="en-GB"/>
              <a:t>owl:InverseFunctionalProperty</a:t>
            </a:r>
            <a:r>
              <a:rPr lang="en-GB"/>
              <a:t> </a:t>
            </a:r>
            <a:endParaRPr/>
          </a:p>
          <a:p>
            <a:pPr indent="-368300" lvl="1" marL="914400" rtl="0" algn="l">
              <a:spcBef>
                <a:spcPts val="0"/>
              </a:spcBef>
              <a:spcAft>
                <a:spcPts val="0"/>
              </a:spcAft>
              <a:buSzPts val="2200"/>
              <a:buChar char="○"/>
            </a:pPr>
            <a:r>
              <a:rPr lang="en-GB"/>
              <a:t>L</a:t>
            </a:r>
            <a:r>
              <a:rPr lang="en-GB"/>
              <a:t>ớp thuộc tính hàm ngược</a:t>
            </a:r>
            <a:endParaRPr/>
          </a:p>
          <a:p>
            <a:pPr indent="-368300" lvl="1" marL="914400" rtl="0" algn="l">
              <a:spcBef>
                <a:spcPts val="0"/>
              </a:spcBef>
              <a:spcAft>
                <a:spcPts val="0"/>
              </a:spcAft>
              <a:buSzPts val="2200"/>
              <a:buChar char="○"/>
            </a:pPr>
            <a:r>
              <a:rPr lang="en-GB"/>
              <a:t>(?P rdf:type owl:InverseFunctionalProperty), (?A ?P ?C), (?B ?P ?C) </a:t>
            </a:r>
            <a:r>
              <a:rPr lang="en-GB"/>
              <a:t>=&gt;</a:t>
            </a:r>
            <a:r>
              <a:rPr lang="en-GB"/>
              <a:t> (?A owl:sameAs ?B)</a:t>
            </a:r>
            <a:endParaRPr/>
          </a:p>
          <a:p>
            <a:pPr indent="-368300" lvl="1" marL="914400" rtl="0" algn="l">
              <a:spcBef>
                <a:spcPts val="0"/>
              </a:spcBef>
              <a:spcAft>
                <a:spcPts val="0"/>
              </a:spcAft>
              <a:buSzPts val="2200"/>
              <a:buChar char="○"/>
            </a:pPr>
            <a:r>
              <a:rPr lang="en-GB"/>
              <a:t>V</a:t>
            </a:r>
            <a:r>
              <a:rPr lang="en-GB"/>
              <a:t>í dụ :motherOf a owl:InverseFunctionalProperty .</a:t>
            </a:r>
            <a:endParaRPr/>
          </a:p>
          <a:p>
            <a:pPr indent="-381000" lvl="0" marL="457200" rtl="0" algn="l">
              <a:spcBef>
                <a:spcPts val="0"/>
              </a:spcBef>
              <a:spcAft>
                <a:spcPts val="0"/>
              </a:spcAft>
              <a:buSzPts val="2400"/>
              <a:buChar char="●"/>
            </a:pPr>
            <a:r>
              <a:rPr lang="en-GB"/>
              <a:t>Thuộc tính hàm và thuộc tính hàm ngược</a:t>
            </a:r>
            <a:endParaRPr/>
          </a:p>
          <a:p>
            <a:pPr indent="-368300" lvl="1" marL="914400" rtl="0" algn="l">
              <a:spcBef>
                <a:spcPts val="0"/>
              </a:spcBef>
              <a:spcAft>
                <a:spcPts val="0"/>
              </a:spcAft>
              <a:buSzPts val="2200"/>
              <a:buChar char="○"/>
            </a:pPr>
            <a:r>
              <a:rPr lang="en-GB"/>
              <a:t>(?P owl:inverseOf ?Q), (?P rdf:type owl:FunctionalProperty) =&gt; (?Q rdf:type owl:InverseFunctionalProperty)</a:t>
            </a:r>
            <a:endParaRPr/>
          </a:p>
        </p:txBody>
      </p:sp>
      <p:sp>
        <p:nvSpPr>
          <p:cNvPr id="316" name="Google Shape;316;p4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sz="1000"/>
              <a:t>‹#›</a:t>
            </a:fld>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GB"/>
              <a:t>Định nghĩa </a:t>
            </a:r>
            <a:r>
              <a:rPr lang="en-GB"/>
              <a:t>lớp</a:t>
            </a:r>
            <a:endParaRPr/>
          </a:p>
        </p:txBody>
      </p:sp>
      <p:sp>
        <p:nvSpPr>
          <p:cNvPr id="322" name="Google Shape;322;p4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lớp </a:t>
            </a:r>
            <a:r>
              <a:rPr lang="en-GB"/>
              <a:t>trong </a:t>
            </a:r>
            <a:r>
              <a:rPr lang="en-GB"/>
              <a:t>OWL</a:t>
            </a:r>
            <a:endParaRPr/>
          </a:p>
        </p:txBody>
      </p:sp>
      <p:sp>
        <p:nvSpPr>
          <p:cNvPr id="328" name="Google Shape;328;p4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owl:Class </a:t>
            </a:r>
            <a:r>
              <a:rPr lang="en-GB"/>
              <a:t>là lớp của c</a:t>
            </a:r>
            <a:r>
              <a:rPr lang="en-GB"/>
              <a:t>ác lớp </a:t>
            </a:r>
            <a:r>
              <a:rPr lang="en-GB"/>
              <a:t>trong</a:t>
            </a:r>
            <a:r>
              <a:rPr lang="en-GB"/>
              <a:t> OWL, </a:t>
            </a:r>
            <a:r>
              <a:rPr lang="en-GB"/>
              <a:t>owl:Class</a:t>
            </a:r>
            <a:r>
              <a:rPr lang="en-GB"/>
              <a:t> là phần tử và đồng thời là lớp con của rdfs:Class</a:t>
            </a:r>
            <a:endParaRPr/>
          </a:p>
          <a:p>
            <a:pPr indent="-368300" lvl="1" marL="914400" rtl="0" algn="l">
              <a:spcBef>
                <a:spcPts val="0"/>
              </a:spcBef>
              <a:spcAft>
                <a:spcPts val="0"/>
              </a:spcAft>
              <a:buSzPts val="2200"/>
              <a:buChar char="○"/>
            </a:pPr>
            <a:r>
              <a:rPr lang="en-GB"/>
              <a:t>Ví dụ, </a:t>
            </a:r>
            <a:r>
              <a:rPr lang="en-GB" sz="2400"/>
              <a:t>:AssociateProfessor a owl:Class.</a:t>
            </a:r>
            <a:endParaRPr sz="2400"/>
          </a:p>
          <a:p>
            <a:pPr indent="-381000" lvl="1" marL="914400" rtl="0" algn="l">
              <a:spcBef>
                <a:spcPts val="0"/>
              </a:spcBef>
              <a:spcAft>
                <a:spcPts val="0"/>
              </a:spcAft>
              <a:buSzPts val="2400"/>
              <a:buChar char="○"/>
            </a:pPr>
            <a:r>
              <a:rPr lang="en-GB" sz="2400"/>
              <a:t>=&gt; :AssociateProfessor a rdfs:Class.</a:t>
            </a:r>
            <a:endParaRPr sz="2400"/>
          </a:p>
          <a:p>
            <a:pPr indent="-381000" lvl="0" marL="457200" rtl="0" algn="l">
              <a:spcBef>
                <a:spcPts val="0"/>
              </a:spcBef>
              <a:spcAft>
                <a:spcPts val="0"/>
              </a:spcAft>
              <a:buSzPts val="2400"/>
              <a:buChar char="●"/>
            </a:pPr>
            <a:r>
              <a:rPr lang="en-GB"/>
              <a:t>owl:Thing lớp chứa tất cả thực thể trong OWL.</a:t>
            </a:r>
            <a:endParaRPr/>
          </a:p>
          <a:p>
            <a:pPr indent="-381000" lvl="0" marL="457200" rtl="0" algn="l">
              <a:spcBef>
                <a:spcPts val="0"/>
              </a:spcBef>
              <a:spcAft>
                <a:spcPts val="0"/>
              </a:spcAft>
              <a:buSzPts val="2400"/>
              <a:buChar char="●"/>
            </a:pPr>
            <a:r>
              <a:rPr lang="en-GB"/>
              <a:t>owl:Nothing là lớp rỗng - không chứa phần tử.</a:t>
            </a:r>
            <a:endParaRPr/>
          </a:p>
        </p:txBody>
      </p:sp>
      <p:sp>
        <p:nvSpPr>
          <p:cNvPr id="329" name="Google Shape;329;p4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lớp k</a:t>
            </a:r>
            <a:r>
              <a:rPr lang="en-GB"/>
              <a:t>hông giao nhau</a:t>
            </a:r>
            <a:endParaRPr baseline="-25000"/>
          </a:p>
        </p:txBody>
      </p:sp>
      <p:sp>
        <p:nvSpPr>
          <p:cNvPr id="335" name="Google Shape;335;p46"/>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Quan </a:t>
            </a:r>
            <a:r>
              <a:rPr lang="en-GB"/>
              <a:t>hệ không giao nhau được mô tả bằng thuộc tính </a:t>
            </a:r>
            <a:r>
              <a:rPr b="1" lang="en-GB"/>
              <a:t>owl:disjointWith</a:t>
            </a:r>
            <a:endParaRPr b="1"/>
          </a:p>
          <a:p>
            <a:pPr indent="-368300" lvl="1" marL="914400" rtl="0" algn="l">
              <a:spcBef>
                <a:spcPts val="0"/>
              </a:spcBef>
              <a:spcAft>
                <a:spcPts val="0"/>
              </a:spcAft>
              <a:buSzPts val="2200"/>
              <a:buChar char="○"/>
            </a:pPr>
            <a:r>
              <a:rPr lang="en-GB"/>
              <a:t>Hai lớp không giao nhau không có phần tử chung</a:t>
            </a:r>
            <a:endParaRPr/>
          </a:p>
          <a:p>
            <a:pPr indent="-368300" lvl="1" marL="914400" rtl="0" algn="l">
              <a:spcBef>
                <a:spcPts val="0"/>
              </a:spcBef>
              <a:spcAft>
                <a:spcPts val="0"/>
              </a:spcAft>
              <a:buSzPts val="2200"/>
              <a:buChar char="○"/>
            </a:pPr>
            <a:r>
              <a:rPr lang="en-GB"/>
              <a:t>Ví dụ, </a:t>
            </a:r>
            <a:r>
              <a:rPr lang="en-GB" sz="2400"/>
              <a:t>:Man owl:disjointWith :Woman.</a:t>
            </a:r>
            <a:endParaRPr sz="2400"/>
          </a:p>
          <a:p>
            <a:pPr indent="-381000" lvl="0" marL="457200" rtl="0" algn="l">
              <a:spcBef>
                <a:spcPts val="0"/>
              </a:spcBef>
              <a:spcAft>
                <a:spcPts val="0"/>
              </a:spcAft>
              <a:buSzPts val="2400"/>
              <a:buChar char="●"/>
            </a:pPr>
            <a:r>
              <a:rPr lang="en-GB"/>
              <a:t>Các bộ-3 tiên đề:</a:t>
            </a:r>
            <a:endParaRPr/>
          </a:p>
          <a:p>
            <a:pPr indent="-368300" lvl="1" marL="914400" rtl="0" algn="l">
              <a:spcBef>
                <a:spcPts val="0"/>
              </a:spcBef>
              <a:spcAft>
                <a:spcPts val="0"/>
              </a:spcAft>
              <a:buSzPts val="2200"/>
              <a:buChar char="○"/>
            </a:pPr>
            <a:r>
              <a:rPr lang="en-GB"/>
              <a:t>owl:disjointWith a rdf:Property ;</a:t>
            </a:r>
            <a:endParaRPr/>
          </a:p>
          <a:p>
            <a:pPr indent="0" lvl="0" marL="914400" rtl="0" algn="l">
              <a:spcBef>
                <a:spcPts val="0"/>
              </a:spcBef>
              <a:spcAft>
                <a:spcPts val="0"/>
              </a:spcAft>
              <a:buNone/>
            </a:pPr>
            <a:r>
              <a:rPr lang="en-GB" sz="2200"/>
              <a:t>     rdfs:domain owl:Class ;</a:t>
            </a:r>
            <a:endParaRPr sz="2200"/>
          </a:p>
          <a:p>
            <a:pPr indent="0" lvl="0" marL="914400" rtl="0" algn="l">
              <a:spcBef>
                <a:spcPts val="0"/>
              </a:spcBef>
              <a:spcAft>
                <a:spcPts val="0"/>
              </a:spcAft>
              <a:buNone/>
            </a:pPr>
            <a:r>
              <a:rPr lang="en-GB" sz="2200"/>
              <a:t>     rdfs:range owl:Class .</a:t>
            </a:r>
            <a:endParaRPr sz="2200"/>
          </a:p>
          <a:p>
            <a:pPr indent="-381000" lvl="0" marL="457200" rtl="0" algn="l">
              <a:spcBef>
                <a:spcPts val="0"/>
              </a:spcBef>
              <a:spcAft>
                <a:spcPts val="0"/>
              </a:spcAft>
              <a:buSzPts val="2400"/>
              <a:buChar char="●"/>
            </a:pPr>
            <a:r>
              <a:rPr lang="en-GB"/>
              <a:t>Suy diễn:</a:t>
            </a:r>
            <a:endParaRPr/>
          </a:p>
          <a:p>
            <a:pPr indent="-368300" lvl="1" marL="914400" rtl="0" algn="l">
              <a:spcBef>
                <a:spcPts val="0"/>
              </a:spcBef>
              <a:spcAft>
                <a:spcPts val="0"/>
              </a:spcAft>
              <a:buSzPts val="2200"/>
              <a:buChar char="○"/>
            </a:pPr>
            <a:r>
              <a:rPr lang="en-GB"/>
              <a:t>(?C owl:disjointWith ?D), (?X rdf:type ?C), (?Y rdf:type ?D) =&gt; (?X owl:differentFrom ?Y)</a:t>
            </a:r>
            <a:endParaRPr/>
          </a:p>
        </p:txBody>
      </p:sp>
      <p:sp>
        <p:nvSpPr>
          <p:cNvPr id="336" name="Google Shape;336;p4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a:t>
            </a:r>
            <a:r>
              <a:rPr lang="en-GB"/>
              <a:t>í dụ 5.1. </a:t>
            </a:r>
            <a:r>
              <a:rPr lang="en-GB"/>
              <a:t>Các lớp không giao nhau</a:t>
            </a:r>
            <a:endParaRPr/>
          </a:p>
        </p:txBody>
      </p:sp>
      <p:sp>
        <p:nvSpPr>
          <p:cNvPr id="342" name="Google Shape;342;p47"/>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:Man rdfs:subClassOf foaf:Person .</a:t>
            </a:r>
            <a:endParaRPr/>
          </a:p>
          <a:p>
            <a:pPr indent="0" lvl="0" marL="0" rtl="0" algn="l">
              <a:spcBef>
                <a:spcPts val="0"/>
              </a:spcBef>
              <a:spcAft>
                <a:spcPts val="0"/>
              </a:spcAft>
              <a:buNone/>
            </a:pPr>
            <a:r>
              <a:rPr lang="en-GB"/>
              <a:t>:Woman rdfs:subClassOf foaf:Person .</a:t>
            </a:r>
            <a:endParaRPr/>
          </a:p>
          <a:p>
            <a:pPr indent="0" lvl="0" marL="0" rtl="0" algn="l">
              <a:spcBef>
                <a:spcPts val="0"/>
              </a:spcBef>
              <a:spcAft>
                <a:spcPts val="0"/>
              </a:spcAft>
              <a:buNone/>
            </a:pPr>
            <a:r>
              <a:rPr lang="en-GB"/>
              <a:t>:Man owl:disjointWith :Woman .</a:t>
            </a:r>
            <a:endParaRPr/>
          </a:p>
          <a:p>
            <a:pPr indent="0" lvl="0" marL="0" rtl="0" algn="l">
              <a:spcBef>
                <a:spcPts val="0"/>
              </a:spcBef>
              <a:spcAft>
                <a:spcPts val="0"/>
              </a:spcAft>
              <a:buNone/>
            </a:pPr>
            <a:r>
              <a:rPr b="1" lang="en-GB"/>
              <a:t>Các c</a:t>
            </a:r>
            <a:r>
              <a:rPr b="1" lang="en-GB"/>
              <a:t>âu hỏi:</a:t>
            </a:r>
            <a:endParaRPr b="1"/>
          </a:p>
          <a:p>
            <a:pPr indent="-381000" lvl="0" marL="457200" rtl="0" algn="l">
              <a:spcBef>
                <a:spcPts val="0"/>
              </a:spcBef>
              <a:spcAft>
                <a:spcPts val="0"/>
              </a:spcAft>
              <a:buSzPts val="2400"/>
              <a:buChar char="●"/>
            </a:pPr>
            <a:r>
              <a:rPr lang="en-GB"/>
              <a:t>:Man là owl:Class hay ch</a:t>
            </a:r>
            <a:r>
              <a:rPr lang="en-GB"/>
              <a:t>ỉ là rdfs:Class</a:t>
            </a:r>
            <a:r>
              <a:rPr lang="en-GB"/>
              <a:t>?</a:t>
            </a:r>
            <a:endParaRPr/>
          </a:p>
          <a:p>
            <a:pPr indent="-381000" lvl="0" marL="457200" rtl="0" algn="l">
              <a:spcBef>
                <a:spcPts val="0"/>
              </a:spcBef>
              <a:spcAft>
                <a:spcPts val="0"/>
              </a:spcAft>
              <a:buSzPts val="2400"/>
              <a:buChar char="●"/>
            </a:pPr>
            <a:r>
              <a:rPr lang="en-GB"/>
              <a:t>Vì sao không cần kiểm tra :Man là 1 kiểu lớp?</a:t>
            </a:r>
            <a:endParaRPr/>
          </a:p>
          <a:p>
            <a:pPr indent="-381000" lvl="0" marL="457200" rtl="0" algn="l">
              <a:spcBef>
                <a:spcPts val="0"/>
              </a:spcBef>
              <a:spcAft>
                <a:spcPts val="0"/>
              </a:spcAft>
              <a:buSzPts val="2400"/>
              <a:buChar char="●"/>
            </a:pPr>
            <a:r>
              <a:rPr lang="en-GB"/>
              <a:t>Chúng ta có cần kiểm tra tính chất giao nhau theo cả 2 chiều hay không?</a:t>
            </a:r>
            <a:endParaRPr/>
          </a:p>
          <a:p>
            <a:pPr indent="-381000" lvl="0" marL="457200" rtl="0" algn="l">
              <a:spcBef>
                <a:spcPts val="0"/>
              </a:spcBef>
              <a:spcAft>
                <a:spcPts val="0"/>
              </a:spcAft>
              <a:buSzPts val="2400"/>
              <a:buChar char="●"/>
            </a:pPr>
            <a:r>
              <a:rPr lang="en-GB"/>
              <a:t>Điều gì sẽ xảy ra nếu chúng ta cho rằng :abc a :Man; a :Woman?</a:t>
            </a:r>
            <a:endParaRPr/>
          </a:p>
        </p:txBody>
      </p:sp>
      <p:sp>
        <p:nvSpPr>
          <p:cNvPr id="343" name="Google Shape;343;p4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lớp </a:t>
            </a:r>
            <a:r>
              <a:rPr lang="en-GB"/>
              <a:t>tương đương</a:t>
            </a:r>
            <a:endParaRPr baseline="-25000"/>
          </a:p>
        </p:txBody>
      </p:sp>
      <p:sp>
        <p:nvSpPr>
          <p:cNvPr id="349" name="Google Shape;349;p48"/>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Quan h</a:t>
            </a:r>
            <a:r>
              <a:rPr lang="en-GB"/>
              <a:t>ệ tương đương giữa các lớp được mô tả bằng </a:t>
            </a:r>
            <a:r>
              <a:rPr b="1" lang="en-GB"/>
              <a:t>owl:equivalentClass</a:t>
            </a:r>
            <a:endParaRPr b="1"/>
          </a:p>
          <a:p>
            <a:pPr indent="-368300" lvl="1" marL="914400" rtl="0" algn="l">
              <a:spcBef>
                <a:spcPts val="0"/>
              </a:spcBef>
              <a:spcAft>
                <a:spcPts val="0"/>
              </a:spcAft>
              <a:buSzPts val="2200"/>
              <a:buChar char="○"/>
            </a:pPr>
            <a:r>
              <a:rPr lang="en-GB"/>
              <a:t>Các lớp tương đương có tập phần tử giống nhau</a:t>
            </a:r>
            <a:endParaRPr/>
          </a:p>
          <a:p>
            <a:pPr indent="-368300" lvl="1" marL="914400" rtl="0" algn="l">
              <a:spcBef>
                <a:spcPts val="0"/>
              </a:spcBef>
              <a:spcAft>
                <a:spcPts val="0"/>
              </a:spcAft>
              <a:buSzPts val="2200"/>
              <a:buChar char="○"/>
            </a:pPr>
            <a:r>
              <a:rPr lang="en-GB"/>
              <a:t>Ví dụ, :Faculty owl:equivalentClass :AcademicStaffMember.</a:t>
            </a:r>
            <a:endParaRPr/>
          </a:p>
          <a:p>
            <a:pPr indent="-381000" lvl="0" marL="457200" rtl="0" algn="l">
              <a:spcBef>
                <a:spcPts val="0"/>
              </a:spcBef>
              <a:spcAft>
                <a:spcPts val="0"/>
              </a:spcAft>
              <a:buSzPts val="2400"/>
              <a:buChar char="●"/>
            </a:pPr>
            <a:r>
              <a:rPr lang="en-GB"/>
              <a:t>Suy diễn</a:t>
            </a:r>
            <a:endParaRPr/>
          </a:p>
          <a:p>
            <a:pPr indent="-368300" lvl="1" marL="914400" rtl="0" algn="l">
              <a:spcBef>
                <a:spcPts val="0"/>
              </a:spcBef>
              <a:spcAft>
                <a:spcPts val="0"/>
              </a:spcAft>
              <a:buSzPts val="2200"/>
              <a:buChar char="○"/>
            </a:pPr>
            <a:r>
              <a:rPr lang="en-GB"/>
              <a:t>(?P owl:equivalentClass ?Q) =&gt; (?P rdfs:subClassOf ?Q), (?Q rdfs:subClassOf ?P)</a:t>
            </a:r>
            <a:endParaRPr/>
          </a:p>
          <a:p>
            <a:pPr indent="-368300" lvl="1" marL="914400" rtl="0" algn="l">
              <a:spcBef>
                <a:spcPts val="0"/>
              </a:spcBef>
              <a:spcAft>
                <a:spcPts val="0"/>
              </a:spcAft>
              <a:buSzPts val="2200"/>
              <a:buChar char="○"/>
            </a:pPr>
            <a:r>
              <a:rPr lang="en-GB"/>
              <a:t>(?P rdfs:subClassOf ?Q), (?Q rdfs:subClassOf ?P) =&gt; (?P owl:equivalentClass ?Q)</a:t>
            </a:r>
            <a:endParaRPr/>
          </a:p>
        </p:txBody>
      </p:sp>
      <p:sp>
        <p:nvSpPr>
          <p:cNvPr id="350" name="Google Shape;350;p4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K</a:t>
            </a:r>
            <a:r>
              <a:rPr lang="en-GB"/>
              <a:t>ết hợp các lớp</a:t>
            </a:r>
            <a:endParaRPr/>
          </a:p>
        </p:txBody>
      </p:sp>
      <p:sp>
        <p:nvSpPr>
          <p:cNvPr id="356" name="Google Shape;356;p49"/>
          <p:cNvSpPr txBox="1"/>
          <p:nvPr>
            <p:ph idx="1" type="body"/>
          </p:nvPr>
        </p:nvSpPr>
        <p:spPr>
          <a:xfrm>
            <a:off x="311700" y="909775"/>
            <a:ext cx="8520600" cy="5481300"/>
          </a:xfrm>
          <a:prstGeom prst="rect">
            <a:avLst/>
          </a:prstGeom>
          <a:ln>
            <a:noFill/>
          </a:ln>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Chúng ta </a:t>
            </a:r>
            <a:r>
              <a:rPr lang="en-GB"/>
              <a:t>có thể định nghĩa lớp mới bằng cách </a:t>
            </a:r>
            <a:r>
              <a:rPr lang="en-GB"/>
              <a:t>kết hợp các lớp </a:t>
            </a:r>
            <a:r>
              <a:rPr lang="en-GB"/>
              <a:t>đang có với </a:t>
            </a:r>
            <a:r>
              <a:rPr lang="en-GB"/>
              <a:t>toán tử Boolean (hợp, giao, phần bù)</a:t>
            </a:r>
            <a:endParaRPr/>
          </a:p>
          <a:p>
            <a:pPr indent="-381000" lvl="0" marL="457200" rtl="0" algn="l">
              <a:spcBef>
                <a:spcPts val="0"/>
              </a:spcBef>
              <a:spcAft>
                <a:spcPts val="0"/>
              </a:spcAft>
              <a:buSzPts val="2400"/>
              <a:buChar char="●"/>
            </a:pPr>
            <a:r>
              <a:rPr lang="en-GB"/>
              <a:t>Có thể đặt tên cho kết quả của biểu thức Boolean với owl:equivalentClass</a:t>
            </a:r>
            <a:endParaRPr>
              <a:solidFill>
                <a:srgbClr val="666666"/>
              </a:solidFill>
            </a:endParaRPr>
          </a:p>
        </p:txBody>
      </p:sp>
      <p:sp>
        <p:nvSpPr>
          <p:cNvPr id="357" name="Google Shape;357;p4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Đại số Boolean: </a:t>
            </a:r>
            <a:r>
              <a:rPr lang="en-GB"/>
              <a:t>Phần bù</a:t>
            </a:r>
            <a:endParaRPr/>
          </a:p>
        </p:txBody>
      </p:sp>
      <p:sp>
        <p:nvSpPr>
          <p:cNvPr id="363" name="Google Shape;363;p50"/>
          <p:cNvSpPr txBox="1"/>
          <p:nvPr>
            <p:ph idx="1" type="body"/>
          </p:nvPr>
        </p:nvSpPr>
        <p:spPr>
          <a:xfrm>
            <a:off x="311700" y="909775"/>
            <a:ext cx="8520600" cy="5481300"/>
          </a:xfrm>
          <a:prstGeom prst="rect">
            <a:avLst/>
          </a:prstGeom>
          <a:ln>
            <a:noFill/>
          </a:ln>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b="1" lang="en-GB"/>
              <a:t>owl:complementOf</a:t>
            </a:r>
            <a:r>
              <a:rPr lang="en-GB"/>
              <a:t> - </a:t>
            </a:r>
            <a:r>
              <a:rPr lang="en-GB"/>
              <a:t>Diễn đạt phủ định, phần bù của</a:t>
            </a:r>
            <a:endParaRPr/>
          </a:p>
          <a:p>
            <a:pPr indent="-381000" lvl="0" marL="457200" rtl="0" algn="just">
              <a:spcBef>
                <a:spcPts val="0"/>
              </a:spcBef>
              <a:spcAft>
                <a:spcPts val="0"/>
              </a:spcAft>
              <a:buSzPts val="2400"/>
              <a:buChar char="●"/>
            </a:pPr>
            <a:r>
              <a:rPr lang="en-GB"/>
              <a:t>Ví dụ: </a:t>
            </a:r>
            <a:r>
              <a:rPr lang="en-GB"/>
              <a:t>Những người không thuộc lớp</a:t>
            </a:r>
            <a:r>
              <a:rPr lang="en-GB"/>
              <a:t> :StaffMembers </a:t>
            </a:r>
            <a:r>
              <a:rPr lang="en-GB"/>
              <a:t>không phải là cán bộ</a:t>
            </a:r>
            <a:endParaRPr/>
          </a:p>
          <a:p>
            <a:pPr indent="0" lvl="0" marL="0" rtl="0" algn="just">
              <a:spcBef>
                <a:spcPts val="0"/>
              </a:spcBef>
              <a:spcAft>
                <a:spcPts val="0"/>
              </a:spcAft>
              <a:buNone/>
            </a:pPr>
            <a:r>
              <a:rPr lang="en-GB"/>
              <a:t>:NoneStaffMember owl:complementOf :StaffMember.</a:t>
            </a:r>
            <a:endParaRPr>
              <a:solidFill>
                <a:srgbClr val="666666"/>
              </a:solidFill>
            </a:endParaRPr>
          </a:p>
        </p:txBody>
      </p:sp>
      <p:sp>
        <p:nvSpPr>
          <p:cNvPr id="364" name="Google Shape;364;p5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Đại số Boolean</a:t>
            </a:r>
            <a:r>
              <a:rPr lang="en-GB"/>
              <a:t>: </a:t>
            </a:r>
            <a:r>
              <a:rPr lang="en-GB"/>
              <a:t>Phép hợp</a:t>
            </a:r>
            <a:endParaRPr/>
          </a:p>
        </p:txBody>
      </p:sp>
      <p:sp>
        <p:nvSpPr>
          <p:cNvPr id="370" name="Google Shape;370;p51"/>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GB"/>
              <a:t>owl:unionOf </a:t>
            </a:r>
            <a:r>
              <a:rPr lang="en-GB"/>
              <a:t>- Hợp của</a:t>
            </a:r>
            <a:endParaRPr/>
          </a:p>
          <a:p>
            <a:pPr indent="-381000" lvl="0" marL="457200" rtl="0" algn="l">
              <a:spcBef>
                <a:spcPts val="0"/>
              </a:spcBef>
              <a:spcAft>
                <a:spcPts val="0"/>
              </a:spcAft>
              <a:buSzPts val="2400"/>
              <a:buChar char="●"/>
            </a:pPr>
            <a:r>
              <a:rPr lang="en-GB"/>
              <a:t>Ví dụ, người trong trường đại học </a:t>
            </a:r>
            <a:r>
              <a:rPr lang="en-GB"/>
              <a:t>bao gồm</a:t>
            </a:r>
            <a:r>
              <a:rPr lang="en-GB"/>
              <a:t> cán bộ và sinh viên</a:t>
            </a:r>
            <a:endParaRPr/>
          </a:p>
          <a:p>
            <a:pPr indent="0" lvl="0" marL="0" rtl="0" algn="l">
              <a:lnSpc>
                <a:spcPct val="100000"/>
              </a:lnSpc>
              <a:spcBef>
                <a:spcPts val="640"/>
              </a:spcBef>
              <a:spcAft>
                <a:spcPts val="0"/>
              </a:spcAft>
              <a:buNone/>
            </a:pPr>
            <a:r>
              <a:rPr lang="en-GB">
                <a:solidFill>
                  <a:srgbClr val="666666"/>
                </a:solidFill>
              </a:rPr>
              <a:t>:PeopleAtUni owl:equivalentClass </a:t>
            </a:r>
            <a:endParaRPr>
              <a:solidFill>
                <a:srgbClr val="666666"/>
              </a:solidFill>
            </a:endParaRPr>
          </a:p>
          <a:p>
            <a:pPr indent="0" lvl="0" marL="0" rtl="0" algn="l">
              <a:lnSpc>
                <a:spcPct val="100000"/>
              </a:lnSpc>
              <a:spcBef>
                <a:spcPts val="640"/>
              </a:spcBef>
              <a:spcAft>
                <a:spcPts val="0"/>
              </a:spcAft>
              <a:buNone/>
            </a:pPr>
            <a:r>
              <a:rPr lang="en-GB">
                <a:solidFill>
                  <a:srgbClr val="666666"/>
                </a:solidFill>
              </a:rPr>
              <a:t>       [owl:unionOf (:StaffMember :Student)].</a:t>
            </a:r>
            <a:endParaRPr>
              <a:solidFill>
                <a:srgbClr val="666666"/>
              </a:solidFill>
            </a:endParaRPr>
          </a:p>
          <a:p>
            <a:pPr indent="0" lvl="0" marL="0" rtl="0" algn="l">
              <a:lnSpc>
                <a:spcPct val="100000"/>
              </a:lnSpc>
              <a:spcBef>
                <a:spcPts val="640"/>
              </a:spcBef>
              <a:spcAft>
                <a:spcPts val="0"/>
              </a:spcAft>
              <a:buNone/>
            </a:pPr>
            <a:r>
              <a:rPr lang="en-GB">
                <a:solidFill>
                  <a:srgbClr val="666666"/>
                </a:solidFill>
              </a:rPr>
              <a:t>Hoặc</a:t>
            </a:r>
            <a:endParaRPr>
              <a:solidFill>
                <a:srgbClr val="666666"/>
              </a:solidFill>
            </a:endParaRPr>
          </a:p>
          <a:p>
            <a:pPr indent="0" lvl="0" marL="0" rtl="0" algn="l">
              <a:lnSpc>
                <a:spcPct val="100000"/>
              </a:lnSpc>
              <a:spcBef>
                <a:spcPts val="640"/>
              </a:spcBef>
              <a:spcAft>
                <a:spcPts val="0"/>
              </a:spcAft>
              <a:buNone/>
            </a:pPr>
            <a:r>
              <a:rPr lang="en-GB">
                <a:solidFill>
                  <a:srgbClr val="666666"/>
                </a:solidFill>
              </a:rPr>
              <a:t>:PeopleAtUni owl:unionOf (:StaffMember :Student).</a:t>
            </a:r>
            <a:endParaRPr>
              <a:solidFill>
                <a:srgbClr val="666666"/>
              </a:solidFill>
            </a:endParaRPr>
          </a:p>
        </p:txBody>
      </p:sp>
      <p:sp>
        <p:nvSpPr>
          <p:cNvPr id="371" name="Google Shape;371;p5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5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Đại số Boolean</a:t>
            </a:r>
            <a:r>
              <a:rPr lang="en-GB"/>
              <a:t>: </a:t>
            </a:r>
            <a:r>
              <a:rPr lang="en-GB"/>
              <a:t>Phép giao</a:t>
            </a:r>
            <a:endParaRPr/>
          </a:p>
        </p:txBody>
      </p:sp>
      <p:sp>
        <p:nvSpPr>
          <p:cNvPr id="377" name="Google Shape;377;p52"/>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GB"/>
              <a:t>owl:intersectionOf</a:t>
            </a:r>
            <a:r>
              <a:rPr lang="en-GB"/>
              <a:t> - Giao của</a:t>
            </a:r>
            <a:endParaRPr/>
          </a:p>
          <a:p>
            <a:pPr indent="-381000" lvl="0" marL="457200" rtl="0" algn="l">
              <a:spcBef>
                <a:spcPts val="0"/>
              </a:spcBef>
              <a:spcAft>
                <a:spcPts val="0"/>
              </a:spcAft>
              <a:buSzPts val="2400"/>
              <a:buChar char="●"/>
            </a:pPr>
            <a:r>
              <a:rPr lang="en-GB"/>
              <a:t>Ví dụ, </a:t>
            </a:r>
            <a:r>
              <a:rPr lang="en-GB"/>
              <a:t>Lớp </a:t>
            </a:r>
            <a:r>
              <a:rPr lang="en-GB"/>
              <a:t>:</a:t>
            </a:r>
            <a:r>
              <a:rPr lang="en-GB"/>
              <a:t>Mother</a:t>
            </a:r>
            <a:r>
              <a:rPr lang="en-GB"/>
              <a:t> là giao của :</a:t>
            </a:r>
            <a:r>
              <a:rPr lang="en-GB"/>
              <a:t>Parent</a:t>
            </a:r>
            <a:r>
              <a:rPr lang="en-GB"/>
              <a:t> và :</a:t>
            </a:r>
            <a:r>
              <a:rPr lang="en-GB"/>
              <a:t>Woman</a:t>
            </a:r>
            <a:endParaRPr/>
          </a:p>
          <a:p>
            <a:pPr indent="0" lvl="0" marL="0" rtl="0" algn="l">
              <a:spcBef>
                <a:spcPts val="0"/>
              </a:spcBef>
              <a:spcAft>
                <a:spcPts val="0"/>
              </a:spcAft>
              <a:buNone/>
            </a:pPr>
            <a:r>
              <a:rPr lang="en-GB"/>
              <a:t>:Mother owl:equivalentClass </a:t>
            </a:r>
            <a:endParaRPr/>
          </a:p>
          <a:p>
            <a:pPr indent="0" lvl="0" marL="0" rtl="0" algn="l">
              <a:spcBef>
                <a:spcPts val="0"/>
              </a:spcBef>
              <a:spcAft>
                <a:spcPts val="0"/>
              </a:spcAft>
              <a:buNone/>
            </a:pPr>
            <a:r>
              <a:rPr lang="en-GB"/>
              <a:t>         [owl:intersectionOf (:Parent :Woman)].</a:t>
            </a:r>
            <a:endParaRPr/>
          </a:p>
          <a:p>
            <a:pPr indent="-228600" lvl="0" marL="228600" rtl="0" algn="l">
              <a:lnSpc>
                <a:spcPct val="100000"/>
              </a:lnSpc>
              <a:spcBef>
                <a:spcPts val="560"/>
              </a:spcBef>
              <a:spcAft>
                <a:spcPts val="0"/>
              </a:spcAft>
              <a:buClr>
                <a:schemeClr val="dk1"/>
              </a:buClr>
              <a:buSzPts val="2100"/>
              <a:buFont typeface="Arial"/>
              <a:buNone/>
            </a:pPr>
            <a:r>
              <a:rPr lang="en-GB">
                <a:solidFill>
                  <a:srgbClr val="666666"/>
                </a:solidFill>
              </a:rPr>
              <a:t>:Mother</a:t>
            </a:r>
            <a:r>
              <a:rPr lang="en-GB">
                <a:solidFill>
                  <a:srgbClr val="666666"/>
                </a:solidFill>
              </a:rPr>
              <a:t> owl:intersectionOf  (:</a:t>
            </a:r>
            <a:r>
              <a:rPr lang="en-GB">
                <a:solidFill>
                  <a:srgbClr val="666666"/>
                </a:solidFill>
              </a:rPr>
              <a:t>Parent :Woman)</a:t>
            </a:r>
            <a:r>
              <a:rPr lang="en-GB">
                <a:solidFill>
                  <a:srgbClr val="666666"/>
                </a:solidFill>
              </a:rPr>
              <a:t>.</a:t>
            </a:r>
            <a:endParaRPr>
              <a:solidFill>
                <a:srgbClr val="666666"/>
              </a:solidFill>
            </a:endParaRPr>
          </a:p>
        </p:txBody>
      </p:sp>
      <p:sp>
        <p:nvSpPr>
          <p:cNvPr id="378" name="Google Shape;378;p5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3"/>
          <p:cNvSpPr txBox="1"/>
          <p:nvPr>
            <p:ph idx="4294967295"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400">
                <a:solidFill>
                  <a:srgbClr val="666666"/>
                </a:solidFill>
              </a:rPr>
              <a:t>:AdminStaff owl:equivalentClass</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[owl:intersectionOf </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(:StaffMember </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[a owl:Class;</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owl:complementOf</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[a owl:Class;</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owl:equivalentClass</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[owl:unionOf (:Faculty :TechSupportStaff)]</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    )</a:t>
            </a:r>
            <a:endParaRPr sz="2400">
              <a:solidFill>
                <a:srgbClr val="666666"/>
              </a:solidFill>
            </a:endParaRPr>
          </a:p>
          <a:p>
            <a:pPr indent="0" lvl="0" marL="0" rtl="0" algn="l">
              <a:spcBef>
                <a:spcPts val="0"/>
              </a:spcBef>
              <a:spcAft>
                <a:spcPts val="0"/>
              </a:spcAft>
              <a:buNone/>
            </a:pPr>
            <a:r>
              <a:rPr lang="en-GB" sz="2400">
                <a:solidFill>
                  <a:srgbClr val="666666"/>
                </a:solidFill>
              </a:rPr>
              <a:t>  ] .</a:t>
            </a:r>
            <a:endParaRPr sz="2400">
              <a:solidFill>
                <a:srgbClr val="666666"/>
              </a:solidFill>
            </a:endParaRPr>
          </a:p>
        </p:txBody>
      </p:sp>
      <p:sp>
        <p:nvSpPr>
          <p:cNvPr id="384" name="Google Shape;384;p53"/>
          <p:cNvSpPr/>
          <p:nvPr/>
        </p:nvSpPr>
        <p:spPr>
          <a:xfrm>
            <a:off x="6059016" y="2188096"/>
            <a:ext cx="1882800" cy="1296900"/>
          </a:xfrm>
          <a:prstGeom prst="ellipse">
            <a:avLst/>
          </a:prstGeom>
          <a:gradFill>
            <a:gsLst>
              <a:gs pos="0">
                <a:srgbClr val="1CE2E2"/>
              </a:gs>
              <a:gs pos="100000">
                <a:srgbClr val="88FFFF"/>
              </a:gs>
            </a:gsLst>
            <a:lin ang="16200038" scaled="0"/>
          </a:gradFill>
          <a:ln cap="flat" cmpd="sng" w="9525">
            <a:solidFill>
              <a:srgbClr val="2DCACA"/>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0000"/>
                </a:solidFill>
                <a:latin typeface="Calibri"/>
                <a:ea typeface="Calibri"/>
                <a:cs typeface="Calibri"/>
                <a:sym typeface="Calibri"/>
              </a:rPr>
              <a:t>SM</a:t>
            </a:r>
            <a:endParaRPr/>
          </a:p>
        </p:txBody>
      </p:sp>
      <p:sp>
        <p:nvSpPr>
          <p:cNvPr id="385" name="Google Shape;385;p53"/>
          <p:cNvSpPr/>
          <p:nvPr/>
        </p:nvSpPr>
        <p:spPr>
          <a:xfrm>
            <a:off x="6481291" y="2951684"/>
            <a:ext cx="720600" cy="674700"/>
          </a:xfrm>
          <a:prstGeom prst="ellipse">
            <a:avLst/>
          </a:prstGeom>
          <a:solidFill>
            <a:srgbClr val="C1E0C1">
              <a:alpha val="49800"/>
            </a:srgbClr>
          </a:solidFill>
          <a:ln cap="flat" cmpd="sng" w="9525">
            <a:solidFill>
              <a:srgbClr val="2DCACA"/>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0000"/>
                </a:solidFill>
                <a:latin typeface="Calibri"/>
                <a:ea typeface="Calibri"/>
                <a:cs typeface="Calibri"/>
                <a:sym typeface="Calibri"/>
              </a:rPr>
              <a:t>F</a:t>
            </a:r>
            <a:endParaRPr/>
          </a:p>
        </p:txBody>
      </p:sp>
      <p:sp>
        <p:nvSpPr>
          <p:cNvPr id="386" name="Google Shape;386;p53"/>
          <p:cNvSpPr/>
          <p:nvPr/>
        </p:nvSpPr>
        <p:spPr>
          <a:xfrm>
            <a:off x="7014691" y="2951684"/>
            <a:ext cx="720600" cy="674700"/>
          </a:xfrm>
          <a:prstGeom prst="ellipse">
            <a:avLst/>
          </a:prstGeom>
          <a:solidFill>
            <a:srgbClr val="C0C0D6">
              <a:alpha val="42750"/>
            </a:srgbClr>
          </a:solidFill>
          <a:ln cap="flat" cmpd="sng" w="9525">
            <a:solidFill>
              <a:srgbClr val="2DCACA"/>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0000"/>
                </a:solidFill>
                <a:latin typeface="Calibri"/>
                <a:ea typeface="Calibri"/>
                <a:cs typeface="Calibri"/>
                <a:sym typeface="Calibri"/>
              </a:rPr>
              <a:t>TS</a:t>
            </a:r>
            <a:endParaRPr/>
          </a:p>
        </p:txBody>
      </p:sp>
      <p:sp>
        <p:nvSpPr>
          <p:cNvPr id="387" name="Google Shape;387;p5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5.2. B</a:t>
            </a:r>
            <a:r>
              <a:rPr lang="en-GB"/>
              <a:t>iểu thức</a:t>
            </a:r>
            <a:r>
              <a:rPr lang="en-GB"/>
              <a:t> Boolean </a:t>
            </a:r>
            <a:r>
              <a:rPr lang="en-GB"/>
              <a:t>phức tạp</a:t>
            </a:r>
            <a:endParaRPr/>
          </a:p>
        </p:txBody>
      </p:sp>
      <p:sp>
        <p:nvSpPr>
          <p:cNvPr id="388" name="Google Shape;388;p5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389" name="Google Shape;389;p53"/>
          <p:cNvSpPr txBox="1"/>
          <p:nvPr/>
        </p:nvSpPr>
        <p:spPr>
          <a:xfrm>
            <a:off x="7141025" y="1421375"/>
            <a:ext cx="1301100" cy="3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accent5"/>
                </a:solidFill>
              </a:rPr>
              <a:t>:AdminStaff</a:t>
            </a:r>
            <a:endParaRPr b="1">
              <a:solidFill>
                <a:schemeClr val="accent5"/>
              </a:solidFill>
            </a:endParaRPr>
          </a:p>
        </p:txBody>
      </p:sp>
      <p:cxnSp>
        <p:nvCxnSpPr>
          <p:cNvPr id="390" name="Google Shape;390;p53"/>
          <p:cNvCxnSpPr/>
          <p:nvPr/>
        </p:nvCxnSpPr>
        <p:spPr>
          <a:xfrm flipH="1" rot="10800000">
            <a:off x="7335425" y="1755600"/>
            <a:ext cx="264300" cy="793200"/>
          </a:xfrm>
          <a:prstGeom prst="straightConnector1">
            <a:avLst/>
          </a:prstGeom>
          <a:noFill/>
          <a:ln cap="flat" cmpd="sng" w="9525">
            <a:solidFill>
              <a:schemeClr val="dk2"/>
            </a:solidFill>
            <a:prstDash val="dot"/>
            <a:round/>
            <a:headEnd len="med" w="med" type="none"/>
            <a:tailEnd len="med" w="med" type="non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4"/>
          <p:cNvSpPr/>
          <p:nvPr/>
        </p:nvSpPr>
        <p:spPr>
          <a:xfrm>
            <a:off x="6133641" y="1752796"/>
            <a:ext cx="1882800" cy="1296900"/>
          </a:xfrm>
          <a:prstGeom prst="ellipse">
            <a:avLst/>
          </a:prstGeom>
          <a:solidFill>
            <a:srgbClr val="2DCACA"/>
          </a:solidFill>
          <a:ln cap="flat" cmpd="sng" w="9525">
            <a:solidFill>
              <a:srgbClr val="2DCACA"/>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0000"/>
                </a:solidFill>
                <a:latin typeface="Calibri"/>
                <a:ea typeface="Calibri"/>
                <a:cs typeface="Calibri"/>
                <a:sym typeface="Calibri"/>
              </a:rPr>
              <a:t>SM</a:t>
            </a:r>
            <a:endParaRPr/>
          </a:p>
        </p:txBody>
      </p:sp>
      <p:sp>
        <p:nvSpPr>
          <p:cNvPr id="396" name="Google Shape;396;p54"/>
          <p:cNvSpPr/>
          <p:nvPr/>
        </p:nvSpPr>
        <p:spPr>
          <a:xfrm>
            <a:off x="6555916" y="2516384"/>
            <a:ext cx="720600" cy="674700"/>
          </a:xfrm>
          <a:prstGeom prst="ellipse">
            <a:avLst/>
          </a:prstGeom>
          <a:solidFill>
            <a:srgbClr val="E0E0C1">
              <a:alpha val="44640"/>
            </a:srgbClr>
          </a:solidFill>
          <a:ln cap="flat" cmpd="sng" w="9525">
            <a:solidFill>
              <a:srgbClr val="2DCACA"/>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0000"/>
                </a:solidFill>
                <a:latin typeface="Calibri"/>
                <a:ea typeface="Calibri"/>
                <a:cs typeface="Calibri"/>
                <a:sym typeface="Calibri"/>
              </a:rPr>
              <a:t>F</a:t>
            </a:r>
            <a:endParaRPr/>
          </a:p>
        </p:txBody>
      </p:sp>
      <p:sp>
        <p:nvSpPr>
          <p:cNvPr id="397" name="Google Shape;397;p54"/>
          <p:cNvSpPr/>
          <p:nvPr/>
        </p:nvSpPr>
        <p:spPr>
          <a:xfrm>
            <a:off x="7089316" y="2516384"/>
            <a:ext cx="720600" cy="674700"/>
          </a:xfrm>
          <a:prstGeom prst="ellipse">
            <a:avLst/>
          </a:prstGeom>
          <a:solidFill>
            <a:srgbClr val="E0E0C1">
              <a:alpha val="44640"/>
            </a:srgbClr>
          </a:solidFill>
          <a:ln cap="flat" cmpd="sng" w="9525">
            <a:solidFill>
              <a:srgbClr val="2DCACA"/>
            </a:solidFill>
            <a:prstDash val="solid"/>
            <a:round/>
            <a:headEnd len="sm" w="sm" type="none"/>
            <a:tailEnd len="sm" w="sm" type="none"/>
          </a:ln>
          <a:effectLst>
            <a:outerShdw blurRad="40000" rotWithShape="0" dir="5400000" dist="23000">
              <a:srgbClr val="000000">
                <a:alpha val="349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0000"/>
                </a:solidFill>
                <a:latin typeface="Calibri"/>
                <a:ea typeface="Calibri"/>
                <a:cs typeface="Calibri"/>
                <a:sym typeface="Calibri"/>
              </a:rPr>
              <a:t>TS</a:t>
            </a:r>
            <a:endParaRPr/>
          </a:p>
        </p:txBody>
      </p:sp>
      <p:sp>
        <p:nvSpPr>
          <p:cNvPr id="398" name="Google Shape;398;p5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5.2. B</a:t>
            </a:r>
            <a:r>
              <a:rPr lang="en-GB"/>
              <a:t>iểu thức</a:t>
            </a:r>
            <a:r>
              <a:rPr lang="en-GB"/>
              <a:t> Boolean </a:t>
            </a:r>
            <a:r>
              <a:rPr lang="en-GB"/>
              <a:t>phức tạp</a:t>
            </a:r>
            <a:r>
              <a:rPr baseline="-25000" lang="en-GB"/>
              <a:t>(2)</a:t>
            </a:r>
            <a:endParaRPr baseline="-25000"/>
          </a:p>
        </p:txBody>
      </p:sp>
      <p:sp>
        <p:nvSpPr>
          <p:cNvPr id="399" name="Google Shape;399;p54"/>
          <p:cNvSpPr/>
          <p:nvPr/>
        </p:nvSpPr>
        <p:spPr>
          <a:xfrm>
            <a:off x="298575" y="1209875"/>
            <a:ext cx="1422900" cy="58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:AdminStaff</a:t>
            </a:r>
            <a:endParaRPr/>
          </a:p>
        </p:txBody>
      </p:sp>
      <p:sp>
        <p:nvSpPr>
          <p:cNvPr id="400" name="Google Shape;400;p54"/>
          <p:cNvSpPr/>
          <p:nvPr/>
        </p:nvSpPr>
        <p:spPr>
          <a:xfrm>
            <a:off x="510075" y="2180275"/>
            <a:ext cx="943800" cy="53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_:1</a:t>
            </a:r>
            <a:endParaRPr/>
          </a:p>
        </p:txBody>
      </p:sp>
      <p:cxnSp>
        <p:nvCxnSpPr>
          <p:cNvPr id="401" name="Google Shape;401;p54"/>
          <p:cNvCxnSpPr>
            <a:stCxn id="399" idx="4"/>
            <a:endCxn id="400" idx="0"/>
          </p:cNvCxnSpPr>
          <p:nvPr/>
        </p:nvCxnSpPr>
        <p:spPr>
          <a:xfrm flipH="1">
            <a:off x="982125" y="1793075"/>
            <a:ext cx="27900" cy="387300"/>
          </a:xfrm>
          <a:prstGeom prst="straightConnector1">
            <a:avLst/>
          </a:prstGeom>
          <a:noFill/>
          <a:ln cap="flat" cmpd="sng" w="9525">
            <a:solidFill>
              <a:schemeClr val="dk2"/>
            </a:solidFill>
            <a:prstDash val="solid"/>
            <a:round/>
            <a:headEnd len="med" w="med" type="none"/>
            <a:tailEnd len="med" w="med" type="triangle"/>
          </a:ln>
        </p:spPr>
      </p:cxnSp>
      <p:sp>
        <p:nvSpPr>
          <p:cNvPr id="402" name="Google Shape;402;p54"/>
          <p:cNvSpPr txBox="1"/>
          <p:nvPr/>
        </p:nvSpPr>
        <p:spPr>
          <a:xfrm>
            <a:off x="982125" y="1786800"/>
            <a:ext cx="1797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owl:equivalentClass</a:t>
            </a:r>
            <a:endParaRPr/>
          </a:p>
        </p:txBody>
      </p:sp>
      <p:sp>
        <p:nvSpPr>
          <p:cNvPr id="403" name="Google Shape;403;p54"/>
          <p:cNvSpPr/>
          <p:nvPr/>
        </p:nvSpPr>
        <p:spPr>
          <a:xfrm>
            <a:off x="1881675" y="2637475"/>
            <a:ext cx="943800" cy="53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_:2</a:t>
            </a:r>
            <a:endParaRPr/>
          </a:p>
        </p:txBody>
      </p:sp>
      <p:cxnSp>
        <p:nvCxnSpPr>
          <p:cNvPr id="404" name="Google Shape;404;p54"/>
          <p:cNvCxnSpPr>
            <a:stCxn id="400" idx="6"/>
            <a:endCxn id="403" idx="1"/>
          </p:cNvCxnSpPr>
          <p:nvPr/>
        </p:nvCxnSpPr>
        <p:spPr>
          <a:xfrm>
            <a:off x="1453875" y="2446225"/>
            <a:ext cx="566100" cy="269100"/>
          </a:xfrm>
          <a:prstGeom prst="straightConnector1">
            <a:avLst/>
          </a:prstGeom>
          <a:noFill/>
          <a:ln cap="flat" cmpd="sng" w="9525">
            <a:solidFill>
              <a:schemeClr val="dk2"/>
            </a:solidFill>
            <a:prstDash val="solid"/>
            <a:round/>
            <a:headEnd len="med" w="med" type="none"/>
            <a:tailEnd len="med" w="med" type="triangle"/>
          </a:ln>
        </p:spPr>
      </p:cxnSp>
      <p:sp>
        <p:nvSpPr>
          <p:cNvPr id="405" name="Google Shape;405;p54"/>
          <p:cNvSpPr txBox="1"/>
          <p:nvPr/>
        </p:nvSpPr>
        <p:spPr>
          <a:xfrm>
            <a:off x="1591725" y="2244000"/>
            <a:ext cx="1797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owl:intersectionOf</a:t>
            </a:r>
            <a:endParaRPr/>
          </a:p>
        </p:txBody>
      </p:sp>
      <p:sp>
        <p:nvSpPr>
          <p:cNvPr id="406" name="Google Shape;406;p54"/>
          <p:cNvSpPr/>
          <p:nvPr/>
        </p:nvSpPr>
        <p:spPr>
          <a:xfrm>
            <a:off x="3388727" y="2606401"/>
            <a:ext cx="1628700" cy="58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:StaffMember</a:t>
            </a:r>
            <a:endParaRPr/>
          </a:p>
        </p:txBody>
      </p:sp>
      <p:cxnSp>
        <p:nvCxnSpPr>
          <p:cNvPr id="407" name="Google Shape;407;p54"/>
          <p:cNvCxnSpPr>
            <a:stCxn id="403" idx="6"/>
            <a:endCxn id="406" idx="2"/>
          </p:cNvCxnSpPr>
          <p:nvPr/>
        </p:nvCxnSpPr>
        <p:spPr>
          <a:xfrm flipH="1" rot="10800000">
            <a:off x="2825475" y="2898025"/>
            <a:ext cx="563400" cy="5400"/>
          </a:xfrm>
          <a:prstGeom prst="straightConnector1">
            <a:avLst/>
          </a:prstGeom>
          <a:noFill/>
          <a:ln cap="flat" cmpd="sng" w="9525">
            <a:solidFill>
              <a:schemeClr val="dk2"/>
            </a:solidFill>
            <a:prstDash val="solid"/>
            <a:round/>
            <a:headEnd len="med" w="med" type="none"/>
            <a:tailEnd len="med" w="med" type="triangle"/>
          </a:ln>
        </p:spPr>
      </p:cxnSp>
      <p:sp>
        <p:nvSpPr>
          <p:cNvPr id="408" name="Google Shape;408;p54"/>
          <p:cNvSpPr txBox="1"/>
          <p:nvPr/>
        </p:nvSpPr>
        <p:spPr>
          <a:xfrm>
            <a:off x="2751823" y="2561400"/>
            <a:ext cx="912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rdf:first</a:t>
            </a:r>
            <a:endParaRPr/>
          </a:p>
        </p:txBody>
      </p:sp>
      <p:sp>
        <p:nvSpPr>
          <p:cNvPr id="409" name="Google Shape;409;p54"/>
          <p:cNvSpPr/>
          <p:nvPr/>
        </p:nvSpPr>
        <p:spPr>
          <a:xfrm>
            <a:off x="1881675" y="3475675"/>
            <a:ext cx="943800" cy="53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_:3</a:t>
            </a:r>
            <a:endParaRPr/>
          </a:p>
        </p:txBody>
      </p:sp>
      <p:cxnSp>
        <p:nvCxnSpPr>
          <p:cNvPr id="410" name="Google Shape;410;p54"/>
          <p:cNvCxnSpPr>
            <a:stCxn id="403" idx="4"/>
            <a:endCxn id="409" idx="0"/>
          </p:cNvCxnSpPr>
          <p:nvPr/>
        </p:nvCxnSpPr>
        <p:spPr>
          <a:xfrm>
            <a:off x="2353575" y="3169375"/>
            <a:ext cx="0" cy="306300"/>
          </a:xfrm>
          <a:prstGeom prst="straightConnector1">
            <a:avLst/>
          </a:prstGeom>
          <a:noFill/>
          <a:ln cap="flat" cmpd="sng" w="9525">
            <a:solidFill>
              <a:schemeClr val="dk2"/>
            </a:solidFill>
            <a:prstDash val="solid"/>
            <a:round/>
            <a:headEnd len="med" w="med" type="none"/>
            <a:tailEnd len="med" w="med" type="triangle"/>
          </a:ln>
        </p:spPr>
      </p:cxnSp>
      <p:sp>
        <p:nvSpPr>
          <p:cNvPr id="411" name="Google Shape;411;p54"/>
          <p:cNvSpPr txBox="1"/>
          <p:nvPr/>
        </p:nvSpPr>
        <p:spPr>
          <a:xfrm>
            <a:off x="2294623" y="3094800"/>
            <a:ext cx="912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rdf:rest</a:t>
            </a:r>
            <a:endParaRPr/>
          </a:p>
        </p:txBody>
      </p:sp>
      <p:sp>
        <p:nvSpPr>
          <p:cNvPr id="412" name="Google Shape;412;p54"/>
          <p:cNvSpPr/>
          <p:nvPr/>
        </p:nvSpPr>
        <p:spPr>
          <a:xfrm>
            <a:off x="4786599" y="3450777"/>
            <a:ext cx="1422900" cy="58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owl:Class</a:t>
            </a:r>
            <a:endParaRPr/>
          </a:p>
        </p:txBody>
      </p:sp>
      <p:sp>
        <p:nvSpPr>
          <p:cNvPr id="413" name="Google Shape;413;p54"/>
          <p:cNvSpPr txBox="1"/>
          <p:nvPr/>
        </p:nvSpPr>
        <p:spPr>
          <a:xfrm>
            <a:off x="4123423" y="3323400"/>
            <a:ext cx="912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rdf:type</a:t>
            </a:r>
            <a:endParaRPr/>
          </a:p>
        </p:txBody>
      </p:sp>
      <p:sp>
        <p:nvSpPr>
          <p:cNvPr id="414" name="Google Shape;414;p54"/>
          <p:cNvSpPr/>
          <p:nvPr/>
        </p:nvSpPr>
        <p:spPr>
          <a:xfrm>
            <a:off x="1881675" y="4313875"/>
            <a:ext cx="943800" cy="53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rdf</a:t>
            </a:r>
            <a:r>
              <a:rPr lang="en-GB"/>
              <a:t>:nil</a:t>
            </a:r>
            <a:endParaRPr/>
          </a:p>
        </p:txBody>
      </p:sp>
      <p:cxnSp>
        <p:nvCxnSpPr>
          <p:cNvPr id="415" name="Google Shape;415;p54"/>
          <p:cNvCxnSpPr>
            <a:stCxn id="409" idx="4"/>
            <a:endCxn id="414" idx="0"/>
          </p:cNvCxnSpPr>
          <p:nvPr/>
        </p:nvCxnSpPr>
        <p:spPr>
          <a:xfrm>
            <a:off x="2353575" y="4007575"/>
            <a:ext cx="0" cy="306300"/>
          </a:xfrm>
          <a:prstGeom prst="straightConnector1">
            <a:avLst/>
          </a:prstGeom>
          <a:noFill/>
          <a:ln cap="flat" cmpd="sng" w="9525">
            <a:solidFill>
              <a:schemeClr val="dk2"/>
            </a:solidFill>
            <a:prstDash val="solid"/>
            <a:round/>
            <a:headEnd len="med" w="med" type="none"/>
            <a:tailEnd len="med" w="med" type="triangle"/>
          </a:ln>
        </p:spPr>
      </p:cxnSp>
      <p:sp>
        <p:nvSpPr>
          <p:cNvPr id="416" name="Google Shape;416;p54"/>
          <p:cNvSpPr/>
          <p:nvPr/>
        </p:nvSpPr>
        <p:spPr>
          <a:xfrm>
            <a:off x="3253275" y="3475675"/>
            <a:ext cx="943800" cy="53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_:4</a:t>
            </a:r>
            <a:endParaRPr/>
          </a:p>
        </p:txBody>
      </p:sp>
      <p:cxnSp>
        <p:nvCxnSpPr>
          <p:cNvPr id="417" name="Google Shape;417;p54"/>
          <p:cNvCxnSpPr>
            <a:stCxn id="409" idx="6"/>
            <a:endCxn id="416" idx="2"/>
          </p:cNvCxnSpPr>
          <p:nvPr/>
        </p:nvCxnSpPr>
        <p:spPr>
          <a:xfrm>
            <a:off x="2825475" y="3741625"/>
            <a:ext cx="427800" cy="0"/>
          </a:xfrm>
          <a:prstGeom prst="straightConnector1">
            <a:avLst/>
          </a:prstGeom>
          <a:noFill/>
          <a:ln cap="flat" cmpd="sng" w="9525">
            <a:solidFill>
              <a:schemeClr val="dk2"/>
            </a:solidFill>
            <a:prstDash val="solid"/>
            <a:round/>
            <a:headEnd len="med" w="med" type="none"/>
            <a:tailEnd len="med" w="med" type="triangle"/>
          </a:ln>
        </p:spPr>
      </p:cxnSp>
      <p:sp>
        <p:nvSpPr>
          <p:cNvPr id="418" name="Google Shape;418;p54"/>
          <p:cNvSpPr txBox="1"/>
          <p:nvPr/>
        </p:nvSpPr>
        <p:spPr>
          <a:xfrm>
            <a:off x="2751823" y="3323400"/>
            <a:ext cx="912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rdf:first</a:t>
            </a:r>
            <a:endParaRPr/>
          </a:p>
        </p:txBody>
      </p:sp>
      <p:sp>
        <p:nvSpPr>
          <p:cNvPr id="419" name="Google Shape;419;p54"/>
          <p:cNvSpPr txBox="1"/>
          <p:nvPr/>
        </p:nvSpPr>
        <p:spPr>
          <a:xfrm>
            <a:off x="2294623" y="3933000"/>
            <a:ext cx="912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rdf:rest</a:t>
            </a:r>
            <a:endParaRPr/>
          </a:p>
        </p:txBody>
      </p:sp>
      <p:cxnSp>
        <p:nvCxnSpPr>
          <p:cNvPr id="420" name="Google Shape;420;p54"/>
          <p:cNvCxnSpPr>
            <a:stCxn id="416" idx="6"/>
            <a:endCxn id="412" idx="2"/>
          </p:cNvCxnSpPr>
          <p:nvPr/>
        </p:nvCxnSpPr>
        <p:spPr>
          <a:xfrm>
            <a:off x="4197075" y="3741625"/>
            <a:ext cx="589500" cy="900"/>
          </a:xfrm>
          <a:prstGeom prst="straightConnector1">
            <a:avLst/>
          </a:prstGeom>
          <a:noFill/>
          <a:ln cap="flat" cmpd="sng" w="9525">
            <a:solidFill>
              <a:schemeClr val="dk2"/>
            </a:solidFill>
            <a:prstDash val="solid"/>
            <a:round/>
            <a:headEnd len="med" w="med" type="none"/>
            <a:tailEnd len="med" w="med" type="triangle"/>
          </a:ln>
        </p:spPr>
      </p:cxnSp>
      <p:sp>
        <p:nvSpPr>
          <p:cNvPr id="421" name="Google Shape;421;p54"/>
          <p:cNvSpPr/>
          <p:nvPr/>
        </p:nvSpPr>
        <p:spPr>
          <a:xfrm>
            <a:off x="3253275" y="4313875"/>
            <a:ext cx="943800" cy="53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_:5</a:t>
            </a:r>
            <a:endParaRPr/>
          </a:p>
        </p:txBody>
      </p:sp>
      <p:cxnSp>
        <p:nvCxnSpPr>
          <p:cNvPr id="422" name="Google Shape;422;p54"/>
          <p:cNvCxnSpPr>
            <a:stCxn id="416" idx="4"/>
            <a:endCxn id="421" idx="0"/>
          </p:cNvCxnSpPr>
          <p:nvPr/>
        </p:nvCxnSpPr>
        <p:spPr>
          <a:xfrm>
            <a:off x="3725175" y="4007575"/>
            <a:ext cx="0" cy="306300"/>
          </a:xfrm>
          <a:prstGeom prst="straightConnector1">
            <a:avLst/>
          </a:prstGeom>
          <a:noFill/>
          <a:ln cap="flat" cmpd="sng" w="9525">
            <a:solidFill>
              <a:schemeClr val="dk2"/>
            </a:solidFill>
            <a:prstDash val="solid"/>
            <a:round/>
            <a:headEnd len="med" w="med" type="none"/>
            <a:tailEnd len="med" w="med" type="triangle"/>
          </a:ln>
        </p:spPr>
      </p:cxnSp>
      <p:sp>
        <p:nvSpPr>
          <p:cNvPr id="423" name="Google Shape;423;p54"/>
          <p:cNvSpPr txBox="1"/>
          <p:nvPr/>
        </p:nvSpPr>
        <p:spPr>
          <a:xfrm>
            <a:off x="3649125" y="3928176"/>
            <a:ext cx="1797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owl:complementOf</a:t>
            </a:r>
            <a:endParaRPr/>
          </a:p>
        </p:txBody>
      </p:sp>
      <p:cxnSp>
        <p:nvCxnSpPr>
          <p:cNvPr id="424" name="Google Shape;424;p54"/>
          <p:cNvCxnSpPr>
            <a:stCxn id="421" idx="6"/>
            <a:endCxn id="412" idx="4"/>
          </p:cNvCxnSpPr>
          <p:nvPr/>
        </p:nvCxnSpPr>
        <p:spPr>
          <a:xfrm flipH="1" rot="10800000">
            <a:off x="4197075" y="4034125"/>
            <a:ext cx="1301100" cy="545700"/>
          </a:xfrm>
          <a:prstGeom prst="curvedConnector2">
            <a:avLst/>
          </a:prstGeom>
          <a:noFill/>
          <a:ln cap="flat" cmpd="sng" w="9525">
            <a:solidFill>
              <a:schemeClr val="dk2"/>
            </a:solidFill>
            <a:prstDash val="solid"/>
            <a:round/>
            <a:headEnd len="med" w="med" type="none"/>
            <a:tailEnd len="med" w="med" type="triangle"/>
          </a:ln>
        </p:spPr>
      </p:cxnSp>
      <p:sp>
        <p:nvSpPr>
          <p:cNvPr id="425" name="Google Shape;425;p54"/>
          <p:cNvSpPr/>
          <p:nvPr/>
        </p:nvSpPr>
        <p:spPr>
          <a:xfrm>
            <a:off x="3253275" y="5075875"/>
            <a:ext cx="943800" cy="53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_:6</a:t>
            </a:r>
            <a:endParaRPr/>
          </a:p>
        </p:txBody>
      </p:sp>
      <p:cxnSp>
        <p:nvCxnSpPr>
          <p:cNvPr id="426" name="Google Shape;426;p54"/>
          <p:cNvCxnSpPr>
            <a:stCxn id="421" idx="4"/>
            <a:endCxn id="425" idx="0"/>
          </p:cNvCxnSpPr>
          <p:nvPr/>
        </p:nvCxnSpPr>
        <p:spPr>
          <a:xfrm>
            <a:off x="3725175" y="4845775"/>
            <a:ext cx="0" cy="230100"/>
          </a:xfrm>
          <a:prstGeom prst="straightConnector1">
            <a:avLst/>
          </a:prstGeom>
          <a:noFill/>
          <a:ln cap="flat" cmpd="sng" w="9525">
            <a:solidFill>
              <a:schemeClr val="dk2"/>
            </a:solidFill>
            <a:prstDash val="solid"/>
            <a:round/>
            <a:headEnd len="med" w="med" type="none"/>
            <a:tailEnd len="med" w="med" type="triangle"/>
          </a:ln>
        </p:spPr>
      </p:cxnSp>
      <p:sp>
        <p:nvSpPr>
          <p:cNvPr id="427" name="Google Shape;427;p54"/>
          <p:cNvSpPr txBox="1"/>
          <p:nvPr/>
        </p:nvSpPr>
        <p:spPr>
          <a:xfrm>
            <a:off x="3725325" y="4766376"/>
            <a:ext cx="1797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owl:equivalentClass</a:t>
            </a:r>
            <a:endParaRPr/>
          </a:p>
        </p:txBody>
      </p:sp>
      <p:sp>
        <p:nvSpPr>
          <p:cNvPr id="428" name="Google Shape;428;p54"/>
          <p:cNvSpPr/>
          <p:nvPr/>
        </p:nvSpPr>
        <p:spPr>
          <a:xfrm>
            <a:off x="5386875" y="4542475"/>
            <a:ext cx="943800" cy="53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_:7</a:t>
            </a:r>
            <a:endParaRPr/>
          </a:p>
        </p:txBody>
      </p:sp>
      <p:cxnSp>
        <p:nvCxnSpPr>
          <p:cNvPr id="429" name="Google Shape;429;p54"/>
          <p:cNvCxnSpPr>
            <a:endCxn id="428" idx="4"/>
          </p:cNvCxnSpPr>
          <p:nvPr/>
        </p:nvCxnSpPr>
        <p:spPr>
          <a:xfrm flipH="1" rot="10800000">
            <a:off x="4197075" y="5074375"/>
            <a:ext cx="1661700" cy="267600"/>
          </a:xfrm>
          <a:prstGeom prst="curvedConnector2">
            <a:avLst/>
          </a:prstGeom>
          <a:noFill/>
          <a:ln cap="flat" cmpd="sng" w="9525">
            <a:solidFill>
              <a:schemeClr val="dk2"/>
            </a:solidFill>
            <a:prstDash val="solid"/>
            <a:round/>
            <a:headEnd len="med" w="med" type="none"/>
            <a:tailEnd len="med" w="med" type="triangle"/>
          </a:ln>
        </p:spPr>
      </p:cxnSp>
      <p:sp>
        <p:nvSpPr>
          <p:cNvPr id="430" name="Google Shape;430;p54"/>
          <p:cNvSpPr txBox="1"/>
          <p:nvPr/>
        </p:nvSpPr>
        <p:spPr>
          <a:xfrm>
            <a:off x="4182525" y="4994975"/>
            <a:ext cx="15453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owl:unionOf</a:t>
            </a:r>
            <a:endParaRPr/>
          </a:p>
        </p:txBody>
      </p:sp>
      <p:sp>
        <p:nvSpPr>
          <p:cNvPr id="431" name="Google Shape;431;p54"/>
          <p:cNvSpPr/>
          <p:nvPr/>
        </p:nvSpPr>
        <p:spPr>
          <a:xfrm>
            <a:off x="6843999" y="4517577"/>
            <a:ext cx="1422900" cy="58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:Faculty</a:t>
            </a:r>
            <a:endParaRPr/>
          </a:p>
        </p:txBody>
      </p:sp>
      <p:cxnSp>
        <p:nvCxnSpPr>
          <p:cNvPr id="432" name="Google Shape;432;p54"/>
          <p:cNvCxnSpPr>
            <a:stCxn id="428" idx="6"/>
            <a:endCxn id="431" idx="2"/>
          </p:cNvCxnSpPr>
          <p:nvPr/>
        </p:nvCxnSpPr>
        <p:spPr>
          <a:xfrm>
            <a:off x="6330675" y="4808425"/>
            <a:ext cx="513300" cy="900"/>
          </a:xfrm>
          <a:prstGeom prst="straightConnector1">
            <a:avLst/>
          </a:prstGeom>
          <a:noFill/>
          <a:ln cap="flat" cmpd="sng" w="9525">
            <a:solidFill>
              <a:schemeClr val="dk2"/>
            </a:solidFill>
            <a:prstDash val="solid"/>
            <a:round/>
            <a:headEnd len="med" w="med" type="none"/>
            <a:tailEnd len="med" w="med" type="triangle"/>
          </a:ln>
        </p:spPr>
      </p:cxnSp>
      <p:sp>
        <p:nvSpPr>
          <p:cNvPr id="433" name="Google Shape;433;p54"/>
          <p:cNvSpPr txBox="1"/>
          <p:nvPr/>
        </p:nvSpPr>
        <p:spPr>
          <a:xfrm>
            <a:off x="6257023" y="4466400"/>
            <a:ext cx="912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rdf:first</a:t>
            </a:r>
            <a:endParaRPr/>
          </a:p>
        </p:txBody>
      </p:sp>
      <p:sp>
        <p:nvSpPr>
          <p:cNvPr id="434" name="Google Shape;434;p54"/>
          <p:cNvSpPr/>
          <p:nvPr/>
        </p:nvSpPr>
        <p:spPr>
          <a:xfrm>
            <a:off x="5463075" y="5304475"/>
            <a:ext cx="943800" cy="531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_:8</a:t>
            </a:r>
            <a:endParaRPr/>
          </a:p>
        </p:txBody>
      </p:sp>
      <p:cxnSp>
        <p:nvCxnSpPr>
          <p:cNvPr id="435" name="Google Shape;435;p54"/>
          <p:cNvCxnSpPr>
            <a:stCxn id="428" idx="4"/>
            <a:endCxn id="434" idx="0"/>
          </p:cNvCxnSpPr>
          <p:nvPr/>
        </p:nvCxnSpPr>
        <p:spPr>
          <a:xfrm>
            <a:off x="5858775" y="5074375"/>
            <a:ext cx="76200" cy="230100"/>
          </a:xfrm>
          <a:prstGeom prst="straightConnector1">
            <a:avLst/>
          </a:prstGeom>
          <a:noFill/>
          <a:ln cap="flat" cmpd="sng" w="9525">
            <a:solidFill>
              <a:schemeClr val="dk2"/>
            </a:solidFill>
            <a:prstDash val="solid"/>
            <a:round/>
            <a:headEnd len="med" w="med" type="none"/>
            <a:tailEnd len="med" w="med" type="triangle"/>
          </a:ln>
        </p:spPr>
      </p:cxnSp>
      <p:sp>
        <p:nvSpPr>
          <p:cNvPr id="436" name="Google Shape;436;p54"/>
          <p:cNvSpPr txBox="1"/>
          <p:nvPr/>
        </p:nvSpPr>
        <p:spPr>
          <a:xfrm>
            <a:off x="5876023" y="4999800"/>
            <a:ext cx="912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rdf:rest</a:t>
            </a:r>
            <a:endParaRPr/>
          </a:p>
        </p:txBody>
      </p:sp>
      <p:sp>
        <p:nvSpPr>
          <p:cNvPr id="437" name="Google Shape;437;p54"/>
          <p:cNvSpPr/>
          <p:nvPr/>
        </p:nvSpPr>
        <p:spPr>
          <a:xfrm>
            <a:off x="6920200" y="5279575"/>
            <a:ext cx="2090100" cy="583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:TechSupportStaff</a:t>
            </a:r>
            <a:endParaRPr/>
          </a:p>
        </p:txBody>
      </p:sp>
      <p:cxnSp>
        <p:nvCxnSpPr>
          <p:cNvPr id="438" name="Google Shape;438;p54"/>
          <p:cNvCxnSpPr>
            <a:stCxn id="434" idx="6"/>
            <a:endCxn id="437" idx="2"/>
          </p:cNvCxnSpPr>
          <p:nvPr/>
        </p:nvCxnSpPr>
        <p:spPr>
          <a:xfrm>
            <a:off x="6406875" y="5570425"/>
            <a:ext cx="513300" cy="900"/>
          </a:xfrm>
          <a:prstGeom prst="straightConnector1">
            <a:avLst/>
          </a:prstGeom>
          <a:noFill/>
          <a:ln cap="flat" cmpd="sng" w="9525">
            <a:solidFill>
              <a:schemeClr val="dk2"/>
            </a:solidFill>
            <a:prstDash val="solid"/>
            <a:round/>
            <a:headEnd len="med" w="med" type="none"/>
            <a:tailEnd len="med" w="med" type="triangle"/>
          </a:ln>
        </p:spPr>
      </p:cxnSp>
      <p:sp>
        <p:nvSpPr>
          <p:cNvPr id="439" name="Google Shape;439;p54"/>
          <p:cNvSpPr txBox="1"/>
          <p:nvPr/>
        </p:nvSpPr>
        <p:spPr>
          <a:xfrm>
            <a:off x="6333223" y="5228400"/>
            <a:ext cx="912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rdf:first</a:t>
            </a:r>
            <a:endParaRPr/>
          </a:p>
        </p:txBody>
      </p:sp>
      <p:cxnSp>
        <p:nvCxnSpPr>
          <p:cNvPr id="440" name="Google Shape;440;p54"/>
          <p:cNvCxnSpPr>
            <a:stCxn id="434" idx="4"/>
            <a:endCxn id="414" idx="4"/>
          </p:cNvCxnSpPr>
          <p:nvPr/>
        </p:nvCxnSpPr>
        <p:spPr>
          <a:xfrm flipH="1" rot="5400000">
            <a:off x="3648975" y="3550375"/>
            <a:ext cx="990600" cy="3581400"/>
          </a:xfrm>
          <a:prstGeom prst="curvedConnector3">
            <a:avLst>
              <a:gd fmla="val -24038" name="adj1"/>
            </a:avLst>
          </a:prstGeom>
          <a:noFill/>
          <a:ln cap="flat" cmpd="sng" w="9525">
            <a:solidFill>
              <a:schemeClr val="dk2"/>
            </a:solidFill>
            <a:prstDash val="solid"/>
            <a:round/>
            <a:headEnd len="med" w="med" type="none"/>
            <a:tailEnd len="med" w="med" type="triangle"/>
          </a:ln>
        </p:spPr>
      </p:cxnSp>
      <p:sp>
        <p:nvSpPr>
          <p:cNvPr id="441" name="Google Shape;441;p54"/>
          <p:cNvSpPr txBox="1"/>
          <p:nvPr/>
        </p:nvSpPr>
        <p:spPr>
          <a:xfrm>
            <a:off x="4580623" y="5761800"/>
            <a:ext cx="912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rdf:rest</a:t>
            </a:r>
            <a:endParaRPr/>
          </a:p>
        </p:txBody>
      </p:sp>
      <p:sp>
        <p:nvSpPr>
          <p:cNvPr id="442" name="Google Shape;442;p54"/>
          <p:cNvSpPr txBox="1"/>
          <p:nvPr/>
        </p:nvSpPr>
        <p:spPr>
          <a:xfrm>
            <a:off x="6912425" y="1116575"/>
            <a:ext cx="1301100" cy="38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a:solidFill>
                  <a:schemeClr val="accent5"/>
                </a:solidFill>
              </a:rPr>
              <a:t>:AdminStaff</a:t>
            </a:r>
            <a:endParaRPr b="1">
              <a:solidFill>
                <a:schemeClr val="accent5"/>
              </a:solidFill>
            </a:endParaRPr>
          </a:p>
        </p:txBody>
      </p:sp>
      <p:cxnSp>
        <p:nvCxnSpPr>
          <p:cNvPr id="443" name="Google Shape;443;p54"/>
          <p:cNvCxnSpPr/>
          <p:nvPr/>
        </p:nvCxnSpPr>
        <p:spPr>
          <a:xfrm flipH="1" rot="10800000">
            <a:off x="7106825" y="1450800"/>
            <a:ext cx="264300" cy="793200"/>
          </a:xfrm>
          <a:prstGeom prst="straightConnector1">
            <a:avLst/>
          </a:prstGeom>
          <a:noFill/>
          <a:ln cap="flat" cmpd="sng" w="9525">
            <a:solidFill>
              <a:schemeClr val="dk2"/>
            </a:solidFill>
            <a:prstDash val="dot"/>
            <a:round/>
            <a:headEnd len="med" w="med" type="none"/>
            <a:tailEnd len="med" w="med" type="none"/>
          </a:ln>
        </p:spPr>
      </p:cxnSp>
      <p:sp>
        <p:nvSpPr>
          <p:cNvPr id="444" name="Google Shape;444;p5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Định nghĩa liệt kê</a:t>
            </a:r>
            <a:r>
              <a:rPr lang="en-GB"/>
              <a:t> </a:t>
            </a:r>
            <a:r>
              <a:rPr lang="en-GB"/>
              <a:t>với owl:oneOf</a:t>
            </a:r>
            <a:endParaRPr/>
          </a:p>
        </p:txBody>
      </p:sp>
      <p:sp>
        <p:nvSpPr>
          <p:cNvPr id="450" name="Google Shape;450;p5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b="1" lang="en-GB"/>
              <a:t>owl:oneOf</a:t>
            </a:r>
            <a:r>
              <a:rPr lang="en-GB"/>
              <a:t> - Một của. </a:t>
            </a:r>
            <a:endParaRPr/>
          </a:p>
          <a:p>
            <a:pPr indent="-368300" lvl="1" marL="914400" rtl="0" algn="l">
              <a:spcBef>
                <a:spcPts val="0"/>
              </a:spcBef>
              <a:spcAft>
                <a:spcPts val="0"/>
              </a:spcAft>
              <a:buSzPts val="2200"/>
              <a:buChar char="○"/>
            </a:pPr>
            <a:r>
              <a:rPr lang="en-GB"/>
              <a:t>Được sử dụng để định nghĩa lớp bằng cách liệt kê các phần tử của nó</a:t>
            </a:r>
            <a:endParaRPr/>
          </a:p>
          <a:p>
            <a:pPr indent="-381000" lvl="0" marL="457200" rtl="0" algn="l">
              <a:spcBef>
                <a:spcPts val="0"/>
              </a:spcBef>
              <a:spcAft>
                <a:spcPts val="0"/>
              </a:spcAft>
              <a:buSzPts val="2400"/>
              <a:buChar char="●"/>
            </a:pPr>
            <a:r>
              <a:rPr lang="en-GB"/>
              <a:t>Ví dụ lớp ngày trong tuần: </a:t>
            </a:r>
            <a:r>
              <a:rPr lang="en-GB"/>
              <a:t>Monday, </a:t>
            </a:r>
            <a:r>
              <a:rPr lang="en-GB"/>
              <a:t>Tuesday</a:t>
            </a:r>
            <a:r>
              <a:rPr lang="en-GB"/>
              <a:t>, …</a:t>
            </a:r>
            <a:endParaRPr/>
          </a:p>
          <a:p>
            <a:pPr indent="-228600" lvl="0" marL="228600" rtl="0" algn="l">
              <a:lnSpc>
                <a:spcPct val="100000"/>
              </a:lnSpc>
              <a:spcBef>
                <a:spcPts val="0"/>
              </a:spcBef>
              <a:spcAft>
                <a:spcPts val="0"/>
              </a:spcAft>
              <a:buClr>
                <a:schemeClr val="dk1"/>
              </a:buClr>
              <a:buSzPts val="2100"/>
              <a:buFont typeface="Arial"/>
              <a:buNone/>
            </a:pPr>
            <a:r>
              <a:rPr lang="en-GB">
                <a:solidFill>
                  <a:srgbClr val="666666"/>
                </a:solidFill>
              </a:rPr>
              <a:t>[a owl:Class;</a:t>
            </a:r>
            <a:endParaRPr>
              <a:solidFill>
                <a:srgbClr val="666666"/>
              </a:solidFill>
            </a:endParaRPr>
          </a:p>
          <a:p>
            <a:pPr indent="-228600" lvl="0" marL="228600" rtl="0" algn="l">
              <a:lnSpc>
                <a:spcPct val="100000"/>
              </a:lnSpc>
              <a:spcBef>
                <a:spcPts val="0"/>
              </a:spcBef>
              <a:spcAft>
                <a:spcPts val="0"/>
              </a:spcAft>
              <a:buClr>
                <a:schemeClr val="dk1"/>
              </a:buClr>
              <a:buSzPts val="2100"/>
              <a:buFont typeface="Arial"/>
              <a:buNone/>
            </a:pPr>
            <a:r>
              <a:rPr lang="en-GB">
                <a:solidFill>
                  <a:srgbClr val="666666"/>
                </a:solidFill>
              </a:rPr>
              <a:t> owl:oneOf (:Monday </a:t>
            </a:r>
            <a:endParaRPr>
              <a:solidFill>
                <a:srgbClr val="666666"/>
              </a:solidFill>
            </a:endParaRPr>
          </a:p>
          <a:p>
            <a:pPr indent="-228600" lvl="0" marL="228600" rtl="0" algn="l">
              <a:lnSpc>
                <a:spcPct val="100000"/>
              </a:lnSpc>
              <a:spcBef>
                <a:spcPts val="0"/>
              </a:spcBef>
              <a:spcAft>
                <a:spcPts val="0"/>
              </a:spcAft>
              <a:buClr>
                <a:schemeClr val="dk1"/>
              </a:buClr>
              <a:buSzPts val="2100"/>
              <a:buFont typeface="Arial"/>
              <a:buNone/>
            </a:pPr>
            <a:r>
              <a:rPr lang="en-GB">
                <a:solidFill>
                  <a:srgbClr val="666666"/>
                </a:solidFill>
              </a:rPr>
              <a:t>            :Tuesday</a:t>
            </a:r>
            <a:endParaRPr>
              <a:solidFill>
                <a:srgbClr val="666666"/>
              </a:solidFill>
            </a:endParaRPr>
          </a:p>
          <a:p>
            <a:pPr indent="-228600" lvl="0" marL="228600" rtl="0" algn="l">
              <a:lnSpc>
                <a:spcPct val="100000"/>
              </a:lnSpc>
              <a:spcBef>
                <a:spcPts val="0"/>
              </a:spcBef>
              <a:spcAft>
                <a:spcPts val="0"/>
              </a:spcAft>
              <a:buClr>
                <a:schemeClr val="dk1"/>
              </a:buClr>
              <a:buSzPts val="2100"/>
              <a:buFont typeface="Arial"/>
              <a:buNone/>
            </a:pPr>
            <a:r>
              <a:rPr lang="en-GB">
                <a:solidFill>
                  <a:srgbClr val="666666"/>
                </a:solidFill>
              </a:rPr>
              <a:t>            :Wednesday</a:t>
            </a:r>
            <a:endParaRPr>
              <a:solidFill>
                <a:srgbClr val="666666"/>
              </a:solidFill>
            </a:endParaRPr>
          </a:p>
          <a:p>
            <a:pPr indent="-228600" lvl="0" marL="228600" rtl="0" algn="l">
              <a:lnSpc>
                <a:spcPct val="100000"/>
              </a:lnSpc>
              <a:spcBef>
                <a:spcPts val="0"/>
              </a:spcBef>
              <a:spcAft>
                <a:spcPts val="0"/>
              </a:spcAft>
              <a:buClr>
                <a:schemeClr val="dk1"/>
              </a:buClr>
              <a:buSzPts val="2100"/>
              <a:buFont typeface="Arial"/>
              <a:buNone/>
            </a:pPr>
            <a:r>
              <a:rPr lang="en-GB">
                <a:solidFill>
                  <a:srgbClr val="666666"/>
                </a:solidFill>
              </a:rPr>
              <a:t>            :Thursday</a:t>
            </a:r>
            <a:endParaRPr>
              <a:solidFill>
                <a:srgbClr val="666666"/>
              </a:solidFill>
            </a:endParaRPr>
          </a:p>
          <a:p>
            <a:pPr indent="-228600" lvl="0" marL="228600" rtl="0" algn="l">
              <a:lnSpc>
                <a:spcPct val="100000"/>
              </a:lnSpc>
              <a:spcBef>
                <a:spcPts val="0"/>
              </a:spcBef>
              <a:spcAft>
                <a:spcPts val="0"/>
              </a:spcAft>
              <a:buClr>
                <a:schemeClr val="dk1"/>
              </a:buClr>
              <a:buSzPts val="2100"/>
              <a:buFont typeface="Arial"/>
              <a:buNone/>
            </a:pPr>
            <a:r>
              <a:rPr lang="en-GB">
                <a:solidFill>
                  <a:srgbClr val="666666"/>
                </a:solidFill>
              </a:rPr>
              <a:t>            :Friday</a:t>
            </a:r>
            <a:endParaRPr>
              <a:solidFill>
                <a:srgbClr val="666666"/>
              </a:solidFill>
            </a:endParaRPr>
          </a:p>
          <a:p>
            <a:pPr indent="-228600" lvl="0" marL="228600" rtl="0" algn="l">
              <a:lnSpc>
                <a:spcPct val="100000"/>
              </a:lnSpc>
              <a:spcBef>
                <a:spcPts val="0"/>
              </a:spcBef>
              <a:spcAft>
                <a:spcPts val="0"/>
              </a:spcAft>
              <a:buClr>
                <a:schemeClr val="dk1"/>
              </a:buClr>
              <a:buSzPts val="2100"/>
              <a:buFont typeface="Arial"/>
              <a:buNone/>
            </a:pPr>
            <a:r>
              <a:rPr lang="en-GB">
                <a:solidFill>
                  <a:srgbClr val="666666"/>
                </a:solidFill>
              </a:rPr>
              <a:t>            :Saturday</a:t>
            </a:r>
            <a:endParaRPr>
              <a:solidFill>
                <a:srgbClr val="666666"/>
              </a:solidFill>
            </a:endParaRPr>
          </a:p>
          <a:p>
            <a:pPr indent="-228600" lvl="0" marL="228600" rtl="0" algn="l">
              <a:lnSpc>
                <a:spcPct val="100000"/>
              </a:lnSpc>
              <a:spcBef>
                <a:spcPts val="0"/>
              </a:spcBef>
              <a:spcAft>
                <a:spcPts val="0"/>
              </a:spcAft>
              <a:buClr>
                <a:schemeClr val="dk1"/>
              </a:buClr>
              <a:buSzPts val="2100"/>
              <a:buFont typeface="Arial"/>
              <a:buNone/>
            </a:pPr>
            <a:r>
              <a:rPr lang="en-GB">
                <a:solidFill>
                  <a:srgbClr val="666666"/>
                </a:solidFill>
              </a:rPr>
              <a:t>            :Sunday) ]</a:t>
            </a:r>
            <a:endParaRPr>
              <a:solidFill>
                <a:srgbClr val="666666"/>
              </a:solidFill>
            </a:endParaRPr>
          </a:p>
        </p:txBody>
      </p:sp>
      <p:sp>
        <p:nvSpPr>
          <p:cNvPr id="451" name="Google Shape;451;p5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Giới hạn thuộc tính</a:t>
            </a:r>
            <a:endParaRPr/>
          </a:p>
        </p:txBody>
      </p:sp>
      <p:sp>
        <p:nvSpPr>
          <p:cNvPr id="457" name="Google Shape;457;p56"/>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Chúng ta có thể định nghĩa lớp bằng cách chọn lọc các phần tử của nó theo giá trị thuộc tính </a:t>
            </a:r>
            <a:endParaRPr/>
          </a:p>
          <a:p>
            <a:pPr indent="-381000" lvl="0" marL="457200" rtl="0" algn="l">
              <a:spcBef>
                <a:spcPts val="0"/>
              </a:spcBef>
              <a:spcAft>
                <a:spcPts val="0"/>
              </a:spcAft>
              <a:buSzPts val="2400"/>
              <a:buChar char="●"/>
            </a:pPr>
            <a:r>
              <a:rPr lang="en-GB"/>
              <a:t>Phong cách diễn đạt</a:t>
            </a:r>
            <a:r>
              <a:rPr lang="en-GB"/>
              <a:t>: </a:t>
            </a:r>
            <a:r>
              <a:rPr i="1" lang="en-GB"/>
              <a:t>[C </a:t>
            </a:r>
            <a:r>
              <a:rPr i="1" lang="en-GB"/>
              <a:t>là]</a:t>
            </a:r>
            <a:r>
              <a:rPr i="1" lang="en-GB"/>
              <a:t> lớp của các đối tượng </a:t>
            </a:r>
            <a:r>
              <a:rPr i="1" lang="en-GB"/>
              <a:t>có giá trị của thuộc tính P </a:t>
            </a:r>
            <a:r>
              <a:rPr i="1" lang="en-GB"/>
              <a:t>thỏa mãn </a:t>
            </a:r>
            <a:r>
              <a:rPr i="1" lang="en-GB"/>
              <a:t>các</a:t>
            </a:r>
            <a:r>
              <a:rPr i="1" lang="en-GB"/>
              <a:t> điều kiện </a:t>
            </a:r>
            <a:r>
              <a:rPr i="1" lang="en-GB"/>
              <a:t>ràng buộc </a:t>
            </a:r>
            <a:r>
              <a:rPr i="1" lang="en-GB"/>
              <a:t>(</a:t>
            </a:r>
            <a:r>
              <a:rPr i="1" lang="en-GB"/>
              <a:t>định danh </a:t>
            </a:r>
            <a:r>
              <a:rPr i="1" lang="en-GB"/>
              <a:t>C </a:t>
            </a:r>
            <a:r>
              <a:rPr i="1" lang="en-GB"/>
              <a:t>không bắt buộc, lớp có thể là</a:t>
            </a:r>
            <a:r>
              <a:rPr i="1" lang="en-GB"/>
              <a:t> ẩn danh).</a:t>
            </a:r>
            <a:endParaRPr i="1"/>
          </a:p>
          <a:p>
            <a:pPr indent="-381000" lvl="0" marL="457200" rtl="0" algn="l">
              <a:spcBef>
                <a:spcPts val="0"/>
              </a:spcBef>
              <a:spcAft>
                <a:spcPts val="0"/>
              </a:spcAft>
              <a:buSzPts val="2400"/>
              <a:buChar char="●"/>
            </a:pPr>
            <a:r>
              <a:rPr lang="en-GB"/>
              <a:t>Ví dụ lớp </a:t>
            </a:r>
            <a:r>
              <a:rPr lang="en-GB"/>
              <a:t>không tên</a:t>
            </a:r>
            <a:r>
              <a:rPr lang="en-GB"/>
              <a:t>: </a:t>
            </a:r>
            <a:r>
              <a:rPr lang="en-GB"/>
              <a:t>Lớp những n</a:t>
            </a:r>
            <a:r>
              <a:rPr lang="en-GB"/>
              <a:t>gười có ít nhất 1 con.</a:t>
            </a:r>
            <a:endParaRPr/>
          </a:p>
          <a:p>
            <a:pPr indent="457200" lvl="0" marL="457200" rtl="0" algn="l">
              <a:spcBef>
                <a:spcPts val="0"/>
              </a:spcBef>
              <a:spcAft>
                <a:spcPts val="0"/>
              </a:spcAft>
              <a:buNone/>
            </a:pPr>
            <a:r>
              <a:rPr lang="en-GB"/>
              <a:t>[owl:</a:t>
            </a:r>
            <a:r>
              <a:rPr lang="en-GB"/>
              <a:t>intersectionOf</a:t>
            </a:r>
            <a:r>
              <a:rPr lang="en-GB"/>
              <a:t> (:</a:t>
            </a:r>
            <a:r>
              <a:rPr lang="en-GB"/>
              <a:t>Person</a:t>
            </a:r>
            <a:endParaRPr/>
          </a:p>
          <a:p>
            <a:pPr indent="0" lvl="0" marL="1371600" rtl="0" algn="l">
              <a:spcBef>
                <a:spcPts val="0"/>
              </a:spcBef>
              <a:spcAft>
                <a:spcPts val="0"/>
              </a:spcAft>
              <a:buNone/>
            </a:pPr>
            <a:r>
              <a:rPr lang="en-GB"/>
              <a:t>[</a:t>
            </a:r>
            <a:r>
              <a:rPr lang="en-GB"/>
              <a:t>a </a:t>
            </a:r>
            <a:r>
              <a:rPr b="1" lang="en-GB"/>
              <a:t>owl:Restriction</a:t>
            </a:r>
            <a:r>
              <a:rPr lang="en-GB"/>
              <a:t>;</a:t>
            </a:r>
            <a:endParaRPr/>
          </a:p>
          <a:p>
            <a:pPr indent="0" lvl="0" marL="1371600" rtl="0" algn="l">
              <a:spcBef>
                <a:spcPts val="0"/>
              </a:spcBef>
              <a:spcAft>
                <a:spcPts val="0"/>
              </a:spcAft>
              <a:buNone/>
            </a:pPr>
            <a:r>
              <a:rPr lang="en-GB"/>
              <a:t> owl:onProperty :hasChild;</a:t>
            </a:r>
            <a:endParaRPr/>
          </a:p>
          <a:p>
            <a:pPr indent="0" lvl="0" marL="1371600" rtl="0" algn="l">
              <a:spcBef>
                <a:spcPts val="0"/>
              </a:spcBef>
              <a:spcAft>
                <a:spcPts val="0"/>
              </a:spcAft>
              <a:buNone/>
            </a:pPr>
            <a:r>
              <a:rPr lang="en-GB"/>
              <a:t> owl:minCardinality </a:t>
            </a:r>
            <a:r>
              <a:rPr lang="en-GB">
                <a:solidFill>
                  <a:srgbClr val="666666"/>
                </a:solidFill>
              </a:rPr>
              <a:t>"1"^^xsd:integer]].</a:t>
            </a:r>
            <a:endParaRPr/>
          </a:p>
        </p:txBody>
      </p:sp>
      <p:sp>
        <p:nvSpPr>
          <p:cNvPr id="458" name="Google Shape;458;p5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5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a:t>
            </a:r>
            <a:r>
              <a:rPr lang="en-GB"/>
              <a:t>iới hạn thuộc tính</a:t>
            </a:r>
            <a:r>
              <a:rPr baseline="-25000" lang="en-GB"/>
              <a:t>(2)</a:t>
            </a:r>
            <a:endParaRPr baseline="-25000"/>
          </a:p>
        </p:txBody>
      </p:sp>
      <p:sp>
        <p:nvSpPr>
          <p:cNvPr id="464" name="Google Shape;464;p57"/>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owl:Restriction </a:t>
            </a:r>
            <a:r>
              <a:rPr lang="en-GB"/>
              <a:t>được sử dụng để</a:t>
            </a:r>
            <a:r>
              <a:rPr lang="en-GB"/>
              <a:t> mô tả lớp </a:t>
            </a:r>
            <a:r>
              <a:rPr lang="en-GB"/>
              <a:t>với nhiều ràng buộc cụ thể.</a:t>
            </a:r>
            <a:endParaRPr/>
          </a:p>
          <a:p>
            <a:pPr indent="-381000" lvl="0" marL="457200" rtl="0" algn="l">
              <a:spcBef>
                <a:spcPts val="0"/>
              </a:spcBef>
              <a:spcAft>
                <a:spcPts val="0"/>
              </a:spcAft>
              <a:buSzPts val="2400"/>
              <a:buChar char="●"/>
            </a:pPr>
            <a:r>
              <a:rPr lang="en-GB"/>
              <a:t>Mỗi phần </a:t>
            </a:r>
            <a:r>
              <a:rPr lang="en-GB"/>
              <a:t>tử </a:t>
            </a:r>
            <a:r>
              <a:rPr lang="en-GB"/>
              <a:t>thỏa mãn </a:t>
            </a:r>
            <a:r>
              <a:rPr lang="en-GB"/>
              <a:t>1 hoặc nhiều giới hạn </a:t>
            </a:r>
            <a:r>
              <a:rPr lang="en-GB"/>
              <a:t>trên 1 thuộc tính được xác định bởi owl:onProperty</a:t>
            </a:r>
            <a:endParaRPr>
              <a:solidFill>
                <a:srgbClr val="666666"/>
              </a:solidFill>
            </a:endParaRPr>
          </a:p>
        </p:txBody>
      </p:sp>
      <p:sp>
        <p:nvSpPr>
          <p:cNvPr id="465" name="Google Shape;465;p5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5.3. Giới hạn thuộc tính</a:t>
            </a:r>
            <a:endParaRPr/>
          </a:p>
        </p:txBody>
      </p:sp>
      <p:sp>
        <p:nvSpPr>
          <p:cNvPr id="471" name="Google Shape;471;p58"/>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L</a:t>
            </a:r>
            <a:r>
              <a:rPr i="1" lang="en-GB"/>
              <a:t>ớp Người có con bao gồm những</a:t>
            </a:r>
            <a:r>
              <a:rPr i="1" lang="en-GB"/>
              <a:t> người có </a:t>
            </a:r>
            <a:r>
              <a:rPr i="1" lang="en-GB"/>
              <a:t>tối thiểu</a:t>
            </a:r>
            <a:r>
              <a:rPr i="1" lang="en-GB"/>
              <a:t> 1 con:</a:t>
            </a:r>
            <a:endParaRPr i="1"/>
          </a:p>
          <a:p>
            <a:pPr indent="0" lvl="0" marL="457200" rtl="0" algn="l">
              <a:spcBef>
                <a:spcPts val="0"/>
              </a:spcBef>
              <a:spcAft>
                <a:spcPts val="0"/>
              </a:spcAft>
              <a:buNone/>
            </a:pPr>
            <a:r>
              <a:rPr lang="en-GB"/>
              <a:t>:Parent owl:equivalentClass</a:t>
            </a:r>
            <a:endParaRPr/>
          </a:p>
          <a:p>
            <a:pPr indent="0" lvl="0" marL="457200" rtl="0" algn="l">
              <a:spcBef>
                <a:spcPts val="0"/>
              </a:spcBef>
              <a:spcAft>
                <a:spcPts val="0"/>
              </a:spcAft>
              <a:buNone/>
            </a:pPr>
            <a:r>
              <a:rPr lang="en-GB"/>
              <a:t>  [ owl:intersectionOf (:Person</a:t>
            </a:r>
            <a:endParaRPr/>
          </a:p>
          <a:p>
            <a:pPr indent="0" lvl="0" marL="457200" rtl="0" algn="l">
              <a:spcBef>
                <a:spcPts val="0"/>
              </a:spcBef>
              <a:spcAft>
                <a:spcPts val="0"/>
              </a:spcAft>
              <a:buNone/>
            </a:pPr>
            <a:r>
              <a:rPr lang="en-GB"/>
              <a:t>      [a </a:t>
            </a:r>
            <a:r>
              <a:rPr b="1" lang="en-GB"/>
              <a:t>owl:Restriction</a:t>
            </a:r>
            <a:r>
              <a:rPr lang="en-GB"/>
              <a:t>;</a:t>
            </a:r>
            <a:endParaRPr/>
          </a:p>
          <a:p>
            <a:pPr indent="0" lvl="0" marL="457200" rtl="0" algn="l">
              <a:spcBef>
                <a:spcPts val="0"/>
              </a:spcBef>
              <a:spcAft>
                <a:spcPts val="0"/>
              </a:spcAft>
              <a:buNone/>
            </a:pPr>
            <a:r>
              <a:rPr lang="en-GB"/>
              <a:t>      owl:onProperty</a:t>
            </a:r>
            <a:endParaRPr/>
          </a:p>
          <a:p>
            <a:pPr indent="0" lvl="0" marL="457200" rtl="0" algn="l">
              <a:spcBef>
                <a:spcPts val="0"/>
              </a:spcBef>
              <a:spcAft>
                <a:spcPts val="0"/>
              </a:spcAft>
              <a:buNone/>
            </a:pPr>
            <a:r>
              <a:rPr lang="en-GB"/>
              <a:t>      :hasChild;</a:t>
            </a:r>
            <a:endParaRPr/>
          </a:p>
          <a:p>
            <a:pPr indent="0" lvl="0" marL="457200" rtl="0" algn="l">
              <a:spcBef>
                <a:spcPts val="0"/>
              </a:spcBef>
              <a:spcAft>
                <a:spcPts val="0"/>
              </a:spcAft>
              <a:buNone/>
            </a:pPr>
            <a:r>
              <a:rPr lang="en-GB"/>
              <a:t>      owl:minCardinality "1"]) ] .</a:t>
            </a:r>
            <a:endParaRPr/>
          </a:p>
        </p:txBody>
      </p:sp>
      <p:sp>
        <p:nvSpPr>
          <p:cNvPr id="472" name="Google Shape;472;p5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ràng buộc giá trị</a:t>
            </a:r>
            <a:endParaRPr baseline="-25000"/>
          </a:p>
        </p:txBody>
      </p:sp>
      <p:sp>
        <p:nvSpPr>
          <p:cNvPr id="478" name="Google Shape;478;p59"/>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Có thể ràng buộc kiểu hoặc giá trị cụ thể</a:t>
            </a:r>
            <a:endParaRPr/>
          </a:p>
          <a:p>
            <a:pPr indent="-381000" lvl="0" marL="457200" rtl="0" algn="l">
              <a:spcBef>
                <a:spcPts val="0"/>
              </a:spcBef>
              <a:spcAft>
                <a:spcPts val="0"/>
              </a:spcAft>
              <a:buSzPts val="2400"/>
              <a:buChar char="●"/>
            </a:pPr>
            <a:r>
              <a:rPr lang="en-GB"/>
              <a:t>owl:allValuesFrom </a:t>
            </a:r>
            <a:r>
              <a:rPr lang="en-GB"/>
              <a:t>Tất cả giá trị từ … (lớp)</a:t>
            </a:r>
            <a:endParaRPr/>
          </a:p>
          <a:p>
            <a:pPr indent="-381000" lvl="0" marL="457200" rtl="0" algn="l">
              <a:spcBef>
                <a:spcPts val="0"/>
              </a:spcBef>
              <a:spcAft>
                <a:spcPts val="0"/>
              </a:spcAft>
              <a:buSzPts val="2400"/>
              <a:buChar char="●"/>
            </a:pPr>
            <a:r>
              <a:rPr lang="en-GB"/>
              <a:t>owl:hasValue </a:t>
            </a:r>
            <a:r>
              <a:rPr lang="en-GB"/>
              <a:t>Có giá trị bằng … (giá trị cụ thể)</a:t>
            </a:r>
            <a:endParaRPr/>
          </a:p>
          <a:p>
            <a:pPr indent="-381000" lvl="0" marL="457200" rtl="0" algn="l">
              <a:spcBef>
                <a:spcPts val="0"/>
              </a:spcBef>
              <a:spcAft>
                <a:spcPts val="0"/>
              </a:spcAft>
              <a:buSzPts val="2400"/>
              <a:buChar char="●"/>
            </a:pPr>
            <a:r>
              <a:rPr lang="en-GB"/>
              <a:t>owl:someValuesFrom </a:t>
            </a:r>
            <a:r>
              <a:rPr lang="en-GB"/>
              <a:t>Có giá trị từ … (lớp)</a:t>
            </a:r>
            <a:endParaRPr/>
          </a:p>
        </p:txBody>
      </p:sp>
      <p:sp>
        <p:nvSpPr>
          <p:cNvPr id="479" name="Google Shape;479;p5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owl:allValuesFrom</a:t>
            </a:r>
            <a:endParaRPr/>
          </a:p>
        </p:txBody>
      </p:sp>
      <p:sp>
        <p:nvSpPr>
          <p:cNvPr id="485" name="Google Shape;485;p60"/>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Được sử dụng để m</a:t>
            </a:r>
            <a:r>
              <a:rPr lang="en-GB"/>
              <a:t>ô tả lớp </a:t>
            </a:r>
            <a:r>
              <a:rPr lang="en-GB"/>
              <a:t>của các đối tượng mà tất cả </a:t>
            </a:r>
            <a:r>
              <a:rPr lang="en-GB"/>
              <a:t>giá trị của 1 thuộc tính </a:t>
            </a:r>
            <a:r>
              <a:rPr lang="en-GB"/>
              <a:t>của nó đều thuộc 1 lớp nào đó.</a:t>
            </a:r>
            <a:endParaRPr/>
          </a:p>
          <a:p>
            <a:pPr indent="-381000" lvl="0" marL="457200" rtl="0" algn="just">
              <a:spcBef>
                <a:spcPts val="0"/>
              </a:spcBef>
              <a:spcAft>
                <a:spcPts val="0"/>
              </a:spcAft>
              <a:buSzPts val="2400"/>
              <a:buChar char="●"/>
            </a:pPr>
            <a:r>
              <a:rPr lang="en-GB"/>
              <a:t>Ví dụ </a:t>
            </a:r>
            <a:r>
              <a:rPr lang="en-GB"/>
              <a:t>giá trị của thuộc tính ăn của các phần tử thuộc lớp </a:t>
            </a:r>
            <a:r>
              <a:rPr lang="en-GB"/>
              <a:t>ng</a:t>
            </a:r>
            <a:r>
              <a:rPr lang="en-GB"/>
              <a:t>ười ăn chay đều thuộc lớp các món ăn có nguồn gốc thực vật</a:t>
            </a:r>
            <a:r>
              <a:rPr lang="en-GB"/>
              <a:t>:</a:t>
            </a:r>
            <a:endParaRPr/>
          </a:p>
          <a:p>
            <a:pPr indent="457200" lvl="0" marL="457200" rtl="0" algn="l">
              <a:spcBef>
                <a:spcPts val="0"/>
              </a:spcBef>
              <a:spcAft>
                <a:spcPts val="0"/>
              </a:spcAft>
              <a:buNone/>
            </a:pPr>
            <a:r>
              <a:rPr lang="en-GB"/>
              <a:t>:Vegetarian owl:subClassOf</a:t>
            </a:r>
            <a:endParaRPr/>
          </a:p>
          <a:p>
            <a:pPr indent="457200" lvl="0" marL="914400" rtl="0" algn="l">
              <a:spcBef>
                <a:spcPts val="0"/>
              </a:spcBef>
              <a:spcAft>
                <a:spcPts val="0"/>
              </a:spcAft>
              <a:buNone/>
            </a:pPr>
            <a:r>
              <a:rPr lang="en-GB"/>
              <a:t>[a owl:Restriction;</a:t>
            </a:r>
            <a:endParaRPr/>
          </a:p>
          <a:p>
            <a:pPr indent="457200" lvl="0" marL="914400" rtl="0" algn="l">
              <a:spcBef>
                <a:spcPts val="0"/>
              </a:spcBef>
              <a:spcAft>
                <a:spcPts val="0"/>
              </a:spcAft>
              <a:buNone/>
            </a:pPr>
            <a:r>
              <a:rPr lang="en-GB"/>
              <a:t> owl:onProperty :eats;</a:t>
            </a:r>
            <a:endParaRPr/>
          </a:p>
          <a:p>
            <a:pPr indent="457200" lvl="0" marL="914400" rtl="0" algn="l">
              <a:spcBef>
                <a:spcPts val="0"/>
              </a:spcBef>
              <a:spcAft>
                <a:spcPts val="0"/>
              </a:spcAft>
              <a:buNone/>
            </a:pPr>
            <a:r>
              <a:rPr lang="en-GB"/>
              <a:t> </a:t>
            </a:r>
            <a:r>
              <a:rPr b="1" lang="en-GB"/>
              <a:t>owl:allValuesFrom</a:t>
            </a:r>
            <a:r>
              <a:rPr lang="en-GB"/>
              <a:t> :VegetarianFood].</a:t>
            </a:r>
            <a:endParaRPr/>
          </a:p>
        </p:txBody>
      </p:sp>
      <p:sp>
        <p:nvSpPr>
          <p:cNvPr id="486" name="Google Shape;486;p6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5.4. owl:allValuesFrom</a:t>
            </a:r>
            <a:endParaRPr/>
          </a:p>
        </p:txBody>
      </p:sp>
      <p:sp>
        <p:nvSpPr>
          <p:cNvPr id="492" name="Google Shape;492;p61"/>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280988" lvl="0" marL="280988" rtl="0" algn="l">
              <a:lnSpc>
                <a:spcPct val="100000"/>
              </a:lnSpc>
              <a:spcBef>
                <a:spcPts val="0"/>
              </a:spcBef>
              <a:spcAft>
                <a:spcPts val="0"/>
              </a:spcAft>
              <a:buClr>
                <a:schemeClr val="dk1"/>
              </a:buClr>
              <a:buSzPts val="2100"/>
              <a:buFont typeface="Noto Sans Symbols"/>
              <a:buNone/>
            </a:pPr>
            <a:r>
              <a:rPr i="1" lang="en-GB">
                <a:solidFill>
                  <a:srgbClr val="666666"/>
                </a:solidFill>
              </a:rPr>
              <a:t>Người mèo ra mèo</a:t>
            </a:r>
            <a:endParaRPr i="1">
              <a:solidFill>
                <a:srgbClr val="666666"/>
              </a:solidFill>
            </a:endParaRPr>
          </a:p>
          <a:p>
            <a:pPr indent="-280988" lvl="0" marL="738188" rtl="0" algn="l">
              <a:lnSpc>
                <a:spcPct val="100000"/>
              </a:lnSpc>
              <a:spcBef>
                <a:spcPts val="1000"/>
              </a:spcBef>
              <a:spcAft>
                <a:spcPts val="0"/>
              </a:spcAft>
              <a:buClr>
                <a:schemeClr val="dk1"/>
              </a:buClr>
              <a:buSzPts val="2100"/>
              <a:buFont typeface="Noto Sans Symbols"/>
              <a:buNone/>
            </a:pPr>
            <a:r>
              <a:rPr lang="en-GB">
                <a:solidFill>
                  <a:srgbClr val="666666"/>
                </a:solidFill>
              </a:rPr>
              <a:t>:</a:t>
            </a:r>
            <a:r>
              <a:rPr lang="en-GB">
                <a:solidFill>
                  <a:srgbClr val="666666"/>
                </a:solidFill>
              </a:rPr>
              <a:t>Cat</a:t>
            </a:r>
            <a:r>
              <a:rPr lang="en-GB">
                <a:solidFill>
                  <a:srgbClr val="666666"/>
                </a:solidFill>
              </a:rPr>
              <a:t> a owl:Class</a:t>
            </a:r>
            <a:r>
              <a:rPr lang="en-GB">
                <a:solidFill>
                  <a:srgbClr val="666666"/>
                </a:solidFill>
              </a:rPr>
              <a:t>;</a:t>
            </a:r>
            <a:endParaRPr>
              <a:solidFill>
                <a:srgbClr val="666666"/>
              </a:solidFill>
            </a:endParaRPr>
          </a:p>
          <a:p>
            <a:pPr indent="-280988" lvl="0" marL="280988" rtl="0" algn="l">
              <a:lnSpc>
                <a:spcPct val="100000"/>
              </a:lnSpc>
              <a:spcBef>
                <a:spcPts val="560"/>
              </a:spcBef>
              <a:spcAft>
                <a:spcPts val="0"/>
              </a:spcAft>
              <a:buClr>
                <a:schemeClr val="dk1"/>
              </a:buClr>
              <a:buSzPts val="2100"/>
              <a:buFont typeface="Noto Sans Symbols"/>
              <a:buNone/>
            </a:pPr>
            <a:r>
              <a:rPr lang="en-GB">
                <a:solidFill>
                  <a:srgbClr val="666666"/>
                </a:solidFill>
              </a:rPr>
              <a:t>         rdfs:subClassOf</a:t>
            </a:r>
            <a:endParaRPr>
              <a:solidFill>
                <a:srgbClr val="666666"/>
              </a:solidFill>
            </a:endParaRPr>
          </a:p>
          <a:p>
            <a:pPr indent="-280988" lvl="0" marL="280988" rtl="0" algn="l">
              <a:lnSpc>
                <a:spcPct val="100000"/>
              </a:lnSpc>
              <a:spcBef>
                <a:spcPts val="560"/>
              </a:spcBef>
              <a:spcAft>
                <a:spcPts val="0"/>
              </a:spcAft>
              <a:buClr>
                <a:schemeClr val="dk1"/>
              </a:buClr>
              <a:buSzPts val="2100"/>
              <a:buFont typeface="Noto Sans Symbols"/>
              <a:buNone/>
            </a:pPr>
            <a:r>
              <a:rPr lang="en-GB">
                <a:solidFill>
                  <a:srgbClr val="666666"/>
                </a:solidFill>
              </a:rPr>
              <a:t>      </a:t>
            </a:r>
            <a:r>
              <a:rPr lang="en-GB">
                <a:solidFill>
                  <a:srgbClr val="666666"/>
                </a:solidFill>
              </a:rPr>
              <a:t>       </a:t>
            </a:r>
            <a:r>
              <a:rPr lang="en-GB">
                <a:solidFill>
                  <a:srgbClr val="666666"/>
                </a:solidFill>
              </a:rPr>
              <a:t>[ a owl:Restriction;</a:t>
            </a:r>
            <a:endParaRPr>
              <a:solidFill>
                <a:srgbClr val="666666"/>
              </a:solidFill>
            </a:endParaRPr>
          </a:p>
          <a:p>
            <a:pPr indent="-280988" lvl="0" marL="280988" rtl="0" algn="l">
              <a:lnSpc>
                <a:spcPct val="100000"/>
              </a:lnSpc>
              <a:spcBef>
                <a:spcPts val="560"/>
              </a:spcBef>
              <a:spcAft>
                <a:spcPts val="0"/>
              </a:spcAft>
              <a:buClr>
                <a:schemeClr val="dk1"/>
              </a:buClr>
              <a:buSzPts val="2100"/>
              <a:buFont typeface="Noto Sans Symbols"/>
              <a:buNone/>
            </a:pPr>
            <a:r>
              <a:rPr lang="en-GB">
                <a:solidFill>
                  <a:srgbClr val="666666"/>
                </a:solidFill>
              </a:rPr>
              <a:t>			    </a:t>
            </a:r>
            <a:r>
              <a:rPr lang="en-GB">
                <a:solidFill>
                  <a:srgbClr val="666666"/>
                </a:solidFill>
              </a:rPr>
              <a:t>owl:onProperty bio:offspring;</a:t>
            </a:r>
            <a:endParaRPr>
              <a:solidFill>
                <a:srgbClr val="666666"/>
              </a:solidFill>
            </a:endParaRPr>
          </a:p>
          <a:p>
            <a:pPr indent="-280988" lvl="0" marL="280988" rtl="0" algn="l">
              <a:lnSpc>
                <a:spcPct val="100000"/>
              </a:lnSpc>
              <a:spcBef>
                <a:spcPts val="560"/>
              </a:spcBef>
              <a:spcAft>
                <a:spcPts val="0"/>
              </a:spcAft>
              <a:buClr>
                <a:schemeClr val="dk1"/>
              </a:buClr>
              <a:buSzPts val="2100"/>
              <a:buFont typeface="Noto Sans Symbols"/>
              <a:buNone/>
            </a:pPr>
            <a:r>
              <a:rPr lang="en-GB">
                <a:solidFill>
                  <a:srgbClr val="666666"/>
                </a:solidFill>
              </a:rPr>
              <a:t>      </a:t>
            </a:r>
            <a:r>
              <a:rPr lang="en-GB">
                <a:solidFill>
                  <a:srgbClr val="666666"/>
                </a:solidFill>
              </a:rPr>
              <a:t>         </a:t>
            </a:r>
            <a:r>
              <a:rPr lang="en-GB">
                <a:solidFill>
                  <a:srgbClr val="666666"/>
                </a:solidFill>
              </a:rPr>
              <a:t>owl:allValuesFrom :</a:t>
            </a:r>
            <a:r>
              <a:rPr lang="en-GB">
                <a:solidFill>
                  <a:srgbClr val="666666"/>
                </a:solidFill>
              </a:rPr>
              <a:t>Cat</a:t>
            </a:r>
            <a:endParaRPr>
              <a:solidFill>
                <a:srgbClr val="666666"/>
              </a:solidFill>
            </a:endParaRPr>
          </a:p>
          <a:p>
            <a:pPr indent="-280988" lvl="0" marL="280988" rtl="0" algn="l">
              <a:lnSpc>
                <a:spcPct val="100000"/>
              </a:lnSpc>
              <a:spcBef>
                <a:spcPts val="560"/>
              </a:spcBef>
              <a:spcAft>
                <a:spcPts val="0"/>
              </a:spcAft>
              <a:buClr>
                <a:schemeClr val="dk1"/>
              </a:buClr>
              <a:buSzPts val="2100"/>
              <a:buFont typeface="Noto Sans Symbols"/>
              <a:buNone/>
            </a:pPr>
            <a:r>
              <a:rPr lang="en-GB">
                <a:solidFill>
                  <a:srgbClr val="666666"/>
                </a:solidFill>
              </a:rPr>
              <a:t>        </a:t>
            </a:r>
            <a:r>
              <a:rPr lang="en-GB">
                <a:solidFill>
                  <a:srgbClr val="666666"/>
                </a:solidFill>
              </a:rPr>
              <a:t>      </a:t>
            </a:r>
            <a:r>
              <a:rPr lang="en-GB">
                <a:solidFill>
                  <a:srgbClr val="666666"/>
                </a:solidFill>
              </a:rPr>
              <a:t>] </a:t>
            </a:r>
            <a:r>
              <a:rPr lang="en-GB">
                <a:solidFill>
                  <a:srgbClr val="666666"/>
                </a:solidFill>
              </a:rPr>
              <a:t>.</a:t>
            </a:r>
            <a:endParaRPr>
              <a:solidFill>
                <a:srgbClr val="666666"/>
              </a:solidFill>
            </a:endParaRPr>
          </a:p>
          <a:p>
            <a:pPr indent="-280988" lvl="0" marL="280988" rtl="0" algn="l">
              <a:lnSpc>
                <a:spcPct val="100000"/>
              </a:lnSpc>
              <a:spcBef>
                <a:spcPts val="280"/>
              </a:spcBef>
              <a:spcAft>
                <a:spcPts val="0"/>
              </a:spcAft>
              <a:buClr>
                <a:schemeClr val="dk1"/>
              </a:buClr>
              <a:buSzPts val="1050"/>
              <a:buFont typeface="Noto Sans Symbols"/>
              <a:buNone/>
            </a:pPr>
            <a:r>
              <a:t/>
            </a:r>
            <a:endParaRPr>
              <a:solidFill>
                <a:srgbClr val="666666"/>
              </a:solidFill>
            </a:endParaRPr>
          </a:p>
          <a:p>
            <a:pPr indent="-280988" lvl="0" marL="738188" rtl="0" algn="l">
              <a:lnSpc>
                <a:spcPct val="100000"/>
              </a:lnSpc>
              <a:spcBef>
                <a:spcPts val="560"/>
              </a:spcBef>
              <a:spcAft>
                <a:spcPts val="0"/>
              </a:spcAft>
              <a:buClr>
                <a:schemeClr val="dk1"/>
              </a:buClr>
              <a:buSzPts val="2100"/>
              <a:buFont typeface="Noto Sans Symbols"/>
              <a:buNone/>
            </a:pPr>
            <a:r>
              <a:rPr lang="en-GB">
                <a:solidFill>
                  <a:srgbClr val="666666"/>
                </a:solidFill>
              </a:rPr>
              <a:t>:</a:t>
            </a:r>
            <a:r>
              <a:rPr lang="en-GB">
                <a:solidFill>
                  <a:srgbClr val="666666"/>
                </a:solidFill>
              </a:rPr>
              <a:t>mướp</a:t>
            </a:r>
            <a:r>
              <a:rPr lang="en-GB">
                <a:solidFill>
                  <a:srgbClr val="666666"/>
                </a:solidFill>
              </a:rPr>
              <a:t> a :</a:t>
            </a:r>
            <a:r>
              <a:rPr lang="en-GB">
                <a:solidFill>
                  <a:srgbClr val="666666"/>
                </a:solidFill>
              </a:rPr>
              <a:t>Cat</a:t>
            </a:r>
            <a:r>
              <a:rPr lang="en-GB">
                <a:solidFill>
                  <a:srgbClr val="666666"/>
                </a:solidFill>
              </a:rPr>
              <a:t>; bio:offspring :</a:t>
            </a:r>
            <a:r>
              <a:rPr lang="en-GB">
                <a:solidFill>
                  <a:srgbClr val="666666"/>
                </a:solidFill>
              </a:rPr>
              <a:t>mun</a:t>
            </a:r>
            <a:r>
              <a:rPr lang="en-GB">
                <a:solidFill>
                  <a:srgbClr val="666666"/>
                </a:solidFill>
              </a:rPr>
              <a:t>.</a:t>
            </a:r>
            <a:endParaRPr>
              <a:solidFill>
                <a:srgbClr val="666666"/>
              </a:solidFill>
            </a:endParaRPr>
          </a:p>
          <a:p>
            <a:pPr indent="-280988" lvl="0" marL="1195388" rtl="0" algn="l">
              <a:lnSpc>
                <a:spcPct val="100000"/>
              </a:lnSpc>
              <a:spcBef>
                <a:spcPts val="560"/>
              </a:spcBef>
              <a:spcAft>
                <a:spcPts val="0"/>
              </a:spcAft>
              <a:buClr>
                <a:schemeClr val="dk1"/>
              </a:buClr>
              <a:buSzPts val="2100"/>
              <a:buFont typeface="Noto Sans Symbols"/>
              <a:buNone/>
            </a:pPr>
            <a:r>
              <a:rPr lang="en-GB">
                <a:solidFill>
                  <a:srgbClr val="666666"/>
                </a:solidFill>
              </a:rPr>
              <a:t>=&gt; :</a:t>
            </a:r>
            <a:r>
              <a:rPr lang="en-GB">
                <a:solidFill>
                  <a:srgbClr val="666666"/>
                </a:solidFill>
              </a:rPr>
              <a:t>mun</a:t>
            </a:r>
            <a:r>
              <a:rPr lang="en-GB">
                <a:solidFill>
                  <a:srgbClr val="666666"/>
                </a:solidFill>
              </a:rPr>
              <a:t> a :</a:t>
            </a:r>
            <a:r>
              <a:rPr lang="en-GB">
                <a:solidFill>
                  <a:srgbClr val="666666"/>
                </a:solidFill>
              </a:rPr>
              <a:t>Cat</a:t>
            </a:r>
            <a:r>
              <a:rPr lang="en-GB">
                <a:solidFill>
                  <a:srgbClr val="666666"/>
                </a:solidFill>
              </a:rPr>
              <a:t>.   </a:t>
            </a:r>
            <a:r>
              <a:rPr lang="en-GB">
                <a:solidFill>
                  <a:srgbClr val="1155CC"/>
                </a:solidFill>
              </a:rPr>
              <a:t>???</a:t>
            </a:r>
            <a:endParaRPr>
              <a:solidFill>
                <a:srgbClr val="1155CC"/>
              </a:solidFill>
            </a:endParaRPr>
          </a:p>
        </p:txBody>
      </p:sp>
      <p:sp>
        <p:nvSpPr>
          <p:cNvPr id="493" name="Google Shape;493;p6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hệ quả</a:t>
            </a:r>
            <a:endParaRPr/>
          </a:p>
        </p:txBody>
      </p:sp>
      <p:sp>
        <p:nvSpPr>
          <p:cNvPr id="499" name="Google Shape;499;p62"/>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280988" lvl="0" marL="280988" rtl="0" algn="l">
              <a:lnSpc>
                <a:spcPct val="100000"/>
              </a:lnSpc>
              <a:spcBef>
                <a:spcPts val="0"/>
              </a:spcBef>
              <a:spcAft>
                <a:spcPts val="0"/>
              </a:spcAft>
              <a:buClr>
                <a:schemeClr val="dk1"/>
              </a:buClr>
              <a:buSzPts val="1725"/>
              <a:buFont typeface="Arial"/>
              <a:buNone/>
            </a:pPr>
            <a:r>
              <a:rPr lang="en-GB" sz="2400">
                <a:solidFill>
                  <a:srgbClr val="666666"/>
                </a:solidFill>
              </a:rPr>
              <a:t>:</a:t>
            </a:r>
            <a:r>
              <a:rPr lang="en-GB">
                <a:solidFill>
                  <a:srgbClr val="666666"/>
                </a:solidFill>
              </a:rPr>
              <a:t>Cat</a:t>
            </a:r>
            <a:r>
              <a:rPr lang="en-GB" sz="2400">
                <a:solidFill>
                  <a:srgbClr val="666666"/>
                </a:solidFill>
              </a:rPr>
              <a:t> </a:t>
            </a:r>
            <a:r>
              <a:rPr lang="en-GB" sz="2400">
                <a:solidFill>
                  <a:srgbClr val="666666"/>
                </a:solidFill>
              </a:rPr>
              <a:t>a owl:Class; </a:t>
            </a:r>
            <a:r>
              <a:rPr lang="en-GB" sz="2400">
                <a:solidFill>
                  <a:srgbClr val="666666"/>
                </a:solidFill>
              </a:rPr>
              <a:t>rdfs:subClassOf </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Arial"/>
              <a:buNone/>
            </a:pPr>
            <a:r>
              <a:rPr lang="en-GB" sz="2400">
                <a:solidFill>
                  <a:srgbClr val="666666"/>
                </a:solidFill>
              </a:rPr>
              <a:t>    [</a:t>
            </a:r>
            <a:r>
              <a:rPr lang="en-GB" sz="2400">
                <a:solidFill>
                  <a:srgbClr val="666666"/>
                </a:solidFill>
              </a:rPr>
              <a:t>a owl:Restriction;</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Arial"/>
              <a:buNone/>
            </a:pPr>
            <a:r>
              <a:rPr lang="en-GB" sz="2400">
                <a:solidFill>
                  <a:srgbClr val="666666"/>
                </a:solidFill>
              </a:rPr>
              <a:t>     owl:onProperty bio:offspring;</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Arial"/>
              <a:buNone/>
            </a:pPr>
            <a:r>
              <a:rPr lang="en-GB" sz="2400">
                <a:solidFill>
                  <a:srgbClr val="666666"/>
                </a:solidFill>
              </a:rPr>
              <a:t>     </a:t>
            </a:r>
            <a:r>
              <a:rPr lang="en-GB" sz="2400">
                <a:solidFill>
                  <a:srgbClr val="666666"/>
                </a:solidFill>
              </a:rPr>
              <a:t>owl:allValuesFrom :</a:t>
            </a:r>
            <a:r>
              <a:rPr lang="en-GB">
                <a:solidFill>
                  <a:srgbClr val="666666"/>
                </a:solidFill>
              </a:rPr>
              <a:t>Cat</a:t>
            </a:r>
            <a:r>
              <a:rPr lang="en-GB" sz="2400">
                <a:solidFill>
                  <a:srgbClr val="666666"/>
                </a:solidFill>
              </a:rPr>
              <a:t>] .</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Arial"/>
              <a:buNone/>
            </a:pPr>
            <a:r>
              <a:rPr lang="en-GB" sz="2400">
                <a:solidFill>
                  <a:srgbClr val="666666"/>
                </a:solidFill>
              </a:rPr>
              <a:t>:bio:offspring rdfs:domain :</a:t>
            </a:r>
            <a:r>
              <a:rPr lang="en-GB">
                <a:solidFill>
                  <a:srgbClr val="666666"/>
                </a:solidFill>
              </a:rPr>
              <a:t>Pet</a:t>
            </a:r>
            <a:r>
              <a:rPr lang="en-GB" sz="2400">
                <a:solidFill>
                  <a:srgbClr val="666666"/>
                </a:solidFill>
              </a:rPr>
              <a:t>;</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Noto Sans Symbols"/>
              <a:buNone/>
            </a:pPr>
            <a:r>
              <a:rPr lang="en-GB" sz="2400">
                <a:solidFill>
                  <a:srgbClr val="666666"/>
                </a:solidFill>
              </a:rPr>
              <a:t>                      rdfs:range :</a:t>
            </a:r>
            <a:r>
              <a:rPr lang="en-GB">
                <a:solidFill>
                  <a:srgbClr val="666666"/>
                </a:solidFill>
              </a:rPr>
              <a:t>Pet</a:t>
            </a:r>
            <a:r>
              <a:rPr lang="en-GB" sz="2400">
                <a:solidFill>
                  <a:srgbClr val="666666"/>
                </a:solidFill>
              </a:rPr>
              <a:t>.</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Noto Sans Symbols"/>
              <a:buNone/>
            </a:pPr>
            <a:r>
              <a:rPr lang="en-GB">
                <a:solidFill>
                  <a:srgbClr val="666666"/>
                </a:solidFill>
              </a:rPr>
              <a:t>=&gt; </a:t>
            </a:r>
            <a:r>
              <a:rPr lang="en-GB">
                <a:solidFill>
                  <a:srgbClr val="1155CC"/>
                </a:solidFill>
              </a:rPr>
              <a:t>???</a:t>
            </a:r>
            <a:endParaRPr>
              <a:solidFill>
                <a:srgbClr val="1155CC"/>
              </a:solidFill>
            </a:endParaRPr>
          </a:p>
          <a:p>
            <a:pPr indent="-280988" lvl="0" marL="280988" rtl="0" algn="l">
              <a:lnSpc>
                <a:spcPct val="100000"/>
              </a:lnSpc>
              <a:spcBef>
                <a:spcPts val="460"/>
              </a:spcBef>
              <a:spcAft>
                <a:spcPts val="0"/>
              </a:spcAft>
              <a:buClr>
                <a:schemeClr val="dk1"/>
              </a:buClr>
              <a:buSzPts val="1725"/>
              <a:buFont typeface="Noto Sans Symbols"/>
              <a:buNone/>
            </a:pPr>
            <a:r>
              <a:rPr lang="en-GB" sz="2400">
                <a:solidFill>
                  <a:srgbClr val="666666"/>
                </a:solidFill>
              </a:rPr>
              <a:t>:</a:t>
            </a:r>
            <a:r>
              <a:rPr lang="en-GB">
                <a:solidFill>
                  <a:srgbClr val="666666"/>
                </a:solidFill>
              </a:rPr>
              <a:t>mướp</a:t>
            </a:r>
            <a:r>
              <a:rPr lang="en-GB" sz="2400">
                <a:solidFill>
                  <a:srgbClr val="666666"/>
                </a:solidFill>
              </a:rPr>
              <a:t> a </a:t>
            </a:r>
            <a:r>
              <a:rPr lang="en-GB">
                <a:solidFill>
                  <a:srgbClr val="666666"/>
                </a:solidFill>
              </a:rPr>
              <a:t>:Cat.</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Noto Sans Symbols"/>
              <a:buNone/>
            </a:pPr>
            <a:r>
              <a:rPr lang="en-GB" sz="2400">
                <a:solidFill>
                  <a:srgbClr val="666666"/>
                </a:solidFill>
              </a:rPr>
              <a:t>:</a:t>
            </a:r>
            <a:r>
              <a:rPr lang="en-GB">
                <a:solidFill>
                  <a:srgbClr val="666666"/>
                </a:solidFill>
              </a:rPr>
              <a:t>mướp</a:t>
            </a:r>
            <a:r>
              <a:rPr lang="en-GB" sz="2400">
                <a:solidFill>
                  <a:srgbClr val="666666"/>
                </a:solidFill>
              </a:rPr>
              <a:t> bio:offspring :</a:t>
            </a:r>
            <a:r>
              <a:rPr lang="en-GB">
                <a:solidFill>
                  <a:srgbClr val="666666"/>
                </a:solidFill>
              </a:rPr>
              <a:t>mun</a:t>
            </a:r>
            <a:r>
              <a:rPr lang="en-GB" sz="2400">
                <a:solidFill>
                  <a:srgbClr val="666666"/>
                </a:solidFill>
              </a:rPr>
              <a:t>.</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Arial"/>
              <a:buNone/>
            </a:pPr>
            <a:r>
              <a:rPr lang="en-GB">
                <a:solidFill>
                  <a:srgbClr val="666666"/>
                </a:solidFill>
              </a:rPr>
              <a:t>=&gt;</a:t>
            </a:r>
            <a:r>
              <a:rPr lang="en-GB" sz="2400">
                <a:solidFill>
                  <a:srgbClr val="666666"/>
                </a:solidFill>
              </a:rPr>
              <a:t> </a:t>
            </a:r>
            <a:r>
              <a:rPr lang="en-GB">
                <a:solidFill>
                  <a:srgbClr val="666666"/>
                </a:solidFill>
              </a:rPr>
              <a:t>:mun a :Cat. </a:t>
            </a:r>
            <a:r>
              <a:rPr lang="en-GB" sz="2400">
                <a:solidFill>
                  <a:srgbClr val="1155CC"/>
                </a:solidFill>
              </a:rPr>
              <a:t>???</a:t>
            </a:r>
            <a:endParaRPr sz="2400">
              <a:solidFill>
                <a:srgbClr val="1155CC"/>
              </a:solidFill>
            </a:endParaRPr>
          </a:p>
        </p:txBody>
      </p:sp>
      <p:sp>
        <p:nvSpPr>
          <p:cNvPr id="500" name="Google Shape;500;p62"/>
          <p:cNvSpPr txBox="1"/>
          <p:nvPr/>
        </p:nvSpPr>
        <p:spPr>
          <a:xfrm>
            <a:off x="5204150" y="473575"/>
            <a:ext cx="3359100" cy="591300"/>
          </a:xfrm>
          <a:prstGeom prst="rect">
            <a:avLst/>
          </a:pr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GB" sz="2600">
                <a:solidFill>
                  <a:srgbClr val="001933"/>
                </a:solidFill>
              </a:rPr>
              <a:t>"mèo</a:t>
            </a:r>
            <a:r>
              <a:rPr i="1" lang="en-GB" sz="2600">
                <a:solidFill>
                  <a:srgbClr val="001933"/>
                </a:solidFill>
              </a:rPr>
              <a:t> sinh ra mèo"</a:t>
            </a:r>
            <a:endParaRPr sz="2600"/>
          </a:p>
        </p:txBody>
      </p:sp>
      <p:sp>
        <p:nvSpPr>
          <p:cNvPr id="501" name="Google Shape;501;p6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hệ quả</a:t>
            </a:r>
            <a:r>
              <a:rPr baseline="-25000" lang="en-GB"/>
              <a:t>(2)</a:t>
            </a:r>
            <a:endParaRPr baseline="-25000"/>
          </a:p>
        </p:txBody>
      </p:sp>
      <p:sp>
        <p:nvSpPr>
          <p:cNvPr id="507" name="Google Shape;507;p63"/>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280988" lvl="0" marL="280988" rtl="0" algn="l">
              <a:lnSpc>
                <a:spcPct val="100000"/>
              </a:lnSpc>
              <a:spcBef>
                <a:spcPts val="0"/>
              </a:spcBef>
              <a:spcAft>
                <a:spcPts val="0"/>
              </a:spcAft>
              <a:buClr>
                <a:schemeClr val="dk1"/>
              </a:buClr>
              <a:buSzPts val="1725"/>
              <a:buFont typeface="Arial"/>
              <a:buNone/>
            </a:pPr>
            <a:r>
              <a:rPr lang="en-GB" sz="2400">
                <a:solidFill>
                  <a:srgbClr val="666666"/>
                </a:solidFill>
              </a:rPr>
              <a:t>:</a:t>
            </a:r>
            <a:r>
              <a:rPr lang="en-GB">
                <a:solidFill>
                  <a:srgbClr val="666666"/>
                </a:solidFill>
              </a:rPr>
              <a:t>Cat</a:t>
            </a:r>
            <a:r>
              <a:rPr lang="en-GB" sz="2400">
                <a:solidFill>
                  <a:srgbClr val="666666"/>
                </a:solidFill>
              </a:rPr>
              <a:t> rdfs:subClassOf </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Arial"/>
              <a:buNone/>
            </a:pPr>
            <a:r>
              <a:rPr lang="en-GB" sz="2400">
                <a:solidFill>
                  <a:srgbClr val="666666"/>
                </a:solidFill>
              </a:rPr>
              <a:t>    [</a:t>
            </a:r>
            <a:r>
              <a:rPr lang="en-GB" sz="2400">
                <a:solidFill>
                  <a:srgbClr val="666666"/>
                </a:solidFill>
              </a:rPr>
              <a:t>a owl:Restriction;</a:t>
            </a:r>
            <a:endParaRPr sz="2400">
              <a:solidFill>
                <a:srgbClr val="666666"/>
              </a:solidFill>
            </a:endParaRPr>
          </a:p>
          <a:p>
            <a:pPr indent="-280988" lvl="0" marL="738188" rtl="0" algn="l">
              <a:lnSpc>
                <a:spcPct val="100000"/>
              </a:lnSpc>
              <a:spcBef>
                <a:spcPts val="460"/>
              </a:spcBef>
              <a:spcAft>
                <a:spcPts val="0"/>
              </a:spcAft>
              <a:buClr>
                <a:schemeClr val="dk1"/>
              </a:buClr>
              <a:buSzPts val="1725"/>
              <a:buFont typeface="Arial"/>
              <a:buNone/>
            </a:pPr>
            <a:r>
              <a:rPr lang="en-GB" sz="2400">
                <a:solidFill>
                  <a:srgbClr val="666666"/>
                </a:solidFill>
              </a:rPr>
              <a:t>owl:onProperty bio:sprungFrom;</a:t>
            </a:r>
            <a:endParaRPr sz="2400">
              <a:solidFill>
                <a:srgbClr val="666666"/>
              </a:solidFill>
            </a:endParaRPr>
          </a:p>
          <a:p>
            <a:pPr indent="-280988" lvl="0" marL="738188" rtl="0" algn="l">
              <a:lnSpc>
                <a:spcPct val="100000"/>
              </a:lnSpc>
              <a:spcBef>
                <a:spcPts val="460"/>
              </a:spcBef>
              <a:spcAft>
                <a:spcPts val="0"/>
              </a:spcAft>
              <a:buClr>
                <a:schemeClr val="dk1"/>
              </a:buClr>
              <a:buSzPts val="1725"/>
              <a:buFont typeface="Arial"/>
              <a:buNone/>
            </a:pPr>
            <a:r>
              <a:rPr lang="en-GB" sz="2400">
                <a:solidFill>
                  <a:srgbClr val="666666"/>
                </a:solidFill>
              </a:rPr>
              <a:t>owl:allValuesFrom :</a:t>
            </a:r>
            <a:r>
              <a:rPr lang="en-GB">
                <a:solidFill>
                  <a:srgbClr val="666666"/>
                </a:solidFill>
              </a:rPr>
              <a:t>Cat</a:t>
            </a:r>
            <a:r>
              <a:rPr lang="en-GB" sz="2400">
                <a:solidFill>
                  <a:srgbClr val="666666"/>
                </a:solidFill>
              </a:rPr>
              <a:t>] .</a:t>
            </a:r>
            <a:endParaRPr sz="2400">
              <a:solidFill>
                <a:srgbClr val="666666"/>
              </a:solidFill>
            </a:endParaRPr>
          </a:p>
          <a:p>
            <a:pPr indent="0" lvl="0" marL="0" rtl="0" algn="l">
              <a:lnSpc>
                <a:spcPct val="100000"/>
              </a:lnSpc>
              <a:spcBef>
                <a:spcPts val="460"/>
              </a:spcBef>
              <a:spcAft>
                <a:spcPts val="0"/>
              </a:spcAft>
              <a:buClr>
                <a:schemeClr val="dk1"/>
              </a:buClr>
              <a:buSzPts val="1725"/>
              <a:buFont typeface="Arial"/>
              <a:buNone/>
            </a:pPr>
            <a:r>
              <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Arial"/>
              <a:buNone/>
            </a:pPr>
            <a:r>
              <a:rPr lang="en-GB" sz="2400">
                <a:solidFill>
                  <a:srgbClr val="666666"/>
                </a:solidFill>
              </a:rPr>
              <a:t>bio:sprungFrom rdfs:domain </a:t>
            </a:r>
            <a:r>
              <a:rPr lang="en-GB" sz="2400">
                <a:solidFill>
                  <a:srgbClr val="666666"/>
                </a:solidFill>
              </a:rPr>
              <a:t>:</a:t>
            </a:r>
            <a:r>
              <a:rPr lang="en-GB">
                <a:solidFill>
                  <a:srgbClr val="666666"/>
                </a:solidFill>
              </a:rPr>
              <a:t>Pet</a:t>
            </a:r>
            <a:r>
              <a:rPr lang="en-GB" sz="2400">
                <a:solidFill>
                  <a:srgbClr val="666666"/>
                </a:solidFill>
              </a:rPr>
              <a:t>;</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Noto Sans Symbols"/>
              <a:buNone/>
            </a:pPr>
            <a:r>
              <a:rPr lang="en-GB" sz="2400">
                <a:solidFill>
                  <a:srgbClr val="666666"/>
                </a:solidFill>
              </a:rPr>
              <a:t>                           rdfs:range </a:t>
            </a:r>
            <a:r>
              <a:rPr lang="en-GB" sz="2400">
                <a:solidFill>
                  <a:srgbClr val="666666"/>
                </a:solidFill>
              </a:rPr>
              <a:t>:</a:t>
            </a:r>
            <a:r>
              <a:rPr lang="en-GB">
                <a:solidFill>
                  <a:srgbClr val="666666"/>
                </a:solidFill>
              </a:rPr>
              <a:t>Pet</a:t>
            </a:r>
            <a:r>
              <a:rPr lang="en-GB" sz="2400">
                <a:solidFill>
                  <a:srgbClr val="666666"/>
                </a:solidFill>
              </a:rPr>
              <a:t>;</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Noto Sans Symbols"/>
              <a:buNone/>
            </a:pPr>
            <a:r>
              <a:rPr lang="en-GB" sz="2400">
                <a:solidFill>
                  <a:srgbClr val="666666"/>
                </a:solidFill>
              </a:rPr>
              <a:t>                           owl:inverseOf bio:offspring.</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Noto Sans Symbols"/>
              <a:buNone/>
            </a:pPr>
            <a:r>
              <a:rPr lang="en-GB" sz="2400">
                <a:solidFill>
                  <a:srgbClr val="666666"/>
                </a:solidFill>
              </a:rPr>
              <a:t>:</a:t>
            </a:r>
            <a:r>
              <a:rPr lang="en-GB">
                <a:solidFill>
                  <a:srgbClr val="666666"/>
                </a:solidFill>
              </a:rPr>
              <a:t>mun</a:t>
            </a:r>
            <a:r>
              <a:rPr lang="en-GB" sz="2400">
                <a:solidFill>
                  <a:srgbClr val="666666"/>
                </a:solidFill>
              </a:rPr>
              <a:t> a :</a:t>
            </a:r>
            <a:r>
              <a:rPr lang="en-GB">
                <a:solidFill>
                  <a:srgbClr val="666666"/>
                </a:solidFill>
              </a:rPr>
              <a:t>Cat</a:t>
            </a:r>
            <a:r>
              <a:rPr lang="en-GB" sz="2400">
                <a:solidFill>
                  <a:srgbClr val="666666"/>
                </a:solidFill>
              </a:rPr>
              <a:t>.</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Noto Sans Symbols"/>
              <a:buNone/>
            </a:pPr>
            <a:r>
              <a:rPr lang="en-GB" sz="2400">
                <a:solidFill>
                  <a:srgbClr val="666666"/>
                </a:solidFill>
              </a:rPr>
              <a:t>:</a:t>
            </a:r>
            <a:r>
              <a:rPr lang="en-GB">
                <a:solidFill>
                  <a:srgbClr val="666666"/>
                </a:solidFill>
              </a:rPr>
              <a:t>mướp</a:t>
            </a:r>
            <a:r>
              <a:rPr lang="en-GB" sz="2400">
                <a:solidFill>
                  <a:srgbClr val="666666"/>
                </a:solidFill>
              </a:rPr>
              <a:t> bio:offspring :</a:t>
            </a:r>
            <a:r>
              <a:rPr lang="en-GB">
                <a:solidFill>
                  <a:srgbClr val="666666"/>
                </a:solidFill>
              </a:rPr>
              <a:t>mun</a:t>
            </a:r>
            <a:r>
              <a:rPr lang="en-GB" sz="2400">
                <a:solidFill>
                  <a:srgbClr val="666666"/>
                </a:solidFill>
              </a:rPr>
              <a:t>.</a:t>
            </a:r>
            <a:endParaRPr sz="2400">
              <a:solidFill>
                <a:srgbClr val="666666"/>
              </a:solidFill>
            </a:endParaRPr>
          </a:p>
          <a:p>
            <a:pPr indent="-280988" lvl="0" marL="280988" rtl="0" algn="l">
              <a:lnSpc>
                <a:spcPct val="100000"/>
              </a:lnSpc>
              <a:spcBef>
                <a:spcPts val="460"/>
              </a:spcBef>
              <a:spcAft>
                <a:spcPts val="0"/>
              </a:spcAft>
              <a:buClr>
                <a:schemeClr val="dk1"/>
              </a:buClr>
              <a:buSzPts val="1725"/>
              <a:buFont typeface="Arial"/>
              <a:buNone/>
            </a:pPr>
            <a:r>
              <a:rPr lang="en-GB">
                <a:solidFill>
                  <a:srgbClr val="666666"/>
                </a:solidFill>
              </a:rPr>
              <a:t>=&gt;</a:t>
            </a:r>
            <a:r>
              <a:rPr lang="en-GB" sz="2400">
                <a:solidFill>
                  <a:srgbClr val="666666"/>
                </a:solidFill>
              </a:rPr>
              <a:t> :</a:t>
            </a:r>
            <a:r>
              <a:rPr lang="en-GB">
                <a:solidFill>
                  <a:srgbClr val="666666"/>
                </a:solidFill>
              </a:rPr>
              <a:t>mướp</a:t>
            </a:r>
            <a:r>
              <a:rPr lang="en-GB" sz="2400">
                <a:solidFill>
                  <a:srgbClr val="666666"/>
                </a:solidFill>
              </a:rPr>
              <a:t> a :</a:t>
            </a:r>
            <a:r>
              <a:rPr lang="en-GB">
                <a:solidFill>
                  <a:srgbClr val="666666"/>
                </a:solidFill>
              </a:rPr>
              <a:t>Cat</a:t>
            </a:r>
            <a:r>
              <a:rPr lang="en-GB" sz="2400">
                <a:solidFill>
                  <a:srgbClr val="666666"/>
                </a:solidFill>
              </a:rPr>
              <a:t>. </a:t>
            </a:r>
            <a:r>
              <a:rPr lang="en-GB" sz="2400">
                <a:solidFill>
                  <a:srgbClr val="1155CC"/>
                </a:solidFill>
              </a:rPr>
              <a:t>???</a:t>
            </a:r>
            <a:endParaRPr sz="2400">
              <a:solidFill>
                <a:srgbClr val="1155CC"/>
              </a:solidFill>
            </a:endParaRPr>
          </a:p>
        </p:txBody>
      </p:sp>
      <p:sp>
        <p:nvSpPr>
          <p:cNvPr id="508" name="Google Shape;508;p63"/>
          <p:cNvSpPr txBox="1"/>
          <p:nvPr/>
        </p:nvSpPr>
        <p:spPr>
          <a:xfrm>
            <a:off x="4317700" y="643125"/>
            <a:ext cx="4514700" cy="524700"/>
          </a:xfrm>
          <a:prstGeom prst="rect">
            <a:avLst/>
          </a:prstGeom>
          <a:solidFill>
            <a:srgbClr val="EFEFE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i="1" lang="en-GB" sz="2400">
                <a:solidFill>
                  <a:srgbClr val="0B5394"/>
                </a:solidFill>
              </a:rPr>
              <a:t>"mèo</a:t>
            </a:r>
            <a:r>
              <a:rPr i="1" lang="en-GB" sz="2400">
                <a:solidFill>
                  <a:srgbClr val="0B5394"/>
                </a:solidFill>
              </a:rPr>
              <a:t> được sinh bởi mèo"</a:t>
            </a:r>
            <a:endParaRPr sz="2400">
              <a:solidFill>
                <a:srgbClr val="0B5394"/>
              </a:solidFill>
            </a:endParaRPr>
          </a:p>
        </p:txBody>
      </p:sp>
      <p:sp>
        <p:nvSpPr>
          <p:cNvPr id="509" name="Google Shape;509;p6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owl:hasValue</a:t>
            </a:r>
            <a:endParaRPr/>
          </a:p>
        </p:txBody>
      </p:sp>
      <p:sp>
        <p:nvSpPr>
          <p:cNvPr id="515" name="Google Shape;515;p64"/>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666666"/>
              </a:buClr>
              <a:buSzPts val="2400"/>
              <a:buChar char="●"/>
            </a:pPr>
            <a:r>
              <a:rPr lang="en-GB">
                <a:solidFill>
                  <a:srgbClr val="666666"/>
                </a:solidFill>
              </a:rPr>
              <a:t>Được sử dụng để m</a:t>
            </a:r>
            <a:r>
              <a:rPr lang="en-GB">
                <a:solidFill>
                  <a:srgbClr val="666666"/>
                </a:solidFill>
              </a:rPr>
              <a:t>ô tả 1 lớp </a:t>
            </a:r>
            <a:r>
              <a:rPr lang="en-GB">
                <a:solidFill>
                  <a:srgbClr val="666666"/>
                </a:solidFill>
              </a:rPr>
              <a:t>bao gồm các phần tử </a:t>
            </a:r>
            <a:r>
              <a:rPr lang="en-GB">
                <a:solidFill>
                  <a:srgbClr val="666666"/>
                </a:solidFill>
              </a:rPr>
              <a:t>với 1 giá trị cụ thể của 1 thuộc tính</a:t>
            </a:r>
            <a:endParaRPr>
              <a:solidFill>
                <a:srgbClr val="666666"/>
              </a:solidFill>
            </a:endParaRPr>
          </a:p>
          <a:p>
            <a:pPr indent="-381000" lvl="0" marL="457200" rtl="0" algn="l">
              <a:spcBef>
                <a:spcPts val="0"/>
              </a:spcBef>
              <a:spcAft>
                <a:spcPts val="0"/>
              </a:spcAft>
              <a:buClr>
                <a:srgbClr val="666666"/>
              </a:buClr>
              <a:buSzPts val="2400"/>
              <a:buChar char="●"/>
            </a:pPr>
            <a:r>
              <a:rPr lang="en-GB">
                <a:solidFill>
                  <a:srgbClr val="666666"/>
                </a:solidFill>
              </a:rPr>
              <a:t>Ví dụ, </a:t>
            </a:r>
            <a:r>
              <a:rPr lang="en-GB">
                <a:solidFill>
                  <a:srgbClr val="666666"/>
                </a:solidFill>
              </a:rPr>
              <a:t>lớp</a:t>
            </a:r>
            <a:r>
              <a:rPr lang="en-GB">
                <a:solidFill>
                  <a:srgbClr val="666666"/>
                </a:solidFill>
              </a:rPr>
              <a:t> toán được dạy bởi Giáo sư NVA</a:t>
            </a:r>
            <a:endParaRPr>
              <a:solidFill>
                <a:srgbClr val="666666"/>
              </a:solidFill>
            </a:endParaRPr>
          </a:p>
          <a:p>
            <a:pPr indent="-342900" lvl="0" marL="800100" rtl="0" algn="l">
              <a:lnSpc>
                <a:spcPct val="115000"/>
              </a:lnSpc>
              <a:spcBef>
                <a:spcPts val="480"/>
              </a:spcBef>
              <a:spcAft>
                <a:spcPts val="0"/>
              </a:spcAft>
              <a:buNone/>
            </a:pPr>
            <a:r>
              <a:rPr lang="en-GB">
                <a:solidFill>
                  <a:srgbClr val="666666"/>
                </a:solidFill>
              </a:rPr>
              <a:t>:NVAMathCourse rdfs:subClassOf </a:t>
            </a:r>
            <a:endParaRPr>
              <a:solidFill>
                <a:srgbClr val="666666"/>
              </a:solidFill>
            </a:endParaRPr>
          </a:p>
          <a:p>
            <a:pPr indent="-342900" lvl="0" marL="1257300" rtl="0" algn="l">
              <a:lnSpc>
                <a:spcPct val="115000"/>
              </a:lnSpc>
              <a:spcBef>
                <a:spcPts val="480"/>
              </a:spcBef>
              <a:spcAft>
                <a:spcPts val="0"/>
              </a:spcAft>
              <a:buNone/>
            </a:pPr>
            <a:r>
              <a:rPr lang="en-GB">
                <a:solidFill>
                  <a:srgbClr val="666666"/>
                </a:solidFill>
              </a:rPr>
              <a:t>[owl:intersectionOf(</a:t>
            </a:r>
            <a:r>
              <a:rPr lang="en-GB">
                <a:solidFill>
                  <a:srgbClr val="666666"/>
                </a:solidFill>
              </a:rPr>
              <a:t>:mathCourse</a:t>
            </a:r>
            <a:endParaRPr>
              <a:solidFill>
                <a:srgbClr val="666666"/>
              </a:solidFill>
            </a:endParaRPr>
          </a:p>
          <a:p>
            <a:pPr indent="-342900" lvl="0" marL="1714500" rtl="0" algn="l">
              <a:lnSpc>
                <a:spcPct val="115000"/>
              </a:lnSpc>
              <a:spcBef>
                <a:spcPts val="480"/>
              </a:spcBef>
              <a:spcAft>
                <a:spcPts val="0"/>
              </a:spcAft>
              <a:buNone/>
            </a:pPr>
            <a:r>
              <a:rPr lang="en-GB">
                <a:solidFill>
                  <a:srgbClr val="666666"/>
                </a:solidFill>
              </a:rPr>
              <a:t>  [ a owl:restriction;</a:t>
            </a:r>
            <a:endParaRPr>
              <a:solidFill>
                <a:srgbClr val="666666"/>
              </a:solidFill>
            </a:endParaRPr>
          </a:p>
          <a:p>
            <a:pPr indent="-342900" lvl="0" marL="1714500" rtl="0" algn="l">
              <a:lnSpc>
                <a:spcPct val="115000"/>
              </a:lnSpc>
              <a:spcBef>
                <a:spcPts val="480"/>
              </a:spcBef>
              <a:spcAft>
                <a:spcPts val="0"/>
              </a:spcAft>
              <a:buNone/>
            </a:pPr>
            <a:r>
              <a:rPr lang="en-GB">
                <a:solidFill>
                  <a:srgbClr val="666666"/>
                </a:solidFill>
              </a:rPr>
              <a:t>       owl:onProperty :isTaughtBy;</a:t>
            </a:r>
            <a:endParaRPr>
              <a:solidFill>
                <a:srgbClr val="666666"/>
              </a:solidFill>
            </a:endParaRPr>
          </a:p>
          <a:p>
            <a:pPr indent="-342900" lvl="0" marL="1714500" rtl="0" algn="l">
              <a:lnSpc>
                <a:spcPct val="115000"/>
              </a:lnSpc>
              <a:spcBef>
                <a:spcPts val="480"/>
              </a:spcBef>
              <a:spcAft>
                <a:spcPts val="0"/>
              </a:spcAft>
              <a:buNone/>
            </a:pPr>
            <a:r>
              <a:rPr lang="en-GB">
                <a:solidFill>
                  <a:srgbClr val="666666"/>
                </a:solidFill>
              </a:rPr>
              <a:t>       </a:t>
            </a:r>
            <a:r>
              <a:rPr b="1" lang="en-GB">
                <a:solidFill>
                  <a:srgbClr val="666666"/>
                </a:solidFill>
              </a:rPr>
              <a:t>owl:hasValue :NVA</a:t>
            </a:r>
            <a:r>
              <a:rPr lang="en-GB">
                <a:solidFill>
                  <a:srgbClr val="666666"/>
                </a:solidFill>
              </a:rPr>
              <a:t>]) ] .</a:t>
            </a:r>
            <a:endParaRPr>
              <a:solidFill>
                <a:srgbClr val="666666"/>
              </a:solidFill>
            </a:endParaRPr>
          </a:p>
        </p:txBody>
      </p:sp>
      <p:sp>
        <p:nvSpPr>
          <p:cNvPr id="516" name="Google Shape;516;p6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5.5. owl:hasValue</a:t>
            </a:r>
            <a:endParaRPr/>
          </a:p>
        </p:txBody>
      </p:sp>
      <p:sp>
        <p:nvSpPr>
          <p:cNvPr id="522" name="Google Shape;522;p6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2100"/>
              <a:buFont typeface="Arial"/>
              <a:buNone/>
            </a:pPr>
            <a:r>
              <a:rPr lang="en-GB" sz="2400">
                <a:solidFill>
                  <a:srgbClr val="666666"/>
                </a:solidFill>
              </a:rPr>
              <a:t>:Man owl:equivalentClass</a:t>
            </a:r>
            <a:endParaRPr sz="2400">
              <a:solidFill>
                <a:srgbClr val="666666"/>
              </a:solidFill>
            </a:endParaRPr>
          </a:p>
          <a:p>
            <a:pPr indent="0" lvl="0" marL="0" rtl="0" algn="l">
              <a:lnSpc>
                <a:spcPct val="100000"/>
              </a:lnSpc>
              <a:spcBef>
                <a:spcPts val="560"/>
              </a:spcBef>
              <a:spcAft>
                <a:spcPts val="0"/>
              </a:spcAft>
              <a:buClr>
                <a:schemeClr val="dk1"/>
              </a:buClr>
              <a:buSzPts val="2100"/>
              <a:buFont typeface="Arial"/>
              <a:buNone/>
            </a:pPr>
            <a:r>
              <a:rPr lang="en-GB" sz="2400">
                <a:solidFill>
                  <a:srgbClr val="666666"/>
                </a:solidFill>
              </a:rPr>
              <a:t>  </a:t>
            </a:r>
            <a:r>
              <a:rPr lang="en-GB">
                <a:solidFill>
                  <a:srgbClr val="666666"/>
                </a:solidFill>
              </a:rPr>
              <a:t>[</a:t>
            </a:r>
            <a:r>
              <a:rPr lang="en-GB" sz="2400">
                <a:solidFill>
                  <a:srgbClr val="666666"/>
                </a:solidFill>
              </a:rPr>
              <a:t>owl:intersectionOf </a:t>
            </a:r>
            <a:endParaRPr sz="2400">
              <a:solidFill>
                <a:srgbClr val="666666"/>
              </a:solidFill>
            </a:endParaRPr>
          </a:p>
          <a:p>
            <a:pPr indent="0" lvl="0" marL="0" rtl="0" algn="l">
              <a:lnSpc>
                <a:spcPct val="100000"/>
              </a:lnSpc>
              <a:spcBef>
                <a:spcPts val="560"/>
              </a:spcBef>
              <a:spcAft>
                <a:spcPts val="0"/>
              </a:spcAft>
              <a:buClr>
                <a:schemeClr val="dk1"/>
              </a:buClr>
              <a:buSzPts val="2100"/>
              <a:buFont typeface="Arial"/>
              <a:buNone/>
            </a:pPr>
            <a:r>
              <a:rPr lang="en-GB" sz="2400">
                <a:solidFill>
                  <a:srgbClr val="666666"/>
                </a:solidFill>
              </a:rPr>
              <a:t>   (:Person, </a:t>
            </a:r>
            <a:endParaRPr sz="2400">
              <a:solidFill>
                <a:srgbClr val="666666"/>
              </a:solidFill>
            </a:endParaRPr>
          </a:p>
          <a:p>
            <a:pPr indent="0" lvl="0" marL="0" rtl="0" algn="l">
              <a:lnSpc>
                <a:spcPct val="100000"/>
              </a:lnSpc>
              <a:spcBef>
                <a:spcPts val="560"/>
              </a:spcBef>
              <a:spcAft>
                <a:spcPts val="0"/>
              </a:spcAft>
              <a:buClr>
                <a:schemeClr val="dk1"/>
              </a:buClr>
              <a:buSzPts val="2100"/>
              <a:buFont typeface="Arial"/>
              <a:buNone/>
            </a:pPr>
            <a:r>
              <a:rPr lang="en-GB" sz="2400">
                <a:solidFill>
                  <a:srgbClr val="666666"/>
                </a:solidFill>
              </a:rPr>
              <a:t>     [a owl:Restriction;</a:t>
            </a:r>
            <a:endParaRPr sz="2400">
              <a:solidFill>
                <a:srgbClr val="666666"/>
              </a:solidFill>
            </a:endParaRPr>
          </a:p>
          <a:p>
            <a:pPr indent="0" lvl="0" marL="0" rtl="0" algn="l">
              <a:lnSpc>
                <a:spcPct val="100000"/>
              </a:lnSpc>
              <a:spcBef>
                <a:spcPts val="560"/>
              </a:spcBef>
              <a:spcAft>
                <a:spcPts val="0"/>
              </a:spcAft>
              <a:buClr>
                <a:schemeClr val="dk1"/>
              </a:buClr>
              <a:buSzPts val="2100"/>
              <a:buFont typeface="Arial"/>
              <a:buNone/>
            </a:pPr>
            <a:r>
              <a:rPr lang="en-GB" sz="2400">
                <a:solidFill>
                  <a:srgbClr val="666666"/>
                </a:solidFill>
              </a:rPr>
              <a:t>       owl:onProperty :</a:t>
            </a:r>
            <a:r>
              <a:rPr lang="en-GB" sz="2400">
                <a:solidFill>
                  <a:srgbClr val="666666"/>
                </a:solidFill>
              </a:rPr>
              <a:t>gender</a:t>
            </a:r>
            <a:r>
              <a:rPr lang="en-GB" sz="2400">
                <a:solidFill>
                  <a:srgbClr val="666666"/>
                </a:solidFill>
              </a:rPr>
              <a:t>;</a:t>
            </a:r>
            <a:endParaRPr sz="2400">
              <a:solidFill>
                <a:srgbClr val="666666"/>
              </a:solidFill>
            </a:endParaRPr>
          </a:p>
          <a:p>
            <a:pPr indent="0" lvl="0" marL="0" rtl="0" algn="l">
              <a:lnSpc>
                <a:spcPct val="100000"/>
              </a:lnSpc>
              <a:spcBef>
                <a:spcPts val="560"/>
              </a:spcBef>
              <a:spcAft>
                <a:spcPts val="0"/>
              </a:spcAft>
              <a:buClr>
                <a:schemeClr val="dk1"/>
              </a:buClr>
              <a:buSzPts val="2100"/>
              <a:buFont typeface="Arial"/>
              <a:buNone/>
            </a:pPr>
            <a:r>
              <a:rPr lang="en-GB" sz="2400">
                <a:solidFill>
                  <a:srgbClr val="666666"/>
                </a:solidFill>
              </a:rPr>
              <a:t>       </a:t>
            </a:r>
            <a:r>
              <a:rPr b="1" lang="en-GB" sz="2400">
                <a:solidFill>
                  <a:srgbClr val="666666"/>
                </a:solidFill>
              </a:rPr>
              <a:t>owl:hasValue "male"</a:t>
            </a:r>
            <a:r>
              <a:rPr lang="en-GB" sz="2400">
                <a:solidFill>
                  <a:srgbClr val="666666"/>
                </a:solidFill>
              </a:rPr>
              <a:t>] )].</a:t>
            </a:r>
            <a:endParaRPr sz="2200">
              <a:solidFill>
                <a:srgbClr val="666666"/>
              </a:solidFill>
            </a:endParaRPr>
          </a:p>
        </p:txBody>
      </p:sp>
      <p:sp>
        <p:nvSpPr>
          <p:cNvPr id="523" name="Google Shape;523;p65"/>
          <p:cNvSpPr/>
          <p:nvPr/>
        </p:nvSpPr>
        <p:spPr>
          <a:xfrm>
            <a:off x="5055096" y="1514872"/>
            <a:ext cx="1944300" cy="1872300"/>
          </a:xfrm>
          <a:prstGeom prst="ellipse">
            <a:avLst/>
          </a:prstGeom>
          <a:solidFill>
            <a:srgbClr val="0037FF">
              <a:alpha val="48810"/>
            </a:srgbClr>
          </a:solidFill>
          <a:ln cap="flat" cmpd="sng" w="53975">
            <a:solidFill>
              <a:srgbClr val="0000C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524" name="Google Shape;524;p65"/>
          <p:cNvSpPr/>
          <p:nvPr/>
        </p:nvSpPr>
        <p:spPr>
          <a:xfrm>
            <a:off x="6135590" y="1536305"/>
            <a:ext cx="1944300" cy="1872300"/>
          </a:xfrm>
          <a:prstGeom prst="ellipse">
            <a:avLst/>
          </a:prstGeom>
          <a:solidFill>
            <a:srgbClr val="FFAD00">
              <a:alpha val="52980"/>
            </a:srgbClr>
          </a:solidFill>
          <a:ln cap="flat" cmpd="sng" w="53975">
            <a:solidFill>
              <a:srgbClr val="FFAD0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525" name="Google Shape;525;p65"/>
          <p:cNvSpPr txBox="1"/>
          <p:nvPr/>
        </p:nvSpPr>
        <p:spPr>
          <a:xfrm>
            <a:off x="4985255" y="1213450"/>
            <a:ext cx="9798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00CC"/>
                </a:solidFill>
                <a:latin typeface="Arial"/>
                <a:ea typeface="Arial"/>
                <a:cs typeface="Arial"/>
                <a:sym typeface="Arial"/>
              </a:rPr>
              <a:t>:Person</a:t>
            </a:r>
            <a:endParaRPr/>
          </a:p>
        </p:txBody>
      </p:sp>
      <p:sp>
        <p:nvSpPr>
          <p:cNvPr id="526" name="Google Shape;526;p65"/>
          <p:cNvSpPr txBox="1"/>
          <p:nvPr/>
        </p:nvSpPr>
        <p:spPr>
          <a:xfrm>
            <a:off x="6599600" y="3385175"/>
            <a:ext cx="21051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FFAD00"/>
                </a:solidFill>
                <a:latin typeface="Arial"/>
                <a:ea typeface="Arial"/>
                <a:cs typeface="Arial"/>
                <a:sym typeface="Arial"/>
              </a:rPr>
              <a:t>:</a:t>
            </a:r>
            <a:r>
              <a:rPr lang="en-GB" sz="1800">
                <a:solidFill>
                  <a:srgbClr val="FFAD00"/>
                </a:solidFill>
              </a:rPr>
              <a:t>gender</a:t>
            </a:r>
            <a:r>
              <a:rPr lang="en-GB" sz="1800">
                <a:solidFill>
                  <a:srgbClr val="FFAD00"/>
                </a:solidFill>
                <a:latin typeface="Arial"/>
                <a:ea typeface="Arial"/>
                <a:cs typeface="Arial"/>
                <a:sym typeface="Arial"/>
              </a:rPr>
              <a:t> == </a:t>
            </a:r>
            <a:r>
              <a:rPr lang="en-GB" sz="1800">
                <a:solidFill>
                  <a:srgbClr val="FFAD00"/>
                </a:solidFill>
              </a:rPr>
              <a:t>"</a:t>
            </a:r>
            <a:r>
              <a:rPr lang="en-GB" sz="1800">
                <a:solidFill>
                  <a:srgbClr val="FFAD00"/>
                </a:solidFill>
                <a:latin typeface="Arial"/>
                <a:ea typeface="Arial"/>
                <a:cs typeface="Arial"/>
                <a:sym typeface="Arial"/>
              </a:rPr>
              <a:t>male</a:t>
            </a:r>
            <a:r>
              <a:rPr lang="en-GB" sz="1800">
                <a:solidFill>
                  <a:srgbClr val="FFAD00"/>
                </a:solidFill>
              </a:rPr>
              <a:t>"</a:t>
            </a:r>
            <a:endParaRPr sz="1800">
              <a:solidFill>
                <a:srgbClr val="FFAD00"/>
              </a:solidFill>
              <a:latin typeface="Arial"/>
              <a:ea typeface="Arial"/>
              <a:cs typeface="Arial"/>
              <a:sym typeface="Arial"/>
            </a:endParaRPr>
          </a:p>
        </p:txBody>
      </p:sp>
      <p:sp>
        <p:nvSpPr>
          <p:cNvPr id="527" name="Google Shape;527;p65"/>
          <p:cNvSpPr txBox="1"/>
          <p:nvPr/>
        </p:nvSpPr>
        <p:spPr>
          <a:xfrm>
            <a:off x="6135590" y="2266310"/>
            <a:ext cx="6975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0000"/>
                </a:solidFill>
                <a:latin typeface="Arial"/>
                <a:ea typeface="Arial"/>
                <a:cs typeface="Arial"/>
                <a:sym typeface="Arial"/>
              </a:rPr>
              <a:t>:Man</a:t>
            </a:r>
            <a:endParaRPr/>
          </a:p>
        </p:txBody>
      </p:sp>
      <p:sp>
        <p:nvSpPr>
          <p:cNvPr id="528" name="Google Shape;528;p65"/>
          <p:cNvSpPr txBox="1"/>
          <p:nvPr/>
        </p:nvSpPr>
        <p:spPr>
          <a:xfrm>
            <a:off x="610575" y="3754475"/>
            <a:ext cx="75561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rgbClr val="666666"/>
                </a:solidFill>
              </a:rPr>
              <a:t>Có thể suy ra được gì</a:t>
            </a:r>
            <a:endParaRPr sz="2400">
              <a:solidFill>
                <a:srgbClr val="666666"/>
              </a:solidFill>
            </a:endParaRPr>
          </a:p>
          <a:p>
            <a:pPr indent="0" lvl="0" marL="269999" rtl="0" algn="l">
              <a:spcBef>
                <a:spcPts val="0"/>
              </a:spcBef>
              <a:spcAft>
                <a:spcPts val="0"/>
              </a:spcAft>
              <a:buNone/>
            </a:pPr>
            <a:r>
              <a:rPr lang="en-GB" sz="2400">
                <a:solidFill>
                  <a:srgbClr val="666666"/>
                </a:solidFill>
              </a:rPr>
              <a:t>:ed a :Man .</a:t>
            </a:r>
            <a:endParaRPr sz="2400">
              <a:solidFill>
                <a:srgbClr val="666666"/>
              </a:solidFill>
            </a:endParaRPr>
          </a:p>
          <a:p>
            <a:pPr indent="0" lvl="0" marL="269999" rtl="0" algn="l">
              <a:spcBef>
                <a:spcPts val="0"/>
              </a:spcBef>
              <a:spcAft>
                <a:spcPts val="0"/>
              </a:spcAft>
              <a:buNone/>
            </a:pPr>
            <a:r>
              <a:rPr lang="en-GB" sz="2400">
                <a:solidFill>
                  <a:srgbClr val="666666"/>
                </a:solidFill>
              </a:rPr>
              <a:t>=&gt;</a:t>
            </a:r>
            <a:r>
              <a:rPr lang="en-GB" sz="2400">
                <a:solidFill>
                  <a:srgbClr val="666666"/>
                </a:solidFill>
              </a:rPr>
              <a:t> :ed :gender </a:t>
            </a:r>
            <a:r>
              <a:rPr lang="en-GB" sz="2400">
                <a:solidFill>
                  <a:srgbClr val="666666"/>
                </a:solidFill>
              </a:rPr>
              <a:t>"male"</a:t>
            </a:r>
            <a:r>
              <a:rPr lang="en-GB" sz="2400">
                <a:solidFill>
                  <a:srgbClr val="666666"/>
                </a:solidFill>
              </a:rPr>
              <a:t>. </a:t>
            </a:r>
            <a:r>
              <a:rPr lang="en-GB" sz="2400">
                <a:solidFill>
                  <a:srgbClr val="1155CC"/>
                </a:solidFill>
              </a:rPr>
              <a:t>???</a:t>
            </a:r>
            <a:endParaRPr sz="2400">
              <a:solidFill>
                <a:srgbClr val="1155CC"/>
              </a:solidFill>
            </a:endParaRPr>
          </a:p>
          <a:p>
            <a:pPr indent="0" lvl="0" marL="269999" rtl="0" algn="l">
              <a:spcBef>
                <a:spcPts val="0"/>
              </a:spcBef>
              <a:spcAft>
                <a:spcPts val="0"/>
              </a:spcAft>
              <a:buNone/>
            </a:pPr>
            <a:r>
              <a:rPr lang="en-GB" sz="2400">
                <a:solidFill>
                  <a:srgbClr val="666666"/>
                </a:solidFill>
              </a:rPr>
              <a:t>:frank a :Person; :</a:t>
            </a:r>
            <a:r>
              <a:rPr lang="en-GB" sz="2400">
                <a:solidFill>
                  <a:srgbClr val="666666"/>
                </a:solidFill>
              </a:rPr>
              <a:t>gender</a:t>
            </a:r>
            <a:r>
              <a:rPr lang="en-GB" sz="2400">
                <a:solidFill>
                  <a:srgbClr val="666666"/>
                </a:solidFill>
              </a:rPr>
              <a:t> "male" .</a:t>
            </a:r>
            <a:endParaRPr sz="2400">
              <a:solidFill>
                <a:srgbClr val="666666"/>
              </a:solidFill>
            </a:endParaRPr>
          </a:p>
          <a:p>
            <a:pPr indent="0" lvl="0" marL="269999" rtl="0" algn="l">
              <a:spcBef>
                <a:spcPts val="0"/>
              </a:spcBef>
              <a:spcAft>
                <a:spcPts val="0"/>
              </a:spcAft>
              <a:buNone/>
            </a:pPr>
            <a:r>
              <a:rPr lang="en-GB" sz="2400">
                <a:solidFill>
                  <a:srgbClr val="666666"/>
                </a:solidFill>
              </a:rPr>
              <a:t>=&gt;</a:t>
            </a:r>
            <a:r>
              <a:rPr lang="en-GB" sz="2400">
                <a:solidFill>
                  <a:srgbClr val="666666"/>
                </a:solidFill>
              </a:rPr>
              <a:t> :frank a :Man. </a:t>
            </a:r>
            <a:r>
              <a:rPr lang="en-GB" sz="2400">
                <a:solidFill>
                  <a:srgbClr val="1155CC"/>
                </a:solidFill>
              </a:rPr>
              <a:t>???</a:t>
            </a:r>
            <a:endParaRPr sz="2400">
              <a:solidFill>
                <a:srgbClr val="1155CC"/>
              </a:solidFill>
            </a:endParaRPr>
          </a:p>
          <a:p>
            <a:pPr indent="0" lvl="0" marL="269999" rtl="0" algn="l">
              <a:spcBef>
                <a:spcPts val="0"/>
              </a:spcBef>
              <a:spcAft>
                <a:spcPts val="0"/>
              </a:spcAft>
              <a:buNone/>
            </a:pPr>
            <a:r>
              <a:rPr lang="en-GB" sz="2400">
                <a:solidFill>
                  <a:srgbClr val="666666"/>
                </a:solidFill>
              </a:rPr>
              <a:t>:pat a :Person; :</a:t>
            </a:r>
            <a:r>
              <a:rPr lang="en-GB" sz="2400">
                <a:solidFill>
                  <a:srgbClr val="666666"/>
                </a:solidFill>
              </a:rPr>
              <a:t>gender</a:t>
            </a:r>
            <a:r>
              <a:rPr lang="en-GB" sz="2400">
                <a:solidFill>
                  <a:srgbClr val="666666"/>
                </a:solidFill>
              </a:rPr>
              <a:t> "male"; </a:t>
            </a:r>
            <a:r>
              <a:rPr lang="en-GB" sz="2400">
                <a:solidFill>
                  <a:srgbClr val="666666"/>
                </a:solidFill>
              </a:rPr>
              <a:t>gender</a:t>
            </a:r>
            <a:r>
              <a:rPr lang="en-GB" sz="2400">
                <a:solidFill>
                  <a:srgbClr val="666666"/>
                </a:solidFill>
              </a:rPr>
              <a:t> "female" . </a:t>
            </a:r>
            <a:endParaRPr sz="2400">
              <a:solidFill>
                <a:srgbClr val="666666"/>
              </a:solidFill>
            </a:endParaRPr>
          </a:p>
          <a:p>
            <a:pPr indent="0" lvl="0" marL="269999" rtl="0" algn="l">
              <a:spcBef>
                <a:spcPts val="0"/>
              </a:spcBef>
              <a:spcAft>
                <a:spcPts val="0"/>
              </a:spcAft>
              <a:buNone/>
            </a:pPr>
            <a:r>
              <a:rPr lang="en-GB" sz="2400">
                <a:solidFill>
                  <a:srgbClr val="666666"/>
                </a:solidFill>
              </a:rPr>
              <a:t>=&gt;</a:t>
            </a:r>
            <a:r>
              <a:rPr lang="en-GB" sz="2400">
                <a:solidFill>
                  <a:srgbClr val="666666"/>
                </a:solidFill>
              </a:rPr>
              <a:t> :pat a :Man. </a:t>
            </a:r>
            <a:r>
              <a:rPr lang="en-GB" sz="2400">
                <a:solidFill>
                  <a:srgbClr val="1155CC"/>
                </a:solidFill>
              </a:rPr>
              <a:t>???</a:t>
            </a:r>
            <a:endParaRPr sz="2400">
              <a:solidFill>
                <a:srgbClr val="1155CC"/>
              </a:solidFill>
            </a:endParaRPr>
          </a:p>
        </p:txBody>
      </p:sp>
      <p:sp>
        <p:nvSpPr>
          <p:cNvPr id="529" name="Google Shape;529;p6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owl:someValuesFrom</a:t>
            </a:r>
            <a:endParaRPr/>
          </a:p>
        </p:txBody>
      </p:sp>
      <p:sp>
        <p:nvSpPr>
          <p:cNvPr id="535" name="Google Shape;535;p66"/>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Mô tả lớp </a:t>
            </a:r>
            <a:r>
              <a:rPr lang="en-GB"/>
              <a:t>bao gồm các phần tử</a:t>
            </a:r>
            <a:r>
              <a:rPr lang="en-GB"/>
              <a:t> có ít nhất 1 giá trị </a:t>
            </a:r>
            <a:r>
              <a:rPr lang="en-GB"/>
              <a:t>của</a:t>
            </a:r>
            <a:r>
              <a:rPr lang="en-GB"/>
              <a:t> 1 thuộc tính </a:t>
            </a:r>
            <a:r>
              <a:rPr lang="en-GB"/>
              <a:t>thuộc 1 lớp nào đó.</a:t>
            </a:r>
            <a:endParaRPr/>
          </a:p>
          <a:p>
            <a:pPr indent="-381000" lvl="0" marL="457200" rtl="0" algn="l">
              <a:spcBef>
                <a:spcPts val="0"/>
              </a:spcBef>
              <a:spcAft>
                <a:spcPts val="0"/>
              </a:spcAft>
              <a:buSzPts val="2400"/>
              <a:buChar char="●"/>
            </a:pPr>
            <a:r>
              <a:rPr lang="en-GB"/>
              <a:t>Ví dụ, </a:t>
            </a:r>
            <a:r>
              <a:rPr lang="en-GB"/>
              <a:t>Giảng viên</a:t>
            </a:r>
            <a:r>
              <a:rPr lang="en-GB"/>
              <a:t> có dạy </a:t>
            </a:r>
            <a:r>
              <a:rPr lang="en-GB"/>
              <a:t>ít nhất </a:t>
            </a:r>
            <a:r>
              <a:rPr lang="en-GB"/>
              <a:t>1 môn </a:t>
            </a:r>
            <a:r>
              <a:rPr lang="en-GB"/>
              <a:t>trong chương trình đại </a:t>
            </a:r>
            <a:r>
              <a:rPr lang="en-GB"/>
              <a:t>học</a:t>
            </a:r>
            <a:endParaRPr/>
          </a:p>
          <a:p>
            <a:pPr indent="-228600" lvl="0" marL="228600" rtl="0" algn="l">
              <a:lnSpc>
                <a:spcPct val="90000"/>
              </a:lnSpc>
              <a:spcBef>
                <a:spcPts val="640"/>
              </a:spcBef>
              <a:spcAft>
                <a:spcPts val="0"/>
              </a:spcAft>
              <a:buNone/>
            </a:pPr>
            <a:r>
              <a:rPr lang="en-GB">
                <a:solidFill>
                  <a:srgbClr val="434343"/>
                </a:solidFill>
              </a:rPr>
              <a:t>    		[</a:t>
            </a:r>
            <a:r>
              <a:rPr lang="en-GB">
                <a:solidFill>
                  <a:srgbClr val="434343"/>
                </a:solidFill>
              </a:rPr>
              <a:t>a owl:Restriction;</a:t>
            </a:r>
            <a:endParaRPr>
              <a:solidFill>
                <a:srgbClr val="434343"/>
              </a:solidFill>
            </a:endParaRPr>
          </a:p>
          <a:p>
            <a:pPr indent="-228600" lvl="0" marL="685800" rtl="0" algn="l">
              <a:lnSpc>
                <a:spcPct val="90000"/>
              </a:lnSpc>
              <a:spcBef>
                <a:spcPts val="640"/>
              </a:spcBef>
              <a:spcAft>
                <a:spcPts val="0"/>
              </a:spcAft>
              <a:buNone/>
            </a:pPr>
            <a:r>
              <a:rPr lang="en-GB">
                <a:solidFill>
                  <a:srgbClr val="434343"/>
                </a:solidFill>
              </a:rPr>
              <a:t>   	 </a:t>
            </a:r>
            <a:r>
              <a:rPr lang="en-GB">
                <a:solidFill>
                  <a:srgbClr val="434343"/>
                </a:solidFill>
              </a:rPr>
              <a:t>owl:onProperty :teaches;</a:t>
            </a:r>
            <a:endParaRPr>
              <a:solidFill>
                <a:srgbClr val="434343"/>
              </a:solidFill>
            </a:endParaRPr>
          </a:p>
          <a:p>
            <a:pPr indent="-228600" lvl="0" marL="228600" rtl="0" algn="l">
              <a:lnSpc>
                <a:spcPct val="90000"/>
              </a:lnSpc>
              <a:spcBef>
                <a:spcPts val="640"/>
              </a:spcBef>
              <a:spcAft>
                <a:spcPts val="0"/>
              </a:spcAft>
              <a:buNone/>
            </a:pPr>
            <a:r>
              <a:rPr lang="en-GB">
                <a:solidFill>
                  <a:srgbClr val="0000CC"/>
                </a:solidFill>
              </a:rPr>
              <a:t>        	 </a:t>
            </a:r>
            <a:r>
              <a:rPr b="1" lang="en-GB">
                <a:solidFill>
                  <a:srgbClr val="434343"/>
                </a:solidFill>
              </a:rPr>
              <a:t>owl:someValuesFrom</a:t>
            </a:r>
            <a:r>
              <a:rPr lang="en-GB">
                <a:solidFill>
                  <a:srgbClr val="434343"/>
                </a:solidFill>
              </a:rPr>
              <a:t> :UndergraduateCourse]</a:t>
            </a:r>
            <a:r>
              <a:rPr lang="en-GB">
                <a:solidFill>
                  <a:srgbClr val="0000CC"/>
                </a:solidFill>
              </a:rPr>
              <a:t>.</a:t>
            </a:r>
            <a:endParaRPr>
              <a:solidFill>
                <a:schemeClr val="dk1"/>
              </a:solidFill>
            </a:endParaRPr>
          </a:p>
          <a:p>
            <a:pPr indent="0" lvl="0" marL="0" rtl="0" algn="l">
              <a:spcBef>
                <a:spcPts val="0"/>
              </a:spcBef>
              <a:spcAft>
                <a:spcPts val="0"/>
              </a:spcAft>
              <a:buNone/>
            </a:pPr>
            <a:r>
              <a:t/>
            </a:r>
            <a:endParaRPr/>
          </a:p>
        </p:txBody>
      </p:sp>
      <p:sp>
        <p:nvSpPr>
          <p:cNvPr id="536" name="Google Shape;536;p6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Giới hạn cơ số</a:t>
            </a:r>
            <a:endParaRPr/>
          </a:p>
        </p:txBody>
      </p:sp>
      <p:sp>
        <p:nvSpPr>
          <p:cNvPr id="542" name="Google Shape;542;p67"/>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G</a:t>
            </a:r>
            <a:r>
              <a:rPr lang="en-GB"/>
              <a:t>iá trị tối thiểu và tối đa </a:t>
            </a:r>
            <a:r>
              <a:rPr lang="en-GB"/>
              <a:t>có thể được mô tả </a:t>
            </a:r>
            <a:r>
              <a:rPr lang="en-GB"/>
              <a:t>bằng owl:minCardinality &amp; owl:maxCardinality</a:t>
            </a:r>
            <a:endParaRPr/>
          </a:p>
          <a:p>
            <a:pPr indent="-368300" lvl="1" marL="914400" rtl="0" algn="l">
              <a:spcBef>
                <a:spcPts val="0"/>
              </a:spcBef>
              <a:spcAft>
                <a:spcPts val="0"/>
              </a:spcAft>
              <a:buSzPts val="2200"/>
              <a:buChar char="○"/>
            </a:pPr>
            <a:r>
              <a:rPr lang="en-GB"/>
              <a:t>Các khóa với ít hơn 10 sinh viên;</a:t>
            </a:r>
            <a:endParaRPr/>
          </a:p>
          <a:p>
            <a:pPr indent="-368300" lvl="1" marL="914400" rtl="0" algn="l">
              <a:spcBef>
                <a:spcPts val="0"/>
              </a:spcBef>
              <a:spcAft>
                <a:spcPts val="0"/>
              </a:spcAft>
              <a:buSzPts val="2200"/>
              <a:buChar char="○"/>
            </a:pPr>
            <a:r>
              <a:rPr lang="en-GB"/>
              <a:t>Các khóa với số lượng sinh viên trong khoảng 10 và 100;</a:t>
            </a:r>
            <a:endParaRPr/>
          </a:p>
          <a:p>
            <a:pPr indent="-368300" lvl="1" marL="914400" rtl="0" algn="l">
              <a:spcBef>
                <a:spcPts val="0"/>
              </a:spcBef>
              <a:spcAft>
                <a:spcPts val="0"/>
              </a:spcAft>
              <a:buSzPts val="2200"/>
              <a:buChar char="○"/>
            </a:pPr>
            <a:r>
              <a:rPr lang="en-GB"/>
              <a:t>Các khóa với nhiều hơn 100 sinh viên.</a:t>
            </a:r>
            <a:endParaRPr/>
          </a:p>
          <a:p>
            <a:pPr indent="-381000" lvl="0" marL="457200" rtl="0" algn="l">
              <a:spcBef>
                <a:spcPts val="0"/>
              </a:spcBef>
              <a:spcAft>
                <a:spcPts val="0"/>
              </a:spcAft>
              <a:buSzPts val="2400"/>
              <a:buChar char="●"/>
            </a:pPr>
            <a:r>
              <a:rPr lang="en-GB"/>
              <a:t>Giá trị cụ thể được mô tả bằng owl:cardinality</a:t>
            </a:r>
            <a:endParaRPr/>
          </a:p>
          <a:p>
            <a:pPr indent="-368300" lvl="1" marL="914400" rtl="0" algn="l">
              <a:spcBef>
                <a:spcPts val="0"/>
              </a:spcBef>
              <a:spcAft>
                <a:spcPts val="0"/>
              </a:spcAft>
              <a:buSzPts val="2200"/>
              <a:buChar char="○"/>
            </a:pPr>
            <a:r>
              <a:rPr lang="en-GB"/>
              <a:t>Khóa với đúng 7 sinh viên;</a:t>
            </a:r>
            <a:endParaRPr/>
          </a:p>
          <a:p>
            <a:pPr indent="-368300" lvl="1" marL="914400" rtl="0" algn="l">
              <a:spcBef>
                <a:spcPts val="0"/>
              </a:spcBef>
              <a:spcAft>
                <a:spcPts val="0"/>
              </a:spcAft>
              <a:buSzPts val="2200"/>
              <a:buChar char="○"/>
            </a:pPr>
            <a:r>
              <a:rPr lang="en-GB"/>
              <a:t>Cũng có thể được biểu diễn dựa trên giá trị cực tiểu và giá trị cực đại.</a:t>
            </a:r>
            <a:endParaRPr/>
          </a:p>
        </p:txBody>
      </p:sp>
      <p:sp>
        <p:nvSpPr>
          <p:cNvPr id="543" name="Google Shape;543;p6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Ví dụ 5.6. Giới hạn cơ số</a:t>
            </a:r>
            <a:endParaRPr/>
          </a:p>
        </p:txBody>
      </p:sp>
      <p:sp>
        <p:nvSpPr>
          <p:cNvPr id="549" name="Google Shape;549;p68"/>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lnSpc>
                <a:spcPct val="115000"/>
              </a:lnSpc>
              <a:spcBef>
                <a:spcPts val="0"/>
              </a:spcBef>
              <a:spcAft>
                <a:spcPts val="0"/>
              </a:spcAft>
              <a:buSzPts val="2400"/>
              <a:buChar char="●"/>
            </a:pPr>
            <a:r>
              <a:rPr lang="en-GB"/>
              <a:t>K</a:t>
            </a:r>
            <a:r>
              <a:rPr lang="en-GB"/>
              <a:t>hóa được dạy bởi ít nhất hai người</a:t>
            </a:r>
            <a:endParaRPr/>
          </a:p>
          <a:p>
            <a:pPr indent="-342900" lvl="0" marL="342900" rtl="0" algn="l">
              <a:lnSpc>
                <a:spcPct val="115000"/>
              </a:lnSpc>
              <a:spcBef>
                <a:spcPts val="0"/>
              </a:spcBef>
              <a:spcAft>
                <a:spcPts val="0"/>
              </a:spcAft>
              <a:buClr>
                <a:schemeClr val="dk1"/>
              </a:buClr>
              <a:buSzPts val="2400"/>
              <a:buFont typeface="Noto Sans Symbols"/>
              <a:buNone/>
            </a:pPr>
            <a:r>
              <a:rPr lang="en-GB">
                <a:solidFill>
                  <a:srgbClr val="666666"/>
                </a:solidFill>
              </a:rPr>
              <a:t>[a owl:Restriction;</a:t>
            </a:r>
            <a:endParaRPr>
              <a:solidFill>
                <a:srgbClr val="666666"/>
              </a:solidFill>
            </a:endParaRPr>
          </a:p>
          <a:p>
            <a:pPr indent="-342900" lvl="0" marL="342900" rtl="0" algn="l">
              <a:lnSpc>
                <a:spcPct val="115000"/>
              </a:lnSpc>
              <a:spcBef>
                <a:spcPts val="0"/>
              </a:spcBef>
              <a:spcAft>
                <a:spcPts val="0"/>
              </a:spcAft>
              <a:buClr>
                <a:schemeClr val="dk1"/>
              </a:buClr>
              <a:buSzPts val="2400"/>
              <a:buFont typeface="Noto Sans Symbols"/>
              <a:buNone/>
            </a:pPr>
            <a:r>
              <a:rPr lang="en-GB">
                <a:solidFill>
                  <a:srgbClr val="666666"/>
                </a:solidFill>
              </a:rPr>
              <a:t>  owl:onProperty :isTaughtBy;</a:t>
            </a:r>
            <a:endParaRPr>
              <a:solidFill>
                <a:srgbClr val="666666"/>
              </a:solidFill>
            </a:endParaRPr>
          </a:p>
          <a:p>
            <a:pPr indent="-342900" lvl="0" marL="342900" rtl="0" algn="l">
              <a:lnSpc>
                <a:spcPct val="115000"/>
              </a:lnSpc>
              <a:spcBef>
                <a:spcPts val="0"/>
              </a:spcBef>
              <a:spcAft>
                <a:spcPts val="0"/>
              </a:spcAft>
              <a:buNone/>
            </a:pPr>
            <a:r>
              <a:rPr lang="en-GB">
                <a:solidFill>
                  <a:srgbClr val="666666"/>
                </a:solidFill>
              </a:rPr>
              <a:t>  </a:t>
            </a:r>
            <a:r>
              <a:rPr b="1" lang="en-GB">
                <a:solidFill>
                  <a:srgbClr val="666666"/>
                </a:solidFill>
              </a:rPr>
              <a:t>owl:minCardinality   "2"^^xsd:nonNegativeInteger</a:t>
            </a:r>
            <a:r>
              <a:rPr lang="en-GB">
                <a:solidFill>
                  <a:srgbClr val="666666"/>
                </a:solidFill>
              </a:rPr>
              <a:t>] .</a:t>
            </a:r>
            <a:endParaRPr>
              <a:solidFill>
                <a:srgbClr val="666666"/>
              </a:solidFill>
            </a:endParaRPr>
          </a:p>
          <a:p>
            <a:pPr indent="-381000" lvl="0" marL="457200" rtl="0" algn="l">
              <a:lnSpc>
                <a:spcPct val="100000"/>
              </a:lnSpc>
              <a:spcBef>
                <a:spcPts val="1000"/>
              </a:spcBef>
              <a:spcAft>
                <a:spcPts val="0"/>
              </a:spcAft>
              <a:buClr>
                <a:srgbClr val="666666"/>
              </a:buClr>
              <a:buSzPts val="2400"/>
              <a:buChar char="●"/>
            </a:pPr>
            <a:r>
              <a:rPr lang="en-GB">
                <a:solidFill>
                  <a:srgbClr val="666666"/>
                </a:solidFill>
              </a:rPr>
              <a:t>Người có ít nhất 1 con:</a:t>
            </a:r>
            <a:endParaRPr>
              <a:solidFill>
                <a:srgbClr val="666666"/>
              </a:solidFill>
            </a:endParaRPr>
          </a:p>
          <a:p>
            <a:pPr indent="-280988" lvl="0" marL="280988" rtl="0" algn="l">
              <a:lnSpc>
                <a:spcPct val="100000"/>
              </a:lnSpc>
              <a:spcBef>
                <a:spcPts val="0"/>
              </a:spcBef>
              <a:spcAft>
                <a:spcPts val="0"/>
              </a:spcAft>
              <a:buClr>
                <a:schemeClr val="dk1"/>
              </a:buClr>
              <a:buSzPts val="2700"/>
              <a:buFont typeface="Arial"/>
              <a:buNone/>
            </a:pPr>
            <a:r>
              <a:rPr lang="en-GB">
                <a:solidFill>
                  <a:srgbClr val="666666"/>
                </a:solidFill>
              </a:rPr>
              <a:t>:Parent owl:equivalentClass </a:t>
            </a:r>
            <a:endParaRPr>
              <a:solidFill>
                <a:srgbClr val="666666"/>
              </a:solidFill>
            </a:endParaRPr>
          </a:p>
          <a:p>
            <a:pPr indent="-280988" lvl="0" marL="280988" rtl="0" algn="l">
              <a:lnSpc>
                <a:spcPct val="100000"/>
              </a:lnSpc>
              <a:spcBef>
                <a:spcPts val="720"/>
              </a:spcBef>
              <a:spcAft>
                <a:spcPts val="0"/>
              </a:spcAft>
              <a:buClr>
                <a:schemeClr val="dk1"/>
              </a:buClr>
              <a:buSzPts val="2700"/>
              <a:buFont typeface="Arial"/>
              <a:buNone/>
            </a:pPr>
            <a:r>
              <a:rPr lang="en-GB">
                <a:solidFill>
                  <a:srgbClr val="666666"/>
                </a:solidFill>
              </a:rPr>
              <a:t>    [a owl:Restriction;</a:t>
            </a:r>
            <a:endParaRPr>
              <a:solidFill>
                <a:srgbClr val="666666"/>
              </a:solidFill>
            </a:endParaRPr>
          </a:p>
          <a:p>
            <a:pPr indent="-280988" lvl="0" marL="280988" rtl="0" algn="l">
              <a:lnSpc>
                <a:spcPct val="100000"/>
              </a:lnSpc>
              <a:spcBef>
                <a:spcPts val="720"/>
              </a:spcBef>
              <a:spcAft>
                <a:spcPts val="0"/>
              </a:spcAft>
              <a:buClr>
                <a:schemeClr val="dk1"/>
              </a:buClr>
              <a:buSzPts val="2700"/>
              <a:buFont typeface="Arial"/>
              <a:buNone/>
            </a:pPr>
            <a:r>
              <a:rPr lang="en-GB">
                <a:solidFill>
                  <a:srgbClr val="666666"/>
                </a:solidFill>
              </a:rPr>
              <a:t>      owl:onProperty :hasChild;</a:t>
            </a:r>
            <a:endParaRPr>
              <a:solidFill>
                <a:srgbClr val="666666"/>
              </a:solidFill>
            </a:endParaRPr>
          </a:p>
          <a:p>
            <a:pPr indent="-280988" lvl="0" marL="280988" rtl="0" algn="l">
              <a:lnSpc>
                <a:spcPct val="100000"/>
              </a:lnSpc>
              <a:spcBef>
                <a:spcPts val="720"/>
              </a:spcBef>
              <a:spcAft>
                <a:spcPts val="0"/>
              </a:spcAft>
              <a:buNone/>
            </a:pPr>
            <a:r>
              <a:rPr lang="en-GB">
                <a:solidFill>
                  <a:srgbClr val="666666"/>
                </a:solidFill>
              </a:rPr>
              <a:t>      </a:t>
            </a:r>
            <a:r>
              <a:rPr b="1" lang="en-GB">
                <a:solidFill>
                  <a:srgbClr val="666666"/>
                </a:solidFill>
              </a:rPr>
              <a:t>owl:minCardinality "1"^^xsd:integer</a:t>
            </a:r>
            <a:r>
              <a:rPr lang="en-GB">
                <a:solidFill>
                  <a:srgbClr val="666666"/>
                </a:solidFill>
              </a:rPr>
              <a:t>] .</a:t>
            </a:r>
            <a:endParaRPr>
              <a:solidFill>
                <a:srgbClr val="666666"/>
              </a:solidFill>
            </a:endParaRPr>
          </a:p>
        </p:txBody>
      </p:sp>
      <p:sp>
        <p:nvSpPr>
          <p:cNvPr id="550" name="Google Shape;550;p6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Giả thuyết tên duy nhất</a:t>
            </a:r>
            <a:endParaRPr/>
          </a:p>
        </p:txBody>
      </p:sp>
      <p:sp>
        <p:nvSpPr>
          <p:cNvPr id="556" name="Google Shape;556;p69"/>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OWL không áp dụng giả thuyết tên duy nhất như trong các hệ </a:t>
            </a:r>
            <a:r>
              <a:rPr lang="en-GB"/>
              <a:t>quản trị </a:t>
            </a:r>
            <a:r>
              <a:rPr lang="en-GB"/>
              <a:t>CSDL</a:t>
            </a:r>
            <a:endParaRPr/>
          </a:p>
          <a:p>
            <a:pPr indent="-368300" lvl="1" marL="914400" rtl="0" algn="l">
              <a:spcBef>
                <a:spcPts val="0"/>
              </a:spcBef>
              <a:spcAft>
                <a:spcPts val="0"/>
              </a:spcAft>
              <a:buSzPts val="2200"/>
              <a:buChar char="○"/>
            </a:pPr>
            <a:r>
              <a:rPr lang="en-GB"/>
              <a:t>Các</a:t>
            </a:r>
            <a:r>
              <a:rPr lang="en-GB"/>
              <a:t> phần tử có ID khác nhau </a:t>
            </a:r>
            <a:r>
              <a:rPr lang="en-GB"/>
              <a:t>vẫn có thể là các phần tử tương đương</a:t>
            </a:r>
            <a:r>
              <a:rPr lang="en-GB"/>
              <a:t>.</a:t>
            </a:r>
            <a:endParaRPr/>
          </a:p>
          <a:p>
            <a:pPr indent="-381000" lvl="0" marL="457200" rtl="0" algn="l">
              <a:spcBef>
                <a:spcPts val="0"/>
              </a:spcBef>
              <a:spcAft>
                <a:spcPts val="0"/>
              </a:spcAft>
              <a:buSzPts val="2400"/>
              <a:buChar char="●"/>
            </a:pPr>
            <a:r>
              <a:rPr lang="en-GB"/>
              <a:t>Giả sử chúng ta khẳng định mỗi khóa được dạy bởi tối đa 1 giảng viên, </a:t>
            </a:r>
            <a:r>
              <a:rPr lang="en-GB"/>
              <a:t>nhưng nếu có</a:t>
            </a:r>
            <a:r>
              <a:rPr lang="en-GB"/>
              <a:t> 1 khóa được dạy bởi x và y.</a:t>
            </a:r>
            <a:endParaRPr/>
          </a:p>
          <a:p>
            <a:pPr indent="-368300" lvl="1" marL="914400" rtl="0" algn="l">
              <a:spcBef>
                <a:spcPts val="0"/>
              </a:spcBef>
              <a:spcAft>
                <a:spcPts val="0"/>
              </a:spcAft>
              <a:buSzPts val="2200"/>
              <a:buChar char="○"/>
            </a:pPr>
            <a:r>
              <a:rPr lang="en-GB"/>
              <a:t>Bộ suy diễn OWL </a:t>
            </a:r>
            <a:r>
              <a:rPr lang="en-GB"/>
              <a:t>sẽ </a:t>
            </a:r>
            <a:r>
              <a:rPr lang="en-GB"/>
              <a:t>không thiết lập cờ lỗi</a:t>
            </a:r>
            <a:endParaRPr/>
          </a:p>
          <a:p>
            <a:pPr indent="-368300" lvl="1" marL="914400" rtl="0" algn="l">
              <a:spcBef>
                <a:spcPts val="0"/>
              </a:spcBef>
              <a:spcAft>
                <a:spcPts val="0"/>
              </a:spcAft>
              <a:buSzPts val="2200"/>
              <a:buChar char="○"/>
            </a:pPr>
            <a:r>
              <a:rPr lang="en-GB"/>
              <a:t>Thay vào đó nó suy diễn x tương đương </a:t>
            </a:r>
            <a:r>
              <a:rPr lang="en-GB"/>
              <a:t>với y.</a:t>
            </a:r>
            <a:endParaRPr/>
          </a:p>
        </p:txBody>
      </p:sp>
      <p:sp>
        <p:nvSpPr>
          <p:cNvPr id="557" name="Google Shape;557;p6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đối tượng </a:t>
            </a:r>
            <a:r>
              <a:rPr lang="en-GB"/>
              <a:t>khác nhau</a:t>
            </a:r>
            <a:endParaRPr/>
          </a:p>
        </p:txBody>
      </p:sp>
      <p:sp>
        <p:nvSpPr>
          <p:cNvPr id="563" name="Google Shape;563;p70"/>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Có thể mô tả các đối tượng khác nhau với owl:differentFrom</a:t>
            </a:r>
            <a:endParaRPr/>
          </a:p>
          <a:p>
            <a:pPr indent="-368300" lvl="1" marL="914400" rtl="0" algn="just">
              <a:spcBef>
                <a:spcPts val="0"/>
              </a:spcBef>
              <a:spcAft>
                <a:spcPts val="0"/>
              </a:spcAft>
              <a:buSzPts val="2200"/>
              <a:buChar char="○"/>
            </a:pPr>
            <a:r>
              <a:rPr lang="en-GB"/>
              <a:t>Ví dụ: </a:t>
            </a:r>
            <a:r>
              <a:rPr lang="en-GB"/>
              <a:t>:john owl:differentFrom :mary .</a:t>
            </a:r>
            <a:endParaRPr/>
          </a:p>
          <a:p>
            <a:pPr indent="-381000" lvl="0" marL="457200" rtl="0" algn="l">
              <a:spcBef>
                <a:spcPts val="0"/>
              </a:spcBef>
              <a:spcAft>
                <a:spcPts val="0"/>
              </a:spcAft>
              <a:buSzPts val="2400"/>
              <a:buChar char="●"/>
            </a:pPr>
            <a:r>
              <a:rPr lang="en-GB"/>
              <a:t>OWL cung cấp cách viết tắt để mô tả 1 tập phần tử không trùng lặp:</a:t>
            </a:r>
            <a:endParaRPr/>
          </a:p>
          <a:p>
            <a:pPr indent="-368300" lvl="1" marL="914400" rtl="0" algn="l">
              <a:spcBef>
                <a:spcPts val="0"/>
              </a:spcBef>
              <a:spcAft>
                <a:spcPts val="0"/>
              </a:spcAft>
              <a:buSzPts val="2200"/>
              <a:buChar char="○"/>
            </a:pPr>
            <a:r>
              <a:rPr lang="en-GB"/>
              <a:t>Ví dụ: </a:t>
            </a:r>
            <a:endParaRPr/>
          </a:p>
          <a:p>
            <a:pPr indent="-368300" lvl="1" marL="914400" rtl="0" algn="l">
              <a:spcBef>
                <a:spcPts val="0"/>
              </a:spcBef>
              <a:spcAft>
                <a:spcPts val="0"/>
              </a:spcAft>
              <a:buSzPts val="2200"/>
              <a:buChar char="○"/>
            </a:pPr>
            <a:r>
              <a:rPr lang="en-GB" sz="2600"/>
              <a:t>[a owl:AllDifferent;</a:t>
            </a:r>
            <a:endParaRPr sz="2600"/>
          </a:p>
          <a:p>
            <a:pPr indent="0" lvl="0" marL="914400" rtl="0" algn="l">
              <a:spcBef>
                <a:spcPts val="0"/>
              </a:spcBef>
              <a:spcAft>
                <a:spcPts val="0"/>
              </a:spcAft>
              <a:buNone/>
            </a:pPr>
            <a:r>
              <a:rPr lang="en-GB"/>
              <a:t> </a:t>
            </a:r>
            <a:r>
              <a:rPr lang="en-GB" sz="2600"/>
              <a:t>owl:distinctMembers (:alice :bob :carol :don) ].</a:t>
            </a:r>
            <a:endParaRPr/>
          </a:p>
        </p:txBody>
      </p:sp>
      <p:sp>
        <p:nvSpPr>
          <p:cNvPr id="564" name="Google Shape;564;p7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kiểu dữ liệu trong OWL</a:t>
            </a:r>
            <a:endParaRPr/>
          </a:p>
        </p:txBody>
      </p:sp>
      <p:sp>
        <p:nvSpPr>
          <p:cNvPr id="570" name="Google Shape;570;p71"/>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Lược đồ XML cung cấp một cơ chế để người dùng tự tạo các kiểu dữ liệu</a:t>
            </a:r>
            <a:endParaRPr/>
          </a:p>
          <a:p>
            <a:pPr indent="-368300" lvl="1" marL="914400" rtl="0" algn="just">
              <a:spcBef>
                <a:spcPts val="0"/>
              </a:spcBef>
              <a:spcAft>
                <a:spcPts val="0"/>
              </a:spcAft>
              <a:buSzPts val="2200"/>
              <a:buChar char="○"/>
            </a:pPr>
            <a:r>
              <a:rPr lang="en-GB"/>
              <a:t>Ví dụ, kiểu dữ liệu AdultAge bao gồm các số nguyên &gt;= 18</a:t>
            </a:r>
            <a:endParaRPr/>
          </a:p>
          <a:p>
            <a:pPr indent="-381000" lvl="0" marL="457200" rtl="0" algn="just">
              <a:spcBef>
                <a:spcPts val="0"/>
              </a:spcBef>
              <a:spcAft>
                <a:spcPts val="0"/>
              </a:spcAft>
              <a:buSzPts val="2400"/>
              <a:buChar char="●"/>
            </a:pPr>
            <a:r>
              <a:rPr lang="en-GB"/>
              <a:t>Những kiểu dữ liệu suy diễn như vậy không dùng được trong OWL</a:t>
            </a:r>
            <a:endParaRPr/>
          </a:p>
          <a:p>
            <a:pPr indent="-368300" lvl="1" marL="914400" rtl="0" algn="just">
              <a:spcBef>
                <a:spcPts val="0"/>
              </a:spcBef>
              <a:spcAft>
                <a:spcPts val="0"/>
              </a:spcAft>
              <a:buSzPts val="2200"/>
              <a:buChar char="○"/>
            </a:pPr>
            <a:r>
              <a:rPr lang="en-GB"/>
              <a:t>Tài liệu suy diễn OWL liệt kê tất cả các kiểu từ lược đồ XML có thể được sử dụng</a:t>
            </a:r>
            <a:endParaRPr/>
          </a:p>
          <a:p>
            <a:pPr indent="-368300" lvl="1" marL="914400" rtl="0" algn="just">
              <a:spcBef>
                <a:spcPts val="0"/>
              </a:spcBef>
              <a:spcAft>
                <a:spcPts val="0"/>
              </a:spcAft>
              <a:buSzPts val="2200"/>
              <a:buChar char="○"/>
            </a:pPr>
            <a:r>
              <a:rPr lang="en-GB"/>
              <a:t>Danh sách này bao gồm những kiểu được sử dụng thường xuyên như string, integer, boolean, time, và date</a:t>
            </a:r>
            <a:endParaRPr/>
          </a:p>
        </p:txBody>
      </p:sp>
      <p:sp>
        <p:nvSpPr>
          <p:cNvPr id="571" name="Google Shape;571;p7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Suy diễn </a:t>
            </a:r>
            <a:r>
              <a:rPr lang="en-GB"/>
              <a:t>phân giải</a:t>
            </a:r>
            <a:endParaRPr/>
          </a:p>
        </p:txBody>
      </p:sp>
      <p:sp>
        <p:nvSpPr>
          <p:cNvPr id="577" name="Google Shape;577;p72"/>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Một ontology có thể cung cấp nhiều cách để suy ra các phần tử là </a:t>
            </a:r>
            <a:r>
              <a:rPr lang="en-GB"/>
              <a:t>khác nhau </a:t>
            </a:r>
            <a:r>
              <a:rPr lang="en-GB" sz="2400"/>
              <a:t>từ những gì </a:t>
            </a:r>
            <a:r>
              <a:rPr lang="en-GB" sz="2400"/>
              <a:t>đã </a:t>
            </a:r>
            <a:r>
              <a:rPr lang="en-GB" sz="2400"/>
              <a:t>biết về chúng, ví dụ:</a:t>
            </a:r>
            <a:endParaRPr sz="2400"/>
          </a:p>
          <a:p>
            <a:pPr indent="-381000" lvl="0" marL="457200" rtl="0" algn="l">
              <a:spcBef>
                <a:spcPts val="0"/>
              </a:spcBef>
              <a:spcAft>
                <a:spcPts val="0"/>
              </a:spcAft>
              <a:buSzPts val="2400"/>
              <a:buChar char="●"/>
            </a:pPr>
            <a:r>
              <a:rPr lang="en-GB" sz="2400"/>
              <a:t>Thuộc các tập không giao </a:t>
            </a:r>
            <a:r>
              <a:rPr lang="en-GB" sz="2400"/>
              <a:t>nhau</a:t>
            </a:r>
            <a:r>
              <a:rPr lang="en-GB" sz="2400"/>
              <a:t> (như :Man, :Woman)</a:t>
            </a:r>
            <a:endParaRPr sz="2400"/>
          </a:p>
          <a:p>
            <a:pPr indent="-355600" lvl="1" marL="914400" rtl="0" algn="l">
              <a:spcBef>
                <a:spcPts val="0"/>
              </a:spcBef>
              <a:spcAft>
                <a:spcPts val="0"/>
              </a:spcAft>
              <a:buSzPts val="2000"/>
              <a:buChar char="○"/>
            </a:pPr>
            <a:r>
              <a:rPr lang="en-GB" sz="2000"/>
              <a:t>:pat1 a :man. :pat2 a :woman. :man owl:disjointWith :woman.</a:t>
            </a:r>
            <a:endParaRPr sz="2000"/>
          </a:p>
          <a:p>
            <a:pPr indent="-381000" lvl="0" marL="457200" rtl="0" algn="l">
              <a:spcBef>
                <a:spcPts val="0"/>
              </a:spcBef>
              <a:spcAft>
                <a:spcPts val="0"/>
              </a:spcAft>
              <a:buSzPts val="2400"/>
              <a:buChar char="●"/>
            </a:pPr>
            <a:r>
              <a:rPr lang="en-GB" sz="2400"/>
              <a:t>Có các thuộc tính hàm nghịch với các giá trị khác </a:t>
            </a:r>
            <a:r>
              <a:rPr lang="en-GB"/>
              <a:t>nhau</a:t>
            </a:r>
            <a:endParaRPr sz="2400"/>
          </a:p>
          <a:p>
            <a:pPr indent="-355600" lvl="1" marL="914400" rtl="0" algn="l">
              <a:spcBef>
                <a:spcPts val="0"/>
              </a:spcBef>
              <a:spcAft>
                <a:spcPts val="0"/>
              </a:spcAft>
              <a:buSzPts val="2000"/>
              <a:buChar char="○"/>
            </a:pPr>
            <a:r>
              <a:rPr lang="en-GB" sz="2000"/>
              <a:t>:ssn a owl:inverseFunctionalProperty .</a:t>
            </a:r>
            <a:endParaRPr sz="2000"/>
          </a:p>
          <a:p>
            <a:pPr indent="-355600" lvl="1" marL="914400" rtl="0" algn="l">
              <a:spcBef>
                <a:spcPts val="0"/>
              </a:spcBef>
              <a:spcAft>
                <a:spcPts val="0"/>
              </a:spcAft>
              <a:buSzPts val="2000"/>
              <a:buChar char="○"/>
            </a:pPr>
            <a:r>
              <a:rPr lang="en-GB" sz="2000"/>
              <a:t>:pat1 :ssn "249148660". :pat2 :ssn "482962271".</a:t>
            </a:r>
            <a:endParaRPr sz="2000"/>
          </a:p>
          <a:p>
            <a:pPr indent="-381000" lvl="0" marL="457200" rtl="0" algn="l">
              <a:spcBef>
                <a:spcPts val="0"/>
              </a:spcBef>
              <a:spcAft>
                <a:spcPts val="0"/>
              </a:spcAft>
              <a:buSzPts val="2400"/>
              <a:buChar char="●"/>
            </a:pPr>
            <a:r>
              <a:rPr lang="en-GB" sz="2400"/>
              <a:t>Có các giá trị khác nhau từ một thuộc tính hàm</a:t>
            </a:r>
            <a:endParaRPr sz="2400"/>
          </a:p>
          <a:p>
            <a:pPr indent="-355600" lvl="1" marL="914400" rtl="0" algn="l">
              <a:spcBef>
                <a:spcPts val="0"/>
              </a:spcBef>
              <a:spcAft>
                <a:spcPts val="0"/>
              </a:spcAft>
              <a:buSzPts val="2000"/>
              <a:buChar char="○"/>
            </a:pPr>
            <a:r>
              <a:rPr lang="en-GB" sz="2000"/>
              <a:t>:ssn a owl:FunctionalProperty .</a:t>
            </a:r>
            <a:endParaRPr sz="2000"/>
          </a:p>
          <a:p>
            <a:pPr indent="-355600" lvl="1" marL="914400" rtl="0" algn="l">
              <a:spcBef>
                <a:spcPts val="0"/>
              </a:spcBef>
              <a:spcAft>
                <a:spcPts val="0"/>
              </a:spcAft>
              <a:buSzPts val="2000"/>
              <a:buChar char="○"/>
            </a:pPr>
            <a:r>
              <a:rPr lang="en-GB" sz="2000"/>
              <a:t>:pat1 :ssn "249148660". :pat2 :ssn "482962271" .</a:t>
            </a:r>
            <a:endParaRPr sz="2000"/>
          </a:p>
          <a:p>
            <a:pPr indent="-381000" lvl="0" marL="457200" rtl="0" algn="l">
              <a:spcBef>
                <a:spcPts val="0"/>
              </a:spcBef>
              <a:spcAft>
                <a:spcPts val="0"/>
              </a:spcAft>
              <a:buSzPts val="2400"/>
              <a:buChar char="●"/>
            </a:pPr>
            <a:r>
              <a:rPr lang="en-GB" sz="2400"/>
              <a:t>Được kết nối bằng mối quan hệ không phản xạ</a:t>
            </a:r>
            <a:endParaRPr sz="2400"/>
          </a:p>
          <a:p>
            <a:pPr indent="-355600" lvl="1" marL="914400" rtl="0" algn="l">
              <a:spcBef>
                <a:spcPts val="0"/>
              </a:spcBef>
              <a:spcAft>
                <a:spcPts val="0"/>
              </a:spcAft>
              <a:buSzPts val="2000"/>
              <a:buChar char="○"/>
            </a:pPr>
            <a:r>
              <a:rPr lang="en-GB" sz="2000"/>
              <a:t>:pat1 :hasChild :pat2. :hasChild a owl:IrreflexiveProperty .</a:t>
            </a:r>
            <a:endParaRPr sz="2000"/>
          </a:p>
        </p:txBody>
      </p:sp>
      <p:sp>
        <p:nvSpPr>
          <p:cNvPr id="578" name="Google Shape;578;p7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584" name="Google Shape;584;p73"/>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5.1. Tổng quan về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5.2. Ngữ nghĩa trực quan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5.3. Ví dụ tổng hợp: Thiên nhiên Châu Phi</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5.4. Các tầng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5.5. OWL 2</a:t>
            </a:r>
            <a:endParaRPr>
              <a:solidFill>
                <a:schemeClr val="dk1"/>
              </a:solidFill>
              <a:latin typeface="Times New Roman"/>
              <a:ea typeface="Times New Roman"/>
              <a:cs typeface="Times New Roman"/>
              <a:sym typeface="Times New Roman"/>
            </a:endParaRPr>
          </a:p>
        </p:txBody>
      </p:sp>
      <p:sp>
        <p:nvSpPr>
          <p:cNvPr id="585" name="Google Shape;585;p73"/>
          <p:cNvSpPr/>
          <p:nvPr/>
        </p:nvSpPr>
        <p:spPr>
          <a:xfrm>
            <a:off x="318450" y="1612350"/>
            <a:ext cx="57867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7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pic>
        <p:nvPicPr>
          <p:cNvPr id="591" name="Google Shape;591;p74"/>
          <p:cNvPicPr preferRelativeResize="0"/>
          <p:nvPr/>
        </p:nvPicPr>
        <p:blipFill rotWithShape="1">
          <a:blip r:embed="rId3">
            <a:alphaModFix/>
          </a:blip>
          <a:srcRect b="0" l="0" r="0" t="0"/>
          <a:stretch/>
        </p:blipFill>
        <p:spPr>
          <a:xfrm>
            <a:off x="1103449" y="574675"/>
            <a:ext cx="7145100" cy="4968600"/>
          </a:xfrm>
          <a:prstGeom prst="rect">
            <a:avLst/>
          </a:prstGeom>
          <a:noFill/>
          <a:ln>
            <a:noFill/>
          </a:ln>
        </p:spPr>
      </p:pic>
      <p:sp>
        <p:nvSpPr>
          <p:cNvPr id="592" name="Google Shape;592;p7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Ontology</a:t>
            </a:r>
            <a:r>
              <a:rPr lang="en-GB"/>
              <a:t> </a:t>
            </a:r>
            <a:r>
              <a:rPr lang="en-GB"/>
              <a:t>Thiên nhiên</a:t>
            </a:r>
            <a:r>
              <a:rPr lang="en-GB"/>
              <a:t> Châu Phi</a:t>
            </a:r>
            <a:endParaRPr/>
          </a:p>
        </p:txBody>
      </p:sp>
      <p:sp>
        <p:nvSpPr>
          <p:cNvPr id="593" name="Google Shape;593;p74"/>
          <p:cNvSpPr txBox="1"/>
          <p:nvPr>
            <p:ph idx="4294967295" type="body"/>
          </p:nvPr>
        </p:nvSpPr>
        <p:spPr>
          <a:xfrm>
            <a:off x="311700" y="5474650"/>
            <a:ext cx="8520600" cy="693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GB" sz="2200">
                <a:solidFill>
                  <a:srgbClr val="0000FF"/>
                </a:solidFill>
              </a:rPr>
              <a:t>[Tái</a:t>
            </a:r>
            <a:r>
              <a:rPr lang="en-GB" sz="2200">
                <a:solidFill>
                  <a:srgbClr val="0000FF"/>
                </a:solidFill>
              </a:rPr>
              <a:t> bản </a:t>
            </a:r>
            <a:r>
              <a:rPr lang="en-GB" sz="2200">
                <a:solidFill>
                  <a:srgbClr val="0000FF"/>
                </a:solidFill>
              </a:rPr>
              <a:t>lần 2</a:t>
            </a:r>
            <a:r>
              <a:rPr lang="en-GB" sz="2200">
                <a:solidFill>
                  <a:srgbClr val="0000FF"/>
                </a:solidFill>
              </a:rPr>
              <a:t> của The Semantic Web Primer]</a:t>
            </a:r>
            <a:endParaRPr sz="2200">
              <a:solidFill>
                <a:srgbClr val="0000FF"/>
              </a:solidFill>
            </a:endParaRPr>
          </a:p>
        </p:txBody>
      </p:sp>
      <p:sp>
        <p:nvSpPr>
          <p:cNvPr id="594" name="Google Shape;594;p7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533400" lvl="0" marL="533400" rtl="0" algn="l">
              <a:lnSpc>
                <a:spcPct val="100000"/>
              </a:lnSpc>
              <a:spcBef>
                <a:spcPts val="560"/>
              </a:spcBef>
              <a:spcAft>
                <a:spcPts val="0"/>
              </a:spcAft>
              <a:buNone/>
            </a:pPr>
            <a:r>
              <a:rPr lang="en-GB">
                <a:solidFill>
                  <a:srgbClr val="1155CC"/>
                </a:solidFill>
              </a:rPr>
              <a:t>:Plant owl:disjointWith :Animal</a:t>
            </a:r>
            <a:endParaRPr>
              <a:solidFill>
                <a:srgbClr val="1155CC"/>
              </a:solidFill>
            </a:endParaRPr>
          </a:p>
          <a:p>
            <a:pPr indent="-533400" lvl="0" marL="533400" rtl="0" algn="l">
              <a:lnSpc>
                <a:spcPct val="100000"/>
              </a:lnSpc>
              <a:spcBef>
                <a:spcPts val="560"/>
              </a:spcBef>
              <a:spcAft>
                <a:spcPts val="0"/>
              </a:spcAft>
              <a:buNone/>
            </a:pPr>
            <a:r>
              <a:rPr lang="en-GB">
                <a:solidFill>
                  <a:srgbClr val="1155CC"/>
                </a:solidFill>
              </a:rPr>
              <a:t>:Tree rdfs:subClassOf :Plant</a:t>
            </a:r>
            <a:endParaRPr>
              <a:solidFill>
                <a:srgbClr val="1155CC"/>
              </a:solidFill>
            </a:endParaRPr>
          </a:p>
          <a:p>
            <a:pPr indent="-533400" lvl="0" marL="533400" rtl="0" algn="l">
              <a:lnSpc>
                <a:spcPct val="100000"/>
              </a:lnSpc>
              <a:spcBef>
                <a:spcPts val="560"/>
              </a:spcBef>
              <a:spcAft>
                <a:spcPts val="0"/>
              </a:spcAft>
              <a:buClr>
                <a:schemeClr val="dk1"/>
              </a:buClr>
              <a:buSzPts val="2100"/>
              <a:buFont typeface="Arial"/>
              <a:buNone/>
            </a:pPr>
            <a:r>
              <a:t/>
            </a:r>
            <a:endParaRPr>
              <a:solidFill>
                <a:srgbClr val="1155CC"/>
              </a:solidFill>
            </a:endParaRPr>
          </a:p>
          <a:p>
            <a:pPr indent="0" lvl="0" marL="0" rtl="0" algn="l">
              <a:lnSpc>
                <a:spcPct val="100000"/>
              </a:lnSpc>
              <a:spcBef>
                <a:spcPts val="0"/>
              </a:spcBef>
              <a:spcAft>
                <a:spcPts val="0"/>
              </a:spcAft>
              <a:buClr>
                <a:schemeClr val="dk1"/>
              </a:buClr>
              <a:buSzPts val="1100"/>
              <a:buFont typeface="Arial"/>
              <a:buNone/>
            </a:pPr>
            <a:r>
              <a:rPr lang="en-GB">
                <a:solidFill>
                  <a:srgbClr val="434343"/>
                </a:solidFill>
              </a:rPr>
              <a:t>:Animal owl:disjointWith :Plant .</a:t>
            </a:r>
            <a:endParaRPr>
              <a:solidFill>
                <a:srgbClr val="434343"/>
              </a:solidFill>
            </a:endParaRPr>
          </a:p>
          <a:p>
            <a:pPr indent="0" lvl="0" marL="0" rtl="0" algn="l">
              <a:lnSpc>
                <a:spcPct val="100000"/>
              </a:lnSpc>
              <a:spcBef>
                <a:spcPts val="640"/>
              </a:spcBef>
              <a:spcAft>
                <a:spcPts val="0"/>
              </a:spcAft>
              <a:buClr>
                <a:schemeClr val="dk1"/>
              </a:buClr>
              <a:buSzPts val="2400"/>
              <a:buFont typeface="Arial"/>
              <a:buNone/>
            </a:pPr>
            <a:r>
              <a:rPr lang="en-GB">
                <a:solidFill>
                  <a:srgbClr val="434343"/>
                </a:solidFill>
              </a:rPr>
              <a:t>:Herbivore rsds:subClassOf :Animal;</a:t>
            </a:r>
            <a:endParaRPr>
              <a:solidFill>
                <a:srgbClr val="434343"/>
              </a:solidFill>
            </a:endParaRPr>
          </a:p>
          <a:p>
            <a:pPr indent="0" lvl="0" marL="0" rtl="0" algn="l">
              <a:lnSpc>
                <a:spcPct val="100000"/>
              </a:lnSpc>
              <a:spcBef>
                <a:spcPts val="640"/>
              </a:spcBef>
              <a:spcAft>
                <a:spcPts val="0"/>
              </a:spcAft>
              <a:buClr>
                <a:schemeClr val="dk1"/>
              </a:buClr>
              <a:buSzPts val="1100"/>
              <a:buFont typeface="Arial"/>
              <a:buNone/>
            </a:pPr>
            <a:r>
              <a:rPr lang="en-GB">
                <a:solidFill>
                  <a:srgbClr val="434343"/>
                </a:solidFill>
              </a:rPr>
              <a:t>  owl:disjointWith :Carnivore .</a:t>
            </a:r>
            <a:endParaRPr>
              <a:solidFill>
                <a:srgbClr val="434343"/>
              </a:solidFill>
            </a:endParaRPr>
          </a:p>
          <a:p>
            <a:pPr indent="0" lvl="0" marL="0" rtl="0" algn="l">
              <a:lnSpc>
                <a:spcPct val="100000"/>
              </a:lnSpc>
              <a:spcBef>
                <a:spcPts val="640"/>
              </a:spcBef>
              <a:spcAft>
                <a:spcPts val="0"/>
              </a:spcAft>
              <a:buClr>
                <a:schemeClr val="dk1"/>
              </a:buClr>
              <a:buSzPts val="1100"/>
              <a:buFont typeface="Arial"/>
              <a:buNone/>
            </a:pPr>
            <a:r>
              <a:rPr lang="en-GB">
                <a:solidFill>
                  <a:srgbClr val="434343"/>
                </a:solidFill>
              </a:rPr>
              <a:t>:Giraffe rdfs:subClassOf :Herbivore .</a:t>
            </a:r>
            <a:endParaRPr>
              <a:solidFill>
                <a:srgbClr val="434343"/>
              </a:solidFill>
            </a:endParaRPr>
          </a:p>
          <a:p>
            <a:pPr indent="0" lvl="0" marL="0" rtl="0" algn="l">
              <a:lnSpc>
                <a:spcPct val="100000"/>
              </a:lnSpc>
              <a:spcBef>
                <a:spcPts val="640"/>
              </a:spcBef>
              <a:spcAft>
                <a:spcPts val="0"/>
              </a:spcAft>
              <a:buClr>
                <a:schemeClr val="dk1"/>
              </a:buClr>
              <a:buSzPts val="2400"/>
              <a:buFont typeface="Arial"/>
              <a:buNone/>
            </a:pPr>
            <a:r>
              <a:rPr lang="en-GB">
                <a:solidFill>
                  <a:srgbClr val="434343"/>
                </a:solidFill>
              </a:rPr>
              <a:t>:Carnivore rdfs:subClassOf :Animal .</a:t>
            </a:r>
            <a:endParaRPr>
              <a:solidFill>
                <a:srgbClr val="434343"/>
              </a:solidFill>
            </a:endParaRPr>
          </a:p>
          <a:p>
            <a:pPr indent="0" lvl="0" marL="0" rtl="0" algn="l">
              <a:lnSpc>
                <a:spcPct val="100000"/>
              </a:lnSpc>
              <a:spcBef>
                <a:spcPts val="640"/>
              </a:spcBef>
              <a:spcAft>
                <a:spcPts val="0"/>
              </a:spcAft>
              <a:buClr>
                <a:schemeClr val="dk1"/>
              </a:buClr>
              <a:buSzPts val="2400"/>
              <a:buFont typeface="Arial"/>
              <a:buNone/>
            </a:pPr>
            <a:r>
              <a:rPr lang="en-GB">
                <a:solidFill>
                  <a:srgbClr val="434343"/>
                </a:solidFill>
              </a:rPr>
              <a:t>:Lion rdfs:subClassOf :Carnivore .</a:t>
            </a:r>
            <a:endParaRPr>
              <a:solidFill>
                <a:srgbClr val="434343"/>
              </a:solidFill>
            </a:endParaRPr>
          </a:p>
          <a:p>
            <a:pPr indent="0" lvl="0" marL="0" rtl="0" algn="l">
              <a:spcBef>
                <a:spcPts val="0"/>
              </a:spcBef>
              <a:spcAft>
                <a:spcPts val="0"/>
              </a:spcAft>
              <a:buNone/>
            </a:pPr>
            <a:r>
              <a:t/>
            </a:r>
            <a:endParaRPr/>
          </a:p>
        </p:txBody>
      </p:sp>
      <p:sp>
        <p:nvSpPr>
          <p:cNvPr id="600" name="Google Shape;600;p7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lớp cơ bản</a:t>
            </a:r>
            <a:endParaRPr baseline="-25000"/>
          </a:p>
        </p:txBody>
      </p:sp>
      <p:sp>
        <p:nvSpPr>
          <p:cNvPr id="601" name="Google Shape;601;p7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76"/>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12700" lvl="0" marL="12700" rtl="0" algn="l">
              <a:lnSpc>
                <a:spcPct val="115000"/>
              </a:lnSpc>
              <a:spcBef>
                <a:spcPts val="0"/>
              </a:spcBef>
              <a:spcAft>
                <a:spcPts val="0"/>
              </a:spcAft>
              <a:buClr>
                <a:schemeClr val="dk1"/>
              </a:buClr>
              <a:buSzPts val="2400"/>
              <a:buFont typeface="Arial"/>
              <a:buNone/>
            </a:pPr>
            <a:r>
              <a:rPr lang="en-GB">
                <a:solidFill>
                  <a:srgbClr val="666666"/>
                </a:solidFill>
              </a:rPr>
              <a:t>:isPartOf a owl:TransitiveProperty .</a:t>
            </a:r>
            <a:endParaRPr>
              <a:solidFill>
                <a:srgbClr val="666666"/>
              </a:solidFill>
            </a:endParaRPr>
          </a:p>
          <a:p>
            <a:pPr indent="0" lvl="0" marL="0" rtl="0" algn="l">
              <a:lnSpc>
                <a:spcPct val="115000"/>
              </a:lnSpc>
              <a:spcBef>
                <a:spcPts val="2240"/>
              </a:spcBef>
              <a:spcAft>
                <a:spcPts val="0"/>
              </a:spcAft>
              <a:buClr>
                <a:schemeClr val="dk1"/>
              </a:buClr>
              <a:buSzPts val="2400"/>
              <a:buFont typeface="Arial"/>
              <a:buNone/>
            </a:pPr>
            <a:r>
              <a:rPr lang="en-GB">
                <a:solidFill>
                  <a:srgbClr val="666666"/>
                </a:solidFill>
              </a:rPr>
              <a:t>:eats :domain :Animal.</a:t>
            </a:r>
            <a:endParaRPr>
              <a:solidFill>
                <a:srgbClr val="666666"/>
              </a:solidFill>
            </a:endParaRPr>
          </a:p>
          <a:p>
            <a:pPr indent="-12700" lvl="0" marL="12700" rtl="0" algn="l">
              <a:lnSpc>
                <a:spcPct val="115000"/>
              </a:lnSpc>
              <a:spcBef>
                <a:spcPts val="0"/>
              </a:spcBef>
              <a:spcAft>
                <a:spcPts val="0"/>
              </a:spcAft>
              <a:buClr>
                <a:schemeClr val="dk1"/>
              </a:buClr>
              <a:buSzPts val="2400"/>
              <a:buFont typeface="Arial"/>
              <a:buNone/>
            </a:pPr>
            <a:r>
              <a:rPr lang="en-GB">
                <a:solidFill>
                  <a:srgbClr val="666666"/>
                </a:solidFill>
              </a:rPr>
              <a:t># động vật có thuộc tính ăn</a:t>
            </a:r>
            <a:endParaRPr>
              <a:solidFill>
                <a:srgbClr val="666666"/>
              </a:solidFill>
            </a:endParaRPr>
          </a:p>
          <a:p>
            <a:pPr indent="-12700" lvl="0" marL="12700" rtl="0" algn="l">
              <a:lnSpc>
                <a:spcPct val="115000"/>
              </a:lnSpc>
              <a:spcBef>
                <a:spcPts val="0"/>
              </a:spcBef>
              <a:spcAft>
                <a:spcPts val="0"/>
              </a:spcAft>
              <a:buClr>
                <a:schemeClr val="dk1"/>
              </a:buClr>
              <a:buSzPts val="2400"/>
              <a:buFont typeface="Arial"/>
              <a:buNone/>
            </a:pPr>
            <a:r>
              <a:rPr lang="en-GB">
                <a:solidFill>
                  <a:srgbClr val="B45F06"/>
                </a:solidFill>
              </a:rPr>
              <a:t># Carnivorous plant ??</a:t>
            </a:r>
            <a:endParaRPr>
              <a:solidFill>
                <a:srgbClr val="B45F06"/>
              </a:solidFill>
            </a:endParaRPr>
          </a:p>
          <a:p>
            <a:pPr indent="-12700" lvl="0" marL="12700" rtl="0" algn="l">
              <a:lnSpc>
                <a:spcPct val="115000"/>
              </a:lnSpc>
              <a:spcBef>
                <a:spcPts val="0"/>
              </a:spcBef>
              <a:spcAft>
                <a:spcPts val="0"/>
              </a:spcAft>
              <a:buClr>
                <a:schemeClr val="dk1"/>
              </a:buClr>
              <a:buSzPts val="2400"/>
              <a:buFont typeface="Arial"/>
              <a:buNone/>
            </a:pPr>
            <a:br>
              <a:rPr lang="en-GB">
                <a:solidFill>
                  <a:srgbClr val="666666"/>
                </a:solidFill>
              </a:rPr>
            </a:br>
            <a:r>
              <a:rPr lang="en-GB">
                <a:solidFill>
                  <a:srgbClr val="666666"/>
                </a:solidFill>
              </a:rPr>
              <a:t>:eats owl:inverseOf :eatenBy.</a:t>
            </a:r>
            <a:endParaRPr>
              <a:solidFill>
                <a:srgbClr val="666666"/>
              </a:solidFill>
            </a:endParaRPr>
          </a:p>
          <a:p>
            <a:pPr indent="-12700" lvl="0" marL="12700" rtl="0" algn="l">
              <a:lnSpc>
                <a:spcPct val="115000"/>
              </a:lnSpc>
              <a:spcBef>
                <a:spcPts val="0"/>
              </a:spcBef>
              <a:spcAft>
                <a:spcPts val="0"/>
              </a:spcAft>
              <a:buClr>
                <a:schemeClr val="dk1"/>
              </a:buClr>
              <a:buSzPts val="2400"/>
              <a:buFont typeface="Arial"/>
              <a:buNone/>
            </a:pPr>
            <a:r>
              <a:rPr lang="en-GB">
                <a:solidFill>
                  <a:srgbClr val="666666"/>
                </a:solidFill>
              </a:rPr>
              <a:t># thuộc tính ngược / nghịch đảo của ăn là bị ăn</a:t>
            </a:r>
            <a:endParaRPr>
              <a:solidFill>
                <a:srgbClr val="666666"/>
              </a:solidFill>
            </a:endParaRPr>
          </a:p>
          <a:p>
            <a:pPr indent="0" lvl="0" marL="0" rtl="0" algn="l">
              <a:lnSpc>
                <a:spcPct val="115000"/>
              </a:lnSpc>
              <a:spcBef>
                <a:spcPts val="0"/>
              </a:spcBef>
              <a:spcAft>
                <a:spcPts val="0"/>
              </a:spcAft>
              <a:buNone/>
            </a:pPr>
            <a:r>
              <a:t/>
            </a:r>
            <a:endParaRPr/>
          </a:p>
        </p:txBody>
      </p:sp>
      <p:sp>
        <p:nvSpPr>
          <p:cNvPr id="607" name="Google Shape;607;p7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thuộc tính</a:t>
            </a:r>
            <a:endParaRPr baseline="-25000"/>
          </a:p>
        </p:txBody>
      </p:sp>
      <p:sp>
        <p:nvSpPr>
          <p:cNvPr id="608" name="Google Shape;608;p7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77"/>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533400" lvl="0" marL="533400" rtl="0" algn="l">
              <a:lnSpc>
                <a:spcPct val="115000"/>
              </a:lnSpc>
              <a:spcBef>
                <a:spcPts val="0"/>
              </a:spcBef>
              <a:spcAft>
                <a:spcPts val="0"/>
              </a:spcAft>
              <a:buClr>
                <a:schemeClr val="dk1"/>
              </a:buClr>
              <a:buSzPts val="2100"/>
              <a:buFont typeface="Arial"/>
              <a:buNone/>
            </a:pPr>
            <a:r>
              <a:rPr i="1" lang="en-GB">
                <a:solidFill>
                  <a:srgbClr val="666666"/>
                </a:solidFill>
              </a:rPr>
              <a:t># cành là bộ phận của cây</a:t>
            </a:r>
            <a:endParaRPr>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a:solidFill>
                  <a:srgbClr val="666666"/>
                </a:solidFill>
              </a:rPr>
              <a:t>:Branch rdfs:subClassOf</a:t>
            </a:r>
            <a:endParaRPr>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a:solidFill>
                  <a:srgbClr val="666666"/>
                </a:solidFill>
              </a:rPr>
              <a:t>  [a owl:Restriction; </a:t>
            </a:r>
            <a:endParaRPr>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a:solidFill>
                  <a:srgbClr val="666666"/>
                </a:solidFill>
              </a:rPr>
              <a:t>    owl:allValuesFrom :Tree</a:t>
            </a:r>
            <a:endParaRPr>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a:solidFill>
                  <a:srgbClr val="666666"/>
                </a:solidFill>
              </a:rPr>
              <a:t>    owl:onProperty :isPartOf]</a:t>
            </a:r>
            <a:endParaRPr>
              <a:solidFill>
                <a:srgbClr val="666666"/>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i="1" lang="en-GB">
                <a:solidFill>
                  <a:srgbClr val="666666"/>
                </a:solidFill>
              </a:rPr>
              <a:t># lá là bộ phận của cành</a:t>
            </a:r>
            <a:endParaRPr>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a:solidFill>
                  <a:srgbClr val="666666"/>
                </a:solidFill>
              </a:rPr>
              <a:t>:Leaf rdfs:subClassOf</a:t>
            </a:r>
            <a:endParaRPr>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a:solidFill>
                  <a:srgbClr val="666666"/>
                </a:solidFill>
              </a:rPr>
              <a:t>  [a owl:Restriction; </a:t>
            </a:r>
            <a:endParaRPr>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a:solidFill>
                  <a:srgbClr val="666666"/>
                </a:solidFill>
              </a:rPr>
              <a:t>    owl:allValuesFrom :Branch</a:t>
            </a:r>
            <a:endParaRPr>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a:solidFill>
                  <a:srgbClr val="666666"/>
                </a:solidFill>
              </a:rPr>
              <a:t>    owl:onProperty :isPartOf]</a:t>
            </a:r>
            <a:endParaRPr/>
          </a:p>
        </p:txBody>
      </p:sp>
      <p:sp>
        <p:nvSpPr>
          <p:cNvPr id="614" name="Google Shape;614;p7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lớp suy diễn</a:t>
            </a:r>
            <a:endParaRPr baseline="-25000"/>
          </a:p>
        </p:txBody>
      </p:sp>
      <p:sp>
        <p:nvSpPr>
          <p:cNvPr id="615" name="Google Shape;615;p7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16" name="Google Shape;616;p77"/>
          <p:cNvSpPr txBox="1"/>
          <p:nvPr/>
        </p:nvSpPr>
        <p:spPr>
          <a:xfrm>
            <a:off x="5034425" y="3603500"/>
            <a:ext cx="2792100" cy="9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GB" sz="2400">
                <a:solidFill>
                  <a:srgbClr val="1155CC"/>
                </a:solidFill>
              </a:rPr>
              <a:t>Vẽ các đồ thị RDF</a:t>
            </a:r>
            <a:endParaRPr i="1" sz="2400">
              <a:solidFill>
                <a:srgbClr val="1155CC"/>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7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nhánh</a:t>
            </a:r>
            <a:endParaRPr baseline="-25000"/>
          </a:p>
        </p:txBody>
      </p:sp>
      <p:sp>
        <p:nvSpPr>
          <p:cNvPr id="622" name="Google Shape;622;p78"/>
          <p:cNvSpPr txBox="1"/>
          <p:nvPr/>
        </p:nvSpPr>
        <p:spPr>
          <a:xfrm>
            <a:off x="215725" y="1082450"/>
            <a:ext cx="5125500" cy="2470500"/>
          </a:xfrm>
          <a:prstGeom prst="rect">
            <a:avLst/>
          </a:prstGeom>
          <a:noFill/>
          <a:ln>
            <a:noFill/>
          </a:ln>
        </p:spPr>
        <p:txBody>
          <a:bodyPr anchorCtr="0" anchor="t" bIns="91425" lIns="91425" spcFirstLastPara="1" rIns="91425" wrap="square" tIns="91425">
            <a:spAutoFit/>
          </a:bodyPr>
          <a:lstStyle/>
          <a:p>
            <a:pPr indent="-533400" lvl="0" marL="533400" rtl="0" algn="l">
              <a:lnSpc>
                <a:spcPct val="115000"/>
              </a:lnSpc>
              <a:spcBef>
                <a:spcPts val="560"/>
              </a:spcBef>
              <a:spcAft>
                <a:spcPts val="0"/>
              </a:spcAft>
              <a:buClr>
                <a:schemeClr val="dk1"/>
              </a:buClr>
              <a:buSzPts val="2100"/>
              <a:buFont typeface="Arial"/>
              <a:buNone/>
            </a:pPr>
            <a:r>
              <a:rPr i="1" lang="en-GB" sz="2200">
                <a:solidFill>
                  <a:srgbClr val="666666"/>
                </a:solidFill>
              </a:rPr>
              <a:t># cành là bộ phận của cây</a:t>
            </a:r>
            <a:endParaRPr sz="2200">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sz="2200">
                <a:solidFill>
                  <a:srgbClr val="666666"/>
                </a:solidFill>
              </a:rPr>
              <a:t>:Branch</a:t>
            </a:r>
            <a:r>
              <a:rPr lang="en-GB" sz="2200">
                <a:solidFill>
                  <a:srgbClr val="666666"/>
                </a:solidFill>
              </a:rPr>
              <a:t> rdfs:subClassOf</a:t>
            </a:r>
            <a:endParaRPr sz="2200">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sz="2200">
                <a:solidFill>
                  <a:srgbClr val="666666"/>
                </a:solidFill>
              </a:rPr>
              <a:t>  [a owl:Restriction; </a:t>
            </a:r>
            <a:endParaRPr sz="2200">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sz="2200">
                <a:solidFill>
                  <a:srgbClr val="666666"/>
                </a:solidFill>
              </a:rPr>
              <a:t>    owl:allValuesFrom :Tree</a:t>
            </a:r>
            <a:endParaRPr sz="2200">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sz="2200">
                <a:solidFill>
                  <a:srgbClr val="666666"/>
                </a:solidFill>
              </a:rPr>
              <a:t>    owl:onProperty :isPartOf]</a:t>
            </a:r>
            <a:endParaRPr sz="2200">
              <a:solidFill>
                <a:srgbClr val="666666"/>
              </a:solidFill>
            </a:endParaRPr>
          </a:p>
          <a:p>
            <a:pPr indent="0" lvl="0" marL="0" rtl="0" algn="l">
              <a:lnSpc>
                <a:spcPct val="115000"/>
              </a:lnSpc>
              <a:spcBef>
                <a:spcPts val="0"/>
              </a:spcBef>
              <a:spcAft>
                <a:spcPts val="0"/>
              </a:spcAft>
              <a:buNone/>
            </a:pPr>
            <a:r>
              <a:t/>
            </a:r>
            <a:endParaRPr sz="2200">
              <a:solidFill>
                <a:srgbClr val="666666"/>
              </a:solidFill>
            </a:endParaRPr>
          </a:p>
        </p:txBody>
      </p:sp>
      <p:sp>
        <p:nvSpPr>
          <p:cNvPr id="623" name="Google Shape;623;p78"/>
          <p:cNvSpPr txBox="1"/>
          <p:nvPr/>
        </p:nvSpPr>
        <p:spPr>
          <a:xfrm>
            <a:off x="251000" y="3713825"/>
            <a:ext cx="4534200" cy="2470500"/>
          </a:xfrm>
          <a:prstGeom prst="rect">
            <a:avLst/>
          </a:prstGeom>
          <a:noFill/>
          <a:ln>
            <a:noFill/>
          </a:ln>
        </p:spPr>
        <p:txBody>
          <a:bodyPr anchorCtr="0" anchor="t" bIns="91425" lIns="91425" spcFirstLastPara="1" rIns="91425" wrap="square" tIns="91425">
            <a:spAutoFit/>
          </a:bodyPr>
          <a:lstStyle/>
          <a:p>
            <a:pPr indent="-533400" lvl="0" marL="533400" rtl="0" algn="l">
              <a:lnSpc>
                <a:spcPct val="115000"/>
              </a:lnSpc>
              <a:spcBef>
                <a:spcPts val="0"/>
              </a:spcBef>
              <a:spcAft>
                <a:spcPts val="0"/>
              </a:spcAft>
              <a:buClr>
                <a:schemeClr val="dk1"/>
              </a:buClr>
              <a:buSzPts val="2100"/>
              <a:buFont typeface="Arial"/>
              <a:buNone/>
            </a:pPr>
            <a:r>
              <a:rPr i="1" lang="en-GB" sz="2200">
                <a:solidFill>
                  <a:srgbClr val="666666"/>
                </a:solidFill>
              </a:rPr>
              <a:t># lá là bộ phận của cành</a:t>
            </a:r>
            <a:endParaRPr sz="2200">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sz="2200">
                <a:solidFill>
                  <a:srgbClr val="666666"/>
                </a:solidFill>
              </a:rPr>
              <a:t>:Leaf</a:t>
            </a:r>
            <a:r>
              <a:rPr lang="en-GB" sz="2200">
                <a:solidFill>
                  <a:srgbClr val="666666"/>
                </a:solidFill>
              </a:rPr>
              <a:t> rdfs:subClassOf</a:t>
            </a:r>
            <a:endParaRPr sz="2200">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sz="2200">
                <a:solidFill>
                  <a:srgbClr val="666666"/>
                </a:solidFill>
              </a:rPr>
              <a:t>  [a owl:Restriction; </a:t>
            </a:r>
            <a:endParaRPr sz="2200">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sz="2200">
                <a:solidFill>
                  <a:srgbClr val="666666"/>
                </a:solidFill>
              </a:rPr>
              <a:t>    owl:allValuesFrom :Branch</a:t>
            </a:r>
            <a:endParaRPr sz="2200">
              <a:solidFill>
                <a:srgbClr val="666666"/>
              </a:solidFill>
            </a:endParaRPr>
          </a:p>
          <a:p>
            <a:pPr indent="-533400" lvl="0" marL="533400" rtl="0" algn="l">
              <a:lnSpc>
                <a:spcPct val="115000"/>
              </a:lnSpc>
              <a:spcBef>
                <a:spcPts val="0"/>
              </a:spcBef>
              <a:spcAft>
                <a:spcPts val="0"/>
              </a:spcAft>
              <a:buClr>
                <a:schemeClr val="dk1"/>
              </a:buClr>
              <a:buSzPts val="2100"/>
              <a:buFont typeface="Arial"/>
              <a:buNone/>
            </a:pPr>
            <a:r>
              <a:rPr lang="en-GB" sz="2200">
                <a:solidFill>
                  <a:srgbClr val="666666"/>
                </a:solidFill>
              </a:rPr>
              <a:t>    owl:onProperty :isPartOf]</a:t>
            </a:r>
            <a:endParaRPr sz="2200">
              <a:solidFill>
                <a:srgbClr val="666666"/>
              </a:solidFill>
            </a:endParaRPr>
          </a:p>
          <a:p>
            <a:pPr indent="0" lvl="0" marL="0" rtl="0" algn="l">
              <a:lnSpc>
                <a:spcPct val="115000"/>
              </a:lnSpc>
              <a:spcBef>
                <a:spcPts val="0"/>
              </a:spcBef>
              <a:spcAft>
                <a:spcPts val="0"/>
              </a:spcAft>
              <a:buNone/>
            </a:pPr>
            <a:r>
              <a:t/>
            </a:r>
            <a:endParaRPr sz="2200">
              <a:solidFill>
                <a:srgbClr val="666666"/>
              </a:solidFill>
            </a:endParaRPr>
          </a:p>
        </p:txBody>
      </p:sp>
      <p:sp>
        <p:nvSpPr>
          <p:cNvPr id="624" name="Google Shape;624;p7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25" name="Google Shape;625;p78"/>
          <p:cNvSpPr/>
          <p:nvPr/>
        </p:nvSpPr>
        <p:spPr>
          <a:xfrm>
            <a:off x="3805350" y="546200"/>
            <a:ext cx="1762500" cy="680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a:t>owl:Restriction</a:t>
            </a:r>
            <a:endParaRPr/>
          </a:p>
        </p:txBody>
      </p:sp>
      <p:sp>
        <p:nvSpPr>
          <p:cNvPr id="626" name="Google Shape;626;p78"/>
          <p:cNvSpPr/>
          <p:nvPr/>
        </p:nvSpPr>
        <p:spPr>
          <a:xfrm>
            <a:off x="7586656" y="698600"/>
            <a:ext cx="1410300" cy="680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a:t>:Tree</a:t>
            </a:r>
            <a:endParaRPr/>
          </a:p>
        </p:txBody>
      </p:sp>
      <p:sp>
        <p:nvSpPr>
          <p:cNvPr id="627" name="Google Shape;627;p78"/>
          <p:cNvSpPr/>
          <p:nvPr/>
        </p:nvSpPr>
        <p:spPr>
          <a:xfrm>
            <a:off x="5651025" y="470000"/>
            <a:ext cx="1410300" cy="680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a:t>:isPartOf</a:t>
            </a:r>
            <a:endParaRPr/>
          </a:p>
        </p:txBody>
      </p:sp>
      <p:sp>
        <p:nvSpPr>
          <p:cNvPr id="628" name="Google Shape;628;p78"/>
          <p:cNvSpPr/>
          <p:nvPr/>
        </p:nvSpPr>
        <p:spPr>
          <a:xfrm>
            <a:off x="5955825" y="1536800"/>
            <a:ext cx="1410300" cy="680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a:t>_:1</a:t>
            </a:r>
            <a:endParaRPr/>
          </a:p>
        </p:txBody>
      </p:sp>
      <p:sp>
        <p:nvSpPr>
          <p:cNvPr id="629" name="Google Shape;629;p78"/>
          <p:cNvSpPr/>
          <p:nvPr/>
        </p:nvSpPr>
        <p:spPr>
          <a:xfrm>
            <a:off x="5955825" y="2527400"/>
            <a:ext cx="1410300" cy="680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a:t>:Branch</a:t>
            </a:r>
            <a:endParaRPr/>
          </a:p>
        </p:txBody>
      </p:sp>
      <p:cxnSp>
        <p:nvCxnSpPr>
          <p:cNvPr id="630" name="Google Shape;630;p78"/>
          <p:cNvCxnSpPr>
            <a:stCxn id="629" idx="0"/>
            <a:endCxn id="628" idx="4"/>
          </p:cNvCxnSpPr>
          <p:nvPr/>
        </p:nvCxnSpPr>
        <p:spPr>
          <a:xfrm rot="10800000">
            <a:off x="6660975" y="2217500"/>
            <a:ext cx="0" cy="309900"/>
          </a:xfrm>
          <a:prstGeom prst="straightConnector1">
            <a:avLst/>
          </a:prstGeom>
          <a:noFill/>
          <a:ln cap="flat" cmpd="sng" w="9525">
            <a:solidFill>
              <a:schemeClr val="dk2"/>
            </a:solidFill>
            <a:prstDash val="solid"/>
            <a:round/>
            <a:headEnd len="med" w="med" type="none"/>
            <a:tailEnd len="med" w="med" type="triangle"/>
          </a:ln>
        </p:spPr>
      </p:cxnSp>
      <p:cxnSp>
        <p:nvCxnSpPr>
          <p:cNvPr id="631" name="Google Shape;631;p78"/>
          <p:cNvCxnSpPr>
            <a:stCxn id="628" idx="0"/>
            <a:endCxn id="627" idx="4"/>
          </p:cNvCxnSpPr>
          <p:nvPr/>
        </p:nvCxnSpPr>
        <p:spPr>
          <a:xfrm rot="10800000">
            <a:off x="6356175" y="1150700"/>
            <a:ext cx="304800" cy="386100"/>
          </a:xfrm>
          <a:prstGeom prst="straightConnector1">
            <a:avLst/>
          </a:prstGeom>
          <a:noFill/>
          <a:ln cap="flat" cmpd="sng" w="9525">
            <a:solidFill>
              <a:schemeClr val="dk2"/>
            </a:solidFill>
            <a:prstDash val="solid"/>
            <a:round/>
            <a:headEnd len="med" w="med" type="none"/>
            <a:tailEnd len="med" w="med" type="triangle"/>
          </a:ln>
        </p:spPr>
      </p:cxnSp>
      <p:cxnSp>
        <p:nvCxnSpPr>
          <p:cNvPr id="632" name="Google Shape;632;p78"/>
          <p:cNvCxnSpPr>
            <a:endCxn id="625" idx="5"/>
          </p:cNvCxnSpPr>
          <p:nvPr/>
        </p:nvCxnSpPr>
        <p:spPr>
          <a:xfrm rot="10800000">
            <a:off x="5309738" y="1127214"/>
            <a:ext cx="835200" cy="521700"/>
          </a:xfrm>
          <a:prstGeom prst="straightConnector1">
            <a:avLst/>
          </a:prstGeom>
          <a:noFill/>
          <a:ln cap="flat" cmpd="sng" w="9525">
            <a:solidFill>
              <a:schemeClr val="dk2"/>
            </a:solidFill>
            <a:prstDash val="solid"/>
            <a:round/>
            <a:headEnd len="med" w="med" type="none"/>
            <a:tailEnd len="med" w="med" type="triangle"/>
          </a:ln>
        </p:spPr>
      </p:cxnSp>
      <p:cxnSp>
        <p:nvCxnSpPr>
          <p:cNvPr id="633" name="Google Shape;633;p78"/>
          <p:cNvCxnSpPr>
            <a:stCxn id="628" idx="7"/>
            <a:endCxn id="626" idx="3"/>
          </p:cNvCxnSpPr>
          <p:nvPr/>
        </p:nvCxnSpPr>
        <p:spPr>
          <a:xfrm flipH="1" rot="10800000">
            <a:off x="7159591" y="1279486"/>
            <a:ext cx="633600" cy="357000"/>
          </a:xfrm>
          <a:prstGeom prst="straightConnector1">
            <a:avLst/>
          </a:prstGeom>
          <a:noFill/>
          <a:ln cap="flat" cmpd="sng" w="9525">
            <a:solidFill>
              <a:schemeClr val="dk2"/>
            </a:solidFill>
            <a:prstDash val="solid"/>
            <a:round/>
            <a:headEnd len="med" w="med" type="none"/>
            <a:tailEnd len="med" w="med" type="triangle"/>
          </a:ln>
        </p:spPr>
      </p:cxnSp>
      <p:sp>
        <p:nvSpPr>
          <p:cNvPr id="634" name="Google Shape;634;p78"/>
          <p:cNvSpPr txBox="1"/>
          <p:nvPr/>
        </p:nvSpPr>
        <p:spPr>
          <a:xfrm>
            <a:off x="6773075" y="2251100"/>
            <a:ext cx="16233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rdfs:subClassOf</a:t>
            </a:r>
            <a:endParaRPr/>
          </a:p>
        </p:txBody>
      </p:sp>
      <p:sp>
        <p:nvSpPr>
          <p:cNvPr id="635" name="Google Shape;635;p78"/>
          <p:cNvSpPr txBox="1"/>
          <p:nvPr/>
        </p:nvSpPr>
        <p:spPr>
          <a:xfrm>
            <a:off x="4868075" y="1336700"/>
            <a:ext cx="16233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rdf:type</a:t>
            </a:r>
            <a:endParaRPr/>
          </a:p>
        </p:txBody>
      </p:sp>
      <p:sp>
        <p:nvSpPr>
          <p:cNvPr id="636" name="Google Shape;636;p78"/>
          <p:cNvSpPr txBox="1"/>
          <p:nvPr/>
        </p:nvSpPr>
        <p:spPr>
          <a:xfrm>
            <a:off x="7306475" y="1412900"/>
            <a:ext cx="16233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owl:allValuesFrom</a:t>
            </a:r>
            <a:endParaRPr/>
          </a:p>
        </p:txBody>
      </p:sp>
      <p:sp>
        <p:nvSpPr>
          <p:cNvPr id="637" name="Google Shape;637;p78"/>
          <p:cNvSpPr txBox="1"/>
          <p:nvPr/>
        </p:nvSpPr>
        <p:spPr>
          <a:xfrm>
            <a:off x="6365899" y="1055749"/>
            <a:ext cx="16233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owl:onProperty</a:t>
            </a:r>
            <a:endParaRPr/>
          </a:p>
        </p:txBody>
      </p:sp>
      <p:sp>
        <p:nvSpPr>
          <p:cNvPr id="638" name="Google Shape;638;p78"/>
          <p:cNvSpPr/>
          <p:nvPr/>
        </p:nvSpPr>
        <p:spPr>
          <a:xfrm>
            <a:off x="3652950" y="3441800"/>
            <a:ext cx="1762500" cy="680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a:t>owl:Restriction</a:t>
            </a:r>
            <a:endParaRPr/>
          </a:p>
        </p:txBody>
      </p:sp>
      <p:sp>
        <p:nvSpPr>
          <p:cNvPr id="639" name="Google Shape;639;p78"/>
          <p:cNvSpPr/>
          <p:nvPr/>
        </p:nvSpPr>
        <p:spPr>
          <a:xfrm>
            <a:off x="5574825" y="3518000"/>
            <a:ext cx="1410300" cy="680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a:t>:isPartOf</a:t>
            </a:r>
            <a:endParaRPr/>
          </a:p>
        </p:txBody>
      </p:sp>
      <p:sp>
        <p:nvSpPr>
          <p:cNvPr id="640" name="Google Shape;640;p78"/>
          <p:cNvSpPr/>
          <p:nvPr/>
        </p:nvSpPr>
        <p:spPr>
          <a:xfrm>
            <a:off x="5879625" y="4584800"/>
            <a:ext cx="1410300" cy="680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a:t>_:2</a:t>
            </a:r>
            <a:endParaRPr/>
          </a:p>
        </p:txBody>
      </p:sp>
      <p:sp>
        <p:nvSpPr>
          <p:cNvPr id="641" name="Google Shape;641;p78"/>
          <p:cNvSpPr txBox="1"/>
          <p:nvPr/>
        </p:nvSpPr>
        <p:spPr>
          <a:xfrm>
            <a:off x="4868075" y="4156100"/>
            <a:ext cx="10518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rdf:type</a:t>
            </a:r>
            <a:endParaRPr/>
          </a:p>
        </p:txBody>
      </p:sp>
      <p:sp>
        <p:nvSpPr>
          <p:cNvPr id="642" name="Google Shape;642;p78"/>
          <p:cNvSpPr txBox="1"/>
          <p:nvPr/>
        </p:nvSpPr>
        <p:spPr>
          <a:xfrm>
            <a:off x="7306475" y="3698900"/>
            <a:ext cx="16233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owl:allValuesFrom</a:t>
            </a:r>
            <a:endParaRPr/>
          </a:p>
        </p:txBody>
      </p:sp>
      <p:sp>
        <p:nvSpPr>
          <p:cNvPr id="643" name="Google Shape;643;p78"/>
          <p:cNvSpPr txBox="1"/>
          <p:nvPr/>
        </p:nvSpPr>
        <p:spPr>
          <a:xfrm>
            <a:off x="6289699" y="4103749"/>
            <a:ext cx="16233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owl:onProperty</a:t>
            </a:r>
            <a:endParaRPr/>
          </a:p>
        </p:txBody>
      </p:sp>
      <p:cxnSp>
        <p:nvCxnSpPr>
          <p:cNvPr id="644" name="Google Shape;644;p78"/>
          <p:cNvCxnSpPr>
            <a:stCxn id="640" idx="7"/>
            <a:endCxn id="629" idx="6"/>
          </p:cNvCxnSpPr>
          <p:nvPr/>
        </p:nvCxnSpPr>
        <p:spPr>
          <a:xfrm rot="-5400000">
            <a:off x="6316291" y="3634786"/>
            <a:ext cx="1816800" cy="282600"/>
          </a:xfrm>
          <a:prstGeom prst="curvedConnector4">
            <a:avLst>
              <a:gd fmla="val 43375" name="adj1"/>
              <a:gd fmla="val 184310" name="adj2"/>
            </a:avLst>
          </a:prstGeom>
          <a:noFill/>
          <a:ln cap="flat" cmpd="sng" w="9525">
            <a:solidFill>
              <a:schemeClr val="dk2"/>
            </a:solidFill>
            <a:prstDash val="solid"/>
            <a:round/>
            <a:headEnd len="med" w="med" type="none"/>
            <a:tailEnd len="med" w="med" type="stealth"/>
          </a:ln>
        </p:spPr>
      </p:cxnSp>
      <p:cxnSp>
        <p:nvCxnSpPr>
          <p:cNvPr id="645" name="Google Shape;645;p78"/>
          <p:cNvCxnSpPr>
            <a:stCxn id="640" idx="0"/>
            <a:endCxn id="639" idx="4"/>
          </p:cNvCxnSpPr>
          <p:nvPr/>
        </p:nvCxnSpPr>
        <p:spPr>
          <a:xfrm rot="10800000">
            <a:off x="6279975" y="4198700"/>
            <a:ext cx="304800" cy="386100"/>
          </a:xfrm>
          <a:prstGeom prst="straightConnector1">
            <a:avLst/>
          </a:prstGeom>
          <a:noFill/>
          <a:ln cap="flat" cmpd="sng" w="9525">
            <a:solidFill>
              <a:schemeClr val="dk2"/>
            </a:solidFill>
            <a:prstDash val="solid"/>
            <a:round/>
            <a:headEnd len="med" w="med" type="none"/>
            <a:tailEnd len="med" w="med" type="triangle"/>
          </a:ln>
        </p:spPr>
      </p:cxnSp>
      <p:cxnSp>
        <p:nvCxnSpPr>
          <p:cNvPr id="646" name="Google Shape;646;p78"/>
          <p:cNvCxnSpPr>
            <a:stCxn id="640" idx="1"/>
            <a:endCxn id="638" idx="5"/>
          </p:cNvCxnSpPr>
          <p:nvPr/>
        </p:nvCxnSpPr>
        <p:spPr>
          <a:xfrm rot="10800000">
            <a:off x="5157359" y="4022686"/>
            <a:ext cx="928800" cy="661800"/>
          </a:xfrm>
          <a:prstGeom prst="straightConnector1">
            <a:avLst/>
          </a:prstGeom>
          <a:noFill/>
          <a:ln cap="flat" cmpd="sng" w="9525">
            <a:solidFill>
              <a:schemeClr val="dk2"/>
            </a:solidFill>
            <a:prstDash val="solid"/>
            <a:round/>
            <a:headEnd len="med" w="med" type="none"/>
            <a:tailEnd len="med" w="med" type="triangle"/>
          </a:ln>
        </p:spPr>
      </p:cxnSp>
      <p:sp>
        <p:nvSpPr>
          <p:cNvPr id="647" name="Google Shape;647;p78"/>
          <p:cNvSpPr/>
          <p:nvPr/>
        </p:nvSpPr>
        <p:spPr>
          <a:xfrm>
            <a:off x="5879625" y="5651600"/>
            <a:ext cx="1410300" cy="6807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54000" lIns="18000" spcFirstLastPara="1" rIns="18000" wrap="square" tIns="54000">
            <a:noAutofit/>
          </a:bodyPr>
          <a:lstStyle/>
          <a:p>
            <a:pPr indent="0" lvl="0" marL="0" rtl="0" algn="ctr">
              <a:spcBef>
                <a:spcPts val="0"/>
              </a:spcBef>
              <a:spcAft>
                <a:spcPts val="0"/>
              </a:spcAft>
              <a:buNone/>
            </a:pPr>
            <a:r>
              <a:rPr lang="en-GB"/>
              <a:t>:Leaf</a:t>
            </a:r>
            <a:endParaRPr/>
          </a:p>
        </p:txBody>
      </p:sp>
      <p:sp>
        <p:nvSpPr>
          <p:cNvPr id="648" name="Google Shape;648;p78"/>
          <p:cNvSpPr txBox="1"/>
          <p:nvPr/>
        </p:nvSpPr>
        <p:spPr>
          <a:xfrm>
            <a:off x="6696875" y="5375300"/>
            <a:ext cx="1623300" cy="3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rdfs:subClassOf</a:t>
            </a:r>
            <a:endParaRPr/>
          </a:p>
        </p:txBody>
      </p:sp>
      <p:cxnSp>
        <p:nvCxnSpPr>
          <p:cNvPr id="649" name="Google Shape;649;p78"/>
          <p:cNvCxnSpPr>
            <a:stCxn id="647" idx="0"/>
            <a:endCxn id="640" idx="4"/>
          </p:cNvCxnSpPr>
          <p:nvPr/>
        </p:nvCxnSpPr>
        <p:spPr>
          <a:xfrm rot="10800000">
            <a:off x="6584775" y="5265500"/>
            <a:ext cx="0" cy="386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7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Động vật ăn thịt</a:t>
            </a:r>
            <a:endParaRPr/>
          </a:p>
        </p:txBody>
      </p:sp>
      <p:sp>
        <p:nvSpPr>
          <p:cNvPr id="655" name="Google Shape;655;p79"/>
          <p:cNvSpPr txBox="1"/>
          <p:nvPr/>
        </p:nvSpPr>
        <p:spPr>
          <a:xfrm>
            <a:off x="470100" y="1074375"/>
            <a:ext cx="8188800" cy="3103200"/>
          </a:xfrm>
          <a:prstGeom prst="rect">
            <a:avLst/>
          </a:prstGeom>
          <a:noFill/>
          <a:ln>
            <a:noFill/>
          </a:ln>
        </p:spPr>
        <p:txBody>
          <a:bodyPr anchorCtr="0" anchor="t" bIns="91425" lIns="91425" spcFirstLastPara="1" rIns="91425" wrap="square" tIns="91425">
            <a:spAutoFit/>
          </a:bodyPr>
          <a:lstStyle/>
          <a:p>
            <a:pPr indent="-533400" lvl="0" marL="533400" rtl="0" algn="l">
              <a:lnSpc>
                <a:spcPct val="115000"/>
              </a:lnSpc>
              <a:spcBef>
                <a:spcPts val="0"/>
              </a:spcBef>
              <a:spcAft>
                <a:spcPts val="0"/>
              </a:spcAft>
              <a:buClr>
                <a:schemeClr val="dk1"/>
              </a:buClr>
              <a:buSzPts val="2400"/>
              <a:buFont typeface="Arial"/>
              <a:buNone/>
            </a:pPr>
            <a:r>
              <a:rPr i="1" lang="en-GB" sz="2400">
                <a:solidFill>
                  <a:srgbClr val="666666"/>
                </a:solidFill>
              </a:rPr>
              <a:t># Động vật ăn thịt là những động vật ăn động vật khác</a:t>
            </a:r>
            <a:endParaRPr sz="2400">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sz="2400">
                <a:solidFill>
                  <a:srgbClr val="666666"/>
                </a:solidFill>
              </a:rPr>
              <a:t>:Carnivore owl:intersectionOf </a:t>
            </a:r>
            <a:endParaRPr sz="2400">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sz="2400">
                <a:solidFill>
                  <a:srgbClr val="666666"/>
                </a:solidFill>
              </a:rPr>
              <a:t>    (:Animal, </a:t>
            </a:r>
            <a:endParaRPr sz="2400">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sz="2400">
                <a:solidFill>
                  <a:srgbClr val="666666"/>
                </a:solidFill>
              </a:rPr>
              <a:t>         [a owl:Restriction; </a:t>
            </a:r>
            <a:endParaRPr sz="2400">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sz="2400">
                <a:solidFill>
                  <a:srgbClr val="666666"/>
                </a:solidFill>
              </a:rPr>
              <a:t>             </a:t>
            </a:r>
            <a:r>
              <a:rPr lang="en-GB" sz="2400">
                <a:solidFill>
                  <a:srgbClr val="666666"/>
                </a:solidFill>
              </a:rPr>
              <a:t>owl:onProperty :eats;</a:t>
            </a:r>
            <a:endParaRPr sz="2400">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sz="2400">
                <a:solidFill>
                  <a:srgbClr val="666666"/>
                </a:solidFill>
              </a:rPr>
              <a:t>             owl:someValuesFrom :Animal]</a:t>
            </a:r>
            <a:endParaRPr sz="2400">
              <a:solidFill>
                <a:srgbClr val="666666"/>
              </a:solidFill>
            </a:endParaRPr>
          </a:p>
          <a:p>
            <a:pPr indent="-533400" lvl="0" marL="533400" rtl="0" algn="l">
              <a:lnSpc>
                <a:spcPct val="115000"/>
              </a:lnSpc>
              <a:spcBef>
                <a:spcPts val="0"/>
              </a:spcBef>
              <a:spcAft>
                <a:spcPts val="0"/>
              </a:spcAft>
              <a:buNone/>
            </a:pPr>
            <a:r>
              <a:rPr lang="en-GB" sz="2400">
                <a:solidFill>
                  <a:srgbClr val="666666"/>
                </a:solidFill>
              </a:rPr>
              <a:t>    ) .</a:t>
            </a:r>
            <a:endParaRPr sz="2400">
              <a:solidFill>
                <a:srgbClr val="666666"/>
              </a:solidFill>
            </a:endParaRPr>
          </a:p>
        </p:txBody>
      </p:sp>
      <p:sp>
        <p:nvSpPr>
          <p:cNvPr id="656" name="Google Shape;656;p79"/>
          <p:cNvSpPr txBox="1"/>
          <p:nvPr/>
        </p:nvSpPr>
        <p:spPr>
          <a:xfrm>
            <a:off x="530750" y="4276300"/>
            <a:ext cx="8188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400">
                <a:solidFill>
                  <a:srgbClr val="0000FF"/>
                </a:solidFill>
              </a:rPr>
              <a:t>Động vật ăn thịt có ăn cây cỏ không?</a:t>
            </a:r>
            <a:endParaRPr i="1" sz="2400">
              <a:solidFill>
                <a:srgbClr val="0000FF"/>
              </a:solidFill>
            </a:endParaRPr>
          </a:p>
          <a:p>
            <a:pPr indent="0" lvl="0" marL="0" rtl="0" algn="l">
              <a:spcBef>
                <a:spcPts val="0"/>
              </a:spcBef>
              <a:spcAft>
                <a:spcPts val="0"/>
              </a:spcAft>
              <a:buNone/>
            </a:pPr>
            <a:r>
              <a:rPr i="1" lang="en-GB" sz="2400">
                <a:solidFill>
                  <a:srgbClr val="0000FF"/>
                </a:solidFill>
              </a:rPr>
              <a:t>Chúng ta định nghĩa động vật ăn cỏ bằng cách nào?</a:t>
            </a:r>
            <a:endParaRPr i="1" sz="2400">
              <a:solidFill>
                <a:srgbClr val="0000FF"/>
              </a:solidFill>
            </a:endParaRPr>
          </a:p>
        </p:txBody>
      </p:sp>
      <p:sp>
        <p:nvSpPr>
          <p:cNvPr id="657" name="Google Shape;657;p7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Động vật ăn thịt</a:t>
            </a:r>
            <a:r>
              <a:rPr baseline="-25000" lang="en-GB"/>
              <a:t>(2)</a:t>
            </a:r>
            <a:endParaRPr baseline="-25000"/>
          </a:p>
        </p:txBody>
      </p:sp>
      <p:sp>
        <p:nvSpPr>
          <p:cNvPr id="663" name="Google Shape;663;p80"/>
          <p:cNvSpPr txBox="1"/>
          <p:nvPr/>
        </p:nvSpPr>
        <p:spPr>
          <a:xfrm>
            <a:off x="470100" y="1074375"/>
            <a:ext cx="8188800" cy="2470500"/>
          </a:xfrm>
          <a:prstGeom prst="rect">
            <a:avLst/>
          </a:prstGeom>
          <a:noFill/>
          <a:ln>
            <a:noFill/>
          </a:ln>
        </p:spPr>
        <p:txBody>
          <a:bodyPr anchorCtr="0" anchor="t" bIns="91425" lIns="91425" spcFirstLastPara="1" rIns="91425" wrap="square" tIns="91425">
            <a:spAutoFit/>
          </a:bodyPr>
          <a:lstStyle/>
          <a:p>
            <a:pPr indent="-533400" lvl="0" marL="533400" rtl="0" algn="l">
              <a:lnSpc>
                <a:spcPct val="115000"/>
              </a:lnSpc>
              <a:spcBef>
                <a:spcPts val="0"/>
              </a:spcBef>
              <a:spcAft>
                <a:spcPts val="0"/>
              </a:spcAft>
              <a:buClr>
                <a:schemeClr val="dk1"/>
              </a:buClr>
              <a:buSzPts val="2400"/>
              <a:buFont typeface="Arial"/>
              <a:buNone/>
            </a:pPr>
            <a:r>
              <a:rPr lang="en-GB" sz="2200">
                <a:solidFill>
                  <a:srgbClr val="666666"/>
                </a:solidFill>
              </a:rPr>
              <a:t>:Carnivore owl:intersectionOf </a:t>
            </a:r>
            <a:endParaRPr sz="2200">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sz="2200">
                <a:solidFill>
                  <a:srgbClr val="666666"/>
                </a:solidFill>
              </a:rPr>
              <a:t>    (:Animal</a:t>
            </a:r>
            <a:endParaRPr sz="2200">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sz="2200">
                <a:solidFill>
                  <a:srgbClr val="666666"/>
                </a:solidFill>
              </a:rPr>
              <a:t>         [a owl:Restriction; </a:t>
            </a:r>
            <a:endParaRPr sz="2200">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sz="2200">
                <a:solidFill>
                  <a:srgbClr val="666666"/>
                </a:solidFill>
              </a:rPr>
              <a:t>             owl:onProperty :eats;</a:t>
            </a:r>
            <a:endParaRPr sz="2200">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sz="2200">
                <a:solidFill>
                  <a:srgbClr val="666666"/>
                </a:solidFill>
              </a:rPr>
              <a:t>             owl:someValuesFrom :Animal]</a:t>
            </a:r>
            <a:endParaRPr sz="2200">
              <a:solidFill>
                <a:srgbClr val="666666"/>
              </a:solidFill>
            </a:endParaRPr>
          </a:p>
          <a:p>
            <a:pPr indent="-533400" lvl="0" marL="533400" rtl="0" algn="l">
              <a:lnSpc>
                <a:spcPct val="115000"/>
              </a:lnSpc>
              <a:spcBef>
                <a:spcPts val="0"/>
              </a:spcBef>
              <a:spcAft>
                <a:spcPts val="0"/>
              </a:spcAft>
              <a:buNone/>
            </a:pPr>
            <a:r>
              <a:rPr lang="en-GB" sz="2200">
                <a:solidFill>
                  <a:srgbClr val="666666"/>
                </a:solidFill>
              </a:rPr>
              <a:t>    ) .</a:t>
            </a:r>
            <a:endParaRPr sz="2200">
              <a:solidFill>
                <a:srgbClr val="666666"/>
              </a:solidFill>
            </a:endParaRPr>
          </a:p>
        </p:txBody>
      </p:sp>
      <p:sp>
        <p:nvSpPr>
          <p:cNvPr id="664" name="Google Shape;664;p80"/>
          <p:cNvSpPr txBox="1"/>
          <p:nvPr/>
        </p:nvSpPr>
        <p:spPr>
          <a:xfrm>
            <a:off x="530750" y="3514300"/>
            <a:ext cx="8188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400">
                <a:solidFill>
                  <a:srgbClr val="0000FF"/>
                </a:solidFill>
              </a:rPr>
              <a:t>Vẽ đồ thị rdf</a:t>
            </a:r>
            <a:endParaRPr i="1" sz="2400">
              <a:solidFill>
                <a:srgbClr val="0000FF"/>
              </a:solidFill>
            </a:endParaRPr>
          </a:p>
        </p:txBody>
      </p:sp>
      <p:sp>
        <p:nvSpPr>
          <p:cNvPr id="665" name="Google Shape;665;p8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666" name="Google Shape;666;p80"/>
          <p:cNvSpPr/>
          <p:nvPr/>
        </p:nvSpPr>
        <p:spPr>
          <a:xfrm>
            <a:off x="2916725" y="3433900"/>
            <a:ext cx="1544100" cy="714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t>
            </a:r>
            <a:r>
              <a:rPr lang="en-GB"/>
              <a:t>Carnivore</a:t>
            </a:r>
            <a:endParaRPr/>
          </a:p>
        </p:txBody>
      </p:sp>
      <p:sp>
        <p:nvSpPr>
          <p:cNvPr id="667" name="Google Shape;667;p80"/>
          <p:cNvSpPr/>
          <p:nvPr/>
        </p:nvSpPr>
        <p:spPr>
          <a:xfrm>
            <a:off x="5253675" y="3429800"/>
            <a:ext cx="1544100" cy="714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_</a:t>
            </a:r>
            <a:r>
              <a:rPr lang="en-GB"/>
              <a:t>:1</a:t>
            </a:r>
            <a:endParaRPr/>
          </a:p>
        </p:txBody>
      </p:sp>
      <p:cxnSp>
        <p:nvCxnSpPr>
          <p:cNvPr id="668" name="Google Shape;668;p80"/>
          <p:cNvCxnSpPr>
            <a:stCxn id="666" idx="6"/>
            <a:endCxn id="667" idx="2"/>
          </p:cNvCxnSpPr>
          <p:nvPr/>
        </p:nvCxnSpPr>
        <p:spPr>
          <a:xfrm flipH="1" rot="10800000">
            <a:off x="4460825" y="3787150"/>
            <a:ext cx="792900" cy="4200"/>
          </a:xfrm>
          <a:prstGeom prst="straightConnector1">
            <a:avLst/>
          </a:prstGeom>
          <a:noFill/>
          <a:ln cap="flat" cmpd="sng" w="9525">
            <a:solidFill>
              <a:schemeClr val="dk2"/>
            </a:solidFill>
            <a:prstDash val="solid"/>
            <a:round/>
            <a:headEnd len="med" w="med" type="none"/>
            <a:tailEnd len="med" w="med" type="triangle"/>
          </a:ln>
        </p:spPr>
      </p:cxnSp>
      <p:sp>
        <p:nvSpPr>
          <p:cNvPr id="669" name="Google Shape;669;p80"/>
          <p:cNvSpPr txBox="1"/>
          <p:nvPr/>
        </p:nvSpPr>
        <p:spPr>
          <a:xfrm>
            <a:off x="4088475" y="3171925"/>
            <a:ext cx="2007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owl:intersectionOf</a:t>
            </a:r>
            <a:endParaRPr/>
          </a:p>
        </p:txBody>
      </p:sp>
      <p:sp>
        <p:nvSpPr>
          <p:cNvPr id="670" name="Google Shape;670;p80"/>
          <p:cNvSpPr/>
          <p:nvPr/>
        </p:nvSpPr>
        <p:spPr>
          <a:xfrm>
            <a:off x="7311075" y="3429800"/>
            <a:ext cx="1544100" cy="714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a:t>
            </a:r>
            <a:r>
              <a:rPr lang="en-GB"/>
              <a:t>Animal</a:t>
            </a:r>
            <a:endParaRPr/>
          </a:p>
        </p:txBody>
      </p:sp>
      <p:cxnSp>
        <p:nvCxnSpPr>
          <p:cNvPr id="671" name="Google Shape;671;p80"/>
          <p:cNvCxnSpPr>
            <a:stCxn id="667" idx="6"/>
            <a:endCxn id="670" idx="2"/>
          </p:cNvCxnSpPr>
          <p:nvPr/>
        </p:nvCxnSpPr>
        <p:spPr>
          <a:xfrm>
            <a:off x="6797775" y="3787250"/>
            <a:ext cx="513300" cy="0"/>
          </a:xfrm>
          <a:prstGeom prst="straightConnector1">
            <a:avLst/>
          </a:prstGeom>
          <a:noFill/>
          <a:ln cap="flat" cmpd="sng" w="9525">
            <a:solidFill>
              <a:schemeClr val="dk2"/>
            </a:solidFill>
            <a:prstDash val="solid"/>
            <a:round/>
            <a:headEnd len="med" w="med" type="none"/>
            <a:tailEnd len="med" w="med" type="triangle"/>
          </a:ln>
        </p:spPr>
      </p:cxnSp>
      <p:sp>
        <p:nvSpPr>
          <p:cNvPr id="672" name="Google Shape;672;p80"/>
          <p:cNvSpPr txBox="1"/>
          <p:nvPr/>
        </p:nvSpPr>
        <p:spPr>
          <a:xfrm>
            <a:off x="6679275" y="3324325"/>
            <a:ext cx="2007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rdf:first</a:t>
            </a:r>
            <a:endParaRPr/>
          </a:p>
        </p:txBody>
      </p:sp>
      <p:sp>
        <p:nvSpPr>
          <p:cNvPr id="673" name="Google Shape;673;p80"/>
          <p:cNvSpPr/>
          <p:nvPr/>
        </p:nvSpPr>
        <p:spPr>
          <a:xfrm>
            <a:off x="3653475" y="4420400"/>
            <a:ext cx="1544100" cy="714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_:2</a:t>
            </a:r>
            <a:endParaRPr/>
          </a:p>
        </p:txBody>
      </p:sp>
      <p:cxnSp>
        <p:nvCxnSpPr>
          <p:cNvPr id="674" name="Google Shape;674;p80"/>
          <p:cNvCxnSpPr>
            <a:stCxn id="667" idx="3"/>
            <a:endCxn id="673" idx="0"/>
          </p:cNvCxnSpPr>
          <p:nvPr/>
        </p:nvCxnSpPr>
        <p:spPr>
          <a:xfrm flipH="1">
            <a:off x="4425603" y="4040005"/>
            <a:ext cx="1054200" cy="380400"/>
          </a:xfrm>
          <a:prstGeom prst="straightConnector1">
            <a:avLst/>
          </a:prstGeom>
          <a:noFill/>
          <a:ln cap="flat" cmpd="sng" w="9525">
            <a:solidFill>
              <a:schemeClr val="dk2"/>
            </a:solidFill>
            <a:prstDash val="solid"/>
            <a:round/>
            <a:headEnd len="med" w="med" type="none"/>
            <a:tailEnd len="med" w="med" type="triangle"/>
          </a:ln>
        </p:spPr>
      </p:cxnSp>
      <p:sp>
        <p:nvSpPr>
          <p:cNvPr id="675" name="Google Shape;675;p80"/>
          <p:cNvSpPr txBox="1"/>
          <p:nvPr/>
        </p:nvSpPr>
        <p:spPr>
          <a:xfrm>
            <a:off x="4393275" y="3857725"/>
            <a:ext cx="2007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a:t>
            </a:r>
            <a:r>
              <a:rPr lang="en-GB"/>
              <a:t>rest</a:t>
            </a:r>
            <a:endParaRPr/>
          </a:p>
        </p:txBody>
      </p:sp>
      <p:sp>
        <p:nvSpPr>
          <p:cNvPr id="676" name="Google Shape;676;p80"/>
          <p:cNvSpPr/>
          <p:nvPr/>
        </p:nvSpPr>
        <p:spPr>
          <a:xfrm>
            <a:off x="5863275" y="4420400"/>
            <a:ext cx="1544100" cy="714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_:3</a:t>
            </a:r>
            <a:endParaRPr/>
          </a:p>
        </p:txBody>
      </p:sp>
      <p:cxnSp>
        <p:nvCxnSpPr>
          <p:cNvPr id="677" name="Google Shape;677;p80"/>
          <p:cNvCxnSpPr>
            <a:stCxn id="673" idx="6"/>
            <a:endCxn id="676" idx="2"/>
          </p:cNvCxnSpPr>
          <p:nvPr/>
        </p:nvCxnSpPr>
        <p:spPr>
          <a:xfrm>
            <a:off x="5197575" y="4777850"/>
            <a:ext cx="665700" cy="0"/>
          </a:xfrm>
          <a:prstGeom prst="straightConnector1">
            <a:avLst/>
          </a:prstGeom>
          <a:noFill/>
          <a:ln cap="flat" cmpd="sng" w="9525">
            <a:solidFill>
              <a:schemeClr val="dk2"/>
            </a:solidFill>
            <a:prstDash val="solid"/>
            <a:round/>
            <a:headEnd len="med" w="med" type="none"/>
            <a:tailEnd len="med" w="med" type="triangle"/>
          </a:ln>
        </p:spPr>
      </p:cxnSp>
      <p:sp>
        <p:nvSpPr>
          <p:cNvPr id="678" name="Google Shape;678;p80"/>
          <p:cNvSpPr txBox="1"/>
          <p:nvPr/>
        </p:nvSpPr>
        <p:spPr>
          <a:xfrm>
            <a:off x="5155275" y="4391125"/>
            <a:ext cx="2007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rdf:first</a:t>
            </a:r>
            <a:endParaRPr/>
          </a:p>
        </p:txBody>
      </p:sp>
      <p:sp>
        <p:nvSpPr>
          <p:cNvPr id="679" name="Google Shape;679;p80"/>
          <p:cNvSpPr/>
          <p:nvPr/>
        </p:nvSpPr>
        <p:spPr>
          <a:xfrm>
            <a:off x="3653475" y="5487200"/>
            <a:ext cx="1544100" cy="714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rdf:nil</a:t>
            </a:r>
            <a:endParaRPr/>
          </a:p>
        </p:txBody>
      </p:sp>
      <p:cxnSp>
        <p:nvCxnSpPr>
          <p:cNvPr id="680" name="Google Shape;680;p80"/>
          <p:cNvCxnSpPr>
            <a:stCxn id="673" idx="4"/>
            <a:endCxn id="679" idx="0"/>
          </p:cNvCxnSpPr>
          <p:nvPr/>
        </p:nvCxnSpPr>
        <p:spPr>
          <a:xfrm>
            <a:off x="4425525" y="5135300"/>
            <a:ext cx="0" cy="351900"/>
          </a:xfrm>
          <a:prstGeom prst="straightConnector1">
            <a:avLst/>
          </a:prstGeom>
          <a:noFill/>
          <a:ln cap="flat" cmpd="sng" w="9525">
            <a:solidFill>
              <a:schemeClr val="dk2"/>
            </a:solidFill>
            <a:prstDash val="solid"/>
            <a:round/>
            <a:headEnd len="med" w="med" type="none"/>
            <a:tailEnd len="med" w="med" type="triangle"/>
          </a:ln>
        </p:spPr>
      </p:cxnSp>
      <p:sp>
        <p:nvSpPr>
          <p:cNvPr id="681" name="Google Shape;681;p80"/>
          <p:cNvSpPr txBox="1"/>
          <p:nvPr/>
        </p:nvSpPr>
        <p:spPr>
          <a:xfrm>
            <a:off x="4393275" y="5076925"/>
            <a:ext cx="2007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rdf:rest</a:t>
            </a:r>
            <a:endParaRPr/>
          </a:p>
        </p:txBody>
      </p:sp>
      <p:sp>
        <p:nvSpPr>
          <p:cNvPr id="682" name="Google Shape;682;p80"/>
          <p:cNvSpPr/>
          <p:nvPr/>
        </p:nvSpPr>
        <p:spPr>
          <a:xfrm>
            <a:off x="7463475" y="5106200"/>
            <a:ext cx="1544100" cy="714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owl</a:t>
            </a:r>
            <a:r>
              <a:rPr lang="en-GB"/>
              <a:t>:</a:t>
            </a:r>
            <a:r>
              <a:rPr lang="en-GB"/>
              <a:t>Restriction</a:t>
            </a:r>
            <a:endParaRPr/>
          </a:p>
        </p:txBody>
      </p:sp>
      <p:cxnSp>
        <p:nvCxnSpPr>
          <p:cNvPr id="683" name="Google Shape;683;p80"/>
          <p:cNvCxnSpPr>
            <a:stCxn id="676" idx="5"/>
            <a:endCxn id="682" idx="1"/>
          </p:cNvCxnSpPr>
          <p:nvPr/>
        </p:nvCxnSpPr>
        <p:spPr>
          <a:xfrm>
            <a:off x="7181247" y="5030605"/>
            <a:ext cx="508500" cy="180300"/>
          </a:xfrm>
          <a:prstGeom prst="straightConnector1">
            <a:avLst/>
          </a:prstGeom>
          <a:noFill/>
          <a:ln cap="flat" cmpd="sng" w="9525">
            <a:solidFill>
              <a:schemeClr val="dk2"/>
            </a:solidFill>
            <a:prstDash val="solid"/>
            <a:round/>
            <a:headEnd len="med" w="med" type="none"/>
            <a:tailEnd len="med" w="med" type="triangle"/>
          </a:ln>
        </p:spPr>
      </p:cxnSp>
      <p:sp>
        <p:nvSpPr>
          <p:cNvPr id="684" name="Google Shape;684;p80"/>
          <p:cNvSpPr txBox="1"/>
          <p:nvPr/>
        </p:nvSpPr>
        <p:spPr>
          <a:xfrm>
            <a:off x="7441275" y="4772125"/>
            <a:ext cx="13434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a:t>
            </a:r>
            <a:r>
              <a:rPr lang="en-GB"/>
              <a:t>type</a:t>
            </a:r>
            <a:endParaRPr/>
          </a:p>
        </p:txBody>
      </p:sp>
      <p:sp>
        <p:nvSpPr>
          <p:cNvPr id="685" name="Google Shape;685;p80"/>
          <p:cNvSpPr/>
          <p:nvPr/>
        </p:nvSpPr>
        <p:spPr>
          <a:xfrm>
            <a:off x="5634675" y="5639600"/>
            <a:ext cx="1544100" cy="714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owl:</a:t>
            </a:r>
            <a:r>
              <a:rPr lang="en-GB"/>
              <a:t>eats</a:t>
            </a:r>
            <a:endParaRPr/>
          </a:p>
        </p:txBody>
      </p:sp>
      <p:cxnSp>
        <p:nvCxnSpPr>
          <p:cNvPr id="686" name="Google Shape;686;p80"/>
          <p:cNvCxnSpPr>
            <a:stCxn id="676" idx="4"/>
            <a:endCxn id="685" idx="0"/>
          </p:cNvCxnSpPr>
          <p:nvPr/>
        </p:nvCxnSpPr>
        <p:spPr>
          <a:xfrm flipH="1">
            <a:off x="6406725" y="5135300"/>
            <a:ext cx="228600" cy="504300"/>
          </a:xfrm>
          <a:prstGeom prst="straightConnector1">
            <a:avLst/>
          </a:prstGeom>
          <a:noFill/>
          <a:ln cap="flat" cmpd="sng" w="9525">
            <a:solidFill>
              <a:schemeClr val="dk2"/>
            </a:solidFill>
            <a:prstDash val="solid"/>
            <a:round/>
            <a:headEnd len="med" w="med" type="none"/>
            <a:tailEnd len="med" w="med" type="triangle"/>
          </a:ln>
        </p:spPr>
      </p:cxnSp>
      <p:sp>
        <p:nvSpPr>
          <p:cNvPr id="687" name="Google Shape;687;p80"/>
          <p:cNvSpPr txBox="1"/>
          <p:nvPr/>
        </p:nvSpPr>
        <p:spPr>
          <a:xfrm>
            <a:off x="5327400" y="5076925"/>
            <a:ext cx="16284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owl:onProperty</a:t>
            </a:r>
            <a:endParaRPr/>
          </a:p>
        </p:txBody>
      </p:sp>
      <p:cxnSp>
        <p:nvCxnSpPr>
          <p:cNvPr id="688" name="Google Shape;688;p80"/>
          <p:cNvCxnSpPr>
            <a:stCxn id="676" idx="7"/>
            <a:endCxn id="670" idx="3"/>
          </p:cNvCxnSpPr>
          <p:nvPr/>
        </p:nvCxnSpPr>
        <p:spPr>
          <a:xfrm flipH="1" rot="10800000">
            <a:off x="7181247" y="4039995"/>
            <a:ext cx="356100" cy="485100"/>
          </a:xfrm>
          <a:prstGeom prst="straightConnector1">
            <a:avLst/>
          </a:prstGeom>
          <a:noFill/>
          <a:ln cap="flat" cmpd="sng" w="9525">
            <a:solidFill>
              <a:schemeClr val="dk2"/>
            </a:solidFill>
            <a:prstDash val="solid"/>
            <a:round/>
            <a:headEnd len="med" w="med" type="none"/>
            <a:tailEnd len="med" w="med" type="triangle"/>
          </a:ln>
        </p:spPr>
      </p:cxnSp>
      <p:sp>
        <p:nvSpPr>
          <p:cNvPr id="689" name="Google Shape;689;p80"/>
          <p:cNvSpPr txBox="1"/>
          <p:nvPr/>
        </p:nvSpPr>
        <p:spPr>
          <a:xfrm>
            <a:off x="7174825" y="4238725"/>
            <a:ext cx="1914600" cy="52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a:t>
            </a:r>
            <a:r>
              <a:rPr lang="en-GB"/>
              <a:t>someValuesFrom</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8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Động vật ăn cỏ</a:t>
            </a:r>
            <a:endParaRPr/>
          </a:p>
        </p:txBody>
      </p:sp>
      <p:sp>
        <p:nvSpPr>
          <p:cNvPr id="695" name="Google Shape;695;p81"/>
          <p:cNvSpPr txBox="1"/>
          <p:nvPr/>
        </p:nvSpPr>
        <p:spPr>
          <a:xfrm>
            <a:off x="394275" y="786650"/>
            <a:ext cx="3578700" cy="2298600"/>
          </a:xfrm>
          <a:prstGeom prst="rect">
            <a:avLst/>
          </a:prstGeom>
          <a:noFill/>
          <a:ln>
            <a:noFill/>
          </a:ln>
        </p:spPr>
        <p:txBody>
          <a:bodyPr anchorCtr="0" anchor="t" bIns="91425" lIns="91425" spcFirstLastPara="1" rIns="91425" wrap="square" tIns="91425">
            <a:spAutoFit/>
          </a:bodyPr>
          <a:lstStyle/>
          <a:p>
            <a:pPr indent="-533400" lvl="0" marL="533400" rtl="0" algn="l">
              <a:spcBef>
                <a:spcPts val="640"/>
              </a:spcBef>
              <a:spcAft>
                <a:spcPts val="0"/>
              </a:spcAft>
              <a:buClr>
                <a:schemeClr val="dk1"/>
              </a:buClr>
              <a:buSzPts val="2400"/>
              <a:buFont typeface="Arial"/>
              <a:buNone/>
            </a:pPr>
            <a:r>
              <a:rPr lang="en-GB" sz="2200">
                <a:solidFill>
                  <a:srgbClr val="666666"/>
                </a:solidFill>
              </a:rPr>
              <a:t>:Herbivore</a:t>
            </a:r>
            <a:r>
              <a:rPr lang="en-GB" sz="2200">
                <a:solidFill>
                  <a:srgbClr val="666666"/>
                </a:solidFill>
              </a:rPr>
              <a:t> a owl:Class;</a:t>
            </a:r>
            <a:endParaRPr sz="2200">
              <a:solidFill>
                <a:srgbClr val="666666"/>
              </a:solidFill>
            </a:endParaRPr>
          </a:p>
          <a:p>
            <a:pPr indent="-533400" lvl="0" marL="533400" rtl="0" algn="l">
              <a:spcBef>
                <a:spcPts val="640"/>
              </a:spcBef>
              <a:spcAft>
                <a:spcPts val="0"/>
              </a:spcAft>
              <a:buClr>
                <a:schemeClr val="dk1"/>
              </a:buClr>
              <a:buSzPts val="2400"/>
              <a:buFont typeface="Arial"/>
              <a:buNone/>
            </a:pPr>
            <a:r>
              <a:rPr lang="en-GB" sz="2200">
                <a:solidFill>
                  <a:srgbClr val="666666"/>
                </a:solidFill>
              </a:rPr>
              <a:t>  rdfs:comment "Herbivores are exactly those animals that eat only plants or parts of plants" .</a:t>
            </a:r>
            <a:endParaRPr sz="2200">
              <a:solidFill>
                <a:srgbClr val="666666"/>
              </a:solidFill>
            </a:endParaRPr>
          </a:p>
        </p:txBody>
      </p:sp>
      <p:sp>
        <p:nvSpPr>
          <p:cNvPr id="696" name="Google Shape;696;p81"/>
          <p:cNvSpPr txBox="1"/>
          <p:nvPr/>
        </p:nvSpPr>
        <p:spPr>
          <a:xfrm>
            <a:off x="3973025" y="786650"/>
            <a:ext cx="5004300" cy="5592600"/>
          </a:xfrm>
          <a:prstGeom prst="rect">
            <a:avLst/>
          </a:prstGeom>
          <a:noFill/>
          <a:ln>
            <a:noFill/>
          </a:ln>
        </p:spPr>
        <p:txBody>
          <a:bodyPr anchorCtr="0" anchor="t" bIns="91425" lIns="91425" spcFirstLastPara="1" rIns="91425" wrap="square" tIns="91425">
            <a:spAutoFit/>
          </a:bodyPr>
          <a:lstStyle/>
          <a:p>
            <a:pPr indent="-533400" lvl="0" marL="533400" rtl="0" algn="l">
              <a:spcBef>
                <a:spcPts val="400"/>
              </a:spcBef>
              <a:spcAft>
                <a:spcPts val="0"/>
              </a:spcAft>
              <a:buClr>
                <a:schemeClr val="dk1"/>
              </a:buClr>
              <a:buSzPts val="1100"/>
              <a:buFont typeface="Arial"/>
              <a:buNone/>
            </a:pPr>
            <a:r>
              <a:rPr lang="en-GB" sz="2200">
                <a:solidFill>
                  <a:srgbClr val="666666"/>
                </a:solidFill>
              </a:rPr>
              <a:t>:Herbivore owl:equivalentClass</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[a owl:Class;</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owl:intersectionOf </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(:Animal </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[a owl:Restriction;</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owl:onProperty :eats;</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owl:allValuesFrom </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[a owl:Class;</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owl:equivalentClass</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 owl:unionOf </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(:Plant</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[a owl:Restriction;</a:t>
            </a:r>
            <a:endParaRPr sz="2200">
              <a:solidFill>
                <a:srgbClr val="666666"/>
              </a:solidFill>
            </a:endParaRPr>
          </a:p>
          <a:p>
            <a:pPr indent="-533400" lvl="0" marL="533400" rtl="0" algn="l">
              <a:spcBef>
                <a:spcPts val="400"/>
              </a:spcBef>
              <a:spcAft>
                <a:spcPts val="0"/>
              </a:spcAft>
              <a:buClr>
                <a:schemeClr val="dk1"/>
              </a:buClr>
              <a:buSzPts val="1100"/>
              <a:buFont typeface="Arial"/>
              <a:buNone/>
            </a:pPr>
            <a:r>
              <a:rPr lang="en-GB" sz="2200">
                <a:solidFill>
                  <a:srgbClr val="666666"/>
                </a:solidFill>
              </a:rPr>
              <a:t>              owl:onProperty :isPartOf;</a:t>
            </a:r>
            <a:endParaRPr sz="2200">
              <a:solidFill>
                <a:srgbClr val="666666"/>
              </a:solidFill>
            </a:endParaRPr>
          </a:p>
          <a:p>
            <a:pPr indent="-533400" lvl="0" marL="533400" rtl="0" algn="l">
              <a:spcBef>
                <a:spcPts val="400"/>
              </a:spcBef>
              <a:spcAft>
                <a:spcPts val="0"/>
              </a:spcAft>
              <a:buNone/>
            </a:pPr>
            <a:r>
              <a:rPr lang="en-GB" sz="2200">
                <a:solidFill>
                  <a:srgbClr val="666666"/>
                </a:solidFill>
              </a:rPr>
              <a:t>              owl:allValuesFrom :Plant])]]])].</a:t>
            </a:r>
            <a:endParaRPr sz="2200">
              <a:solidFill>
                <a:srgbClr val="666666"/>
              </a:solidFill>
            </a:endParaRPr>
          </a:p>
        </p:txBody>
      </p:sp>
      <p:sp>
        <p:nvSpPr>
          <p:cNvPr id="697" name="Google Shape;697;p8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82"/>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533400" lvl="0" marL="533400" rtl="0" algn="l">
              <a:lnSpc>
                <a:spcPct val="115000"/>
              </a:lnSpc>
              <a:spcBef>
                <a:spcPts val="0"/>
              </a:spcBef>
              <a:spcAft>
                <a:spcPts val="0"/>
              </a:spcAft>
              <a:buClr>
                <a:schemeClr val="dk1"/>
              </a:buClr>
              <a:buSzPts val="2400"/>
              <a:buFont typeface="Noto Sans Symbols"/>
              <a:buNone/>
            </a:pPr>
            <a:r>
              <a:rPr i="1" lang="en-GB">
                <a:solidFill>
                  <a:srgbClr val="666666"/>
                </a:solidFill>
              </a:rPr>
              <a:t># Hươu cao cổ là động vật ăn cỏ, và chỉ ăn lá</a:t>
            </a:r>
            <a:endParaRPr>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a:solidFill>
                  <a:srgbClr val="666666"/>
                </a:solidFill>
              </a:rPr>
              <a:t>Giraffe rdfs:subClassOf </a:t>
            </a:r>
            <a:endParaRPr>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a:solidFill>
                  <a:srgbClr val="666666"/>
                </a:solidFill>
              </a:rPr>
              <a:t>    :Herbivore,</a:t>
            </a:r>
            <a:endParaRPr>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a:solidFill>
                  <a:srgbClr val="666666"/>
                </a:solidFill>
              </a:rPr>
              <a:t>    [owl:Restriction</a:t>
            </a:r>
            <a:endParaRPr>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a:solidFill>
                  <a:srgbClr val="666666"/>
                </a:solidFill>
              </a:rPr>
              <a:t>        owl:onProperty :eats;</a:t>
            </a:r>
            <a:endParaRPr>
              <a:solidFill>
                <a:srgbClr val="666666"/>
              </a:solidFill>
            </a:endParaRPr>
          </a:p>
          <a:p>
            <a:pPr indent="-533400" lvl="0" marL="533400" rtl="0" algn="l">
              <a:lnSpc>
                <a:spcPct val="115000"/>
              </a:lnSpc>
              <a:spcBef>
                <a:spcPts val="0"/>
              </a:spcBef>
              <a:spcAft>
                <a:spcPts val="0"/>
              </a:spcAft>
              <a:buClr>
                <a:schemeClr val="dk1"/>
              </a:buClr>
              <a:buSzPts val="2400"/>
              <a:buFont typeface="Arial"/>
              <a:buNone/>
            </a:pPr>
            <a:r>
              <a:rPr lang="en-GB">
                <a:solidFill>
                  <a:srgbClr val="666666"/>
                </a:solidFill>
              </a:rPr>
              <a:t>        owl:allValuesFrom :Leaf] .</a:t>
            </a:r>
            <a:endParaRPr>
              <a:solidFill>
                <a:srgbClr val="666666"/>
              </a:solidFill>
            </a:endParaRPr>
          </a:p>
          <a:p>
            <a:pPr indent="0" lvl="0" marL="0" rtl="0" algn="l">
              <a:lnSpc>
                <a:spcPct val="115000"/>
              </a:lnSpc>
              <a:spcBef>
                <a:spcPts val="0"/>
              </a:spcBef>
              <a:spcAft>
                <a:spcPts val="0"/>
              </a:spcAft>
              <a:buNone/>
            </a:pPr>
            <a:r>
              <a:t/>
            </a:r>
            <a:endParaRPr/>
          </a:p>
        </p:txBody>
      </p:sp>
      <p:sp>
        <p:nvSpPr>
          <p:cNvPr id="703" name="Google Shape;703;p8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Hươu cao cổ</a:t>
            </a:r>
            <a:endParaRPr/>
          </a:p>
        </p:txBody>
      </p:sp>
      <p:sp>
        <p:nvSpPr>
          <p:cNvPr id="704" name="Google Shape;704;p8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83"/>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42900" lvl="0" marL="342900" rtl="0" algn="l">
              <a:lnSpc>
                <a:spcPct val="115000"/>
              </a:lnSpc>
              <a:spcBef>
                <a:spcPts val="0"/>
              </a:spcBef>
              <a:spcAft>
                <a:spcPts val="0"/>
              </a:spcAft>
              <a:buClr>
                <a:schemeClr val="dk1"/>
              </a:buClr>
              <a:buSzPts val="2100"/>
              <a:buFont typeface="Noto Sans Symbols"/>
              <a:buNone/>
            </a:pPr>
            <a:r>
              <a:rPr i="1" lang="en-GB" sz="2600">
                <a:solidFill>
                  <a:srgbClr val="666666"/>
                </a:solidFill>
              </a:rPr>
              <a:t># Sư tử là động vật chỉ ăn các loài ăn cỏ</a:t>
            </a:r>
            <a:endParaRPr sz="2600">
              <a:solidFill>
                <a:srgbClr val="666666"/>
              </a:solidFill>
            </a:endParaRPr>
          </a:p>
          <a:p>
            <a:pPr indent="-342900" lvl="0" marL="342900" rtl="0" algn="l">
              <a:lnSpc>
                <a:spcPct val="115000"/>
              </a:lnSpc>
              <a:spcBef>
                <a:spcPts val="0"/>
              </a:spcBef>
              <a:spcAft>
                <a:spcPts val="0"/>
              </a:spcAft>
              <a:buClr>
                <a:schemeClr val="dk1"/>
              </a:buClr>
              <a:buSzPts val="2100"/>
              <a:buFont typeface="Arial"/>
              <a:buNone/>
            </a:pPr>
            <a:r>
              <a:rPr lang="en-GB" sz="2600">
                <a:solidFill>
                  <a:srgbClr val="666666"/>
                </a:solidFill>
              </a:rPr>
              <a:t>:Lion rdfs:subClassOf </a:t>
            </a:r>
            <a:endParaRPr sz="2600">
              <a:solidFill>
                <a:srgbClr val="666666"/>
              </a:solidFill>
            </a:endParaRPr>
          </a:p>
          <a:p>
            <a:pPr indent="-342900" lvl="0" marL="342900" rtl="0" algn="l">
              <a:lnSpc>
                <a:spcPct val="115000"/>
              </a:lnSpc>
              <a:spcBef>
                <a:spcPts val="0"/>
              </a:spcBef>
              <a:spcAft>
                <a:spcPts val="0"/>
              </a:spcAft>
              <a:buClr>
                <a:schemeClr val="dk1"/>
              </a:buClr>
              <a:buSzPts val="2100"/>
              <a:buFont typeface="Arial"/>
              <a:buNone/>
            </a:pPr>
            <a:r>
              <a:rPr lang="en-GB" sz="2600">
                <a:solidFill>
                  <a:srgbClr val="666666"/>
                </a:solidFill>
              </a:rPr>
              <a:t>    :Carnivore,</a:t>
            </a:r>
            <a:endParaRPr sz="2600">
              <a:solidFill>
                <a:srgbClr val="666666"/>
              </a:solidFill>
            </a:endParaRPr>
          </a:p>
          <a:p>
            <a:pPr indent="-342900" lvl="0" marL="342900" rtl="0" algn="l">
              <a:lnSpc>
                <a:spcPct val="115000"/>
              </a:lnSpc>
              <a:spcBef>
                <a:spcPts val="0"/>
              </a:spcBef>
              <a:spcAft>
                <a:spcPts val="0"/>
              </a:spcAft>
              <a:buClr>
                <a:schemeClr val="dk1"/>
              </a:buClr>
              <a:buSzPts val="2100"/>
              <a:buFont typeface="Arial"/>
              <a:buNone/>
            </a:pPr>
            <a:r>
              <a:rPr lang="en-GB" sz="2600">
                <a:solidFill>
                  <a:srgbClr val="666666"/>
                </a:solidFill>
              </a:rPr>
              <a:t>    [a Restriction</a:t>
            </a:r>
            <a:endParaRPr sz="2600">
              <a:solidFill>
                <a:srgbClr val="666666"/>
              </a:solidFill>
            </a:endParaRPr>
          </a:p>
          <a:p>
            <a:pPr indent="-342900" lvl="0" marL="342900" rtl="0" algn="l">
              <a:lnSpc>
                <a:spcPct val="115000"/>
              </a:lnSpc>
              <a:spcBef>
                <a:spcPts val="0"/>
              </a:spcBef>
              <a:spcAft>
                <a:spcPts val="0"/>
              </a:spcAft>
              <a:buClr>
                <a:schemeClr val="dk1"/>
              </a:buClr>
              <a:buSzPts val="2100"/>
              <a:buFont typeface="Arial"/>
              <a:buNone/>
            </a:pPr>
            <a:r>
              <a:rPr lang="en-GB" sz="2600">
                <a:solidFill>
                  <a:srgbClr val="666666"/>
                </a:solidFill>
              </a:rPr>
              <a:t>       owl:onProperty :eats;</a:t>
            </a:r>
            <a:endParaRPr sz="2600">
              <a:solidFill>
                <a:srgbClr val="666666"/>
              </a:solidFill>
            </a:endParaRPr>
          </a:p>
          <a:p>
            <a:pPr indent="-342900" lvl="0" marL="342900" rtl="0" algn="l">
              <a:lnSpc>
                <a:spcPct val="115000"/>
              </a:lnSpc>
              <a:spcBef>
                <a:spcPts val="0"/>
              </a:spcBef>
              <a:spcAft>
                <a:spcPts val="0"/>
              </a:spcAft>
              <a:buClr>
                <a:schemeClr val="dk1"/>
              </a:buClr>
              <a:buSzPts val="2100"/>
              <a:buFont typeface="Arial"/>
              <a:buNone/>
            </a:pPr>
            <a:r>
              <a:rPr lang="en-GB" sz="2600">
                <a:solidFill>
                  <a:srgbClr val="666666"/>
                </a:solidFill>
              </a:rPr>
              <a:t>       owl:allValuesFrom :Herbivore] . 	</a:t>
            </a:r>
            <a:endParaRPr sz="2600">
              <a:solidFill>
                <a:srgbClr val="666666"/>
              </a:solidFill>
            </a:endParaRPr>
          </a:p>
          <a:p>
            <a:pPr indent="0" lvl="0" marL="0" rtl="0" algn="l">
              <a:lnSpc>
                <a:spcPct val="115000"/>
              </a:lnSpc>
              <a:spcBef>
                <a:spcPts val="0"/>
              </a:spcBef>
              <a:spcAft>
                <a:spcPts val="0"/>
              </a:spcAft>
              <a:buNone/>
            </a:pPr>
            <a:r>
              <a:t/>
            </a:r>
            <a:endParaRPr/>
          </a:p>
        </p:txBody>
      </p:sp>
      <p:sp>
        <p:nvSpPr>
          <p:cNvPr id="710" name="Google Shape;710;p8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Sư tử</a:t>
            </a:r>
            <a:endParaRPr/>
          </a:p>
        </p:txBody>
      </p:sp>
      <p:sp>
        <p:nvSpPr>
          <p:cNvPr id="711" name="Google Shape;711;p8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8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Cây ngon</a:t>
            </a:r>
            <a:endParaRPr/>
          </a:p>
        </p:txBody>
      </p:sp>
      <p:sp>
        <p:nvSpPr>
          <p:cNvPr id="717" name="Google Shape;717;p84"/>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 Cây ngon bị ăn bởi cả loài ăn thịt và loài ăn cỏ</a:t>
            </a:r>
            <a:endParaRPr sz="2400">
              <a:solidFill>
                <a:srgbClr val="666666"/>
              </a:solidFill>
            </a:endParaRPr>
          </a:p>
          <a:p>
            <a:pPr indent="-342900" lvl="0" marL="342900" rtl="0" algn="l">
              <a:lnSpc>
                <a:spcPct val="100000"/>
              </a:lnSpc>
              <a:spcBef>
                <a:spcPts val="0"/>
              </a:spcBef>
              <a:spcAft>
                <a:spcPts val="0"/>
              </a:spcAft>
              <a:buClr>
                <a:schemeClr val="dk1"/>
              </a:buClr>
              <a:buSzPts val="2100"/>
              <a:buFont typeface="Arial"/>
              <a:buNone/>
            </a:pPr>
            <a:r>
              <a:rPr lang="en-GB" sz="2400">
                <a:solidFill>
                  <a:srgbClr val="666666"/>
                </a:solidFill>
              </a:rPr>
              <a:t>:TastyPlant</a:t>
            </a:r>
            <a:endParaRPr sz="2400">
              <a:solidFill>
                <a:srgbClr val="666666"/>
              </a:solidFill>
            </a:endParaRPr>
          </a:p>
          <a:p>
            <a:pPr indent="-342900" lvl="0" marL="342900" rtl="0" algn="l">
              <a:lnSpc>
                <a:spcPct val="100000"/>
              </a:lnSpc>
              <a:spcBef>
                <a:spcPts val="560"/>
              </a:spcBef>
              <a:spcAft>
                <a:spcPts val="0"/>
              </a:spcAft>
              <a:buClr>
                <a:schemeClr val="dk1"/>
              </a:buClr>
              <a:buSzPts val="2100"/>
              <a:buFont typeface="Arial"/>
              <a:buNone/>
            </a:pPr>
            <a:r>
              <a:rPr lang="en-GB" sz="2400">
                <a:solidFill>
                  <a:srgbClr val="666666"/>
                </a:solidFill>
              </a:rPr>
              <a:t>    rdfs:subClassOf :Plant,</a:t>
            </a:r>
            <a:endParaRPr sz="2400">
              <a:solidFill>
                <a:srgbClr val="666666"/>
              </a:solidFill>
            </a:endParaRPr>
          </a:p>
          <a:p>
            <a:pPr indent="-342900" lvl="0" marL="342900" rtl="0" algn="l">
              <a:lnSpc>
                <a:spcPct val="100000"/>
              </a:lnSpc>
              <a:spcBef>
                <a:spcPts val="560"/>
              </a:spcBef>
              <a:spcAft>
                <a:spcPts val="0"/>
              </a:spcAft>
              <a:buClr>
                <a:schemeClr val="dk1"/>
              </a:buClr>
              <a:buSzPts val="2100"/>
              <a:buFont typeface="Arial"/>
              <a:buNone/>
            </a:pPr>
            <a:r>
              <a:rPr lang="en-GB" sz="2400">
                <a:solidFill>
                  <a:srgbClr val="666666"/>
                </a:solidFill>
              </a:rPr>
              <a:t>        [a Restriction</a:t>
            </a:r>
            <a:endParaRPr sz="2400">
              <a:solidFill>
                <a:srgbClr val="666666"/>
              </a:solidFill>
            </a:endParaRPr>
          </a:p>
          <a:p>
            <a:pPr indent="-342900" lvl="0" marL="342900" rtl="0" algn="l">
              <a:lnSpc>
                <a:spcPct val="100000"/>
              </a:lnSpc>
              <a:spcBef>
                <a:spcPts val="560"/>
              </a:spcBef>
              <a:spcAft>
                <a:spcPts val="0"/>
              </a:spcAft>
              <a:buClr>
                <a:schemeClr val="dk1"/>
              </a:buClr>
              <a:buSzPts val="2100"/>
              <a:buFont typeface="Arial"/>
              <a:buNone/>
            </a:pPr>
            <a:r>
              <a:rPr lang="en-GB" sz="2400">
                <a:solidFill>
                  <a:srgbClr val="666666"/>
                </a:solidFill>
              </a:rPr>
              <a:t>            owl:onProperty :eatenBy;</a:t>
            </a:r>
            <a:endParaRPr sz="2400">
              <a:solidFill>
                <a:srgbClr val="666666"/>
              </a:solidFill>
            </a:endParaRPr>
          </a:p>
          <a:p>
            <a:pPr indent="-342900" lvl="0" marL="342900" rtl="0" algn="l">
              <a:lnSpc>
                <a:spcPct val="100000"/>
              </a:lnSpc>
              <a:spcBef>
                <a:spcPts val="560"/>
              </a:spcBef>
              <a:spcAft>
                <a:spcPts val="0"/>
              </a:spcAft>
              <a:buClr>
                <a:schemeClr val="dk1"/>
              </a:buClr>
              <a:buSzPts val="2100"/>
              <a:buFont typeface="Arial"/>
              <a:buNone/>
            </a:pPr>
            <a:r>
              <a:rPr lang="en-GB" sz="2400">
                <a:solidFill>
                  <a:srgbClr val="666666"/>
                </a:solidFill>
              </a:rPr>
              <a:t>            owl:someValuesFrom :Herbivore],</a:t>
            </a:r>
            <a:endParaRPr sz="2400">
              <a:solidFill>
                <a:srgbClr val="666666"/>
              </a:solidFill>
            </a:endParaRPr>
          </a:p>
          <a:p>
            <a:pPr indent="-342900" lvl="0" marL="342900" rtl="0" algn="l">
              <a:lnSpc>
                <a:spcPct val="100000"/>
              </a:lnSpc>
              <a:spcBef>
                <a:spcPts val="560"/>
              </a:spcBef>
              <a:spcAft>
                <a:spcPts val="0"/>
              </a:spcAft>
              <a:buClr>
                <a:schemeClr val="dk1"/>
              </a:buClr>
              <a:buSzPts val="2100"/>
              <a:buFont typeface="Arial"/>
              <a:buNone/>
            </a:pPr>
            <a:r>
              <a:rPr lang="en-GB" sz="2400">
                <a:solidFill>
                  <a:srgbClr val="666666"/>
                </a:solidFill>
              </a:rPr>
              <a:t>        [a Restriction</a:t>
            </a:r>
            <a:endParaRPr sz="2400">
              <a:solidFill>
                <a:srgbClr val="666666"/>
              </a:solidFill>
            </a:endParaRPr>
          </a:p>
          <a:p>
            <a:pPr indent="-342900" lvl="0" marL="342900" rtl="0" algn="l">
              <a:lnSpc>
                <a:spcPct val="100000"/>
              </a:lnSpc>
              <a:spcBef>
                <a:spcPts val="560"/>
              </a:spcBef>
              <a:spcAft>
                <a:spcPts val="0"/>
              </a:spcAft>
              <a:buClr>
                <a:schemeClr val="dk1"/>
              </a:buClr>
              <a:buSzPts val="2100"/>
              <a:buFont typeface="Arial"/>
              <a:buNone/>
            </a:pPr>
            <a:r>
              <a:rPr lang="en-GB" sz="2400">
                <a:solidFill>
                  <a:srgbClr val="666666"/>
                </a:solidFill>
              </a:rPr>
              <a:t>            owl:onProperty :eatenBy;</a:t>
            </a:r>
            <a:endParaRPr sz="2400">
              <a:solidFill>
                <a:srgbClr val="666666"/>
              </a:solidFill>
            </a:endParaRPr>
          </a:p>
          <a:p>
            <a:pPr indent="-342900" lvl="0" marL="342900" rtl="0" algn="l">
              <a:lnSpc>
                <a:spcPct val="100000"/>
              </a:lnSpc>
              <a:spcBef>
                <a:spcPts val="560"/>
              </a:spcBef>
              <a:spcAft>
                <a:spcPts val="0"/>
              </a:spcAft>
              <a:buNone/>
            </a:pPr>
            <a:r>
              <a:rPr lang="en-GB" sz="2400">
                <a:solidFill>
                  <a:srgbClr val="666666"/>
                </a:solidFill>
              </a:rPr>
              <a:t>            owl:someValuesFrom :Carnivore ].</a:t>
            </a:r>
            <a:endParaRPr sz="2400">
              <a:solidFill>
                <a:srgbClr val="666666"/>
              </a:solidFill>
            </a:endParaRPr>
          </a:p>
        </p:txBody>
      </p:sp>
      <p:sp>
        <p:nvSpPr>
          <p:cNvPr id="718" name="Google Shape;718;p8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p8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24" name="Google Shape;724;p8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Bộ phận của cây</a:t>
            </a:r>
            <a:endParaRPr/>
          </a:p>
        </p:txBody>
      </p:sp>
      <p:sp>
        <p:nvSpPr>
          <p:cNvPr id="725" name="Google Shape;725;p8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Định nghĩa lớp PlantPart?</a:t>
            </a:r>
            <a:endParaRPr/>
          </a:p>
          <a:p>
            <a:pPr indent="-381000" lvl="0" marL="457200" rtl="0" algn="l">
              <a:spcBef>
                <a:spcPts val="0"/>
              </a:spcBef>
              <a:spcAft>
                <a:spcPts val="0"/>
              </a:spcAft>
              <a:buSzPts val="2400"/>
              <a:buChar char="●"/>
            </a:pPr>
            <a:r>
              <a:rPr lang="en-GB"/>
              <a:t>Cú pháp Turtle</a:t>
            </a:r>
            <a:endParaRPr/>
          </a:p>
          <a:p>
            <a:pPr indent="-381000" lvl="0" marL="457200" rtl="0" algn="l">
              <a:spcBef>
                <a:spcPts val="0"/>
              </a:spcBef>
              <a:spcAft>
                <a:spcPts val="0"/>
              </a:spcAft>
              <a:buSzPts val="2400"/>
              <a:buChar char="●"/>
            </a:pPr>
            <a:r>
              <a:rPr lang="en-GB"/>
              <a:t>Cú pháp RDF/XML</a:t>
            </a:r>
            <a:endParaRPr/>
          </a:p>
          <a:p>
            <a:pPr indent="-381000" lvl="0" marL="457200" rtl="0" algn="l">
              <a:spcBef>
                <a:spcPts val="0"/>
              </a:spcBef>
              <a:spcAft>
                <a:spcPts val="0"/>
              </a:spcAft>
              <a:buSzPts val="2400"/>
              <a:buChar char="●"/>
            </a:pPr>
            <a:r>
              <a:rPr lang="en-GB"/>
              <a:t>Đồ thị RDF</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8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31" name="Google Shape;731;p8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Bộ phận của cây</a:t>
            </a:r>
            <a:r>
              <a:rPr baseline="-25000" lang="en-GB"/>
              <a:t>(2)</a:t>
            </a:r>
            <a:endParaRPr baseline="-25000"/>
          </a:p>
        </p:txBody>
      </p:sp>
      <p:sp>
        <p:nvSpPr>
          <p:cNvPr id="732" name="Google Shape;732;p86"/>
          <p:cNvSpPr txBox="1"/>
          <p:nvPr>
            <p:ph idx="4294967295" type="body"/>
          </p:nvPr>
        </p:nvSpPr>
        <p:spPr>
          <a:xfrm>
            <a:off x="311700" y="1003225"/>
            <a:ext cx="8520600" cy="197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000"/>
              <a:t>Định nghĩa lớp PlantPart</a:t>
            </a:r>
            <a:endParaRPr sz="2000"/>
          </a:p>
          <a:p>
            <a:pPr indent="0" lvl="0" marL="0" rtl="0" algn="l">
              <a:spcBef>
                <a:spcPts val="0"/>
              </a:spcBef>
              <a:spcAft>
                <a:spcPts val="0"/>
              </a:spcAft>
              <a:buNone/>
            </a:pPr>
            <a:r>
              <a:rPr lang="en-GB" sz="2000"/>
              <a:t>:</a:t>
            </a:r>
            <a:r>
              <a:rPr lang="en-GB" sz="2000"/>
              <a:t>PlantPart owl:equivalentClass </a:t>
            </a:r>
            <a:endParaRPr sz="2000"/>
          </a:p>
          <a:p>
            <a:pPr indent="0" lvl="0" marL="0" rtl="0" algn="l">
              <a:spcBef>
                <a:spcPts val="0"/>
              </a:spcBef>
              <a:spcAft>
                <a:spcPts val="0"/>
              </a:spcAft>
              <a:buNone/>
            </a:pPr>
            <a:r>
              <a:rPr lang="en-GB" sz="2000"/>
              <a:t>	[a owl:Restriction;</a:t>
            </a:r>
            <a:endParaRPr sz="2000"/>
          </a:p>
          <a:p>
            <a:pPr indent="0" lvl="0" marL="0" rtl="0" algn="l">
              <a:spcBef>
                <a:spcPts val="0"/>
              </a:spcBef>
              <a:spcAft>
                <a:spcPts val="0"/>
              </a:spcAft>
              <a:buNone/>
            </a:pPr>
            <a:r>
              <a:rPr lang="en-GB" sz="2000"/>
              <a:t>		owl:onProperty :isPartOf;</a:t>
            </a:r>
            <a:endParaRPr sz="2000"/>
          </a:p>
          <a:p>
            <a:pPr indent="0" lvl="0" marL="0" rtl="0" algn="l">
              <a:spcBef>
                <a:spcPts val="0"/>
              </a:spcBef>
              <a:spcAft>
                <a:spcPts val="0"/>
              </a:spcAft>
              <a:buNone/>
            </a:pPr>
            <a:r>
              <a:rPr lang="en-GB" sz="2000"/>
              <a:t>		owl:allValuesFrom :Plant] .</a:t>
            </a:r>
            <a:endParaRPr sz="2000"/>
          </a:p>
        </p:txBody>
      </p:sp>
      <p:sp>
        <p:nvSpPr>
          <p:cNvPr id="733" name="Google Shape;733;p86"/>
          <p:cNvSpPr txBox="1"/>
          <p:nvPr>
            <p:ph idx="4294967295" type="body"/>
          </p:nvPr>
        </p:nvSpPr>
        <p:spPr>
          <a:xfrm>
            <a:off x="311700" y="3356375"/>
            <a:ext cx="8520600" cy="330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000"/>
              <a:t>&lt;rdf:Description </a:t>
            </a:r>
            <a:r>
              <a:rPr lang="en-GB" sz="2000">
                <a:solidFill>
                  <a:srgbClr val="1155CC"/>
                </a:solidFill>
              </a:rPr>
              <a:t>rdf:ID="PlantPart"</a:t>
            </a:r>
            <a:r>
              <a:rPr lang="en-GB" sz="2000"/>
              <a:t>&gt;</a:t>
            </a:r>
            <a:endParaRPr sz="2000"/>
          </a:p>
          <a:p>
            <a:pPr indent="0" lvl="0" marL="0" rtl="0" algn="l">
              <a:spcBef>
                <a:spcPts val="0"/>
              </a:spcBef>
              <a:spcAft>
                <a:spcPts val="0"/>
              </a:spcAft>
              <a:buNone/>
            </a:pPr>
            <a:r>
              <a:rPr lang="en-GB" sz="2000"/>
              <a:t>     &lt;owl:equivalentClass&gt;</a:t>
            </a:r>
            <a:endParaRPr sz="2000"/>
          </a:p>
          <a:p>
            <a:pPr indent="0" lvl="0" marL="0" rtl="0" algn="l">
              <a:spcBef>
                <a:spcPts val="0"/>
              </a:spcBef>
              <a:spcAft>
                <a:spcPts val="0"/>
              </a:spcAft>
              <a:buNone/>
            </a:pPr>
            <a:r>
              <a:rPr lang="en-GB" sz="2000"/>
              <a:t>      &lt;owl:Restriction&gt;</a:t>
            </a:r>
            <a:endParaRPr sz="2000"/>
          </a:p>
          <a:p>
            <a:pPr indent="0" lvl="0" marL="0" rtl="0" algn="l">
              <a:spcBef>
                <a:spcPts val="0"/>
              </a:spcBef>
              <a:spcAft>
                <a:spcPts val="0"/>
              </a:spcAft>
              <a:buNone/>
            </a:pPr>
            <a:r>
              <a:rPr lang="en-GB" sz="2000"/>
              <a:t>         &lt;owl:allValuesFrom </a:t>
            </a:r>
            <a:r>
              <a:rPr lang="en-GB" sz="2000">
                <a:solidFill>
                  <a:srgbClr val="1155CC"/>
                </a:solidFill>
              </a:rPr>
              <a:t>rdf:ID="Plant"</a:t>
            </a:r>
            <a:r>
              <a:rPr lang="en-GB" sz="2000"/>
              <a:t>/&gt;</a:t>
            </a:r>
            <a:endParaRPr sz="2000"/>
          </a:p>
          <a:p>
            <a:pPr indent="0" lvl="0" marL="0" rtl="0" algn="l">
              <a:spcBef>
                <a:spcPts val="0"/>
              </a:spcBef>
              <a:spcAft>
                <a:spcPts val="0"/>
              </a:spcAft>
              <a:buNone/>
            </a:pPr>
            <a:r>
              <a:rPr lang="en-GB" sz="2000"/>
              <a:t>         &lt;owl:onProperty </a:t>
            </a:r>
            <a:r>
              <a:rPr lang="en-GB" sz="2000">
                <a:solidFill>
                  <a:srgbClr val="1155CC"/>
                </a:solidFill>
              </a:rPr>
              <a:t>rdf:ID="isPartOf"</a:t>
            </a:r>
            <a:r>
              <a:rPr lang="en-GB" sz="2000"/>
              <a:t>/&gt;</a:t>
            </a:r>
            <a:endParaRPr sz="2000"/>
          </a:p>
          <a:p>
            <a:pPr indent="0" lvl="0" marL="0" rtl="0" algn="l">
              <a:spcBef>
                <a:spcPts val="0"/>
              </a:spcBef>
              <a:spcAft>
                <a:spcPts val="0"/>
              </a:spcAft>
              <a:buNone/>
            </a:pPr>
            <a:r>
              <a:rPr lang="en-GB" sz="2000"/>
              <a:t>       &lt;/owl:Restriction&gt;</a:t>
            </a:r>
            <a:endParaRPr sz="2000"/>
          </a:p>
          <a:p>
            <a:pPr indent="0" lvl="0" marL="0" rtl="0" algn="l">
              <a:spcBef>
                <a:spcPts val="0"/>
              </a:spcBef>
              <a:spcAft>
                <a:spcPts val="0"/>
              </a:spcAft>
              <a:buNone/>
            </a:pPr>
            <a:r>
              <a:rPr lang="en-GB" sz="2000"/>
              <a:t>     &lt;/owl:equivalentClass&gt;</a:t>
            </a:r>
            <a:endParaRPr sz="2000"/>
          </a:p>
          <a:p>
            <a:pPr indent="0" lvl="0" marL="0" rtl="0" algn="l">
              <a:spcBef>
                <a:spcPts val="0"/>
              </a:spcBef>
              <a:spcAft>
                <a:spcPts val="0"/>
              </a:spcAft>
              <a:buNone/>
            </a:pPr>
            <a:r>
              <a:rPr lang="en-GB" sz="2000"/>
              <a:t>&lt;/rdf:Description&gt;</a:t>
            </a:r>
            <a:endParaRPr sz="2000"/>
          </a:p>
        </p:txBody>
      </p:sp>
      <p:sp>
        <p:nvSpPr>
          <p:cNvPr id="734" name="Google Shape;734;p86"/>
          <p:cNvSpPr/>
          <p:nvPr/>
        </p:nvSpPr>
        <p:spPr>
          <a:xfrm>
            <a:off x="5767038" y="3567625"/>
            <a:ext cx="1335300" cy="7545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a:t>PlanPart</a:t>
            </a:r>
            <a:endParaRPr/>
          </a:p>
        </p:txBody>
      </p:sp>
      <p:sp>
        <p:nvSpPr>
          <p:cNvPr id="735" name="Google Shape;735;p86"/>
          <p:cNvSpPr/>
          <p:nvPr/>
        </p:nvSpPr>
        <p:spPr>
          <a:xfrm>
            <a:off x="5865125" y="2565150"/>
            <a:ext cx="1109100" cy="588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86"/>
          <p:cNvSpPr/>
          <p:nvPr/>
        </p:nvSpPr>
        <p:spPr>
          <a:xfrm>
            <a:off x="4106500" y="923450"/>
            <a:ext cx="1712700" cy="588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owl:Restriction</a:t>
            </a:r>
            <a:endParaRPr/>
          </a:p>
        </p:txBody>
      </p:sp>
      <p:sp>
        <p:nvSpPr>
          <p:cNvPr id="737" name="Google Shape;737;p86"/>
          <p:cNvSpPr/>
          <p:nvPr/>
        </p:nvSpPr>
        <p:spPr>
          <a:xfrm>
            <a:off x="5554950" y="1490825"/>
            <a:ext cx="1712700" cy="588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owl:isPartOf</a:t>
            </a:r>
            <a:endParaRPr/>
          </a:p>
        </p:txBody>
      </p:sp>
      <p:sp>
        <p:nvSpPr>
          <p:cNvPr id="738" name="Google Shape;738;p86"/>
          <p:cNvSpPr/>
          <p:nvPr/>
        </p:nvSpPr>
        <p:spPr>
          <a:xfrm>
            <a:off x="6850350" y="881225"/>
            <a:ext cx="1712700" cy="588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18000" spcFirstLastPara="1" rIns="18000" wrap="square" tIns="91425">
            <a:noAutofit/>
          </a:bodyPr>
          <a:lstStyle/>
          <a:p>
            <a:pPr indent="0" lvl="0" marL="0" rtl="0" algn="ctr">
              <a:spcBef>
                <a:spcPts val="0"/>
              </a:spcBef>
              <a:spcAft>
                <a:spcPts val="0"/>
              </a:spcAft>
              <a:buNone/>
            </a:pPr>
            <a:r>
              <a:rPr lang="en-GB"/>
              <a:t>Plant</a:t>
            </a:r>
            <a:endParaRPr/>
          </a:p>
        </p:txBody>
      </p:sp>
      <p:cxnSp>
        <p:nvCxnSpPr>
          <p:cNvPr id="739" name="Google Shape;739;p86"/>
          <p:cNvCxnSpPr>
            <a:stCxn id="734" idx="0"/>
            <a:endCxn id="735" idx="4"/>
          </p:cNvCxnSpPr>
          <p:nvPr/>
        </p:nvCxnSpPr>
        <p:spPr>
          <a:xfrm rot="10800000">
            <a:off x="6419688" y="3153625"/>
            <a:ext cx="15000" cy="414000"/>
          </a:xfrm>
          <a:prstGeom prst="straightConnector1">
            <a:avLst/>
          </a:prstGeom>
          <a:noFill/>
          <a:ln cap="flat" cmpd="sng" w="9525">
            <a:solidFill>
              <a:schemeClr val="dk2"/>
            </a:solidFill>
            <a:prstDash val="solid"/>
            <a:round/>
            <a:headEnd len="med" w="med" type="none"/>
            <a:tailEnd len="med" w="med" type="triangle"/>
          </a:ln>
        </p:spPr>
      </p:cxnSp>
      <p:cxnSp>
        <p:nvCxnSpPr>
          <p:cNvPr id="740" name="Google Shape;740;p86"/>
          <p:cNvCxnSpPr>
            <a:stCxn id="735" idx="0"/>
            <a:endCxn id="737" idx="4"/>
          </p:cNvCxnSpPr>
          <p:nvPr/>
        </p:nvCxnSpPr>
        <p:spPr>
          <a:xfrm rot="10800000">
            <a:off x="6411275" y="2079450"/>
            <a:ext cx="8400" cy="485700"/>
          </a:xfrm>
          <a:prstGeom prst="straightConnector1">
            <a:avLst/>
          </a:prstGeom>
          <a:noFill/>
          <a:ln cap="flat" cmpd="sng" w="9525">
            <a:solidFill>
              <a:schemeClr val="dk2"/>
            </a:solidFill>
            <a:prstDash val="solid"/>
            <a:round/>
            <a:headEnd len="med" w="med" type="none"/>
            <a:tailEnd len="med" w="med" type="triangle"/>
          </a:ln>
        </p:spPr>
      </p:cxnSp>
      <p:cxnSp>
        <p:nvCxnSpPr>
          <p:cNvPr id="741" name="Google Shape;741;p86"/>
          <p:cNvCxnSpPr>
            <a:stCxn id="735" idx="1"/>
            <a:endCxn id="736" idx="4"/>
          </p:cNvCxnSpPr>
          <p:nvPr/>
        </p:nvCxnSpPr>
        <p:spPr>
          <a:xfrm rot="10800000">
            <a:off x="4962849" y="1511948"/>
            <a:ext cx="1064700" cy="1139400"/>
          </a:xfrm>
          <a:prstGeom prst="straightConnector1">
            <a:avLst/>
          </a:prstGeom>
          <a:noFill/>
          <a:ln cap="flat" cmpd="sng" w="9525">
            <a:solidFill>
              <a:schemeClr val="dk2"/>
            </a:solidFill>
            <a:prstDash val="solid"/>
            <a:round/>
            <a:headEnd len="med" w="med" type="none"/>
            <a:tailEnd len="med" w="med" type="triangle"/>
          </a:ln>
        </p:spPr>
      </p:cxnSp>
      <p:cxnSp>
        <p:nvCxnSpPr>
          <p:cNvPr id="742" name="Google Shape;742;p86"/>
          <p:cNvCxnSpPr>
            <a:stCxn id="735" idx="7"/>
            <a:endCxn id="738" idx="4"/>
          </p:cNvCxnSpPr>
          <p:nvPr/>
        </p:nvCxnSpPr>
        <p:spPr>
          <a:xfrm flipH="1" rot="10800000">
            <a:off x="6811801" y="1469948"/>
            <a:ext cx="894900" cy="1181400"/>
          </a:xfrm>
          <a:prstGeom prst="straightConnector1">
            <a:avLst/>
          </a:prstGeom>
          <a:noFill/>
          <a:ln cap="flat" cmpd="sng" w="9525">
            <a:solidFill>
              <a:schemeClr val="dk2"/>
            </a:solidFill>
            <a:prstDash val="solid"/>
            <a:round/>
            <a:headEnd len="med" w="med" type="none"/>
            <a:tailEnd len="med" w="med" type="triangle"/>
          </a:ln>
        </p:spPr>
      </p:cxnSp>
      <p:sp>
        <p:nvSpPr>
          <p:cNvPr id="743" name="Google Shape;743;p86"/>
          <p:cNvSpPr txBox="1"/>
          <p:nvPr/>
        </p:nvSpPr>
        <p:spPr>
          <a:xfrm>
            <a:off x="6462675" y="3251700"/>
            <a:ext cx="1818300" cy="3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owl:equivalentClass</a:t>
            </a:r>
            <a:endParaRPr/>
          </a:p>
        </p:txBody>
      </p:sp>
      <p:sp>
        <p:nvSpPr>
          <p:cNvPr id="744" name="Google Shape;744;p86"/>
          <p:cNvSpPr txBox="1"/>
          <p:nvPr/>
        </p:nvSpPr>
        <p:spPr>
          <a:xfrm>
            <a:off x="4815675" y="2108700"/>
            <a:ext cx="1712700" cy="3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rdf:type</a:t>
            </a:r>
            <a:endParaRPr/>
          </a:p>
        </p:txBody>
      </p:sp>
      <p:sp>
        <p:nvSpPr>
          <p:cNvPr id="745" name="Google Shape;745;p86"/>
          <p:cNvSpPr txBox="1"/>
          <p:nvPr/>
        </p:nvSpPr>
        <p:spPr>
          <a:xfrm>
            <a:off x="5730075" y="2108700"/>
            <a:ext cx="1712700" cy="3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owl:onProperty</a:t>
            </a:r>
            <a:endParaRPr/>
          </a:p>
        </p:txBody>
      </p:sp>
      <p:sp>
        <p:nvSpPr>
          <p:cNvPr id="746" name="Google Shape;746;p86"/>
          <p:cNvSpPr txBox="1"/>
          <p:nvPr/>
        </p:nvSpPr>
        <p:spPr>
          <a:xfrm>
            <a:off x="7177875" y="1956300"/>
            <a:ext cx="1661400" cy="3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t>owl:allValuesFrom</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8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a:t>
            </a:r>
            <a:endParaRPr/>
          </a:p>
        </p:txBody>
      </p:sp>
      <p:sp>
        <p:nvSpPr>
          <p:cNvPr id="752" name="Google Shape;752;p8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53" name="Google Shape;753;p87"/>
          <p:cNvSpPr txBox="1"/>
          <p:nvPr>
            <p:ph idx="4294967295" type="body"/>
          </p:nvPr>
        </p:nvSpPr>
        <p:spPr>
          <a:xfrm>
            <a:off x="353750" y="2554075"/>
            <a:ext cx="8520600" cy="41883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GB" sz="2200"/>
              <a:t>Miền của eats là hợp của Animal và CarniPlant</a:t>
            </a:r>
            <a:endParaRPr sz="2200"/>
          </a:p>
          <a:p>
            <a:pPr indent="-368300" lvl="0" marL="457200" rtl="0" algn="l">
              <a:spcBef>
                <a:spcPts val="0"/>
              </a:spcBef>
              <a:spcAft>
                <a:spcPts val="0"/>
              </a:spcAft>
              <a:buSzPts val="2200"/>
              <a:buChar char="-"/>
            </a:pPr>
            <a:r>
              <a:rPr lang="en-GB" sz="2200"/>
              <a:t>Khoảng của eats là hợp của Animal và Plant</a:t>
            </a:r>
            <a:endParaRPr sz="2200"/>
          </a:p>
          <a:p>
            <a:pPr indent="-368300" lvl="0" marL="457200" rtl="0" algn="l">
              <a:spcBef>
                <a:spcPts val="0"/>
              </a:spcBef>
              <a:spcAft>
                <a:spcPts val="0"/>
              </a:spcAft>
              <a:buSzPts val="2200"/>
              <a:buChar char="-"/>
            </a:pPr>
            <a:r>
              <a:rPr lang="en-GB" sz="2200"/>
              <a:t>CarniPlant là giao của Plant và lớp của các thứ có giá trị thuộc tính eats thuộc lớp Animal.</a:t>
            </a:r>
            <a:endParaRPr sz="2200"/>
          </a:p>
          <a:p>
            <a:pPr indent="-368300" lvl="0" marL="457200" rtl="0" algn="l">
              <a:spcBef>
                <a:spcPts val="0"/>
              </a:spcBef>
              <a:spcAft>
                <a:spcPts val="0"/>
              </a:spcAft>
              <a:buSzPts val="2200"/>
              <a:buChar char="-"/>
            </a:pPr>
            <a:r>
              <a:rPr lang="en-GB" sz="2200"/>
              <a:t>CarniVore là giao của Animal và lớp của các thứ có tất cả giá trị thuộc tính eats thuộc lớp Animal.</a:t>
            </a:r>
            <a:endParaRPr sz="2200"/>
          </a:p>
          <a:p>
            <a:pPr indent="-368300" lvl="0" marL="457200" rtl="0" algn="l">
              <a:spcBef>
                <a:spcPts val="0"/>
              </a:spcBef>
              <a:spcAft>
                <a:spcPts val="0"/>
              </a:spcAft>
              <a:buSzPts val="2200"/>
              <a:buChar char="-"/>
            </a:pPr>
            <a:r>
              <a:rPr lang="en-GB" sz="2200"/>
              <a:t>Herbivore Là giao của Animal và lơp của các thứ có tất cả giá trị thuộc tính eats thuộc lớp Plant.</a:t>
            </a:r>
            <a:endParaRPr sz="2200"/>
          </a:p>
          <a:p>
            <a:pPr indent="-368300" lvl="0" marL="457200" rtl="0" algn="l">
              <a:spcBef>
                <a:spcPts val="0"/>
              </a:spcBef>
              <a:spcAft>
                <a:spcPts val="0"/>
              </a:spcAft>
              <a:buSzPts val="2200"/>
              <a:buAutoNum type="alphaLcParenR"/>
            </a:pPr>
            <a:r>
              <a:rPr lang="en-GB" sz="2200"/>
              <a:t>Biểu diễn các khái niệm sử dụng cú pháp Turtle</a:t>
            </a:r>
            <a:endParaRPr sz="2200"/>
          </a:p>
          <a:p>
            <a:pPr indent="-368300" lvl="0" marL="457200" rtl="0" algn="l">
              <a:spcBef>
                <a:spcPts val="0"/>
              </a:spcBef>
              <a:spcAft>
                <a:spcPts val="0"/>
              </a:spcAft>
              <a:buSzPts val="2200"/>
              <a:buAutoNum type="alphaLcParenR"/>
            </a:pPr>
            <a:r>
              <a:rPr lang="en-GB" sz="2200"/>
              <a:t>Thử nghiệm suy diễn với bộ từ vựng thu được từ mục a.</a:t>
            </a:r>
            <a:endParaRPr sz="2200"/>
          </a:p>
        </p:txBody>
      </p:sp>
      <p:pic>
        <p:nvPicPr>
          <p:cNvPr id="754" name="Google Shape;754;p87"/>
          <p:cNvPicPr preferRelativeResize="0"/>
          <p:nvPr/>
        </p:nvPicPr>
        <p:blipFill>
          <a:blip r:embed="rId3">
            <a:alphaModFix/>
          </a:blip>
          <a:stretch>
            <a:fillRect/>
          </a:stretch>
        </p:blipFill>
        <p:spPr>
          <a:xfrm>
            <a:off x="3759774" y="173149"/>
            <a:ext cx="5076525" cy="2483550"/>
          </a:xfrm>
          <a:prstGeom prst="rect">
            <a:avLst/>
          </a:prstGeom>
          <a:noFill/>
          <a:ln>
            <a:noFill/>
          </a:ln>
        </p:spPr>
      </p:pic>
      <p:sp>
        <p:nvSpPr>
          <p:cNvPr id="755" name="Google Shape;755;p87"/>
          <p:cNvSpPr txBox="1"/>
          <p:nvPr/>
        </p:nvSpPr>
        <p:spPr>
          <a:xfrm>
            <a:off x="542950" y="1184450"/>
            <a:ext cx="3216900" cy="13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n-GB" sz="2400">
                <a:solidFill>
                  <a:schemeClr val="dk1"/>
                </a:solidFill>
              </a:rPr>
              <a:t>Biểu diễn khái niệm và suy diễn</a:t>
            </a:r>
            <a:endParaRPr b="1" i="1" sz="24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8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61" name="Google Shape;761;p8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suy diễn</a:t>
            </a:r>
            <a:endParaRPr/>
          </a:p>
        </p:txBody>
      </p:sp>
      <p:sp>
        <p:nvSpPr>
          <p:cNvPr id="762" name="Google Shape;762;p88"/>
          <p:cNvSpPr txBox="1"/>
          <p:nvPr>
            <p:ph idx="4294967295"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a:t>
            </a:r>
            <a:r>
              <a:rPr lang="en-GB"/>
              <a:t>Tổng hợp tài liệu Turtle</a:t>
            </a:r>
            <a:endParaRPr/>
          </a:p>
          <a:p>
            <a:pPr indent="0" lvl="0" marL="0" rtl="0" algn="l">
              <a:spcBef>
                <a:spcPts val="0"/>
              </a:spcBef>
              <a:spcAft>
                <a:spcPts val="0"/>
              </a:spcAft>
              <a:buNone/>
            </a:pPr>
            <a:r>
              <a:rPr lang="en-GB">
                <a:solidFill>
                  <a:srgbClr val="1155CC"/>
                </a:solidFill>
              </a:rPr>
              <a:t># </a:t>
            </a:r>
            <a:r>
              <a:rPr lang="en-GB">
                <a:solidFill>
                  <a:srgbClr val="1155CC"/>
                </a:solidFill>
              </a:rPr>
              <a:t>Định nghĩa thuộc tính :eats</a:t>
            </a:r>
            <a:endParaRPr>
              <a:solidFill>
                <a:srgbClr val="1155CC"/>
              </a:solidFill>
            </a:endParaRPr>
          </a:p>
          <a:p>
            <a:pPr indent="0" lvl="0" marL="0" rtl="0" algn="l">
              <a:spcBef>
                <a:spcPts val="0"/>
              </a:spcBef>
              <a:spcAft>
                <a:spcPts val="0"/>
              </a:spcAft>
              <a:buNone/>
            </a:pPr>
            <a:r>
              <a:rPr lang="en-GB"/>
              <a:t># Định nghĩa các lớp :Herbivore và :Carnivore</a:t>
            </a:r>
            <a:endParaRPr/>
          </a:p>
          <a:p>
            <a:pPr indent="0" lvl="0" marL="0" rtl="0" algn="l">
              <a:spcBef>
                <a:spcPts val="0"/>
              </a:spcBef>
              <a:spcAft>
                <a:spcPts val="0"/>
              </a:spcAft>
              <a:buNone/>
            </a:pPr>
            <a:r>
              <a:rPr lang="en-GB"/>
              <a:t># … Định nghĩa các từ liên quan khác</a:t>
            </a:r>
            <a:endParaRPr/>
          </a:p>
          <a:p>
            <a:pPr indent="0" lvl="0" marL="0" rtl="0" algn="l">
              <a:spcBef>
                <a:spcPts val="0"/>
              </a:spcBef>
              <a:spcAft>
                <a:spcPts val="0"/>
              </a:spcAft>
              <a:buNone/>
            </a:pPr>
            <a:r>
              <a:rPr lang="en-GB"/>
              <a:t>:</a:t>
            </a:r>
            <a:r>
              <a:rPr lang="en-GB"/>
              <a:t>impala :eats :TastyPlant .</a:t>
            </a:r>
            <a:endParaRPr/>
          </a:p>
          <a:p>
            <a:pPr indent="0" lvl="0" marL="0" rtl="0" algn="l">
              <a:spcBef>
                <a:spcPts val="0"/>
              </a:spcBef>
              <a:spcAft>
                <a:spcPts val="0"/>
              </a:spcAft>
              <a:buNone/>
            </a:pPr>
            <a:r>
              <a:rPr lang="en-GB"/>
              <a:t>:pig :eats [unionOf (:Plant :PlantPart) ].</a:t>
            </a:r>
            <a:endParaRPr/>
          </a:p>
          <a:p>
            <a:pPr indent="0" lvl="0" marL="0" rtl="0" algn="l">
              <a:spcBef>
                <a:spcPts val="0"/>
              </a:spcBef>
              <a:spcAft>
                <a:spcPts val="0"/>
              </a:spcAft>
              <a:buNone/>
            </a:pPr>
            <a:r>
              <a:rPr lang="en-GB"/>
              <a:t>:Simba :eats :pig, :impala.</a:t>
            </a:r>
            <a:endParaRPr/>
          </a:p>
          <a:p>
            <a:pPr indent="0" lvl="0" marL="0" rtl="0" algn="l">
              <a:spcBef>
                <a:spcPts val="0"/>
              </a:spcBef>
              <a:spcAft>
                <a:spcPts val="0"/>
              </a:spcAft>
              <a:buNone/>
            </a:pPr>
            <a:r>
              <a:rPr lang="en-GB"/>
              <a:t>=&gt; Suy ra được ??</a:t>
            </a:r>
            <a:endParaRPr/>
          </a:p>
          <a:p>
            <a:pPr indent="0" lvl="0" marL="0" rtl="0" algn="l">
              <a:spcBef>
                <a:spcPts val="0"/>
              </a:spcBef>
              <a:spcAft>
                <a:spcPts val="0"/>
              </a:spcAft>
              <a:buNone/>
            </a:pPr>
            <a:r>
              <a:rPr lang="en-GB">
                <a:solidFill>
                  <a:srgbClr val="1C4587"/>
                </a:solidFill>
              </a:rPr>
              <a:t>Thử với mô tơ suy diễn, ví dụ trong Apache Jena??</a:t>
            </a:r>
            <a:endParaRPr>
              <a:solidFill>
                <a:srgbClr val="1C4587"/>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8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suy diễn: </a:t>
            </a:r>
            <a:r>
              <a:rPr lang="en-GB"/>
              <a:t>Từ vựng</a:t>
            </a:r>
            <a:r>
              <a:rPr baseline="-25000" lang="en-GB"/>
              <a:t>(2)</a:t>
            </a:r>
            <a:endParaRPr baseline="-25000"/>
          </a:p>
        </p:txBody>
      </p:sp>
      <p:sp>
        <p:nvSpPr>
          <p:cNvPr id="768" name="Google Shape;768;p89"/>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800"/>
              <a:t>@prefix owl: &lt;http://www.w3.org/2002/07/owl#&gt; .</a:t>
            </a:r>
            <a:endParaRPr sz="1800"/>
          </a:p>
          <a:p>
            <a:pPr indent="0" lvl="0" marL="0" rtl="0" algn="l">
              <a:lnSpc>
                <a:spcPct val="100000"/>
              </a:lnSpc>
              <a:spcBef>
                <a:spcPts val="0"/>
              </a:spcBef>
              <a:spcAft>
                <a:spcPts val="0"/>
              </a:spcAft>
              <a:buNone/>
            </a:pPr>
            <a:r>
              <a:rPr lang="en-GB" sz="1800"/>
              <a:t>@prefix rdf: &lt;http://www.w3.org/1999/02/22-rdf-syntax-ns#&gt; .</a:t>
            </a:r>
            <a:endParaRPr sz="1800"/>
          </a:p>
          <a:p>
            <a:pPr indent="0" lvl="0" marL="0" rtl="0" algn="l">
              <a:lnSpc>
                <a:spcPct val="100000"/>
              </a:lnSpc>
              <a:spcBef>
                <a:spcPts val="0"/>
              </a:spcBef>
              <a:spcAft>
                <a:spcPts val="0"/>
              </a:spcAft>
              <a:buNone/>
            </a:pPr>
            <a:r>
              <a:rPr lang="en-GB" sz="1800"/>
              <a:t>@prefix rdfs: &lt;http://www.w3.org/2000/01/rdf-schema#&gt; .</a:t>
            </a:r>
            <a:endParaRPr sz="1800"/>
          </a:p>
          <a:p>
            <a:pPr indent="0" lvl="0" marL="0" rtl="0" algn="l">
              <a:lnSpc>
                <a:spcPct val="100000"/>
              </a:lnSpc>
              <a:spcBef>
                <a:spcPts val="0"/>
              </a:spcBef>
              <a:spcAft>
                <a:spcPts val="0"/>
              </a:spcAft>
              <a:buNone/>
            </a:pPr>
            <a:r>
              <a:rPr lang="en-GB" sz="1800"/>
              <a:t>@prefix xsd: &lt;http://www.w3.org/2001/XLMSchema#&gt; .</a:t>
            </a:r>
            <a:endParaRPr sz="1800"/>
          </a:p>
          <a:p>
            <a:pPr indent="0" lvl="0" marL="0" rtl="0" algn="l">
              <a:lnSpc>
                <a:spcPct val="100000"/>
              </a:lnSpc>
              <a:spcBef>
                <a:spcPts val="0"/>
              </a:spcBef>
              <a:spcAft>
                <a:spcPts val="0"/>
              </a:spcAft>
              <a:buNone/>
            </a:pPr>
            <a:r>
              <a:rPr lang="en-GB" sz="1800"/>
              <a:t>@prefix : &lt;http://semweb.edu.vn/family#&gt; .</a:t>
            </a:r>
            <a:endParaRPr sz="1800"/>
          </a:p>
          <a:p>
            <a:pPr indent="0" lvl="0" marL="0" rtl="0" algn="l">
              <a:lnSpc>
                <a:spcPct val="100000"/>
              </a:lnSpc>
              <a:spcBef>
                <a:spcPts val="0"/>
              </a:spcBef>
              <a:spcAft>
                <a:spcPts val="0"/>
              </a:spcAft>
              <a:buNone/>
            </a:pPr>
            <a:r>
              <a:t/>
            </a:r>
            <a:endParaRPr sz="1800"/>
          </a:p>
          <a:p>
            <a:pPr indent="0" lvl="0" marL="0" rtl="0" algn="l">
              <a:lnSpc>
                <a:spcPct val="100000"/>
              </a:lnSpc>
              <a:spcBef>
                <a:spcPts val="0"/>
              </a:spcBef>
              <a:spcAft>
                <a:spcPts val="0"/>
              </a:spcAft>
              <a:buNone/>
            </a:pPr>
            <a:r>
              <a:rPr lang="en-GB" sz="1800"/>
              <a:t>:Parent owl:equivalentClass [</a:t>
            </a:r>
            <a:endParaRPr sz="1800"/>
          </a:p>
          <a:p>
            <a:pPr indent="0" lvl="0" marL="0" rtl="0" algn="l">
              <a:lnSpc>
                <a:spcPct val="100000"/>
              </a:lnSpc>
              <a:spcBef>
                <a:spcPts val="0"/>
              </a:spcBef>
              <a:spcAft>
                <a:spcPts val="0"/>
              </a:spcAft>
              <a:buNone/>
            </a:pPr>
            <a:r>
              <a:rPr lang="en-GB" sz="1800"/>
              <a:t>  a owl:Restriction;</a:t>
            </a:r>
            <a:endParaRPr sz="1800"/>
          </a:p>
          <a:p>
            <a:pPr indent="0" lvl="0" marL="0" rtl="0" algn="l">
              <a:lnSpc>
                <a:spcPct val="100000"/>
              </a:lnSpc>
              <a:spcBef>
                <a:spcPts val="0"/>
              </a:spcBef>
              <a:spcAft>
                <a:spcPts val="0"/>
              </a:spcAft>
              <a:buNone/>
            </a:pPr>
            <a:r>
              <a:rPr lang="en-GB" sz="1800"/>
              <a:t>  owl:onProperty :hasChild;</a:t>
            </a:r>
            <a:endParaRPr sz="1800"/>
          </a:p>
          <a:p>
            <a:pPr indent="0" lvl="0" marL="0" rtl="0" algn="l">
              <a:lnSpc>
                <a:spcPct val="100000"/>
              </a:lnSpc>
              <a:spcBef>
                <a:spcPts val="0"/>
              </a:spcBef>
              <a:spcAft>
                <a:spcPts val="0"/>
              </a:spcAft>
              <a:buNone/>
            </a:pPr>
            <a:r>
              <a:rPr lang="en-GB" sz="1800"/>
              <a:t>  owl:minCardinality 1</a:t>
            </a:r>
            <a:endParaRPr sz="1800"/>
          </a:p>
          <a:p>
            <a:pPr indent="0" lvl="0" marL="0" rtl="0" algn="l">
              <a:lnSpc>
                <a:spcPct val="100000"/>
              </a:lnSpc>
              <a:spcBef>
                <a:spcPts val="0"/>
              </a:spcBef>
              <a:spcAft>
                <a:spcPts val="0"/>
              </a:spcAft>
              <a:buNone/>
            </a:pPr>
            <a:r>
              <a:rPr lang="en-GB" sz="1800"/>
              <a:t>].</a:t>
            </a:r>
            <a:endParaRPr sz="1800"/>
          </a:p>
          <a:p>
            <a:pPr indent="0" lvl="0" marL="0" rtl="0" algn="l">
              <a:lnSpc>
                <a:spcPct val="100000"/>
              </a:lnSpc>
              <a:spcBef>
                <a:spcPts val="0"/>
              </a:spcBef>
              <a:spcAft>
                <a:spcPts val="0"/>
              </a:spcAft>
              <a:buNone/>
            </a:pPr>
            <a:r>
              <a:rPr lang="en-GB" sz="1800"/>
              <a:t>:Female rdfs:subClassOf [</a:t>
            </a:r>
            <a:endParaRPr sz="1800"/>
          </a:p>
          <a:p>
            <a:pPr indent="0" lvl="0" marL="0" rtl="0" algn="l">
              <a:lnSpc>
                <a:spcPct val="100000"/>
              </a:lnSpc>
              <a:spcBef>
                <a:spcPts val="0"/>
              </a:spcBef>
              <a:spcAft>
                <a:spcPts val="0"/>
              </a:spcAft>
              <a:buNone/>
            </a:pPr>
            <a:r>
              <a:rPr lang="en-GB" sz="1800"/>
              <a:t>  a owl:Restriction;</a:t>
            </a:r>
            <a:endParaRPr sz="1800"/>
          </a:p>
          <a:p>
            <a:pPr indent="0" lvl="0" marL="0" rtl="0" algn="l">
              <a:lnSpc>
                <a:spcPct val="100000"/>
              </a:lnSpc>
              <a:spcBef>
                <a:spcPts val="0"/>
              </a:spcBef>
              <a:spcAft>
                <a:spcPts val="0"/>
              </a:spcAft>
              <a:buNone/>
            </a:pPr>
            <a:r>
              <a:rPr lang="en-GB" sz="1800"/>
              <a:t>  owl:onProperty :gender;</a:t>
            </a:r>
            <a:endParaRPr sz="1800"/>
          </a:p>
          <a:p>
            <a:pPr indent="0" lvl="0" marL="0" rtl="0" algn="l">
              <a:lnSpc>
                <a:spcPct val="100000"/>
              </a:lnSpc>
              <a:spcBef>
                <a:spcPts val="0"/>
              </a:spcBef>
              <a:spcAft>
                <a:spcPts val="0"/>
              </a:spcAft>
              <a:buNone/>
            </a:pPr>
            <a:r>
              <a:rPr lang="en-GB" sz="1800"/>
              <a:t>  owl:hasValue "female"^^xsd:string</a:t>
            </a:r>
            <a:endParaRPr sz="1800"/>
          </a:p>
          <a:p>
            <a:pPr indent="0" lvl="0" marL="0" rtl="0" algn="l">
              <a:lnSpc>
                <a:spcPct val="100000"/>
              </a:lnSpc>
              <a:spcBef>
                <a:spcPts val="0"/>
              </a:spcBef>
              <a:spcAft>
                <a:spcPts val="0"/>
              </a:spcAft>
              <a:buNone/>
            </a:pPr>
            <a:r>
              <a:rPr lang="en-GB" sz="1800"/>
              <a:t>].</a:t>
            </a:r>
            <a:endParaRPr sz="1800"/>
          </a:p>
          <a:p>
            <a:pPr indent="0" lvl="0" marL="0" rtl="0" algn="l">
              <a:lnSpc>
                <a:spcPct val="100000"/>
              </a:lnSpc>
              <a:spcBef>
                <a:spcPts val="0"/>
              </a:spcBef>
              <a:spcAft>
                <a:spcPts val="0"/>
              </a:spcAft>
              <a:buNone/>
            </a:pPr>
            <a:r>
              <a:rPr lang="en-GB" sz="1800"/>
              <a:t>:Father owl:equivalentClass [</a:t>
            </a:r>
            <a:endParaRPr sz="1800"/>
          </a:p>
          <a:p>
            <a:pPr indent="0" lvl="0" marL="0" rtl="0" algn="l">
              <a:lnSpc>
                <a:spcPct val="100000"/>
              </a:lnSpc>
              <a:spcBef>
                <a:spcPts val="0"/>
              </a:spcBef>
              <a:spcAft>
                <a:spcPts val="0"/>
              </a:spcAft>
              <a:buNone/>
            </a:pPr>
            <a:r>
              <a:rPr lang="en-GB" sz="1800"/>
              <a:t>  owl:intersectionOf (:Parent :Male)</a:t>
            </a:r>
            <a:endParaRPr sz="1800"/>
          </a:p>
          <a:p>
            <a:pPr indent="0" lvl="0" marL="0" rtl="0" algn="l">
              <a:lnSpc>
                <a:spcPct val="100000"/>
              </a:lnSpc>
              <a:spcBef>
                <a:spcPts val="0"/>
              </a:spcBef>
              <a:spcAft>
                <a:spcPts val="0"/>
              </a:spcAft>
              <a:buNone/>
            </a:pPr>
            <a:r>
              <a:rPr lang="en-GB" sz="1800"/>
              <a:t>].</a:t>
            </a:r>
            <a:endParaRPr sz="1800"/>
          </a:p>
        </p:txBody>
      </p:sp>
      <p:sp>
        <p:nvSpPr>
          <p:cNvPr id="769" name="Google Shape;769;p8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0" name="Google Shape;770;p89"/>
          <p:cNvSpPr txBox="1"/>
          <p:nvPr/>
        </p:nvSpPr>
        <p:spPr>
          <a:xfrm>
            <a:off x="4958450" y="3360600"/>
            <a:ext cx="3841200" cy="17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2"/>
              </a:solidFill>
            </a:endParaRPr>
          </a:p>
        </p:txBody>
      </p:sp>
      <p:sp>
        <p:nvSpPr>
          <p:cNvPr id="771" name="Google Shape;771;p89"/>
          <p:cNvSpPr txBox="1"/>
          <p:nvPr/>
        </p:nvSpPr>
        <p:spPr>
          <a:xfrm>
            <a:off x="4596425" y="3933775"/>
            <a:ext cx="3841200" cy="19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a:solidFill>
                  <a:schemeClr val="dk2"/>
                </a:solidFill>
              </a:rPr>
              <a:t>[ a owl:Restriction;</a:t>
            </a:r>
            <a:endParaRPr sz="1800">
              <a:solidFill>
                <a:schemeClr val="dk2"/>
              </a:solidFill>
            </a:endParaRPr>
          </a:p>
          <a:p>
            <a:pPr indent="0" lvl="0" marL="0" rtl="0" algn="l">
              <a:spcBef>
                <a:spcPts val="0"/>
              </a:spcBef>
              <a:spcAft>
                <a:spcPts val="0"/>
              </a:spcAft>
              <a:buClr>
                <a:schemeClr val="dk1"/>
              </a:buClr>
              <a:buSzPts val="1100"/>
              <a:buFont typeface="Arial"/>
              <a:buNone/>
            </a:pPr>
            <a:r>
              <a:rPr lang="en-GB" sz="1800">
                <a:solidFill>
                  <a:schemeClr val="dk2"/>
                </a:solidFill>
              </a:rPr>
              <a:t>  owl:onProperty :gender;</a:t>
            </a:r>
            <a:endParaRPr sz="1800">
              <a:solidFill>
                <a:schemeClr val="dk2"/>
              </a:solidFill>
            </a:endParaRPr>
          </a:p>
          <a:p>
            <a:pPr indent="0" lvl="0" marL="0" rtl="0" algn="l">
              <a:spcBef>
                <a:spcPts val="0"/>
              </a:spcBef>
              <a:spcAft>
                <a:spcPts val="0"/>
              </a:spcAft>
              <a:buClr>
                <a:schemeClr val="dk1"/>
              </a:buClr>
              <a:buSzPts val="1100"/>
              <a:buFont typeface="Arial"/>
              <a:buNone/>
            </a:pPr>
            <a:r>
              <a:rPr lang="en-GB" sz="1800">
                <a:solidFill>
                  <a:schemeClr val="dk2"/>
                </a:solidFill>
              </a:rPr>
              <a:t>  owl:hasValue "male"^^xsd:string</a:t>
            </a:r>
            <a:endParaRPr sz="1800">
              <a:solidFill>
                <a:schemeClr val="dk2"/>
              </a:solidFill>
            </a:endParaRPr>
          </a:p>
          <a:p>
            <a:pPr indent="0" lvl="0" marL="0" rtl="0" algn="l">
              <a:spcBef>
                <a:spcPts val="0"/>
              </a:spcBef>
              <a:spcAft>
                <a:spcPts val="0"/>
              </a:spcAft>
              <a:buClr>
                <a:schemeClr val="dk1"/>
              </a:buClr>
              <a:buSzPts val="1100"/>
              <a:buFont typeface="Arial"/>
              <a:buNone/>
            </a:pPr>
            <a:r>
              <a:rPr lang="en-GB" sz="1800">
                <a:solidFill>
                  <a:schemeClr val="dk2"/>
                </a:solidFill>
              </a:rPr>
              <a:t>] rdfs:subClassOf :Male.</a:t>
            </a:r>
            <a:endParaRPr sz="2400">
              <a:solidFill>
                <a:schemeClr val="dk2"/>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9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Thử nghiệm suy diễn: Dữ kiện</a:t>
            </a:r>
            <a:r>
              <a:rPr baseline="-25000" lang="en-GB"/>
              <a:t>(3)</a:t>
            </a:r>
            <a:endParaRPr baseline="-25000"/>
          </a:p>
        </p:txBody>
      </p:sp>
      <p:sp>
        <p:nvSpPr>
          <p:cNvPr id="777" name="Google Shape;777;p90"/>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2400">
                <a:solidFill>
                  <a:srgbClr val="666666"/>
                </a:solidFill>
              </a:rPr>
              <a:t>@prefix owl: &lt;http://www.w3.org/2002/07/owl#&gt; .</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@prefix rdf: &lt;http://www.w3.org/1999/02/22-rdf-syntax-ns#&gt; .</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@prefix rdfs: &lt;http://www.w3.org/2000/01/rdf-schema#&gt; .</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@prefix xsd: &lt;http://www.w3.org/2001/XLMSchema#&gt; .</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@prefix : &lt;http://semweb.edu.vn/family#&gt; .</a:t>
            </a:r>
            <a:endParaRPr sz="2400">
              <a:solidFill>
                <a:srgbClr val="666666"/>
              </a:solidFill>
            </a:endParaRPr>
          </a:p>
          <a:p>
            <a:pPr indent="0" lvl="0" marL="0" rtl="0" algn="l">
              <a:spcBef>
                <a:spcPts val="0"/>
              </a:spcBef>
              <a:spcAft>
                <a:spcPts val="0"/>
              </a:spcAft>
              <a:buClr>
                <a:schemeClr val="dk1"/>
              </a:buClr>
              <a:buSzPts val="1100"/>
              <a:buFont typeface="Arial"/>
              <a:buNone/>
            </a:pPr>
            <a:r>
              <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:john :gender "male"^^xsd:string.</a:t>
            </a:r>
            <a:endParaRPr sz="2400">
              <a:solidFill>
                <a:srgbClr val="666666"/>
              </a:solidFill>
            </a:endParaRPr>
          </a:p>
          <a:p>
            <a:pPr indent="0" lvl="0" marL="0" rtl="0" algn="l">
              <a:spcBef>
                <a:spcPts val="0"/>
              </a:spcBef>
              <a:spcAft>
                <a:spcPts val="0"/>
              </a:spcAft>
              <a:buClr>
                <a:schemeClr val="dk1"/>
              </a:buClr>
              <a:buSzPts val="1100"/>
              <a:buFont typeface="Arial"/>
              <a:buNone/>
            </a:pPr>
            <a:r>
              <a:rPr lang="en-GB" sz="2400">
                <a:solidFill>
                  <a:srgbClr val="666666"/>
                </a:solidFill>
              </a:rPr>
              <a:t>:mary :gender "female"^^xsd:string.</a:t>
            </a:r>
            <a:endParaRPr sz="2400">
              <a:solidFill>
                <a:srgbClr val="666666"/>
              </a:solidFill>
            </a:endParaRPr>
          </a:p>
          <a:p>
            <a:pPr indent="0" lvl="0" marL="0" rtl="0" algn="l">
              <a:spcBef>
                <a:spcPts val="0"/>
              </a:spcBef>
              <a:spcAft>
                <a:spcPts val="0"/>
              </a:spcAft>
              <a:buNone/>
            </a:pPr>
            <a:r>
              <a:rPr lang="en-GB" sz="2400">
                <a:solidFill>
                  <a:srgbClr val="666666"/>
                </a:solidFill>
              </a:rPr>
              <a:t>:john :hasChild :mary.</a:t>
            </a:r>
            <a:endParaRPr sz="2400">
              <a:solidFill>
                <a:srgbClr val="666666"/>
              </a:solidFill>
            </a:endParaRPr>
          </a:p>
        </p:txBody>
      </p:sp>
      <p:sp>
        <p:nvSpPr>
          <p:cNvPr id="778" name="Google Shape;778;p9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79" name="Google Shape;779;p90"/>
          <p:cNvSpPr txBox="1"/>
          <p:nvPr/>
        </p:nvSpPr>
        <p:spPr>
          <a:xfrm>
            <a:off x="311700" y="4843775"/>
            <a:ext cx="8627700" cy="10266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Clr>
                <a:srgbClr val="666666"/>
              </a:buClr>
              <a:buSzPts val="2200"/>
              <a:buAutoNum type="alphaLcParenR"/>
            </a:pPr>
            <a:r>
              <a:rPr lang="en-GB" sz="2200">
                <a:solidFill>
                  <a:srgbClr val="666666"/>
                </a:solidFill>
              </a:rPr>
              <a:t>Có thể suy ra những gì dựa trên ngữ nghĩa RDFS và OWL?</a:t>
            </a:r>
            <a:endParaRPr sz="2200">
              <a:solidFill>
                <a:srgbClr val="666666"/>
              </a:solidFill>
            </a:endParaRPr>
          </a:p>
          <a:p>
            <a:pPr indent="0" lvl="0" marL="457200" rtl="0" algn="l">
              <a:spcBef>
                <a:spcPts val="0"/>
              </a:spcBef>
              <a:spcAft>
                <a:spcPts val="0"/>
              </a:spcAft>
              <a:buNone/>
            </a:pPr>
            <a:r>
              <a:rPr i="1" lang="en-GB" sz="2200">
                <a:solidFill>
                  <a:srgbClr val="666666"/>
                </a:solidFill>
              </a:rPr>
              <a:t>T</a:t>
            </a:r>
            <a:r>
              <a:rPr i="1" lang="en-GB" sz="2200">
                <a:solidFill>
                  <a:srgbClr val="666666"/>
                </a:solidFill>
              </a:rPr>
              <a:t>ìm 3 câu và giải thích cơ sở của suy diễn?</a:t>
            </a:r>
            <a:endParaRPr i="1" sz="2200">
              <a:solidFill>
                <a:srgbClr val="666666"/>
              </a:solidFill>
            </a:endParaRPr>
          </a:p>
          <a:p>
            <a:pPr indent="-368300" lvl="0" marL="457200" rtl="0" algn="l">
              <a:spcBef>
                <a:spcPts val="0"/>
              </a:spcBef>
              <a:spcAft>
                <a:spcPts val="0"/>
              </a:spcAft>
              <a:buClr>
                <a:srgbClr val="666666"/>
              </a:buClr>
              <a:buSzPts val="2200"/>
              <a:buAutoNum type="alphaLcParenR"/>
            </a:pPr>
            <a:r>
              <a:rPr lang="en-GB" sz="2200">
                <a:solidFill>
                  <a:srgbClr val="666666"/>
                </a:solidFill>
              </a:rPr>
              <a:t>Thực hiện suy diễn với OWL Reasoner của Apache Jena.</a:t>
            </a:r>
            <a:endParaRPr sz="2200">
              <a:solidFill>
                <a:srgbClr val="666666"/>
              </a:solidFill>
            </a:endParaRPr>
          </a:p>
        </p:txBody>
      </p:sp>
      <p:sp>
        <p:nvSpPr>
          <p:cNvPr id="780" name="Google Shape;780;p90"/>
          <p:cNvSpPr txBox="1"/>
          <p:nvPr/>
        </p:nvSpPr>
        <p:spPr>
          <a:xfrm>
            <a:off x="865875" y="6047850"/>
            <a:ext cx="7684500" cy="47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400">
                <a:solidFill>
                  <a:srgbClr val="666666"/>
                </a:solidFill>
              </a:rPr>
              <a:t>./fuseki-server --config fuseki-config.ttl</a:t>
            </a:r>
            <a:endParaRPr sz="2400">
              <a:solidFill>
                <a:srgbClr val="666666"/>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9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786" name="Google Shape;786;p9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Apache Jena Fuseki</a:t>
            </a:r>
            <a:endParaRPr/>
          </a:p>
        </p:txBody>
      </p:sp>
      <p:sp>
        <p:nvSpPr>
          <p:cNvPr id="787" name="Google Shape;787;p91"/>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u="sng">
                <a:solidFill>
                  <a:schemeClr val="hlink"/>
                </a:solidFill>
                <a:hlinkClick r:id="rId3"/>
              </a:rPr>
              <a:t>https://jena.apache.org/documentation/fuseki2/fuseki-configuration.html</a:t>
            </a:r>
            <a:endParaRPr/>
          </a:p>
          <a:p>
            <a:pPr indent="0" lvl="0" marL="0" rtl="0" algn="l">
              <a:spcBef>
                <a:spcPts val="0"/>
              </a:spcBef>
              <a:spcAft>
                <a:spcPts val="0"/>
              </a:spcAft>
              <a:buNone/>
            </a:pPr>
            <a:r>
              <a:rPr lang="en-GB" u="sng">
                <a:solidFill>
                  <a:schemeClr val="hlink"/>
                </a:solidFill>
                <a:hlinkClick r:id="rId4"/>
              </a:rPr>
              <a:t>https://github.com/apache/jena/tree/main/jena-fuseki2/examples</a:t>
            </a:r>
            <a:endParaRPr/>
          </a:p>
          <a:p>
            <a:pPr indent="0" lvl="0" marL="0" rtl="0" algn="l">
              <a:spcBef>
                <a:spcPts val="0"/>
              </a:spcBef>
              <a:spcAft>
                <a:spcPts val="0"/>
              </a:spcAft>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9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793" name="Google Shape;793;p92"/>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5.1. Tổng quan về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5.2. Ngữ nghĩa trực quan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5.3. Ví dụ tổng hợp: Thiên nhiên Châu Phi</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5.4. Các tầng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5.5. OWL 2</a:t>
            </a:r>
            <a:endParaRPr>
              <a:solidFill>
                <a:schemeClr val="dk1"/>
              </a:solidFill>
              <a:latin typeface="Times New Roman"/>
              <a:ea typeface="Times New Roman"/>
              <a:cs typeface="Times New Roman"/>
              <a:sym typeface="Times New Roman"/>
            </a:endParaRPr>
          </a:p>
        </p:txBody>
      </p:sp>
      <p:sp>
        <p:nvSpPr>
          <p:cNvPr id="794" name="Google Shape;794;p92"/>
          <p:cNvSpPr/>
          <p:nvPr/>
        </p:nvSpPr>
        <p:spPr>
          <a:xfrm>
            <a:off x="318450" y="2011517"/>
            <a:ext cx="57867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9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9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phiên bản </a:t>
            </a:r>
            <a:r>
              <a:rPr lang="en-GB"/>
              <a:t>OWL</a:t>
            </a:r>
            <a:endParaRPr/>
          </a:p>
        </p:txBody>
      </p:sp>
      <p:sp>
        <p:nvSpPr>
          <p:cNvPr id="801" name="Google Shape;801;p93"/>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W3C chia OWL thành ba t</a:t>
            </a:r>
            <a:r>
              <a:rPr lang="en-GB"/>
              <a:t>ầng ngôn ngữ/phiên bản:</a:t>
            </a:r>
            <a:endParaRPr/>
          </a:p>
          <a:p>
            <a:pPr indent="-368300" lvl="1" marL="914400" rtl="0" algn="l">
              <a:spcBef>
                <a:spcPts val="0"/>
              </a:spcBef>
              <a:spcAft>
                <a:spcPts val="0"/>
              </a:spcAft>
              <a:buSzPts val="2200"/>
              <a:buChar char="○"/>
            </a:pPr>
            <a:r>
              <a:rPr lang="en-GB"/>
              <a:t>OWL Lite</a:t>
            </a:r>
            <a:endParaRPr/>
          </a:p>
          <a:p>
            <a:pPr indent="-368300" lvl="1" marL="914400" rtl="0" algn="l">
              <a:spcBef>
                <a:spcPts val="0"/>
              </a:spcBef>
              <a:spcAft>
                <a:spcPts val="0"/>
              </a:spcAft>
              <a:buSzPts val="2200"/>
              <a:buChar char="○"/>
            </a:pPr>
            <a:r>
              <a:rPr lang="en-GB"/>
              <a:t>OWL DL</a:t>
            </a:r>
            <a:endParaRPr/>
          </a:p>
          <a:p>
            <a:pPr indent="-368300" lvl="1" marL="914400" rtl="0" algn="l">
              <a:spcBef>
                <a:spcPts val="0"/>
              </a:spcBef>
              <a:spcAft>
                <a:spcPts val="0"/>
              </a:spcAft>
              <a:buSzPts val="2200"/>
              <a:buChar char="○"/>
            </a:pPr>
            <a:r>
              <a:rPr lang="en-GB"/>
              <a:t>OWL Full</a:t>
            </a:r>
            <a:endParaRPr/>
          </a:p>
          <a:p>
            <a:pPr indent="-381000" lvl="0" marL="457200" rtl="0" algn="l">
              <a:spcBef>
                <a:spcPts val="0"/>
              </a:spcBef>
              <a:spcAft>
                <a:spcPts val="0"/>
              </a:spcAft>
              <a:buSzPts val="2400"/>
              <a:buChar char="●"/>
            </a:pPr>
            <a:r>
              <a:rPr lang="en-GB"/>
              <a:t>Mỗi </a:t>
            </a:r>
            <a:r>
              <a:rPr lang="en-GB"/>
              <a:t>phiên bản</a:t>
            </a:r>
            <a:r>
              <a:rPr lang="en-GB"/>
              <a:t> hướng tới đáp ứng các nh</a:t>
            </a:r>
            <a:r>
              <a:rPr lang="en-GB"/>
              <a:t>u cầu sử dụng khác nhau</a:t>
            </a:r>
            <a:endParaRPr/>
          </a:p>
        </p:txBody>
      </p:sp>
      <p:sp>
        <p:nvSpPr>
          <p:cNvPr id="802" name="Google Shape;802;p9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9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 Full</a:t>
            </a:r>
            <a:endParaRPr/>
          </a:p>
        </p:txBody>
      </p:sp>
      <p:sp>
        <p:nvSpPr>
          <p:cNvPr id="808" name="Google Shape;808;p94"/>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Bao gồm </a:t>
            </a:r>
            <a:r>
              <a:rPr lang="en-GB"/>
              <a:t>tất cả các thành phần của OWL</a:t>
            </a:r>
            <a:endParaRPr/>
          </a:p>
          <a:p>
            <a:pPr indent="-381000" lvl="0" marL="457200" rtl="0" algn="l">
              <a:spcBef>
                <a:spcPts val="0"/>
              </a:spcBef>
              <a:spcAft>
                <a:spcPts val="0"/>
              </a:spcAft>
              <a:buSzPts val="2400"/>
              <a:buChar char="●"/>
            </a:pPr>
            <a:r>
              <a:rPr lang="en-GB"/>
              <a:t>Cho phép kết hợp các thành phần này theo cách tùy ý với RDF và RDFS</a:t>
            </a:r>
            <a:endParaRPr/>
          </a:p>
          <a:p>
            <a:pPr indent="-381000" lvl="0" marL="457200" rtl="0" algn="l">
              <a:spcBef>
                <a:spcPts val="0"/>
              </a:spcBef>
              <a:spcAft>
                <a:spcPts val="0"/>
              </a:spcAft>
              <a:buSzPts val="2400"/>
              <a:buChar char="●"/>
            </a:pPr>
            <a:r>
              <a:rPr lang="en-GB"/>
              <a:t>OWL Full hoàn toàn tương thích với RDF, cả cú pháp và ngữ nghĩa</a:t>
            </a:r>
            <a:endParaRPr/>
          </a:p>
          <a:p>
            <a:pPr indent="-381000" lvl="0" marL="457200" rtl="0" algn="l">
              <a:spcBef>
                <a:spcPts val="0"/>
              </a:spcBef>
              <a:spcAft>
                <a:spcPts val="0"/>
              </a:spcAft>
              <a:buSzPts val="2400"/>
              <a:buChar char="●"/>
            </a:pPr>
            <a:r>
              <a:rPr lang="en-GB"/>
              <a:t>Khả năng diễn đạt của OWL Full </a:t>
            </a:r>
            <a:r>
              <a:rPr lang="en-GB"/>
              <a:t>rất </a:t>
            </a:r>
            <a:r>
              <a:rPr lang="en-GB"/>
              <a:t>mạnh, không thể thực hiện </a:t>
            </a:r>
            <a:r>
              <a:rPr lang="en-GB"/>
              <a:t>suy diễn hiệu quả</a:t>
            </a:r>
            <a:endParaRPr/>
          </a:p>
        </p:txBody>
      </p:sp>
      <p:sp>
        <p:nvSpPr>
          <p:cNvPr id="809" name="Google Shape;809;p9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9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 DL</a:t>
            </a:r>
            <a:endParaRPr/>
          </a:p>
        </p:txBody>
      </p:sp>
      <p:sp>
        <p:nvSpPr>
          <p:cNvPr id="815" name="Google Shape;815;p9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OWL DL (Lô-gic mô tả - Description Logic) là 1 tập con của OWL Full </a:t>
            </a:r>
            <a:endParaRPr/>
          </a:p>
          <a:p>
            <a:pPr indent="-368300" lvl="1" marL="914400" rtl="0" algn="l">
              <a:spcBef>
                <a:spcPts val="0"/>
              </a:spcBef>
              <a:spcAft>
                <a:spcPts val="0"/>
              </a:spcAft>
              <a:buSzPts val="2200"/>
              <a:buChar char="○"/>
            </a:pPr>
            <a:r>
              <a:rPr lang="en-GB"/>
              <a:t>C</a:t>
            </a:r>
            <a:r>
              <a:rPr lang="en-GB"/>
              <a:t>ùng tập từ khóa như OWL Full, tuy nhiên ràng buộc chặt hơn về ý nghĩa</a:t>
            </a:r>
            <a:endParaRPr/>
          </a:p>
          <a:p>
            <a:pPr indent="-368300" lvl="1" marL="914400" rtl="0" algn="l">
              <a:spcBef>
                <a:spcPts val="0"/>
              </a:spcBef>
              <a:spcAft>
                <a:spcPts val="0"/>
              </a:spcAft>
              <a:buSzPts val="2200"/>
              <a:buChar char="○"/>
            </a:pPr>
            <a:r>
              <a:rPr lang="en-GB"/>
              <a:t>Tương </a:t>
            </a:r>
            <a:r>
              <a:rPr lang="en-GB"/>
              <a:t>đương</a:t>
            </a:r>
            <a:r>
              <a:rPr lang="en-GB"/>
              <a:t> với lô-gic mô tả</a:t>
            </a:r>
            <a:endParaRPr/>
          </a:p>
          <a:p>
            <a:pPr indent="-381000" lvl="0" marL="457200" rtl="0" algn="l">
              <a:spcBef>
                <a:spcPts val="0"/>
              </a:spcBef>
              <a:spcAft>
                <a:spcPts val="0"/>
              </a:spcAft>
              <a:buSzPts val="2400"/>
              <a:buChar char="●"/>
            </a:pPr>
            <a:r>
              <a:rPr lang="en-GB"/>
              <a:t>Có thể</a:t>
            </a:r>
            <a:r>
              <a:rPr lang="en-GB"/>
              <a:t> </a:t>
            </a:r>
            <a:r>
              <a:rPr lang="en-GB"/>
              <a:t>thực hiện</a:t>
            </a:r>
            <a:r>
              <a:rPr lang="en-GB"/>
              <a:t> suy diễn hiệu quả </a:t>
            </a:r>
            <a:r>
              <a:rPr lang="en-GB"/>
              <a:t>với OWL DL</a:t>
            </a:r>
            <a:endParaRPr/>
          </a:p>
          <a:p>
            <a:pPr indent="-381000" lvl="0" marL="457200" rtl="0" algn="l">
              <a:spcBef>
                <a:spcPts val="0"/>
              </a:spcBef>
              <a:spcAft>
                <a:spcPts val="0"/>
              </a:spcAft>
              <a:buSzPts val="2400"/>
              <a:buChar char="●"/>
            </a:pPr>
            <a:r>
              <a:rPr lang="en-GB"/>
              <a:t>K</a:t>
            </a:r>
            <a:r>
              <a:rPr lang="en-GB"/>
              <a:t>hông</a:t>
            </a:r>
            <a:r>
              <a:rPr lang="en-GB"/>
              <a:t> </a:t>
            </a:r>
            <a:r>
              <a:rPr lang="en-GB"/>
              <a:t>hoàn toàn </a:t>
            </a:r>
            <a:r>
              <a:rPr lang="en-GB"/>
              <a:t>tương thích với RDF</a:t>
            </a:r>
            <a:endParaRPr/>
          </a:p>
          <a:p>
            <a:pPr indent="-368300" lvl="1" marL="914400" rtl="0" algn="l">
              <a:spcBef>
                <a:spcPts val="0"/>
              </a:spcBef>
              <a:spcAft>
                <a:spcPts val="0"/>
              </a:spcAft>
              <a:buSzPts val="2200"/>
              <a:buChar char="○"/>
            </a:pPr>
            <a:r>
              <a:rPr lang="en-GB"/>
              <a:t>Tài liệu RDF </a:t>
            </a:r>
            <a:r>
              <a:rPr lang="en-GB"/>
              <a:t>có thể không phải</a:t>
            </a:r>
            <a:r>
              <a:rPr lang="en-GB"/>
              <a:t> tài liệu OWL DL hợp lệ</a:t>
            </a:r>
            <a:endParaRPr/>
          </a:p>
          <a:p>
            <a:pPr indent="-368300" lvl="1" marL="914400" rtl="0" algn="l">
              <a:spcBef>
                <a:spcPts val="0"/>
              </a:spcBef>
              <a:spcAft>
                <a:spcPts val="0"/>
              </a:spcAft>
              <a:buSzPts val="2200"/>
              <a:buChar char="○"/>
            </a:pPr>
            <a:r>
              <a:rPr lang="en-GB"/>
              <a:t>Tất cả các tài liệu OWL DL đều là tài liệu RDF hợp lệ.</a:t>
            </a:r>
            <a:endParaRPr/>
          </a:p>
        </p:txBody>
      </p:sp>
      <p:sp>
        <p:nvSpPr>
          <p:cNvPr id="816" name="Google Shape;816;p9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9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OWL Lite</a:t>
            </a:r>
            <a:endParaRPr/>
          </a:p>
        </p:txBody>
      </p:sp>
      <p:sp>
        <p:nvSpPr>
          <p:cNvPr id="822" name="Google Shape;822;p96"/>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Tập con của OWL DL, với nhiều giới hạn hơn nữa</a:t>
            </a:r>
            <a:endParaRPr/>
          </a:p>
          <a:p>
            <a:pPr indent="-368300" lvl="1" marL="914400" rtl="0" algn="l">
              <a:spcBef>
                <a:spcPts val="0"/>
              </a:spcBef>
              <a:spcAft>
                <a:spcPts val="0"/>
              </a:spcAft>
              <a:buSzPts val="2200"/>
              <a:buChar char="○"/>
            </a:pPr>
            <a:r>
              <a:rPr lang="en-GB"/>
              <a:t>Ví dụ, OWL Lite loại bỏ các lớp liệt kê, các câu về tính chất không giao nhau, và cơ số tùy ý</a:t>
            </a:r>
            <a:endParaRPr/>
          </a:p>
          <a:p>
            <a:pPr indent="-381000" lvl="0" marL="457200" rtl="0" algn="l">
              <a:spcBef>
                <a:spcPts val="0"/>
              </a:spcBef>
              <a:spcAft>
                <a:spcPts val="0"/>
              </a:spcAft>
              <a:buSzPts val="2400"/>
              <a:buChar char="●"/>
            </a:pPr>
            <a:r>
              <a:rPr lang="en-GB"/>
              <a:t>Ưu điểm của </a:t>
            </a:r>
            <a:r>
              <a:rPr lang="en-GB"/>
              <a:t>phiên bản</a:t>
            </a:r>
            <a:r>
              <a:rPr lang="en-GB"/>
              <a:t> này:</a:t>
            </a:r>
            <a:endParaRPr/>
          </a:p>
          <a:p>
            <a:pPr indent="-368300" lvl="1" marL="914400" rtl="0" algn="l">
              <a:spcBef>
                <a:spcPts val="0"/>
              </a:spcBef>
              <a:spcAft>
                <a:spcPts val="0"/>
              </a:spcAft>
              <a:buSzPts val="2200"/>
              <a:buChar char="○"/>
            </a:pPr>
            <a:r>
              <a:rPr lang="en-GB"/>
              <a:t>Đơn giản đối với người dùng </a:t>
            </a:r>
            <a:endParaRPr/>
          </a:p>
          <a:p>
            <a:pPr indent="-368300" lvl="1" marL="914400" rtl="0" algn="l">
              <a:spcBef>
                <a:spcPts val="0"/>
              </a:spcBef>
              <a:spcAft>
                <a:spcPts val="0"/>
              </a:spcAft>
              <a:buSzPts val="2200"/>
              <a:buChar char="○"/>
            </a:pPr>
            <a:r>
              <a:rPr lang="en-GB"/>
              <a:t>và</a:t>
            </a:r>
            <a:r>
              <a:rPr lang="en-GB"/>
              <a:t> người </a:t>
            </a:r>
            <a:r>
              <a:rPr lang="en-GB"/>
              <a:t>phát triển</a:t>
            </a:r>
            <a:r>
              <a:rPr lang="en-GB"/>
              <a:t> công cụ</a:t>
            </a:r>
            <a:endParaRPr/>
          </a:p>
          <a:p>
            <a:pPr indent="-381000" lvl="0" marL="457200" rtl="0" algn="l">
              <a:spcBef>
                <a:spcPts val="0"/>
              </a:spcBef>
              <a:spcAft>
                <a:spcPts val="0"/>
              </a:spcAft>
              <a:buSzPts val="2400"/>
              <a:buChar char="●"/>
            </a:pPr>
            <a:r>
              <a:rPr lang="en-GB"/>
              <a:t>Nhược điểm: Khả năng diễn đạt hạn chế.</a:t>
            </a:r>
            <a:endParaRPr/>
          </a:p>
        </p:txBody>
      </p:sp>
      <p:sp>
        <p:nvSpPr>
          <p:cNvPr id="823" name="Google Shape;823;p9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9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t</a:t>
            </a:r>
            <a:r>
              <a:rPr lang="en-GB"/>
              <a:t>ập</a:t>
            </a:r>
            <a:r>
              <a:rPr lang="en-GB"/>
              <a:t> tính năng OWL</a:t>
            </a:r>
            <a:endParaRPr/>
          </a:p>
        </p:txBody>
      </p:sp>
      <p:sp>
        <p:nvSpPr>
          <p:cNvPr id="829" name="Google Shape;829;p97"/>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Các phiên bản OWL khác nhau có những tập tính năng kh</a:t>
            </a:r>
            <a:r>
              <a:rPr lang="en-GB"/>
              <a:t>ác nhau</a:t>
            </a:r>
            <a:endParaRPr/>
          </a:p>
          <a:p>
            <a:pPr indent="-381000" lvl="0" marL="457200" rtl="0" algn="just">
              <a:spcBef>
                <a:spcPts val="0"/>
              </a:spcBef>
              <a:spcAft>
                <a:spcPts val="0"/>
              </a:spcAft>
              <a:buSzPts val="2400"/>
              <a:buChar char="●"/>
            </a:pPr>
            <a:r>
              <a:rPr lang="en-GB"/>
              <a:t>Trong OWL Full, tất cả các cấu trúc ngôn ngữ có thể được sử dụng theo bất kỳ tổ hợp nào và kết quả th</a:t>
            </a:r>
            <a:r>
              <a:rPr lang="en-GB"/>
              <a:t>u được</a:t>
            </a:r>
            <a:r>
              <a:rPr lang="en-GB"/>
              <a:t> vẫn là tài liệu RDF hợp lệ</a:t>
            </a:r>
            <a:endParaRPr/>
          </a:p>
          <a:p>
            <a:pPr indent="-381000" lvl="0" marL="457200" rtl="0" algn="just">
              <a:spcBef>
                <a:spcPts val="0"/>
              </a:spcBef>
              <a:spcAft>
                <a:spcPts val="0"/>
              </a:spcAft>
              <a:buSzPts val="2400"/>
              <a:buChar char="●"/>
            </a:pPr>
            <a:r>
              <a:rPr lang="en-GB"/>
              <a:t>OWL DL loại bỏ hoặc hạn chế một số tính năng để đảm bảo khả n</a:t>
            </a:r>
            <a:r>
              <a:rPr lang="en-GB"/>
              <a:t>ăng thực hiện</a:t>
            </a:r>
            <a:r>
              <a:rPr lang="en-GB"/>
              <a:t> suy diễn đầy đủ hoặc đơn giản hóa việc xây dựng các mô tơ suy diễn.</a:t>
            </a:r>
            <a:endParaRPr/>
          </a:p>
        </p:txBody>
      </p:sp>
      <p:sp>
        <p:nvSpPr>
          <p:cNvPr id="830" name="Google Shape;830;p9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9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ràng buộc</a:t>
            </a:r>
            <a:r>
              <a:rPr lang="en-GB"/>
              <a:t> tính năng trong OWL DL</a:t>
            </a:r>
            <a:endParaRPr/>
          </a:p>
        </p:txBody>
      </p:sp>
      <p:sp>
        <p:nvSpPr>
          <p:cNvPr id="836" name="Google Shape;836;p98"/>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Khai b</a:t>
            </a:r>
            <a:r>
              <a:rPr lang="en-GB"/>
              <a:t>áo</a:t>
            </a:r>
            <a:r>
              <a:rPr lang="en-GB"/>
              <a:t> tường minh </a:t>
            </a:r>
            <a:r>
              <a:rPr lang="en-GB"/>
              <a:t>lớp và thuộc tính</a:t>
            </a:r>
            <a:endParaRPr/>
          </a:p>
          <a:p>
            <a:pPr indent="-368300" lvl="1" marL="914400" rtl="0" algn="just">
              <a:spcBef>
                <a:spcPts val="0"/>
              </a:spcBef>
              <a:spcAft>
                <a:spcPts val="0"/>
              </a:spcAft>
              <a:buSzPts val="2200"/>
              <a:buChar char="○"/>
            </a:pPr>
            <a:r>
              <a:rPr lang="en-GB"/>
              <a:t>Các lớp và thuộc tính trong mệnh đề phải được khai báo tường minh là owl:Class</a:t>
            </a:r>
            <a:endParaRPr/>
          </a:p>
          <a:p>
            <a:pPr indent="-368300" lvl="1" marL="914400" rtl="0" algn="just">
              <a:spcBef>
                <a:spcPts val="0"/>
              </a:spcBef>
              <a:spcAft>
                <a:spcPts val="0"/>
              </a:spcAft>
              <a:buSzPts val="2200"/>
              <a:buChar char="○"/>
            </a:pPr>
            <a:r>
              <a:rPr lang="en-GB"/>
              <a:t>Ví dụ, một lớp phải được khai báo </a:t>
            </a:r>
            <a:r>
              <a:rPr lang="en-GB"/>
              <a:t>là owl:Class </a:t>
            </a:r>
            <a:r>
              <a:rPr lang="en-GB"/>
              <a:t>nếu được sử dụng với rdfs:subClassOf.</a:t>
            </a:r>
            <a:endParaRPr/>
          </a:p>
          <a:p>
            <a:pPr indent="-381000" lvl="0" marL="457200" rtl="0" algn="just">
              <a:spcBef>
                <a:spcPts val="0"/>
              </a:spcBef>
              <a:spcAft>
                <a:spcPts val="0"/>
              </a:spcAft>
              <a:buSzPts val="2400"/>
              <a:buChar char="●"/>
            </a:pPr>
            <a:r>
              <a:rPr lang="en-GB"/>
              <a:t>Phân biệt các định kiểu theo cặp:</a:t>
            </a:r>
            <a:endParaRPr/>
          </a:p>
          <a:p>
            <a:pPr indent="-368300" lvl="1" marL="914400" rtl="0" algn="just">
              <a:spcBef>
                <a:spcPts val="0"/>
              </a:spcBef>
              <a:spcAft>
                <a:spcPts val="0"/>
              </a:spcAft>
              <a:buSzPts val="2200"/>
              <a:buChar char="○"/>
            </a:pPr>
            <a:r>
              <a:rPr lang="en-GB"/>
              <a:t>Khác với OWL Full, OWL DL không cho phép sử dụng lớp như bản thực hoặc thuộc tính, và cũng không cho phép sử dụng thuộc tính như lớp hoặc bản thực.</a:t>
            </a:r>
            <a:endParaRPr/>
          </a:p>
        </p:txBody>
      </p:sp>
      <p:sp>
        <p:nvSpPr>
          <p:cNvPr id="837" name="Google Shape;837;p9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38" name="Google Shape;838;p98"/>
          <p:cNvSpPr txBox="1"/>
          <p:nvPr/>
        </p:nvSpPr>
        <p:spPr>
          <a:xfrm>
            <a:off x="4382725" y="5882100"/>
            <a:ext cx="4498200" cy="44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200">
                <a:solidFill>
                  <a:schemeClr val="dk2"/>
                </a:solidFill>
              </a:rPr>
              <a:t>[https://www.w3.org/TR/owl-ref/]</a:t>
            </a:r>
            <a:endParaRPr sz="2200">
              <a:solidFill>
                <a:schemeClr val="dk2"/>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9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ràng buộc</a:t>
            </a:r>
            <a:r>
              <a:rPr lang="en-GB"/>
              <a:t> tính năng trong OWL DL</a:t>
            </a:r>
            <a:r>
              <a:rPr baseline="-25000" lang="en-GB"/>
              <a:t>(2)</a:t>
            </a:r>
            <a:endParaRPr baseline="-25000"/>
          </a:p>
        </p:txBody>
      </p:sp>
      <p:sp>
        <p:nvSpPr>
          <p:cNvPr id="844" name="Google Shape;844;p99"/>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Tách biệt thuộc tính</a:t>
            </a:r>
            <a:endParaRPr/>
          </a:p>
          <a:p>
            <a:pPr indent="-368300" lvl="1" marL="914400" rtl="0" algn="l">
              <a:spcBef>
                <a:spcPts val="0"/>
              </a:spcBef>
              <a:spcAft>
                <a:spcPts val="0"/>
              </a:spcAft>
              <a:buSzPts val="2200"/>
              <a:buChar char="○"/>
            </a:pPr>
            <a:r>
              <a:rPr lang="en-GB"/>
              <a:t>Tập m</a:t>
            </a:r>
            <a:r>
              <a:rPr lang="en-GB"/>
              <a:t>ở rộng của </a:t>
            </a:r>
            <a:r>
              <a:rPr lang="en-GB"/>
              <a:t>thuộc tính đối tượng và t</a:t>
            </a:r>
            <a:r>
              <a:rPr lang="en-GB"/>
              <a:t>ập mở rộng của </a:t>
            </a:r>
            <a:r>
              <a:rPr lang="en-GB"/>
              <a:t>thuộc tính dữ liệu không giao nh</a:t>
            </a:r>
            <a:r>
              <a:rPr lang="en-GB"/>
              <a:t>au</a:t>
            </a:r>
            <a:endParaRPr/>
          </a:p>
          <a:p>
            <a:pPr indent="-368300" lvl="1" marL="914400" rtl="0" algn="l">
              <a:spcBef>
                <a:spcPts val="0"/>
              </a:spcBef>
              <a:spcAft>
                <a:spcPts val="0"/>
              </a:spcAft>
              <a:buSzPts val="2200"/>
              <a:buChar char="○"/>
            </a:pPr>
            <a:r>
              <a:rPr lang="en-GB"/>
              <a:t>Vì vậy không thiết lập </a:t>
            </a:r>
            <a:r>
              <a:rPr lang="en-GB"/>
              <a:t>được</a:t>
            </a:r>
            <a:r>
              <a:rPr lang="en-GB"/>
              <a:t> các tính ch</a:t>
            </a:r>
            <a:r>
              <a:rPr lang="en-GB"/>
              <a:t>ất</a:t>
            </a:r>
            <a:r>
              <a:rPr lang="en-GB"/>
              <a:t> sau cho các thuộc tính dữ liệu</a:t>
            </a:r>
            <a:endParaRPr/>
          </a:p>
          <a:p>
            <a:pPr indent="-342900" lvl="2" marL="1371600" rtl="0" algn="l">
              <a:spcBef>
                <a:spcPts val="0"/>
              </a:spcBef>
              <a:spcAft>
                <a:spcPts val="0"/>
              </a:spcAft>
              <a:buSzPts val="1800"/>
              <a:buChar char="■"/>
            </a:pPr>
            <a:r>
              <a:rPr lang="en-GB"/>
              <a:t>owl:InverseOf</a:t>
            </a:r>
            <a:endParaRPr/>
          </a:p>
          <a:p>
            <a:pPr indent="-342900" lvl="2" marL="1371600" rtl="0" algn="l">
              <a:spcBef>
                <a:spcPts val="0"/>
              </a:spcBef>
              <a:spcAft>
                <a:spcPts val="0"/>
              </a:spcAft>
              <a:buSzPts val="1800"/>
              <a:buChar char="■"/>
            </a:pPr>
            <a:r>
              <a:rPr lang="en-GB"/>
              <a:t>owl:FunctionalProperty</a:t>
            </a:r>
            <a:endParaRPr/>
          </a:p>
          <a:p>
            <a:pPr indent="-342900" lvl="2" marL="1371600" rtl="0" algn="l">
              <a:spcBef>
                <a:spcPts val="0"/>
              </a:spcBef>
              <a:spcAft>
                <a:spcPts val="0"/>
              </a:spcAft>
              <a:buSzPts val="1800"/>
              <a:buChar char="■"/>
            </a:pPr>
            <a:r>
              <a:rPr lang="en-GB"/>
              <a:t>owl:InverseFunctionalProperty</a:t>
            </a:r>
            <a:endParaRPr/>
          </a:p>
          <a:p>
            <a:pPr indent="-342900" lvl="2" marL="1371600" rtl="0" algn="l">
              <a:spcBef>
                <a:spcPts val="0"/>
              </a:spcBef>
              <a:spcAft>
                <a:spcPts val="0"/>
              </a:spcAft>
              <a:buSzPts val="1800"/>
              <a:buChar char="■"/>
            </a:pPr>
            <a:r>
              <a:rPr lang="en-GB"/>
              <a:t>owl:SymmetricProperty</a:t>
            </a:r>
            <a:endParaRPr/>
          </a:p>
        </p:txBody>
      </p:sp>
      <p:sp>
        <p:nvSpPr>
          <p:cNvPr id="845" name="Google Shape;845;p9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0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ràng buộc</a:t>
            </a:r>
            <a:r>
              <a:rPr lang="en-GB"/>
              <a:t> tính năng trong OWL DL</a:t>
            </a:r>
            <a:r>
              <a:rPr baseline="-25000" lang="en-GB"/>
              <a:t>(3)</a:t>
            </a:r>
            <a:endParaRPr baseline="-25000"/>
          </a:p>
        </p:txBody>
      </p:sp>
      <p:sp>
        <p:nvSpPr>
          <p:cNvPr id="851" name="Google Shape;851;p100"/>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Giới hạn cơ số không c</a:t>
            </a:r>
            <a:r>
              <a:rPr lang="en-GB"/>
              <a:t>ó tính chất </a:t>
            </a:r>
            <a:r>
              <a:rPr lang="en-GB"/>
              <a:t>bắc cầu</a:t>
            </a:r>
            <a:endParaRPr/>
          </a:p>
          <a:p>
            <a:pPr indent="-368300" lvl="1" marL="914400" rtl="0" algn="l">
              <a:spcBef>
                <a:spcPts val="0"/>
              </a:spcBef>
              <a:spcAft>
                <a:spcPts val="0"/>
              </a:spcAft>
              <a:buSzPts val="2200"/>
              <a:buChar char="○"/>
            </a:pPr>
            <a:r>
              <a:rPr lang="en-GB"/>
              <a:t>Kh</a:t>
            </a:r>
            <a:r>
              <a:rPr lang="en-GB"/>
              <a:t>ông thiết lập được g</a:t>
            </a:r>
            <a:r>
              <a:rPr lang="en-GB"/>
              <a:t>iới hạn cơ số cho thuộc tính bắc cầu</a:t>
            </a:r>
            <a:endParaRPr/>
          </a:p>
          <a:p>
            <a:pPr indent="-368300" lvl="1" marL="914400" rtl="0" algn="l">
              <a:spcBef>
                <a:spcPts val="0"/>
              </a:spcBef>
              <a:spcAft>
                <a:spcPts val="0"/>
              </a:spcAft>
              <a:buSzPts val="2200"/>
              <a:buChar char="○"/>
            </a:pPr>
            <a:r>
              <a:rPr lang="en-GB"/>
              <a:t>ví dụ, người với nhiều hơn 5 hậu duệ</a:t>
            </a:r>
            <a:endParaRPr/>
          </a:p>
          <a:p>
            <a:pPr indent="-381000" lvl="0" marL="457200" rtl="0" algn="l">
              <a:spcBef>
                <a:spcPts val="0"/>
              </a:spcBef>
              <a:spcAft>
                <a:spcPts val="0"/>
              </a:spcAft>
              <a:buSzPts val="2400"/>
              <a:buChar char="●"/>
            </a:pPr>
            <a:r>
              <a:rPr lang="en-GB"/>
              <a:t>Các lớp ẩn danh (</a:t>
            </a:r>
            <a:r>
              <a:rPr lang="en-GB"/>
              <a:t>được biểu diễn bằng nút rỗng) </a:t>
            </a:r>
            <a:r>
              <a:rPr lang="en-GB"/>
              <a:t>b</a:t>
            </a:r>
            <a:r>
              <a:rPr lang="en-GB"/>
              <a:t>ị giới hạn</a:t>
            </a:r>
            <a:r>
              <a:rPr lang="en-GB"/>
              <a:t>:</a:t>
            </a:r>
            <a:endParaRPr/>
          </a:p>
          <a:p>
            <a:pPr indent="-368300" lvl="1" marL="914400" rtl="0" algn="l">
              <a:spcBef>
                <a:spcPts val="0"/>
              </a:spcBef>
              <a:spcAft>
                <a:spcPts val="0"/>
              </a:spcAft>
              <a:buSzPts val="2200"/>
              <a:buChar char="○"/>
            </a:pPr>
            <a:r>
              <a:rPr lang="en-GB"/>
              <a:t>Chỉ được phép xuất hiện như:</a:t>
            </a:r>
            <a:endParaRPr/>
          </a:p>
          <a:p>
            <a:pPr indent="-342900" lvl="2" marL="1371600" rtl="0" algn="l">
              <a:spcBef>
                <a:spcPts val="0"/>
              </a:spcBef>
              <a:spcAft>
                <a:spcPts val="0"/>
              </a:spcAft>
              <a:buSzPts val="1800"/>
              <a:buChar char="■"/>
            </a:pPr>
            <a:r>
              <a:rPr lang="en-GB"/>
              <a:t>Chủ thể</a:t>
            </a:r>
            <a:r>
              <a:rPr lang="en-GB"/>
              <a:t> và </a:t>
            </a:r>
            <a:r>
              <a:rPr lang="en-GB"/>
              <a:t>và giá trị</a:t>
            </a:r>
            <a:r>
              <a:rPr lang="en-GB"/>
              <a:t> của owl:equivalentClass hoặc owl:disjointWith</a:t>
            </a:r>
            <a:endParaRPr/>
          </a:p>
          <a:p>
            <a:pPr indent="-342900" lvl="2" marL="1371600" rtl="0" algn="l">
              <a:spcBef>
                <a:spcPts val="0"/>
              </a:spcBef>
              <a:spcAft>
                <a:spcPts val="0"/>
              </a:spcAft>
              <a:buSzPts val="1800"/>
              <a:buChar char="■"/>
            </a:pPr>
            <a:r>
              <a:rPr lang="en-GB"/>
              <a:t>Giá trị</a:t>
            </a:r>
            <a:r>
              <a:rPr lang="en-GB"/>
              <a:t> (không cho phép </a:t>
            </a:r>
            <a:r>
              <a:rPr lang="en-GB"/>
              <a:t>chủ thể</a:t>
            </a:r>
            <a:r>
              <a:rPr lang="en-GB"/>
              <a:t>) của rdfs:subClassOf</a:t>
            </a:r>
            <a:endParaRPr/>
          </a:p>
        </p:txBody>
      </p:sp>
      <p:sp>
        <p:nvSpPr>
          <p:cNvPr id="852" name="Google Shape;852;p10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0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giới hạn tính năng trong OWL Lite</a:t>
            </a:r>
            <a:endParaRPr/>
          </a:p>
        </p:txBody>
      </p:sp>
      <p:sp>
        <p:nvSpPr>
          <p:cNvPr id="858" name="Google Shape;858;p101"/>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giới hạn của OWL DL và hơn nữa:</a:t>
            </a:r>
            <a:endParaRPr/>
          </a:p>
          <a:p>
            <a:pPr indent="-381000" lvl="0" marL="457200" rtl="0" algn="l">
              <a:spcBef>
                <a:spcPts val="0"/>
              </a:spcBef>
              <a:spcAft>
                <a:spcPts val="0"/>
              </a:spcAft>
              <a:buSzPts val="2400"/>
              <a:buChar char="●"/>
            </a:pPr>
            <a:r>
              <a:rPr lang="en-GB"/>
              <a:t>Kh</a:t>
            </a:r>
            <a:r>
              <a:rPr lang="en-GB"/>
              <a:t>ông được sử dụng </a:t>
            </a:r>
            <a:r>
              <a:rPr lang="en-GB"/>
              <a:t>owl:oneOf, owl:disjointWith, owl:unionOf, owl:complementOf</a:t>
            </a:r>
            <a:r>
              <a:rPr lang="en-GB"/>
              <a:t>, </a:t>
            </a:r>
            <a:r>
              <a:rPr lang="en-GB"/>
              <a:t>owl:hasValue</a:t>
            </a:r>
            <a:endParaRPr/>
          </a:p>
          <a:p>
            <a:pPr indent="-381000" lvl="0" marL="457200" rtl="0" algn="l">
              <a:spcBef>
                <a:spcPts val="0"/>
              </a:spcBef>
              <a:spcAft>
                <a:spcPts val="0"/>
              </a:spcAft>
              <a:buSzPts val="2400"/>
              <a:buChar char="●"/>
            </a:pPr>
            <a:r>
              <a:rPr lang="en-GB"/>
              <a:t>Các mô tả cơ số: tối thiểu, tối đa, </a:t>
            </a:r>
            <a:r>
              <a:rPr lang="en-GB"/>
              <a:t>bằng giá trị cụ thể, giá trị số bị giới hạn chỉ có thể là</a:t>
            </a:r>
            <a:r>
              <a:rPr lang="en-GB"/>
              <a:t> 0 hoặc 1</a:t>
            </a:r>
            <a:endParaRPr/>
          </a:p>
          <a:p>
            <a:pPr indent="-381000" lvl="0" marL="457200" rtl="0" algn="l">
              <a:spcBef>
                <a:spcPts val="0"/>
              </a:spcBef>
              <a:spcAft>
                <a:spcPts val="0"/>
              </a:spcAft>
              <a:buSzPts val="2400"/>
              <a:buChar char="●"/>
            </a:pPr>
            <a:r>
              <a:rPr lang="en-GB"/>
              <a:t>Không được th</a:t>
            </a:r>
            <a:r>
              <a:rPr lang="en-GB"/>
              <a:t>iết lập </a:t>
            </a:r>
            <a:r>
              <a:rPr lang="en-GB"/>
              <a:t>owl:equivalentClass giữa các lớp ẩn danh, chỉ được th</a:t>
            </a:r>
            <a:r>
              <a:rPr lang="en-GB"/>
              <a:t>iết lập </a:t>
            </a:r>
            <a:r>
              <a:rPr lang="en-GB"/>
              <a:t>giữa các lớp có định danh</a:t>
            </a:r>
            <a:endParaRPr/>
          </a:p>
          <a:p>
            <a:pPr indent="-381000" lvl="0" marL="457200" rtl="0" algn="l">
              <a:spcBef>
                <a:spcPts val="0"/>
              </a:spcBef>
              <a:spcAft>
                <a:spcPts val="0"/>
              </a:spcAft>
              <a:buSzPts val="2400"/>
              <a:buChar char="●"/>
            </a:pPr>
            <a:r>
              <a:rPr lang="en-GB"/>
              <a:t>Hạn chế chỉ sử dụng owl:intersectionOf với các lớp đã định danh và các giới hạn.</a:t>
            </a:r>
            <a:endParaRPr/>
          </a:p>
        </p:txBody>
      </p:sp>
      <p:sp>
        <p:nvSpPr>
          <p:cNvPr id="859" name="Google Shape;859;p10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102"/>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tập từ khóa OWL</a:t>
            </a:r>
            <a:endParaRPr/>
          </a:p>
        </p:txBody>
      </p:sp>
      <p:sp>
        <p:nvSpPr>
          <p:cNvPr id="865" name="Google Shape;865;p102"/>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OWL Lite: </a:t>
            </a:r>
            <a:endParaRPr/>
          </a:p>
          <a:p>
            <a:pPr indent="-368300" lvl="1" marL="914400" rtl="0" algn="l">
              <a:spcBef>
                <a:spcPts val="0"/>
              </a:spcBef>
              <a:spcAft>
                <a:spcPts val="0"/>
              </a:spcAft>
              <a:buSzPts val="2200"/>
              <a:buChar char="○"/>
            </a:pPr>
            <a:r>
              <a:rPr lang="en-GB"/>
              <a:t>equivalentClass, equivalentProperty, sameAs, differentFrom, AllDifferent, </a:t>
            </a:r>
            <a:endParaRPr/>
          </a:p>
          <a:p>
            <a:pPr indent="-368300" lvl="1" marL="914400" rtl="0" algn="l">
              <a:spcBef>
                <a:spcPts val="0"/>
              </a:spcBef>
              <a:spcAft>
                <a:spcPts val="0"/>
              </a:spcAft>
              <a:buSzPts val="2200"/>
              <a:buChar char="○"/>
            </a:pPr>
            <a:r>
              <a:rPr lang="en-GB"/>
              <a:t>inverseOf, TransitiveProperty, SymmetricProperty, FunctionalProperty, InverseFunctionalProperty, </a:t>
            </a:r>
            <a:endParaRPr/>
          </a:p>
          <a:p>
            <a:pPr indent="-368300" lvl="1" marL="914400" rtl="0" algn="l">
              <a:spcBef>
                <a:spcPts val="0"/>
              </a:spcBef>
              <a:spcAft>
                <a:spcPts val="0"/>
              </a:spcAft>
              <a:buSzPts val="2200"/>
              <a:buChar char="○"/>
            </a:pPr>
            <a:r>
              <a:rPr lang="en-GB"/>
              <a:t>allValuesFrom, someValuesFrom, </a:t>
            </a:r>
            <a:endParaRPr/>
          </a:p>
          <a:p>
            <a:pPr indent="-368300" lvl="1" marL="914400" rtl="0" algn="l">
              <a:spcBef>
                <a:spcPts val="0"/>
              </a:spcBef>
              <a:spcAft>
                <a:spcPts val="0"/>
              </a:spcAft>
              <a:buSzPts val="2200"/>
              <a:buChar char="○"/>
            </a:pPr>
            <a:r>
              <a:rPr lang="en-GB"/>
              <a:t>minCardinality, maxCardinality, cardinality, </a:t>
            </a:r>
            <a:r>
              <a:rPr i="1" lang="en-GB"/>
              <a:t>- 0 hoặc 1</a:t>
            </a:r>
            <a:endParaRPr i="1"/>
          </a:p>
          <a:p>
            <a:pPr indent="-368300" lvl="1" marL="914400" rtl="0" algn="l">
              <a:spcBef>
                <a:spcPts val="0"/>
              </a:spcBef>
              <a:spcAft>
                <a:spcPts val="0"/>
              </a:spcAft>
              <a:buSzPts val="2200"/>
              <a:buChar char="○"/>
            </a:pPr>
            <a:r>
              <a:rPr lang="en-GB"/>
              <a:t>intersectionOf - </a:t>
            </a:r>
            <a:r>
              <a:rPr i="1" lang="en-GB"/>
              <a:t>Lớp đã định danh hoặc Restriction</a:t>
            </a:r>
            <a:endParaRPr i="1"/>
          </a:p>
          <a:p>
            <a:pPr indent="-381000" lvl="0" marL="457200" rtl="0" algn="l">
              <a:spcBef>
                <a:spcPts val="0"/>
              </a:spcBef>
              <a:spcAft>
                <a:spcPts val="0"/>
              </a:spcAft>
              <a:buSzPts val="2400"/>
              <a:buChar char="●"/>
            </a:pPr>
            <a:r>
              <a:rPr lang="en-GB"/>
              <a:t>OWL DL, OWL Full:</a:t>
            </a:r>
            <a:endParaRPr/>
          </a:p>
          <a:p>
            <a:pPr indent="-368300" lvl="1" marL="914400" rtl="0" algn="l">
              <a:spcBef>
                <a:spcPts val="0"/>
              </a:spcBef>
              <a:spcAft>
                <a:spcPts val="0"/>
              </a:spcAft>
              <a:buSzPts val="2200"/>
              <a:buChar char="○"/>
            </a:pPr>
            <a:r>
              <a:rPr lang="en-GB"/>
              <a:t>oneOf, hasValue, disjointWith, </a:t>
            </a:r>
            <a:endParaRPr/>
          </a:p>
          <a:p>
            <a:pPr indent="-368300" lvl="1" marL="914400" rtl="0" algn="l">
              <a:spcBef>
                <a:spcPts val="0"/>
              </a:spcBef>
              <a:spcAft>
                <a:spcPts val="0"/>
              </a:spcAft>
              <a:buSzPts val="2200"/>
              <a:buChar char="○"/>
            </a:pPr>
            <a:r>
              <a:rPr lang="en-GB"/>
              <a:t>unionOf, complementOf, intersectionOf - </a:t>
            </a:r>
            <a:r>
              <a:rPr i="1" lang="en-GB"/>
              <a:t>tổ hợp tùy ý</a:t>
            </a:r>
            <a:endParaRPr i="1"/>
          </a:p>
          <a:p>
            <a:pPr indent="-368300" lvl="1" marL="914400" rtl="0" algn="l">
              <a:spcBef>
                <a:spcPts val="0"/>
              </a:spcBef>
              <a:spcAft>
                <a:spcPts val="0"/>
              </a:spcAft>
              <a:buSzPts val="2200"/>
              <a:buChar char="○"/>
            </a:pPr>
            <a:r>
              <a:rPr lang="en-GB"/>
              <a:t>minCardinality, maxCardinality, cardinality - </a:t>
            </a:r>
            <a:r>
              <a:rPr i="1" lang="en-GB"/>
              <a:t>giá trị tùy ý</a:t>
            </a:r>
            <a:endParaRPr i="1"/>
          </a:p>
        </p:txBody>
      </p:sp>
      <p:sp>
        <p:nvSpPr>
          <p:cNvPr id="866" name="Google Shape;866;p10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867" name="Google Shape;867;p102"/>
          <p:cNvSpPr txBox="1"/>
          <p:nvPr/>
        </p:nvSpPr>
        <p:spPr>
          <a:xfrm>
            <a:off x="2013925" y="5793375"/>
            <a:ext cx="6818100" cy="470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GB" sz="2400">
                <a:solidFill>
                  <a:schemeClr val="dk2"/>
                </a:solidFill>
              </a:rPr>
              <a:t>[</a:t>
            </a:r>
            <a:r>
              <a:rPr lang="en-GB" sz="1800">
                <a:solidFill>
                  <a:schemeClr val="dk2"/>
                </a:solidFill>
              </a:rPr>
              <a:t>https://www.w3.org/TR/2004/REC-owl-features-20040210/</a:t>
            </a:r>
            <a:r>
              <a:rPr lang="en-GB" sz="2400">
                <a:solidFill>
                  <a:schemeClr val="dk2"/>
                </a:solidFill>
              </a:rPr>
              <a:t>]</a:t>
            </a:r>
            <a:endParaRPr sz="2400">
              <a:solidFill>
                <a:schemeClr val="dk2"/>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03"/>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Nội dung</a:t>
            </a:r>
            <a:endParaRPr/>
          </a:p>
        </p:txBody>
      </p:sp>
      <p:sp>
        <p:nvSpPr>
          <p:cNvPr id="873" name="Google Shape;873;p103"/>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5.1. Tổng quan về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5.2. Ngữ nghĩa trực quan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5.3. Ví dụ tổng hợp: Thiên nhiên Châu Phi</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0"/>
              </a:spcAft>
              <a:buNone/>
            </a:pPr>
            <a:r>
              <a:rPr lang="en-GB">
                <a:solidFill>
                  <a:schemeClr val="dk1"/>
                </a:solidFill>
                <a:latin typeface="Times New Roman"/>
                <a:ea typeface="Times New Roman"/>
                <a:cs typeface="Times New Roman"/>
                <a:sym typeface="Times New Roman"/>
              </a:rPr>
              <a:t>5.4. Các tầng OWL</a:t>
            </a:r>
            <a:endParaRPr>
              <a:solidFill>
                <a:schemeClr val="dk1"/>
              </a:solidFill>
              <a:latin typeface="Times New Roman"/>
              <a:ea typeface="Times New Roman"/>
              <a:cs typeface="Times New Roman"/>
              <a:sym typeface="Times New Roman"/>
            </a:endParaRPr>
          </a:p>
          <a:p>
            <a:pPr indent="0" lvl="0" marL="0" marR="24765" rtl="0" algn="just">
              <a:lnSpc>
                <a:spcPct val="100000"/>
              </a:lnSpc>
              <a:spcBef>
                <a:spcPts val="300"/>
              </a:spcBef>
              <a:spcAft>
                <a:spcPts val="300"/>
              </a:spcAft>
              <a:buNone/>
            </a:pPr>
            <a:r>
              <a:rPr lang="en-GB">
                <a:solidFill>
                  <a:schemeClr val="dk1"/>
                </a:solidFill>
                <a:latin typeface="Times New Roman"/>
                <a:ea typeface="Times New Roman"/>
                <a:cs typeface="Times New Roman"/>
                <a:sym typeface="Times New Roman"/>
              </a:rPr>
              <a:t>5.5. OWL 2</a:t>
            </a:r>
            <a:endParaRPr>
              <a:solidFill>
                <a:schemeClr val="dk1"/>
              </a:solidFill>
              <a:latin typeface="Times New Roman"/>
              <a:ea typeface="Times New Roman"/>
              <a:cs typeface="Times New Roman"/>
              <a:sym typeface="Times New Roman"/>
            </a:endParaRPr>
          </a:p>
        </p:txBody>
      </p:sp>
      <p:sp>
        <p:nvSpPr>
          <p:cNvPr id="874" name="Google Shape;874;p103"/>
          <p:cNvSpPr/>
          <p:nvPr/>
        </p:nvSpPr>
        <p:spPr>
          <a:xfrm>
            <a:off x="318450" y="2423300"/>
            <a:ext cx="5786700" cy="835200"/>
          </a:xfrm>
          <a:prstGeom prst="rightArrow">
            <a:avLst>
              <a:gd fmla="val 50000" name="adj1"/>
              <a:gd fmla="val 50000" name="adj2"/>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10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04"/>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Cấu trúc OWL 2</a:t>
            </a:r>
            <a:endParaRPr/>
          </a:p>
        </p:txBody>
      </p:sp>
      <p:sp>
        <p:nvSpPr>
          <p:cNvPr id="881" name="Google Shape;881;p10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882" name="Google Shape;882;p104"/>
          <p:cNvPicPr preferRelativeResize="0"/>
          <p:nvPr/>
        </p:nvPicPr>
        <p:blipFill>
          <a:blip r:embed="rId3">
            <a:alphaModFix/>
          </a:blip>
          <a:stretch>
            <a:fillRect/>
          </a:stretch>
        </p:blipFill>
        <p:spPr>
          <a:xfrm>
            <a:off x="461850" y="928626"/>
            <a:ext cx="8090150" cy="557207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105"/>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tính năng mới</a:t>
            </a:r>
            <a:endParaRPr/>
          </a:p>
        </p:txBody>
      </p:sp>
      <p:sp>
        <p:nvSpPr>
          <p:cNvPr id="888" name="Google Shape;888;p105"/>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Khóa (Keys)</a:t>
            </a:r>
            <a:endParaRPr/>
          </a:p>
          <a:p>
            <a:pPr indent="-381000" lvl="0" marL="457200" rtl="0" algn="l">
              <a:spcBef>
                <a:spcPts val="0"/>
              </a:spcBef>
              <a:spcAft>
                <a:spcPts val="0"/>
              </a:spcAft>
              <a:buSzPts val="2400"/>
              <a:buChar char="●"/>
            </a:pPr>
            <a:r>
              <a:rPr lang="en-GB"/>
              <a:t>Chuỗi thuộc tính</a:t>
            </a:r>
            <a:endParaRPr/>
          </a:p>
          <a:p>
            <a:pPr indent="-381000" lvl="0" marL="457200" rtl="0" algn="l">
              <a:spcBef>
                <a:spcPts val="0"/>
              </a:spcBef>
              <a:spcAft>
                <a:spcPts val="0"/>
              </a:spcAft>
              <a:buSzPts val="2400"/>
              <a:buChar char="●"/>
            </a:pPr>
            <a:r>
              <a:rPr lang="en-GB"/>
              <a:t>Kiểu và khoảng dữ liệu phong phú hơn.</a:t>
            </a:r>
            <a:endParaRPr/>
          </a:p>
          <a:p>
            <a:pPr indent="-381000" lvl="0" marL="457200" rtl="0" algn="l">
              <a:spcBef>
                <a:spcPts val="0"/>
              </a:spcBef>
              <a:spcAft>
                <a:spcPts val="0"/>
              </a:spcAft>
              <a:buSzPts val="2400"/>
              <a:buChar char="●"/>
            </a:pPr>
            <a:r>
              <a:rPr lang="en-GB"/>
              <a:t>Giới hạn cơ số có định kiểu.</a:t>
            </a:r>
            <a:endParaRPr/>
          </a:p>
          <a:p>
            <a:pPr indent="-381000" lvl="0" marL="457200" rtl="0" algn="l">
              <a:spcBef>
                <a:spcPts val="0"/>
              </a:spcBef>
              <a:spcAft>
                <a:spcPts val="0"/>
              </a:spcAft>
              <a:buSzPts val="2400"/>
              <a:buChar char="●"/>
            </a:pPr>
            <a:r>
              <a:rPr lang="en-GB"/>
              <a:t>Các tính chất bất đối xứng, phản xạ, và không giao nhau cho các thuộc tính.</a:t>
            </a:r>
            <a:endParaRPr/>
          </a:p>
          <a:p>
            <a:pPr indent="-381000" lvl="0" marL="457200" rtl="0" algn="l">
              <a:spcBef>
                <a:spcPts val="0"/>
              </a:spcBef>
              <a:spcAft>
                <a:spcPts val="0"/>
              </a:spcAft>
              <a:buSzPts val="2400"/>
              <a:buChar char="●"/>
            </a:pPr>
            <a:r>
              <a:rPr lang="en-GB"/>
              <a:t>Khả năng ghi chú được tăng cường.</a:t>
            </a:r>
            <a:endParaRPr/>
          </a:p>
        </p:txBody>
      </p:sp>
      <p:sp>
        <p:nvSpPr>
          <p:cNvPr id="889" name="Google Shape;889;p10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06"/>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Các tập tính năng mới</a:t>
            </a:r>
            <a:endParaRPr/>
          </a:p>
        </p:txBody>
      </p:sp>
      <p:sp>
        <p:nvSpPr>
          <p:cNvPr id="895" name="Google Shape;895;p106"/>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GB"/>
              <a:t>OWL 2 đưa ra 3 tập tính năng mới với các ưu điểm trong những kịch bản ứng dụng nhất định, và đều chặt hơn OWL DL:</a:t>
            </a:r>
            <a:endParaRPr i="1"/>
          </a:p>
          <a:p>
            <a:pPr indent="-381000" lvl="0" marL="457200" rtl="0" algn="l">
              <a:spcBef>
                <a:spcPts val="0"/>
              </a:spcBef>
              <a:spcAft>
                <a:spcPts val="0"/>
              </a:spcAft>
              <a:buSzPts val="2400"/>
              <a:buChar char="●"/>
            </a:pPr>
            <a:r>
              <a:rPr lang="en-GB"/>
              <a:t>OWL 2 EL - Cho phép triển khai thuật toán suy diễn độ phức tạp đa thức. </a:t>
            </a:r>
            <a:endParaRPr/>
          </a:p>
          <a:p>
            <a:pPr indent="-368300" lvl="1" marL="914400" rtl="0" algn="l">
              <a:spcBef>
                <a:spcPts val="0"/>
              </a:spcBef>
              <a:spcAft>
                <a:spcPts val="0"/>
              </a:spcAft>
              <a:buSzPts val="2200"/>
              <a:buChar char="○"/>
            </a:pPr>
            <a:r>
              <a:rPr lang="en-GB"/>
              <a:t>Có thuật toán suy diễn độ phức tạp đa thức;</a:t>
            </a:r>
            <a:endParaRPr/>
          </a:p>
          <a:p>
            <a:pPr indent="-368300" lvl="1" marL="914400" rtl="0" algn="l">
              <a:spcBef>
                <a:spcPts val="0"/>
              </a:spcBef>
              <a:spcAft>
                <a:spcPts val="0"/>
              </a:spcAft>
              <a:buSzPts val="2200"/>
              <a:buChar char="○"/>
            </a:pPr>
            <a:r>
              <a:rPr lang="en-GB"/>
              <a:t>Thích hợp với trường hợp có rất nhiều lớp và thuộc tính.</a:t>
            </a:r>
            <a:endParaRPr/>
          </a:p>
          <a:p>
            <a:pPr indent="-368300" lvl="1" marL="914400" rtl="0" algn="l">
              <a:spcBef>
                <a:spcPts val="0"/>
              </a:spcBef>
              <a:spcAft>
                <a:spcPts val="0"/>
              </a:spcAft>
              <a:buSzPts val="2200"/>
              <a:buChar char="○"/>
            </a:pPr>
            <a:r>
              <a:rPr lang="en-GB"/>
              <a:t>Lô-gic mô tả EL++ chỉ có định lượng tồn tại.</a:t>
            </a:r>
            <a:endParaRPr/>
          </a:p>
          <a:p>
            <a:pPr indent="-381000" lvl="0" marL="457200" rtl="0" algn="l">
              <a:spcBef>
                <a:spcPts val="0"/>
              </a:spcBef>
              <a:spcAft>
                <a:spcPts val="0"/>
              </a:spcAft>
              <a:buSzPts val="2400"/>
              <a:buChar char="●"/>
            </a:pPr>
            <a:r>
              <a:rPr lang="en-GB"/>
              <a:t>OWL 2 QL - Có ưu thế cho trường hợp có rất nhiều dữ liệu, và thao tác quan trọng nhất là truy xuất dữ liệu.</a:t>
            </a:r>
            <a:endParaRPr/>
          </a:p>
          <a:p>
            <a:pPr indent="-381000" lvl="0" marL="457200" rtl="0" algn="l">
              <a:spcBef>
                <a:spcPts val="0"/>
              </a:spcBef>
              <a:spcAft>
                <a:spcPts val="0"/>
              </a:spcAft>
              <a:buSzPts val="2400"/>
              <a:buChar char="●"/>
            </a:pPr>
            <a:r>
              <a:rPr lang="en-GB"/>
              <a:t>OWL 2 RL - Hướng tới ứng dụng cần cơ chế suy diễn khả mở trong khi không đánh mất quá nhiều khả năng diễn đạt. Có thể triển khai suy diễn bằng mô tơ luật.</a:t>
            </a:r>
            <a:endParaRPr/>
          </a:p>
        </p:txBody>
      </p:sp>
      <p:sp>
        <p:nvSpPr>
          <p:cNvPr id="896" name="Google Shape;896;p10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07"/>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mô-đun và các thành phần cấu trúc</a:t>
            </a:r>
            <a:endParaRPr/>
          </a:p>
        </p:txBody>
      </p:sp>
      <p:sp>
        <p:nvSpPr>
          <p:cNvPr id="902" name="Google Shape;902;p107"/>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GB"/>
              <a:t>Kh</a:t>
            </a:r>
            <a:r>
              <a:rPr lang="en-GB"/>
              <a:t>ả năng chèn của OWL rất giới hạn</a:t>
            </a:r>
            <a:endParaRPr/>
          </a:p>
          <a:p>
            <a:pPr indent="-368300" lvl="1" marL="914400" rtl="0" algn="l">
              <a:spcBef>
                <a:spcPts val="0"/>
              </a:spcBef>
              <a:spcAft>
                <a:spcPts val="0"/>
              </a:spcAft>
              <a:buSzPts val="2200"/>
              <a:buChar char="○"/>
            </a:pPr>
            <a:r>
              <a:rPr lang="en-GB"/>
              <a:t>Nó chỉ cho phép chèn toàn bộ ontology, không phải 1 phần của nó</a:t>
            </a:r>
            <a:endParaRPr/>
          </a:p>
          <a:p>
            <a:pPr indent="-381000" lvl="0" marL="457200" rtl="0" algn="l">
              <a:spcBef>
                <a:spcPts val="0"/>
              </a:spcBef>
              <a:spcAft>
                <a:spcPts val="0"/>
              </a:spcAft>
              <a:buSzPts val="2400"/>
              <a:buChar char="●"/>
            </a:pPr>
            <a:r>
              <a:rPr lang="en-GB"/>
              <a:t>Các mô-đun trong các ngôn ngữ lập trình dựa trên ẩn dữ liệu: Chức năng trạng thái, ẩn các chi tiết triển khai</a:t>
            </a:r>
            <a:endParaRPr/>
          </a:p>
          <a:p>
            <a:pPr indent="0" lvl="0" marL="0" rtl="0" algn="l">
              <a:spcBef>
                <a:spcPts val="0"/>
              </a:spcBef>
              <a:spcAft>
                <a:spcPts val="0"/>
              </a:spcAft>
              <a:buNone/>
            </a:pPr>
            <a:r>
              <a:rPr i="1" lang="en-GB"/>
              <a:t>Câu hỏi mở - Làm sao để thiết lập cơ chế mô-đun thích hợp cho các ngôn ngữ ontology cho Web?</a:t>
            </a:r>
            <a:endParaRPr i="1"/>
          </a:p>
        </p:txBody>
      </p:sp>
      <p:sp>
        <p:nvSpPr>
          <p:cNvPr id="903" name="Google Shape;903;p10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08"/>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Phạm vi suy diễn</a:t>
            </a:r>
            <a:endParaRPr/>
          </a:p>
        </p:txBody>
      </p:sp>
      <p:sp>
        <p:nvSpPr>
          <p:cNvPr id="909" name="Google Shape;909;p108"/>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OWL hiện đang sử dụng giả thuyết thế giới mở:</a:t>
            </a:r>
            <a:endParaRPr/>
          </a:p>
          <a:p>
            <a:pPr indent="-368300" lvl="1" marL="914400" rtl="0" algn="just">
              <a:spcBef>
                <a:spcPts val="0"/>
              </a:spcBef>
              <a:spcAft>
                <a:spcPts val="0"/>
              </a:spcAft>
              <a:buSzPts val="2200"/>
              <a:buChar char="○"/>
            </a:pPr>
            <a:r>
              <a:rPr lang="en-GB"/>
              <a:t>Một câu không thể được cho là đúng dựa trên cơ sở không thể chứng minh nó</a:t>
            </a:r>
            <a:endParaRPr/>
          </a:p>
          <a:p>
            <a:pPr indent="-368300" lvl="1" marL="914400" rtl="0" algn="just">
              <a:spcBef>
                <a:spcPts val="0"/>
              </a:spcBef>
              <a:spcAft>
                <a:spcPts val="0"/>
              </a:spcAft>
              <a:buSzPts val="2200"/>
              <a:buChar char="○"/>
            </a:pPr>
            <a:r>
              <a:rPr lang="en-GB"/>
              <a:t>Trong phạm vi cực lớn của WWW thì giả thuyết này là lựa chọn hợp lý.</a:t>
            </a:r>
            <a:endParaRPr/>
          </a:p>
          <a:p>
            <a:pPr indent="-381000" lvl="0" marL="457200" rtl="0" algn="just">
              <a:spcBef>
                <a:spcPts val="0"/>
              </a:spcBef>
              <a:spcAft>
                <a:spcPts val="0"/>
              </a:spcAft>
              <a:buSzPts val="2400"/>
              <a:buChar char="●"/>
            </a:pPr>
            <a:r>
              <a:rPr lang="en-GB"/>
              <a:t>Giả thuyết thế giới đóng: Một câu được cho là đúng nếu không thể phủ nhận nó</a:t>
            </a:r>
            <a:endParaRPr/>
          </a:p>
          <a:p>
            <a:pPr indent="-368300" lvl="1" marL="914400" rtl="0" algn="just">
              <a:spcBef>
                <a:spcPts val="0"/>
              </a:spcBef>
              <a:spcAft>
                <a:spcPts val="0"/>
              </a:spcAft>
              <a:buSzPts val="2200"/>
              <a:buChar char="○"/>
            </a:pPr>
            <a:r>
              <a:rPr lang="en-GB"/>
              <a:t>Gắn chặt với khái niệm mặc định, dẫn đến hành vi không đơn điệu</a:t>
            </a:r>
            <a:endParaRPr/>
          </a:p>
        </p:txBody>
      </p:sp>
      <p:sp>
        <p:nvSpPr>
          <p:cNvPr id="910" name="Google Shape;910;p10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109"/>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a:t>
            </a:r>
            <a:r>
              <a:rPr lang="en-GB"/>
              <a:t>iả thuyết tên duy nhất</a:t>
            </a:r>
            <a:endParaRPr/>
          </a:p>
        </p:txBody>
      </p:sp>
      <p:sp>
        <p:nvSpPr>
          <p:cNvPr id="916" name="Google Shape;916;p109"/>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C</a:t>
            </a:r>
            <a:r>
              <a:rPr lang="en-GB"/>
              <a:t>ác ứng dụng CSDL bình thường cho rằng các phần tử với định danh khác nhau là các phần tử khác nhau</a:t>
            </a:r>
            <a:endParaRPr/>
          </a:p>
          <a:p>
            <a:pPr indent="-381000" lvl="0" marL="457200" rtl="0" algn="just">
              <a:spcBef>
                <a:spcPts val="0"/>
              </a:spcBef>
              <a:spcAft>
                <a:spcPts val="0"/>
              </a:spcAft>
              <a:buSzPts val="2400"/>
              <a:buChar char="●"/>
            </a:pPr>
            <a:r>
              <a:rPr lang="en-GB"/>
              <a:t>OWL sử dụng cách tiếp cận lô-gic, các phần tử có định danh khác nhau chưa chắc đã khác nhau</a:t>
            </a:r>
            <a:endParaRPr/>
          </a:p>
          <a:p>
            <a:pPr indent="-368300" lvl="1" marL="914400" rtl="0" algn="just">
              <a:spcBef>
                <a:spcPts val="0"/>
              </a:spcBef>
              <a:spcAft>
                <a:spcPts val="0"/>
              </a:spcAft>
              <a:buSzPts val="2200"/>
              <a:buChar char="○"/>
            </a:pPr>
            <a:r>
              <a:rPr lang="en-GB"/>
              <a:t>Hợp lý hơn trong không gian WWW</a:t>
            </a:r>
            <a:endParaRPr/>
          </a:p>
          <a:p>
            <a:pPr indent="-381000" lvl="0" marL="457200" rtl="0" algn="just">
              <a:spcBef>
                <a:spcPts val="0"/>
              </a:spcBef>
              <a:spcAft>
                <a:spcPts val="0"/>
              </a:spcAft>
              <a:buSzPts val="2400"/>
              <a:buChar char="●"/>
            </a:pPr>
            <a:r>
              <a:rPr lang="en-GB"/>
              <a:t>Trong một số trường hợp có thể chỉ ra phần ontology mà giả thuyết đúng hoặc không đúng</a:t>
            </a:r>
            <a:endParaRPr/>
          </a:p>
        </p:txBody>
      </p:sp>
      <p:sp>
        <p:nvSpPr>
          <p:cNvPr id="917" name="Google Shape;917;p10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110"/>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C</a:t>
            </a:r>
            <a:r>
              <a:rPr lang="en-GB"/>
              <a:t>ác luật đối với chuỗi thuộc tính</a:t>
            </a:r>
            <a:endParaRPr/>
          </a:p>
        </p:txBody>
      </p:sp>
      <p:sp>
        <p:nvSpPr>
          <p:cNvPr id="923" name="Google Shape;923;p110"/>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OWL không cho phép kết hợp các thuộc tính làm cơ sở quyết định.</a:t>
            </a:r>
            <a:endParaRPr/>
          </a:p>
          <a:p>
            <a:pPr indent="-381000" lvl="0" marL="457200" rtl="0" algn="just">
              <a:spcBef>
                <a:spcPts val="0"/>
              </a:spcBef>
              <a:spcAft>
                <a:spcPts val="0"/>
              </a:spcAft>
              <a:buSzPts val="2400"/>
              <a:buChar char="●"/>
            </a:pPr>
            <a:r>
              <a:rPr lang="en-GB"/>
              <a:t>Trong nhiều ứng dụng đó là một thao tác hữu ích.</a:t>
            </a:r>
            <a:endParaRPr/>
          </a:p>
          <a:p>
            <a:pPr indent="-381000" lvl="0" marL="457200" rtl="0" algn="just">
              <a:spcBef>
                <a:spcPts val="0"/>
              </a:spcBef>
              <a:spcAft>
                <a:spcPts val="0"/>
              </a:spcAft>
              <a:buSzPts val="2400"/>
              <a:buChar char="●"/>
            </a:pPr>
            <a:r>
              <a:rPr lang="en-GB"/>
              <a:t>Một người có thể muốn định nghĩa thuộc tính như các luật tổng quát (Luật Horn hoặc luật khác) dựa trên các thuộc tính khác.</a:t>
            </a:r>
            <a:endParaRPr/>
          </a:p>
          <a:p>
            <a:pPr indent="-381000" lvl="0" marL="457200" rtl="0" algn="just">
              <a:spcBef>
                <a:spcPts val="0"/>
              </a:spcBef>
              <a:spcAft>
                <a:spcPts val="0"/>
              </a:spcAft>
              <a:buSzPts val="2400"/>
              <a:buChar char="●"/>
            </a:pPr>
            <a:r>
              <a:rPr lang="en-GB"/>
              <a:t>Tích hợp biểu diễn tri thức dựa trên luật và biểu diễn tri thức dựa trên lô-gic mô tả là 1 lĩnh vực nghiên cứu.</a:t>
            </a:r>
            <a:endParaRPr/>
          </a:p>
        </p:txBody>
      </p:sp>
      <p:sp>
        <p:nvSpPr>
          <p:cNvPr id="924" name="Google Shape;924;p1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111"/>
          <p:cNvSpPr txBox="1"/>
          <p:nvPr>
            <p:ph type="title"/>
          </p:nvPr>
        </p:nvSpPr>
        <p:spPr>
          <a:xfrm>
            <a:off x="311700" y="212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a:t>
            </a:r>
            <a:r>
              <a:rPr lang="en-GB"/>
              <a:t>ổng kết</a:t>
            </a:r>
            <a:endParaRPr/>
          </a:p>
        </p:txBody>
      </p:sp>
      <p:sp>
        <p:nvSpPr>
          <p:cNvPr id="930" name="Google Shape;930;p111"/>
          <p:cNvSpPr txBox="1"/>
          <p:nvPr>
            <p:ph idx="1" type="body"/>
          </p:nvPr>
        </p:nvSpPr>
        <p:spPr>
          <a:xfrm>
            <a:off x="311700" y="909775"/>
            <a:ext cx="8520600" cy="5481300"/>
          </a:xfrm>
          <a:prstGeom prst="rect">
            <a:avLst/>
          </a:prstGeom>
        </p:spPr>
        <p:txBody>
          <a:bodyPr anchorCtr="0" anchor="t" bIns="91425" lIns="91425" spcFirstLastPara="1" rIns="91425" wrap="square" tIns="91425">
            <a:noAutofit/>
          </a:bodyPr>
          <a:lstStyle/>
          <a:p>
            <a:pPr indent="-381000" lvl="0" marL="457200" rtl="0" algn="just">
              <a:spcBef>
                <a:spcPts val="0"/>
              </a:spcBef>
              <a:spcAft>
                <a:spcPts val="0"/>
              </a:spcAft>
              <a:buSzPts val="2400"/>
              <a:buChar char="●"/>
            </a:pPr>
            <a:r>
              <a:rPr lang="en-GB"/>
              <a:t>OWL là quy chuẩn ontology cho Web</a:t>
            </a:r>
            <a:endParaRPr/>
          </a:p>
          <a:p>
            <a:pPr indent="-381000" lvl="0" marL="457200" rtl="0" algn="just">
              <a:spcBef>
                <a:spcPts val="0"/>
              </a:spcBef>
              <a:spcAft>
                <a:spcPts val="0"/>
              </a:spcAft>
              <a:buSzPts val="2400"/>
              <a:buChar char="●"/>
            </a:pPr>
            <a:r>
              <a:rPr lang="en-GB"/>
              <a:t>OWL được xây dựng trên cơ sở RDF và RDFS</a:t>
            </a:r>
            <a:endParaRPr/>
          </a:p>
          <a:p>
            <a:pPr indent="-368300" lvl="1" marL="914400" rtl="0" algn="just">
              <a:spcBef>
                <a:spcPts val="0"/>
              </a:spcBef>
              <a:spcAft>
                <a:spcPts val="0"/>
              </a:spcAft>
              <a:buSzPts val="2200"/>
              <a:buChar char="○"/>
            </a:pPr>
            <a:r>
              <a:rPr lang="en-GB"/>
              <a:t>Cú pháp RDF dựa trên XML được sử dụng</a:t>
            </a:r>
            <a:endParaRPr/>
          </a:p>
          <a:p>
            <a:pPr indent="-368300" lvl="1" marL="914400" rtl="0" algn="just">
              <a:spcBef>
                <a:spcPts val="0"/>
              </a:spcBef>
              <a:spcAft>
                <a:spcPts val="0"/>
              </a:spcAft>
              <a:buSzPts val="2200"/>
              <a:buChar char="○"/>
            </a:pPr>
            <a:r>
              <a:rPr lang="en-GB"/>
              <a:t>Các phần tử được xác định bởi các mô tả RDF</a:t>
            </a:r>
            <a:endParaRPr/>
          </a:p>
          <a:p>
            <a:pPr indent="-368300" lvl="1" marL="914400" rtl="0" algn="just">
              <a:spcBef>
                <a:spcPts val="0"/>
              </a:spcBef>
              <a:spcAft>
                <a:spcPts val="0"/>
              </a:spcAft>
              <a:buSzPts val="2200"/>
              <a:buChar char="○"/>
            </a:pPr>
            <a:r>
              <a:rPr lang="en-GB"/>
              <a:t>Hầu hết các thành phần mô hình hóa RDFS được sử dụng</a:t>
            </a:r>
            <a:endParaRPr/>
          </a:p>
          <a:p>
            <a:pPr indent="-381000" lvl="0" marL="457200" rtl="0" algn="just">
              <a:spcBef>
                <a:spcPts val="0"/>
              </a:spcBef>
              <a:spcAft>
                <a:spcPts val="0"/>
              </a:spcAft>
              <a:buSzPts val="2400"/>
              <a:buChar char="●"/>
            </a:pPr>
            <a:r>
              <a:rPr lang="en-GB"/>
              <a:t>Ngữ nghĩa hình thức và hỗ trợ suy diễn được cung cấp thông qua các ánh xạ từ OWL sang lô-gic</a:t>
            </a:r>
            <a:endParaRPr/>
          </a:p>
          <a:p>
            <a:pPr indent="-368300" lvl="1" marL="914400" rtl="0" algn="just">
              <a:spcBef>
                <a:spcPts val="0"/>
              </a:spcBef>
              <a:spcAft>
                <a:spcPts val="0"/>
              </a:spcAft>
              <a:buSzPts val="2200"/>
              <a:buChar char="○"/>
            </a:pPr>
            <a:r>
              <a:rPr lang="en-GB"/>
              <a:t>Lô-gic vị từ và lô-gic mô tả được sử dụng cho mục đích này</a:t>
            </a:r>
            <a:endParaRPr/>
          </a:p>
          <a:p>
            <a:pPr indent="-381000" lvl="0" marL="457200" rtl="0" algn="just">
              <a:spcBef>
                <a:spcPts val="0"/>
              </a:spcBef>
              <a:spcAft>
                <a:spcPts val="0"/>
              </a:spcAft>
              <a:buSzPts val="2400"/>
              <a:buChar char="●"/>
            </a:pPr>
            <a:r>
              <a:rPr lang="en-GB"/>
              <a:t>Trong khi OWL là đủ khả năng diễn tả để ứng dụng trong thực tiễn, các mở rộng đang được thực hiện </a:t>
            </a:r>
            <a:endParaRPr/>
          </a:p>
          <a:p>
            <a:pPr indent="-368300" lvl="1" marL="914400" rtl="0" algn="just">
              <a:spcBef>
                <a:spcPts val="0"/>
              </a:spcBef>
              <a:spcAft>
                <a:spcPts val="0"/>
              </a:spcAft>
              <a:buSzPts val="2200"/>
              <a:buChar char="○"/>
            </a:pPr>
            <a:r>
              <a:rPr lang="en-GB"/>
              <a:t>Có gắng tiếp tục cung cấp các tính năng lô-gic, bao gồm cả các luật</a:t>
            </a:r>
            <a:endParaRPr/>
          </a:p>
        </p:txBody>
      </p:sp>
      <p:sp>
        <p:nvSpPr>
          <p:cNvPr id="931" name="Google Shape;931;p1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1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pic>
        <p:nvPicPr>
          <p:cNvPr id="937" name="Google Shape;937;p112"/>
          <p:cNvPicPr preferRelativeResize="0"/>
          <p:nvPr/>
        </p:nvPicPr>
        <p:blipFill rotWithShape="1">
          <a:blip r:embed="rId3">
            <a:alphaModFix/>
          </a:blip>
          <a:srcRect b="0" l="0" r="0" t="0"/>
          <a:stretch/>
        </p:blipFill>
        <p:spPr>
          <a:xfrm>
            <a:off x="2779680" y="1531800"/>
            <a:ext cx="3565079" cy="41032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