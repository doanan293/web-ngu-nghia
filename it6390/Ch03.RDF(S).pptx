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3ecdd5aaf0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13ecdd5aa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ecdd5aaf0_0_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ecdd5aaf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b17e44047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b17e4404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23f66f34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b23f66f3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17e440479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b17e4404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b3262d1cc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b3262d1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b3262d1cc5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b3262d1cc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3262d1cc5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b3262d1cc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b3262d1cc5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b3262d1cc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b3262d1cc5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b3262d1cc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703fc82d53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703fc82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3262d1cc5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b3262d1cc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b3262d1cc5_0_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b3262d1cc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b3262d1cc5_0_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b3262d1c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3262d1cc5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3262d1cc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3262d1cc5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3262d1cc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3262d1cc5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3262d1cc5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b3262d1cc5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b3262d1cc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b357a00c69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b357a00c6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b3262d1e22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b3262d1e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b3262d1e22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b3262d1e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b3262d1e22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b3262d1e2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b3262d1e22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b3262d1e2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b32d0b089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b32d0b08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b32d0b0899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b32d0b08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b32d0b0899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b32d0b089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b32d0b0899_0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b32d0b089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b32d0b0899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b32d0b08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b32d0b0899_0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b32d0b089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b32d0b0899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b32d0b089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b32d0b0899_0_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b32d0b089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b32d0b0899_0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b32d0b08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b32d0b0899_0_6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b32d0b089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b23f66f34c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b23f66f34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b17e440479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b17e44047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7b38ef04166f60b1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7b38ef04166f60b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7b38ef04166f60b1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7b38ef04166f60b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85cb94ac37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85cb94ac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7b38ef04166f60b1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7b38ef04166f60b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7b38ef04166f60b1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7b38ef04166f60b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7b38ef04166f60b1_5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7b38ef04166f60b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7b38ef04166f60b1_6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7b38ef04166f60b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7b38ef04166f60b1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7b38ef04166f60b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b38ef04166f60b1_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b38ef04166f60b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7b38ef04166f60b1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7b38ef04166f60b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7b38ef04166f60b1_9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7b38ef04166f60b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7b38ef04166f60b1_1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7b38ef04166f60b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77d54116e0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77d54116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85cb94ac37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85cb94ac3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7b38ef04166f60b1_1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7b38ef04166f60b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7b38ef04166f60b1_1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7b38ef04166f60b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7b38ef04166f60b1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7b38ef04166f60b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7b38ef04166f60b1_1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7b38ef04166f60b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7b38ef04166f60b1_1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7b38ef04166f60b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b33b33609f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b33b33609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b33b33609f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b33b33609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b33b33609f_0_1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b33b33609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b33b33609f_0_1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b33b33609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b33b33609f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b33b33609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b33b33609f_0_1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b33b33609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b33b33609f_0_1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b33b33609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b33b33609f_0_1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b33b33609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b33b33609f_0_1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b33b33609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b33b33609f_0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b33b33609f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b33b33609f_0_1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b33b33609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b33b33609f_0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b33b33609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b33b33609f_0_20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b33b33609f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b33b33609f_0_2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b33b33609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b33b33609f_0_2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b33b33609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b33b33609f_0_2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b33b33609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b33b33609f_0_2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b33b33609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b33b33609f_0_23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b33b33609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b33b33609f_0_23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b33b33609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b33b33609f_0_2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b33b33609f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b33b33609f_0_25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b33b33609f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b23f66f34c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b23f66f34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b33b33609f_0_36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b33b33609f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b33b33609f_0_3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b33b33609f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b33b33609f_0_3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b33b33609f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b33b33609f_0_3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b33b33609f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b33b33609f_0_38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b33b33609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b33b33609f_0_38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b33b33609f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b33b33609f_0_3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b33b33609f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b33b33609f_0_3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b33b33609f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b33b33609f_0_40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b33b33609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6bc4dd9f6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6bc4dd9f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6bc4dd9f64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6bc4dd9f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b33b33609f_0_4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b33b33609f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b33b33609f_0_4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b33b33609f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b33b33609f_0_4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b33b33609f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b33b33609f_0_4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b33b33609f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b33b33609f_0_4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b33b33609f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b33b33609f_0_4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b33b33609f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b33b33609f_0_4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b33b33609f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88a670d19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88a670d1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88a670d19c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88a670d19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a00a6a03a1_6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a00a6a03a1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a00a6a03a1_6_4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a00a6a03a1_6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a00a6a03a1_6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a00a6a03a1_6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88a670d19c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88a670d19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a00a6a03a1_6_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a00a6a03a1_6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a00a6a03a1_6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a00a6a03a1_6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a00a6a03a1_6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a00a6a03a1_6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a00a6a03a1_6_15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a00a6a03a1_6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ece727d679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ece727d6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a00a6a03a1_6_1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a00a6a03a1_6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a00a6a03a1_6_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a00a6a03a1_6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a00a6a03a1_6_1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a00a6a03a1_6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3ecdd5aaf0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13ecdd5aaf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574475"/>
            <a:ext cx="8520600" cy="20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b="1" sz="48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8550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b="1" sz="3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556784" y="6333134"/>
            <a:ext cx="5487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example.org/index.html#section2" TargetMode="External"/><Relationship Id="rId4" Type="http://schemas.openxmlformats.org/officeDocument/2006/relationships/hyperlink" Target="http://www.w3.org/2004/02/skos/core" TargetMode="External"/><Relationship Id="rId5" Type="http://schemas.openxmlformats.org/officeDocument/2006/relationships/hyperlink" Target="http://www.w3.org/2004/02/skos/core#broader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dbpedia.org/resource/Alan_Turing" TargetMode="External"/><Relationship Id="rId4" Type="http://schemas.openxmlformats.org/officeDocument/2006/relationships/hyperlink" Target="http://dbpedia.org/resource/Alan_Turing" TargetMode="External"/><Relationship Id="rId5" Type="http://schemas.openxmlformats.org/officeDocument/2006/relationships/hyperlink" Target="http://dbpedia.org/resource/Alan_Turin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Relationship Id="rId3" Type="http://schemas.openxmlformats.org/officeDocument/2006/relationships/hyperlink" Target="mailto:dave@beckett.org" TargetMode="External"/><Relationship Id="rId4" Type="http://schemas.openxmlformats.org/officeDocument/2006/relationships/hyperlink" Target="mailto:dbeck@gmail.com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1" Type="http://schemas.openxmlformats.org/officeDocument/2006/relationships/hyperlink" Target="http://zemm.ira.uka.de:8080/~xamde/research/Wiki.jsp?page=Rdfs-member" TargetMode="External"/><Relationship Id="rId10" Type="http://schemas.openxmlformats.org/officeDocument/2006/relationships/hyperlink" Target="http://zemm.ira.uka.de:8080/~xamde/research/Wiki.jsp?page=Rdfs-Datatype" TargetMode="External"/><Relationship Id="rId13" Type="http://schemas.openxmlformats.org/officeDocument/2006/relationships/hyperlink" Target="http://zemm.ira.uka.de:8080/~xamde/research/Wiki.jsp?page=Rdfs-ContainerMembershipProperty" TargetMode="External"/><Relationship Id="rId12" Type="http://schemas.openxmlformats.org/officeDocument/2006/relationships/hyperlink" Target="http://zemm.ira.uka.de:8080/~xamde/research/Wiki.jsp?page=Rdfs-Container" TargetMode="Externa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://zemm.ira.uka.de:8080/~xamde/research/Wiki.jsp?page=Rdfs-Class" TargetMode="External"/><Relationship Id="rId4" Type="http://schemas.openxmlformats.org/officeDocument/2006/relationships/hyperlink" Target="http://zemm.ira.uka.de:8080/~xamde/research/Wiki.jsp?page=Rdfs-subClassOf" TargetMode="External"/><Relationship Id="rId9" Type="http://schemas.openxmlformats.org/officeDocument/2006/relationships/hyperlink" Target="http://zemm.ira.uka.de:8080/~xamde/research/Wiki.jsp?page=Rdfs-Literal" TargetMode="External"/><Relationship Id="rId15" Type="http://schemas.openxmlformats.org/officeDocument/2006/relationships/hyperlink" Target="http://zemm.ira.uka.de:8080/~xamde/research/Wiki.jsp?page=Rdfs-seeAlso" TargetMode="External"/><Relationship Id="rId14" Type="http://schemas.openxmlformats.org/officeDocument/2006/relationships/hyperlink" Target="http://zemm.ira.uka.de:8080/~xamde/research/Wiki.jsp?page=Rdfs-comment" TargetMode="External"/><Relationship Id="rId17" Type="http://schemas.openxmlformats.org/officeDocument/2006/relationships/hyperlink" Target="http://zemm.ira.uka.de:8080/~xamde/research/Wiki.jsp?page=Rdfs-label" TargetMode="External"/><Relationship Id="rId16" Type="http://schemas.openxmlformats.org/officeDocument/2006/relationships/hyperlink" Target="http://zemm.ira.uka.de:8080/~xamde/research/Wiki.jsp?page=Rdfs-isDefinedBy" TargetMode="External"/><Relationship Id="rId5" Type="http://schemas.openxmlformats.org/officeDocument/2006/relationships/hyperlink" Target="http://zemm.ira.uka.de:8080/~xamde/research/Wiki.jsp?page=Rdfs-domain" TargetMode="External"/><Relationship Id="rId6" Type="http://schemas.openxmlformats.org/officeDocument/2006/relationships/hyperlink" Target="http://zemm.ira.uka.de:8080/~xamde/research/Wiki.jsp?page=Rdfs-range" TargetMode="External"/><Relationship Id="rId18" Type="http://schemas.openxmlformats.org/officeDocument/2006/relationships/hyperlink" Target="http://www.w3.org/2000/01/rdf-schema" TargetMode="External"/><Relationship Id="rId7" Type="http://schemas.openxmlformats.org/officeDocument/2006/relationships/hyperlink" Target="http://zemm.ira.uka.de:8080/~xamde/research/Wiki.jsp?page=Rdfs-subPropertyOf" TargetMode="External"/><Relationship Id="rId8" Type="http://schemas.openxmlformats.org/officeDocument/2006/relationships/hyperlink" Target="http://zemm.ira.uka.de:8080/~xamde/research/Wiki.jsp?page=Rdfs-Resource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://www.w3.org/1999/02/22-rdf-syntax-ns" TargetMode="External"/><Relationship Id="rId4" Type="http://schemas.openxmlformats.org/officeDocument/2006/relationships/hyperlink" Target="http://www.w3.org/2000/01/rdf-schema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://example.com/epistimology" TargetMode="External"/><Relationship Id="rId4" Type="http://schemas.openxmlformats.org/officeDocument/2006/relationships/hyperlink" Target="http://www.w3.org/2001/XMLSchema@" TargetMode="Externa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9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0.xml"/><Relationship Id="rId3" Type="http://schemas.openxmlformats.org/officeDocument/2006/relationships/hyperlink" Target="https://github.com/bangoc/semweb" TargetMode="Externa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Relationship Id="rId3" Type="http://schemas.openxmlformats.org/officeDocument/2006/relationships/hyperlink" Target="http://semweb.edu.vn/river#mekong" TargetMode="External"/><Relationship Id="rId4" Type="http://schemas.openxmlformats.org/officeDocument/2006/relationships/hyperlink" Target="http://semweb.edu.vn/measures#length" TargetMode="Externa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Relationship Id="rId3" Type="http://schemas.openxmlformats.org/officeDocument/2006/relationships/hyperlink" Target="http://semweb.edu.vn/river#mekong" TargetMode="External"/><Relationship Id="rId4" Type="http://schemas.openxmlformats.org/officeDocument/2006/relationships/hyperlink" Target="http://semweb.edu.vn/measures#length" TargetMode="Externa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Web ngữ nghĩa</a:t>
            </a:r>
            <a:endParaRPr sz="4200"/>
          </a:p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Soạn bởi: Nguyễn Bá Ngọc</a:t>
            </a:r>
            <a:endParaRPr sz="2600"/>
          </a:p>
        </p:txBody>
      </p:sp>
      <p:sp>
        <p:nvSpPr>
          <p:cNvPr id="60" name="Google Shape;60;p15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Nội-2021</a:t>
            </a:r>
            <a:endParaRPr sz="2600"/>
          </a:p>
        </p:txBody>
      </p:sp>
      <p:sp>
        <p:nvSpPr>
          <p:cNvPr id="61" name="Google Shape;61;p15"/>
          <p:cNvSpPr txBox="1"/>
          <p:nvPr/>
        </p:nvSpPr>
        <p:spPr>
          <a:xfrm>
            <a:off x="491750" y="4667633"/>
            <a:ext cx="26586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Chương 3</a:t>
            </a:r>
            <a:endParaRPr sz="3600"/>
          </a:p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459625"/>
            <a:ext cx="8520600" cy="169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Chương 3.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RDF &amp; RDFS</a:t>
            </a:r>
            <a:endParaRPr/>
          </a:p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</a:t>
            </a:r>
            <a:r>
              <a:rPr lang="en-GB"/>
              <a:t>ội dung</a:t>
            </a:r>
            <a:endParaRPr/>
          </a:p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3.1. Mô hình dữ liệu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3.2. Cú pháp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3.3. Ontology đơn giản với RDFS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</a:rPr>
              <a:t>3.4. Biểu diễn các cấu trúc đặc biệt</a:t>
            </a:r>
            <a:endParaRPr/>
          </a:p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3.1. Mô hình dữ liệu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3.2. Cú pháp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3.3. Ontology đơn giản với RDFS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</a:rPr>
              <a:t>3.4. Biểu diễn các cấu trúc đặc biệt</a:t>
            </a:r>
            <a:endParaRPr/>
          </a:p>
        </p:txBody>
      </p:sp>
      <p:sp>
        <p:nvSpPr>
          <p:cNvPr id="82" name="Google Shape;82;p18"/>
          <p:cNvSpPr/>
          <p:nvPr/>
        </p:nvSpPr>
        <p:spPr>
          <a:xfrm>
            <a:off x="318450" y="896983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</a:t>
            </a:r>
            <a:r>
              <a:rPr lang="en-GB"/>
              <a:t>iới thiệu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chỉ thiết lập cấu trúc dữ liệu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hàm chứa ngữ nghĩa để máy tính xử lý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 giống 1 mô hình dữ liệu hơn 1 ngôn ngữ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Dữ liệu RDF có thể được biểu diễn theo nhiều định dạng khác nhau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 quy ước các thành phần ngữ nghĩa hạn chế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RDFS và OWL bổ xung các từ khóa giầu ngữ nghĩa hơn</a:t>
            </a:r>
            <a:endParaRPr/>
          </a:p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XML, RDF(S) v</a:t>
            </a:r>
            <a:r>
              <a:rPr lang="en-GB"/>
              <a:t>à biểu diễn ngữ nghĩa</a:t>
            </a:r>
            <a:endParaRPr/>
          </a:p>
        </p:txBody>
      </p:sp>
      <p:sp>
        <p:nvSpPr>
          <p:cNvPr id="96" name="Google Shape;96;p20"/>
          <p:cNvSpPr txBox="1"/>
          <p:nvPr>
            <p:ph idx="4294967295" type="body"/>
          </p:nvPr>
        </p:nvSpPr>
        <p:spPr>
          <a:xfrm>
            <a:off x="311700" y="3002050"/>
            <a:ext cx="8520600" cy="3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C</a:t>
            </a:r>
            <a:r>
              <a:rPr lang="en-GB" sz="2400"/>
              <a:t>ác vấn đề ngữ nghĩa:</a:t>
            </a:r>
            <a:endParaRPr sz="24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Nếu ai đó dạy 1 học phần, thì người đó có phải là giảng viên hay không?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Giảng viên có phải là cán bộ không?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i="1" lang="en-GB"/>
              <a:t>(không biểu diễn được bằng XML, nhưng có thể biểu diễn được bằng RDFS).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XML không quy ước ngữ nghĩa cho các nút lồng nhau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Người đọc có thể tự suy luận ngữ nghĩa theo cách riêng</a:t>
            </a:r>
            <a:endParaRPr sz="2400"/>
          </a:p>
        </p:txBody>
      </p:sp>
      <p:sp>
        <p:nvSpPr>
          <p:cNvPr id="97" name="Google Shape;97;p20"/>
          <p:cNvSpPr txBox="1"/>
          <p:nvPr/>
        </p:nvSpPr>
        <p:spPr>
          <a:xfrm>
            <a:off x="457200" y="946150"/>
            <a:ext cx="8229600" cy="19764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CanBo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Nguyen Van A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&lt;/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CanBo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GiangVien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Nguyen Van B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&lt;/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GiangVien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HocPhan Ten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="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Toan roi rac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"&gt;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&lt;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DuocDayBoi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Nguyen Van C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&lt;/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DuocDayBoi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400"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&lt;/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HocPhan</a:t>
            </a:r>
            <a:r>
              <a:rPr b="0" i="0" lang="en-GB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b="0" i="0" sz="2400" u="none" cap="none" strike="noStrike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RDF l</a:t>
            </a:r>
            <a:r>
              <a:rPr lang="en-GB"/>
              <a:t>à gì?</a:t>
            </a:r>
            <a:endParaRPr/>
          </a:p>
        </p:txBody>
      </p:sp>
      <p:sp>
        <p:nvSpPr>
          <p:cNvPr id="104" name="Google Shape;104;p21"/>
          <p:cNvSpPr txBox="1"/>
          <p:nvPr>
            <p:ph idx="4294967295" type="body"/>
          </p:nvPr>
        </p:nvSpPr>
        <p:spPr>
          <a:xfrm>
            <a:off x="311700" y="927025"/>
            <a:ext cx="8520600" cy="6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</a:t>
            </a:r>
            <a:r>
              <a:rPr lang="en-GB"/>
              <a:t>DF - Resource Description Framework</a:t>
            </a:r>
            <a:endParaRPr/>
          </a:p>
        </p:txBody>
      </p:sp>
      <p:pic>
        <p:nvPicPr>
          <p:cNvPr descr="layerCake" id="105" name="Google Shape;1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5817" y="1554926"/>
            <a:ext cx="3849033" cy="328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1"/>
          <p:cNvSpPr/>
          <p:nvPr/>
        </p:nvSpPr>
        <p:spPr>
          <a:xfrm>
            <a:off x="2227263" y="3900488"/>
            <a:ext cx="978000" cy="48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2DCAC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321650" y="4837125"/>
            <a:ext cx="8212500" cy="1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i="1" lang="en-GB" sz="2400">
                <a:solidFill>
                  <a:schemeClr val="dk2"/>
                </a:solidFill>
              </a:rPr>
              <a:t>RDF được sử dụng để biểu diễn các tài nguyên</a:t>
            </a:r>
            <a:endParaRPr i="1" sz="2400"/>
          </a:p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Khái quát về RDF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Th</a:t>
            </a:r>
            <a:r>
              <a:rPr b="1" lang="en-GB"/>
              <a:t>iết kế cơ bản:</a:t>
            </a:r>
            <a:r>
              <a:rPr lang="en-GB"/>
              <a:t> Xác định các tài nguyên bằng các định danh Web và mô tả các tài nguyên bằng các cặp thuộc tính cùng với giá trị.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Mô hình dữ liệu RDF là mô hình đồ thị thuần khiết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i="1" lang="en-GB"/>
              <a:t>(Khái niệm đồ thị thuần khiết sẽ được giải thích ngay sau)</a:t>
            </a:r>
            <a:endParaRPr/>
          </a:p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3.1. Dữ liệu RDF</a:t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fig1dec16" id="122" name="Google Shape;1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738" y="1836063"/>
            <a:ext cx="6767511" cy="4865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/>
        </p:nvSpPr>
        <p:spPr>
          <a:xfrm>
            <a:off x="307200" y="884150"/>
            <a:ext cx="85206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1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ourier New"/>
              <a:buNone/>
            </a:pPr>
            <a:r>
              <a:rPr lang="en-GB" sz="2400">
                <a:solidFill>
                  <a:srgbClr val="434343"/>
                </a:solidFill>
              </a:rPr>
              <a:t>http://www.w3.org/People/EM/contact#me là định danh của 1 người; </a:t>
            </a:r>
            <a:r>
              <a:rPr b="1" lang="en-GB" sz="2400">
                <a:solidFill>
                  <a:srgbClr val="434343"/>
                </a:solidFill>
              </a:rPr>
              <a:t>Có tên là:</a:t>
            </a:r>
            <a:r>
              <a:rPr lang="en-GB" sz="2400">
                <a:solidFill>
                  <a:srgbClr val="434343"/>
                </a:solidFill>
              </a:rPr>
              <a:t> Eric Miller; </a:t>
            </a:r>
            <a:r>
              <a:rPr b="1" lang="en-GB" sz="2400">
                <a:solidFill>
                  <a:srgbClr val="434343"/>
                </a:solidFill>
              </a:rPr>
              <a:t>Email:</a:t>
            </a:r>
            <a:r>
              <a:rPr lang="en-GB" sz="2400">
                <a:solidFill>
                  <a:srgbClr val="434343"/>
                </a:solidFill>
              </a:rPr>
              <a:t> em@w3.org; </a:t>
            </a:r>
            <a:r>
              <a:rPr b="1" lang="en-GB" sz="2400">
                <a:solidFill>
                  <a:srgbClr val="434343"/>
                </a:solidFill>
              </a:rPr>
              <a:t>Học vị:</a:t>
            </a:r>
            <a:r>
              <a:rPr lang="en-GB" sz="2400">
                <a:solidFill>
                  <a:srgbClr val="434343"/>
                </a:solidFill>
              </a:rPr>
              <a:t> Dr.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Bộ-3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tài nguyên được mô tả bằng các câu theo cấu trúc đơn giản gồm 3 thành phần: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Chủ thể - subject</a:t>
            </a:r>
            <a:r>
              <a:rPr lang="en-GB"/>
              <a:t>, thành phần thông tin đang được mô tả.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Thuộc tính - predicate</a:t>
            </a:r>
            <a:r>
              <a:rPr lang="en-GB"/>
              <a:t>, thuộc tính của tài nguyên đang được mô tả;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Giá trị - object</a:t>
            </a:r>
            <a:r>
              <a:rPr lang="en-GB"/>
              <a:t>, xác định giá trị của thuộc tính của tài nguyên đang được mô tả.</a:t>
            </a:r>
            <a:endParaRPr/>
          </a:p>
        </p:txBody>
      </p:sp>
      <p:sp>
        <p:nvSpPr>
          <p:cNvPr id="130" name="Google Shape;130;p24"/>
          <p:cNvSpPr txBox="1"/>
          <p:nvPr/>
        </p:nvSpPr>
        <p:spPr>
          <a:xfrm>
            <a:off x="505450" y="5498650"/>
            <a:ext cx="80106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solidFill>
                  <a:srgbClr val="0B5394"/>
                </a:solidFill>
              </a:rPr>
              <a:t>C</a:t>
            </a:r>
            <a:r>
              <a:rPr i="1" lang="en-GB" sz="2600">
                <a:solidFill>
                  <a:srgbClr val="0B5394"/>
                </a:solidFill>
              </a:rPr>
              <a:t>âu RDF = Bộ-3, triple</a:t>
            </a:r>
            <a:endParaRPr i="1" sz="2600">
              <a:solidFill>
                <a:srgbClr val="0B5394"/>
              </a:solidFill>
            </a:endParaRPr>
          </a:p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3.2</a:t>
            </a:r>
            <a:r>
              <a:rPr lang="en-GB"/>
              <a:t>a.</a:t>
            </a:r>
            <a:r>
              <a:rPr lang="en-GB"/>
              <a:t> Câu RDF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&lt;http://</a:t>
            </a:r>
            <a:r>
              <a:rPr lang="en-GB"/>
              <a:t>www.example</a:t>
            </a:r>
            <a:r>
              <a:rPr lang="en-GB"/>
              <a:t>.org/index.html&gt;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</a:t>
            </a:r>
            <a:r>
              <a:rPr lang="en-GB"/>
              <a:t>http://semweb.edu.vn/vocab#hasCreator</a:t>
            </a:r>
            <a:r>
              <a:rPr lang="en-GB"/>
              <a:t>&gt;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"John Smith"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Trong ví dụ này: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Tài nguyên/Ch</a:t>
            </a:r>
            <a:r>
              <a:rPr b="1" lang="en-GB"/>
              <a:t>ủ thể</a:t>
            </a:r>
            <a:r>
              <a:rPr b="1" lang="en-GB"/>
              <a:t> - Subject</a:t>
            </a:r>
            <a:r>
              <a:rPr lang="en-GB"/>
              <a:t> được xác định bởi </a:t>
            </a:r>
            <a:r>
              <a:rPr lang="en-GB"/>
              <a:t>URI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http://www.example.org/index.html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Thuộc tính - Predicate</a:t>
            </a:r>
            <a:r>
              <a:rPr lang="en-GB"/>
              <a:t>,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http://semweb.edu.vn/vocab#hasCreator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(hasCreator - Được tạo bởi).</a:t>
            </a:r>
            <a:endParaRPr i="1"/>
          </a:p>
          <a:p>
            <a:pPr indent="-381000" lvl="0" marL="457200" rtl="0" algn="l">
              <a:spcBef>
                <a:spcPts val="0"/>
              </a:spcBef>
              <a:spcAft>
                <a:spcPts val="800"/>
              </a:spcAft>
              <a:buSzPts val="2400"/>
              <a:buChar char="●"/>
            </a:pPr>
            <a:r>
              <a:rPr b="1" lang="en-GB"/>
              <a:t>Giá trị - object</a:t>
            </a:r>
            <a:r>
              <a:rPr lang="en-GB"/>
              <a:t>, là chuỗi "John Smith"</a:t>
            </a:r>
            <a:endParaRPr/>
          </a:p>
        </p:txBody>
      </p:sp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3.2b. Câu RDF</a:t>
            </a:r>
            <a:endParaRPr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&lt;http://www.example.org/index.html&gt;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&lt;http://semweb.edu.vn/vocab#hasCreator&gt;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&lt;http://www.example.org/people/John-Smith&gt;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Trong ví dụ này: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Tài nguyên/Chủ thể - Subject</a:t>
            </a:r>
            <a:r>
              <a:rPr lang="en-GB"/>
              <a:t>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http://www.example.org/index.html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Thuộc tính - Predicate</a:t>
            </a:r>
            <a:r>
              <a:rPr lang="en-GB"/>
              <a:t>: &lt;http://semweb.edu.vn/vocab#hasCreator&gt;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800"/>
              </a:spcAft>
              <a:buSzPts val="2400"/>
              <a:buChar char="●"/>
            </a:pPr>
            <a:r>
              <a:rPr b="1" lang="en-GB"/>
              <a:t>Giá trị - object</a:t>
            </a:r>
            <a:r>
              <a:rPr lang="en-GB"/>
              <a:t>: &lt;http://www.example.org/people/John-Smith&gt;</a:t>
            </a:r>
            <a:endParaRPr/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dạng ntriples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Định dạng lưu trữ đơn giản nhất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ntriples - tập hợp các </a:t>
            </a:r>
            <a:r>
              <a:rPr lang="en-GB"/>
              <a:t>bộ-3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</a:t>
            </a:r>
            <a:r>
              <a:rPr lang="en-GB"/>
              <a:t>ỗi </a:t>
            </a:r>
            <a:r>
              <a:rPr lang="en-GB"/>
              <a:t>bộ-3</a:t>
            </a:r>
            <a:r>
              <a:rPr lang="en-GB"/>
              <a:t> được kết thúc bởi 1 dấu chấm;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URIs nằm trong các cặp dấu &lt; &gt;.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464125" y="2684625"/>
            <a:ext cx="8368200" cy="28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3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GB" sz="2200">
                <a:solidFill>
                  <a:srgbClr val="434343"/>
                </a:solidFill>
              </a:rPr>
              <a:t>&lt;http://www.example.org/index.html&gt; &lt;http://purl.org/dc/elements/1.1/creator&gt; &lt;http://www.example.org/staffid/85740&gt; . </a:t>
            </a:r>
            <a:endParaRPr sz="2200">
              <a:solidFill>
                <a:srgbClr val="434343"/>
              </a:solidFill>
            </a:endParaRPr>
          </a:p>
          <a:p>
            <a:pPr indent="0" lvl="3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lang="en-GB" sz="2200">
                <a:solidFill>
                  <a:srgbClr val="434343"/>
                </a:solidFill>
              </a:rPr>
              <a:t>&lt;http://www.example.org/index.html&gt; &lt;http://www.example.org/terms/creation-date&gt; "August 16, 1999" . </a:t>
            </a:r>
            <a:endParaRPr sz="2200">
              <a:solidFill>
                <a:srgbClr val="434343"/>
              </a:solidFill>
            </a:endParaRPr>
          </a:p>
          <a:p>
            <a:pPr indent="0" lvl="3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&lt;http://www.example.org/index.html&gt; &lt;http://purl.org/dc/elements/1.1/language&gt; "en" . 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153" name="Google Shape;153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4" name="Google Shape;154;p27"/>
          <p:cNvSpPr txBox="1"/>
          <p:nvPr/>
        </p:nvSpPr>
        <p:spPr>
          <a:xfrm>
            <a:off x="464125" y="5648075"/>
            <a:ext cx="83682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B45F06"/>
                </a:solidFill>
              </a:rPr>
              <a:t>Đơn giản nhưng không tối ưu, các URI dài có thể chiếm nhiều dung lượng</a:t>
            </a:r>
            <a:endParaRPr i="1" sz="2400">
              <a:solidFill>
                <a:srgbClr val="B45F0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loại đồ thị: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Đồ thị thuần khiết &amp;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Đồ thị thuộc tính</a:t>
            </a:r>
            <a:endParaRPr/>
          </a:p>
        </p:txBody>
      </p:sp>
      <p:sp>
        <p:nvSpPr>
          <p:cNvPr id="160" name="Google Shape;160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ô hình đồ thị thuần khiết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</a:t>
            </a:r>
            <a:r>
              <a:rPr lang="en-GB"/>
              <a:t>ồ thị thuần khiết chỉ bao gồm các cạnh giữa các cặp đỉnh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Cạnh có thể có hướng hoặc vô hướng, có thể có nhãn hoặc không.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Đồ thị thuần khiết có thể được biểu diễn như 1 tập không quy ước thứ tự của các </a:t>
            </a:r>
            <a:r>
              <a:rPr lang="en-GB"/>
              <a:t>bộ-3</a:t>
            </a:r>
            <a:r>
              <a:rPr lang="en-GB"/>
              <a:t> (chủ thể-thuộc tính-giá trị).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Nếu có hướng thì thuộc tính đi từ chủ thể tới giá trị.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Không được có các nút không phải chủ thể hoặc giá trị của bất kỳ </a:t>
            </a:r>
            <a:r>
              <a:rPr lang="en-GB"/>
              <a:t>bộ-3</a:t>
            </a:r>
            <a:r>
              <a:rPr lang="en-GB"/>
              <a:t> nào.</a:t>
            </a:r>
            <a:endParaRPr/>
          </a:p>
        </p:txBody>
      </p:sp>
      <p:sp>
        <p:nvSpPr>
          <p:cNvPr id="167" name="Google Shape;167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ô hình đồ thị RDF</a:t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Đồ thị RDF là đồ thị thuần khiết cùng với các ràng buộc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Chủ thể và thuộc tính được xác định bởi các URIs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Giá trị có thể là URI hoặc các hằng giá trị.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 bao gồm các URIs tiêu chuẩn và có quy ước ngữ nghĩa, ví dụ từ type được xác định bởi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http://www.w3.org/1999/02/22-rdf-syntax-ns#type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Được sử dụng để định kiểu cho tài nguyên.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GB"/>
              <a:t>RDF có nhiều cách để biểu diễn các giá trị phức tạp (chứa nhiều thành phần) và các nhóm tài nguyên bằng các cấu trúc tổng hợp đơn giản.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</a:t>
            </a:r>
            <a:r>
              <a:rPr lang="en-GB"/>
              <a:t>ồ thị thuộc tính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CSDL đồ thị đã được sử dụng ngày càng phổ biến trong thời gian gần đây.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Mở rộng đơn giản đối với mô hình đồ thị thuần khiết cho phép cả nút và cạnh có thể có các thuộc tính.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Ví dụ các thuộc tính đơn giản: 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Age: 30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Date: 1990-09-21</a:t>
            </a:r>
            <a:endParaRPr/>
          </a:p>
        </p:txBody>
      </p:sp>
      <p:sp>
        <p:nvSpPr>
          <p:cNvPr id="181" name="Google Shape;181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GB"/>
              <a:t>Neo4J</a:t>
            </a:r>
            <a:r>
              <a:rPr lang="en-GB"/>
              <a:t> - CSDL đồ thị thuộc tính được sử dụng phổ biến.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b="1" lang="en-GB"/>
              <a:t>OrientDB</a:t>
            </a:r>
            <a:r>
              <a:rPr lang="en-GB"/>
              <a:t> - Hỗ trợ đồng thời cả mô hình đồ thị thuộc tính và mô hình quan hệ.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b="1" lang="en-GB" sz="2600"/>
              <a:t>Apache TinkerPop</a:t>
            </a:r>
            <a:r>
              <a:rPr lang="en-GB" sz="2600"/>
              <a:t> là 1 dự án mã nguồn mở.</a:t>
            </a:r>
            <a:endParaRPr sz="2600"/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b="1" lang="en-GB" sz="2600"/>
              <a:t>Neptune</a:t>
            </a:r>
            <a:r>
              <a:rPr lang="en-GB" sz="2600"/>
              <a:t> của </a:t>
            </a:r>
            <a:r>
              <a:rPr b="1" lang="en-GB" sz="2600"/>
              <a:t>Amazon</a:t>
            </a:r>
            <a:r>
              <a:rPr lang="en-GB" sz="2600"/>
              <a:t> được xây dựng cho nền tảng đám mây.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công nghệ đồ thị thuộc tính</a:t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0349" y="3428997"/>
            <a:ext cx="3536675" cy="217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3.3. Đồ thị thuộc tính</a:t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800" y="1359000"/>
            <a:ext cx="6686226" cy="47528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 txBox="1"/>
          <p:nvPr/>
        </p:nvSpPr>
        <p:spPr>
          <a:xfrm>
            <a:off x="6064375" y="5523775"/>
            <a:ext cx="15528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[N</a:t>
            </a:r>
            <a:r>
              <a:rPr lang="en-GB" sz="2000"/>
              <a:t>eo4J]</a:t>
            </a:r>
            <a:endParaRPr sz="2000"/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URIs và URIrefs</a:t>
            </a:r>
            <a:endParaRPr/>
          </a:p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URIs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Uniform Resource Identifiers (URIs)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Mở rộng hơn so với URL, URI có thể được sử dụng để xác định các thứ không có trong không gian mạng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Không có cơ quan điều phối việc tạo URIs hoặc sử dụng như thế nào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nhiều loại URI (ví dụ, URL - http) phụ thuộc vào các hệ thống tập trung như các hệ thống DNS.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Tuy nhiên URI có thể hoàn toàn phi tập trung.</a:t>
            </a:r>
            <a:endParaRPr/>
          </a:p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</a:t>
            </a:r>
            <a:r>
              <a:rPr lang="en-GB"/>
              <a:t>am chiếu URI  và URIref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URIref: URI với mã phân đoạn ở cuối, ví dụ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rgbClr val="43434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http://example.org/index.html#section2</a:t>
            </a:r>
            <a:endParaRPr sz="2000">
              <a:solidFill>
                <a:srgbClr val="434343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>
                <a:solidFill>
                  <a:srgbClr val="434343"/>
                </a:solidFill>
              </a:rPr>
              <a:t>rường hợp sử dụng phân đoạn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Các phân đoạn HTML tham chiếu các vị trí trong 1 trang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Các phân đoạn RDF tham chiếu tới các tài nguyên trong 1 bộ từ vựng RDF được xác định bởi URI, ví dụ: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oto Sans Symbols"/>
              <a:buChar char="○"/>
            </a:pPr>
            <a:r>
              <a:rPr lang="en-GB">
                <a:solidFill>
                  <a:srgbClr val="434343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http://www.w3.org/2004/02/skos/core</a:t>
            </a:r>
            <a:r>
              <a:rPr lang="en-GB">
                <a:solidFill>
                  <a:srgbClr val="434343"/>
                </a:solidFill>
              </a:rPr>
              <a:t>#</a:t>
            </a:r>
            <a:endParaRPr>
              <a:solidFill>
                <a:srgbClr val="434343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800"/>
              <a:buChar char="■"/>
            </a:pPr>
            <a:r>
              <a:rPr lang="en-GB">
                <a:solidFill>
                  <a:srgbClr val="434343"/>
                </a:solidFill>
              </a:rPr>
              <a:t>Bộ từ vựng để mô tả các chủ đề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oto Sans Symbols"/>
              <a:buChar char="○"/>
            </a:pPr>
            <a:r>
              <a:rPr lang="en-GB">
                <a:solidFill>
                  <a:srgbClr val="434343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http://www.w3.org/2004/02/skos/core#broader</a:t>
            </a:r>
            <a:endParaRPr>
              <a:solidFill>
                <a:srgbClr val="434343"/>
              </a:solidFill>
            </a:endParaRPr>
          </a:p>
          <a:p>
            <a:pPr indent="-3429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Noto Sans Symbols"/>
              <a:buChar char="■"/>
            </a:pPr>
            <a:r>
              <a:rPr lang="en-GB">
                <a:solidFill>
                  <a:srgbClr val="434343"/>
                </a:solidFill>
              </a:rPr>
              <a:t>Thuộc tính: Khái niệm rộng hơn trong bộ từ vựng SKOS Core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Tương tự các URLs, các URIrefs có t</a:t>
            </a:r>
            <a:r>
              <a:rPr lang="en-GB"/>
              <a:t>hể là tuyệt đối hoặc tương đối</a:t>
            </a:r>
            <a:endParaRPr/>
          </a:p>
        </p:txBody>
      </p:sp>
      <p:sp>
        <p:nvSpPr>
          <p:cNvPr id="217" name="Google Shape;217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URIrefs trong RDF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rình duyệt và các ứng dụng Web khác sử dụng URIrefs để xác định các tài nguyên: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Trình duyệt sử dụng các URIrefs để tải về các tài nguyên.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Trong mô hình dữ liệu RDF, URIrefs được sử dụng để xác định các tài nguyên thông tin: Bao gồm cả các tài nguyên có trong Web và cả các tài nguyên không có trong Web.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Nên sử dụng các URIs với giao thức HTTP được gắn với các tài nguyên có trong môi trường Web (có thể tải về được).</a:t>
            </a:r>
            <a:endParaRPr/>
          </a:p>
        </p:txBody>
      </p:sp>
      <p:sp>
        <p:nvSpPr>
          <p:cNvPr id="224" name="Google Shape;224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ải về nội dung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</a:t>
            </a:r>
            <a:r>
              <a:rPr lang="en-GB"/>
              <a:t>iao thức HTTP cho phép thiết lập định dạng dữ liệu trả về, ví dụ, HTML, XML, RDF được mã hóa theo nhiều cách.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Sử dụng cùng 1 URL, ví dụ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200"/>
              <a:buChar char="○"/>
            </a:pPr>
            <a:r>
              <a:rPr lang="en-GB">
                <a:uFill>
                  <a:noFill/>
                </a:uFill>
                <a:hlinkClick r:id="rId3"/>
              </a:rPr>
              <a:t>http://dbpedia.org/resource/Alan_Turing</a:t>
            </a:r>
            <a:endParaRPr/>
          </a:p>
          <a:p>
            <a:pPr indent="-368300" lvl="1" marL="9144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thể cung cấp nội dung theo định dạng thuận tiện nhất (có thể khác nhau) cho người và máy:</a:t>
            </a:r>
            <a:endParaRPr/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Noto Sans Symbols"/>
              <a:buChar char="○"/>
            </a:pPr>
            <a:r>
              <a:rPr lang="en-GB"/>
              <a:t>curl -LH "Accept:text/html" </a:t>
            </a:r>
            <a:r>
              <a:rPr lang="en-GB">
                <a:uFill>
                  <a:noFill/>
                </a:uFill>
                <a:hlinkClick r:id="rId4"/>
              </a:rPr>
              <a:t>http://dbpedia.org/resource/Alan_Turing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curl -LH "Accept: application/rdf+xml" </a:t>
            </a:r>
            <a:r>
              <a:rPr lang="en-GB">
                <a:uFill>
                  <a:noFill/>
                </a:uFill>
                <a:hlinkClick r:id="rId5"/>
              </a:rPr>
              <a:t>http://dbpedia.org/resource/Alan_Turing</a:t>
            </a:r>
            <a:endParaRPr/>
          </a:p>
        </p:txBody>
      </p:sp>
      <p:sp>
        <p:nvSpPr>
          <p:cNvPr id="231" name="Google Shape;231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3.4a. Nội dung cho người</a:t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225" y="1038675"/>
            <a:ext cx="6759625" cy="543734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3.4b. Dữ liệu cho máy</a:t>
            </a:r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 rotWithShape="1">
          <a:blip r:embed="rId3">
            <a:alphaModFix/>
          </a:blip>
          <a:srcRect b="0" l="507" r="0" t="0"/>
          <a:stretch/>
        </p:blipFill>
        <p:spPr>
          <a:xfrm>
            <a:off x="1464675" y="864950"/>
            <a:ext cx="6865824" cy="5941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</a:t>
            </a:r>
            <a:r>
              <a:rPr lang="en-GB"/>
              <a:t>ồ thị RDF</a:t>
            </a:r>
            <a:endParaRPr/>
          </a:p>
        </p:txBody>
      </p:sp>
      <p:sp>
        <p:nvSpPr>
          <p:cNvPr id="251" name="Google Shape;251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Đồ thị RDF</a:t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M</a:t>
            </a:r>
            <a:r>
              <a:rPr lang="en-GB">
                <a:solidFill>
                  <a:srgbClr val="434343"/>
                </a:solidFill>
              </a:rPr>
              <a:t>ô hình hóa các câu RDF bằng nút và cạnh trong đồ thị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Mỗi câu được biểu diễn bởi 1 nút cho tài nguyên, 1 nút cho giá trị và 1 cạnh cho thuộc tính.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Mỗi nút có thể được xác định bởi 1 URIref hoặc có thể là hằng giá trị hoặc nút rỗng.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Mỗi cạnh được xác định bởi 1 URIref.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Đồ thị RDF là 1 đồ thị có hướng.</a:t>
            </a:r>
            <a:endParaRPr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>
                <a:solidFill>
                  <a:srgbClr val="434343"/>
                </a:solidFill>
              </a:rPr>
              <a:t>Các thuộc tính cũng có thể là các nút trong đồ thị RDF - có thể là chủ thể hoặc đối tượng của các bộ-3, ví dụ:</a:t>
            </a:r>
            <a:endParaRPr>
              <a:solidFill>
                <a:srgbClr val="434343"/>
              </a:solidFill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:has_parent owl:inverseOf :has_child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58" name="Google Shape;258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3nov19" id="263" name="Google Shape;26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0750" y="942975"/>
            <a:ext cx="8064500" cy="4392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3.5.  Đồ thị RDF</a:t>
            </a:r>
            <a:endParaRPr/>
          </a:p>
        </p:txBody>
      </p:sp>
      <p:sp>
        <p:nvSpPr>
          <p:cNvPr id="265" name="Google Shape;265;p43"/>
          <p:cNvSpPr txBox="1"/>
          <p:nvPr/>
        </p:nvSpPr>
        <p:spPr>
          <a:xfrm>
            <a:off x="287350" y="3793325"/>
            <a:ext cx="8064600" cy="28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http://www.example.org/index.html 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được tạo ngày: 16/Tháng 8/1999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ngôn ngữ: Tiếng Anh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được tạo bởi: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http://example.org/staffed/85740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266" name="Google Shape;266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</a:t>
            </a:r>
            <a:r>
              <a:rPr lang="en-GB"/>
              <a:t>ằng giá trị</a:t>
            </a:r>
            <a:endParaRPr/>
          </a:p>
        </p:txBody>
      </p:sp>
      <p:pic>
        <p:nvPicPr>
          <p:cNvPr id="272" name="Google Shape;27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0899" y="767450"/>
            <a:ext cx="5593450" cy="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4"/>
          <p:cNvSpPr txBox="1"/>
          <p:nvPr/>
        </p:nvSpPr>
        <p:spPr>
          <a:xfrm>
            <a:off x="6581625" y="2880825"/>
            <a:ext cx="24414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/>
              <a:t>27 l</a:t>
            </a:r>
            <a:r>
              <a:rPr i="1" lang="en-GB" sz="2000"/>
              <a:t>à số hay chữ?</a:t>
            </a:r>
            <a:endParaRPr i="1" sz="2000"/>
          </a:p>
        </p:txBody>
      </p:sp>
      <p:cxnSp>
        <p:nvCxnSpPr>
          <p:cNvPr id="274" name="Google Shape;274;p44"/>
          <p:cNvCxnSpPr/>
          <p:nvPr/>
        </p:nvCxnSpPr>
        <p:spPr>
          <a:xfrm flipH="1" rot="10800000">
            <a:off x="5520150" y="3138675"/>
            <a:ext cx="1046400" cy="6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5" name="Google Shape;275;p44"/>
          <p:cNvSpPr txBox="1"/>
          <p:nvPr/>
        </p:nvSpPr>
        <p:spPr>
          <a:xfrm>
            <a:off x="257800" y="3484352"/>
            <a:ext cx="8416200" cy="28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434343"/>
                </a:solidFill>
              </a:rPr>
              <a:t>RDF có 2 định dạng giá trị: </a:t>
            </a:r>
            <a:endParaRPr i="1" sz="2400"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 sz="2400">
                <a:solidFill>
                  <a:srgbClr val="434343"/>
                </a:solidFill>
              </a:rPr>
              <a:t>Giá trị thô được viết theo quy cách và có thể có thẻ ngôn ngữ, ví dụ: "27", "Xin chao"@vi, "Hello world"@en</a:t>
            </a:r>
            <a:endParaRPr sz="2400"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 sz="2400">
                <a:solidFill>
                  <a:srgbClr val="434343"/>
                </a:solidFill>
              </a:rPr>
              <a:t>Giá trị có định kiểu là 1 chuỗi được gắn với 1 URIref cho 1 kiểu dữ liệu XML</a:t>
            </a:r>
            <a:r>
              <a:rPr lang="en-GB" sz="2400">
                <a:solidFill>
                  <a:srgbClr val="434343"/>
                </a:solidFill>
              </a:rPr>
              <a:t>S</a:t>
            </a:r>
            <a:r>
              <a:rPr lang="en-GB" sz="2400">
                <a:solidFill>
                  <a:srgbClr val="434343"/>
                </a:solidFill>
              </a:rPr>
              <a:t> cụ thể, ví dụ:</a:t>
            </a:r>
            <a:endParaRPr sz="2400"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 sz="2400">
                <a:solidFill>
                  <a:srgbClr val="434343"/>
                </a:solidFill>
              </a:rPr>
              <a:t>"27"^^http://www.w3.org/2001/XMLSchema#integer</a:t>
            </a:r>
            <a:endParaRPr sz="2400">
              <a:solidFill>
                <a:srgbClr val="434343"/>
              </a:solidFill>
            </a:endParaRPr>
          </a:p>
          <a:p>
            <a:pPr indent="-381000" lvl="0" marL="45720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en-GB" sz="2400">
                <a:solidFill>
                  <a:srgbClr val="434343"/>
                </a:solidFill>
              </a:rPr>
              <a:t>"27"^^xsd:int</a:t>
            </a:r>
            <a:endParaRPr sz="2400">
              <a:solidFill>
                <a:srgbClr val="434343"/>
              </a:solidFill>
            </a:endParaRPr>
          </a:p>
        </p:txBody>
      </p:sp>
      <p:sp>
        <p:nvSpPr>
          <p:cNvPr id="276" name="Google Shape;276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kiểu dữ liệu cho giá trị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Tài liệu RDF có thể sử dụng bất kỳ hệ kiểu dữ liệu nào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Tuy nhiên hệ kiểu trong lược đồ XML được sử dụng phổ biến nhất trong thực tế.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Lược đồ XML định nghĩa nhiều kiểu dữ liệu cho các giá trị chân lý, số nguyên, số thực dấu chấm động, thời gian, ngày, v.v…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Không gian tên: http://www.w3.org/2001/XMLSchema#</a:t>
            </a:r>
            <a:endParaRPr/>
          </a:p>
        </p:txBody>
      </p:sp>
      <p:sp>
        <p:nvSpPr>
          <p:cNvPr id="283" name="Google Shape;283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456" y="1360200"/>
            <a:ext cx="8701088" cy="44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kiểu dữ liệu trong XSD</a:t>
            </a:r>
            <a:endParaRPr/>
          </a:p>
        </p:txBody>
      </p:sp>
      <p:sp>
        <p:nvSpPr>
          <p:cNvPr id="290" name="Google Shape;290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</a:t>
            </a:r>
            <a:r>
              <a:rPr lang="en-GB"/>
              <a:t>names cho URIrefs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URIrefs thường rất dài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Chúng ta có thể sử dụng các định danh XML - QName, XML qualified name để thay thế cho các tham chiếu URI đầy đủ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http://dbpedia.org/page/Alan_Turing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dbp:Alan_Turing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Qnames có tiền tố được gắn với 1 không gian tên URI, dấu: và tên địa phương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Khái niệm tên và không gian tên được sử dụng trong RDF bắt nguồn từ XML</a:t>
            </a:r>
            <a:endParaRPr/>
          </a:p>
        </p:txBody>
      </p:sp>
      <p:sp>
        <p:nvSpPr>
          <p:cNvPr id="297" name="Google Shape;297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3.1. Mô hình dữ liệu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3.2. Cú pháp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3.3. Ontology đơn giản với RDFS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</a:rPr>
              <a:t>3.4. Biểu diễn các cấu trúc đặc biệt</a:t>
            </a:r>
            <a:endParaRPr/>
          </a:p>
        </p:txBody>
      </p:sp>
      <p:sp>
        <p:nvSpPr>
          <p:cNvPr id="304" name="Google Shape;304;p48"/>
          <p:cNvSpPr/>
          <p:nvPr/>
        </p:nvSpPr>
        <p:spPr>
          <a:xfrm>
            <a:off x="318450" y="1297690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kiểu tài nguyên</a:t>
            </a:r>
            <a:endParaRPr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</a:t>
            </a:r>
            <a:r>
              <a:rPr lang="en-GB"/>
              <a:t>uộc tính rdf:type được sử dụng để thiết lập kiểu của tài nguyên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ex:john </a:t>
            </a:r>
            <a:r>
              <a:rPr b="1" lang="en-GB"/>
              <a:t>rdf:type</a:t>
            </a:r>
            <a:r>
              <a:rPr lang="en-GB"/>
              <a:t> foaf:Person.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&lt;http://example.org/john &gt; </a:t>
            </a:r>
            <a:endParaRPr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/>
              <a:t>&lt;http://www.w3.org/1999/02/22-rdf-syntax-ns#type&gt; </a:t>
            </a:r>
            <a:endParaRPr b="1" sz="2200"/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&lt;http://xmlns.com/foaf/0.1/Person&gt; 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RDFS thêm vào khái niệm lớp con &amp; các ràng buộc giữa các thuộc tính &amp; kiểu của tham số của nó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OWL bổ xung thêm nhiều ràng buộc khác</a:t>
            </a:r>
            <a:endParaRPr/>
          </a:p>
        </p:txBody>
      </p:sp>
      <p:sp>
        <p:nvSpPr>
          <p:cNvPr id="312" name="Google Shape;312;p49"/>
          <p:cNvSpPr/>
          <p:nvPr/>
        </p:nvSpPr>
        <p:spPr>
          <a:xfrm>
            <a:off x="4866900" y="1460375"/>
            <a:ext cx="1302600" cy="7635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ex:john</a:t>
            </a:r>
            <a:endParaRPr sz="2000"/>
          </a:p>
        </p:txBody>
      </p:sp>
      <p:sp>
        <p:nvSpPr>
          <p:cNvPr id="313" name="Google Shape;313;p49"/>
          <p:cNvSpPr/>
          <p:nvPr/>
        </p:nvSpPr>
        <p:spPr>
          <a:xfrm>
            <a:off x="6780525" y="1926800"/>
            <a:ext cx="2051700" cy="6780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foaf:Person</a:t>
            </a:r>
            <a:endParaRPr sz="2000"/>
          </a:p>
        </p:txBody>
      </p:sp>
      <p:cxnSp>
        <p:nvCxnSpPr>
          <p:cNvPr id="314" name="Google Shape;314;p49"/>
          <p:cNvCxnSpPr>
            <a:stCxn id="312" idx="6"/>
            <a:endCxn id="313" idx="1"/>
          </p:cNvCxnSpPr>
          <p:nvPr/>
        </p:nvCxnSpPr>
        <p:spPr>
          <a:xfrm>
            <a:off x="6169500" y="1842125"/>
            <a:ext cx="911400" cy="18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5" name="Google Shape;315;p49"/>
          <p:cNvSpPr txBox="1"/>
          <p:nvPr/>
        </p:nvSpPr>
        <p:spPr>
          <a:xfrm>
            <a:off x="6265825" y="1535750"/>
            <a:ext cx="793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rdf:type</a:t>
            </a:r>
            <a:endParaRPr/>
          </a:p>
        </p:txBody>
      </p:sp>
      <p:sp>
        <p:nvSpPr>
          <p:cNvPr id="316" name="Google Shape;316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Dữ liệu có cấu trúc trong RDF</a:t>
            </a:r>
            <a:endParaRPr/>
          </a:p>
        </p:txBody>
      </p:sp>
      <p:sp>
        <p:nvSpPr>
          <p:cNvPr id="322" name="Google Shape;322;p5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</a:t>
            </a:r>
            <a:r>
              <a:rPr lang="en-GB"/>
              <a:t>í dụ </a:t>
            </a:r>
            <a:r>
              <a:rPr lang="en-GB"/>
              <a:t>bộ-3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ex:857 ex:address "123 TQB, BachKhoa, HaNoi".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Cách biểu diễn nào trong 2 cách sau tốt hơn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Thiết lập 4 thuộc tính (ex:address_number, ex:address_street, ex:address_district, ex:address_city) cho tài nguyên ex:857.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Tạo 1 tài nguyên biểu diễn địa chỉ và thiết lập giá trị của thuộc tính ex:address cho tài nguyên ex:857.</a:t>
            </a:r>
            <a:endParaRPr/>
          </a:p>
        </p:txBody>
      </p:sp>
      <p:sp>
        <p:nvSpPr>
          <p:cNvPr id="323" name="Google Shape;323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3.6. Dữ liệu có cấu trúc trong RDF</a:t>
            </a:r>
            <a:endParaRPr/>
          </a:p>
        </p:txBody>
      </p:sp>
      <p:sp>
        <p:nvSpPr>
          <p:cNvPr id="329" name="Google Shape;329;p51"/>
          <p:cNvSpPr/>
          <p:nvPr/>
        </p:nvSpPr>
        <p:spPr>
          <a:xfrm>
            <a:off x="1788764" y="955725"/>
            <a:ext cx="5413500" cy="7635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http://example.org/staffid/857</a:t>
            </a:r>
            <a:endParaRPr sz="2000"/>
          </a:p>
        </p:txBody>
      </p:sp>
      <p:sp>
        <p:nvSpPr>
          <p:cNvPr id="330" name="Google Shape;330;p51"/>
          <p:cNvSpPr/>
          <p:nvPr/>
        </p:nvSpPr>
        <p:spPr>
          <a:xfrm>
            <a:off x="6975525" y="4016600"/>
            <a:ext cx="12132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123</a:t>
            </a:r>
            <a:endParaRPr sz="2000"/>
          </a:p>
        </p:txBody>
      </p:sp>
      <p:sp>
        <p:nvSpPr>
          <p:cNvPr id="331" name="Google Shape;331;p51"/>
          <p:cNvSpPr/>
          <p:nvPr/>
        </p:nvSpPr>
        <p:spPr>
          <a:xfrm>
            <a:off x="5527725" y="5235800"/>
            <a:ext cx="12132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TQB</a:t>
            </a:r>
            <a:endParaRPr sz="2000"/>
          </a:p>
        </p:txBody>
      </p:sp>
      <p:sp>
        <p:nvSpPr>
          <p:cNvPr id="332" name="Google Shape;332;p51"/>
          <p:cNvSpPr/>
          <p:nvPr/>
        </p:nvSpPr>
        <p:spPr>
          <a:xfrm>
            <a:off x="2866025" y="5235800"/>
            <a:ext cx="18195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BachKhoa</a:t>
            </a:r>
            <a:endParaRPr sz="2000"/>
          </a:p>
        </p:txBody>
      </p:sp>
      <p:sp>
        <p:nvSpPr>
          <p:cNvPr id="333" name="Google Shape;333;p51"/>
          <p:cNvSpPr/>
          <p:nvPr/>
        </p:nvSpPr>
        <p:spPr>
          <a:xfrm>
            <a:off x="884825" y="3711800"/>
            <a:ext cx="18195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Hanoi</a:t>
            </a:r>
            <a:endParaRPr sz="2000"/>
          </a:p>
        </p:txBody>
      </p:sp>
      <p:cxnSp>
        <p:nvCxnSpPr>
          <p:cNvPr id="334" name="Google Shape;334;p51"/>
          <p:cNvCxnSpPr/>
          <p:nvPr/>
        </p:nvCxnSpPr>
        <p:spPr>
          <a:xfrm flipH="1">
            <a:off x="3870450" y="1703950"/>
            <a:ext cx="127200" cy="351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51"/>
          <p:cNvCxnSpPr/>
          <p:nvPr/>
        </p:nvCxnSpPr>
        <p:spPr>
          <a:xfrm>
            <a:off x="5005900" y="1713025"/>
            <a:ext cx="1075200" cy="348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51"/>
          <p:cNvCxnSpPr/>
          <p:nvPr/>
        </p:nvCxnSpPr>
        <p:spPr>
          <a:xfrm>
            <a:off x="6032325" y="1658525"/>
            <a:ext cx="1215900" cy="23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51"/>
          <p:cNvCxnSpPr/>
          <p:nvPr/>
        </p:nvCxnSpPr>
        <p:spPr>
          <a:xfrm flipH="1">
            <a:off x="2199075" y="1622200"/>
            <a:ext cx="681300" cy="208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51"/>
          <p:cNvSpPr txBox="1"/>
          <p:nvPr/>
        </p:nvSpPr>
        <p:spPr>
          <a:xfrm>
            <a:off x="7950" y="27803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http://www.example.org/terms/city</a:t>
            </a:r>
            <a:endParaRPr sz="1800"/>
          </a:p>
        </p:txBody>
      </p:sp>
      <p:sp>
        <p:nvSpPr>
          <p:cNvPr id="339" name="Google Shape;339;p51"/>
          <p:cNvSpPr txBox="1"/>
          <p:nvPr/>
        </p:nvSpPr>
        <p:spPr>
          <a:xfrm>
            <a:off x="160350" y="45329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http://www.example.org/terms/district</a:t>
            </a:r>
            <a:endParaRPr sz="1800"/>
          </a:p>
        </p:txBody>
      </p:sp>
      <p:sp>
        <p:nvSpPr>
          <p:cNvPr id="340" name="Google Shape;340;p51"/>
          <p:cNvSpPr txBox="1"/>
          <p:nvPr/>
        </p:nvSpPr>
        <p:spPr>
          <a:xfrm>
            <a:off x="4579950" y="48377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http://www.example.org/terms/street</a:t>
            </a:r>
            <a:endParaRPr sz="1800"/>
          </a:p>
        </p:txBody>
      </p:sp>
      <p:sp>
        <p:nvSpPr>
          <p:cNvPr id="341" name="Google Shape;341;p51"/>
          <p:cNvSpPr txBox="1"/>
          <p:nvPr/>
        </p:nvSpPr>
        <p:spPr>
          <a:xfrm>
            <a:off x="4185325" y="3389950"/>
            <a:ext cx="4869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http://www.example.org/terms/street_number</a:t>
            </a:r>
            <a:endParaRPr sz="1800"/>
          </a:p>
        </p:txBody>
      </p:sp>
      <p:sp>
        <p:nvSpPr>
          <p:cNvPr id="342" name="Google Shape;342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3.6. Dữ liệu có cấu trúc trong RDF</a:t>
            </a:r>
            <a:r>
              <a:rPr baseline="-25000" lang="en-GB"/>
              <a:t>(</a:t>
            </a:r>
            <a:r>
              <a:rPr baseline="-25000" lang="en-GB"/>
              <a:t>2)</a:t>
            </a:r>
            <a:endParaRPr baseline="-25000"/>
          </a:p>
        </p:txBody>
      </p:sp>
      <p:sp>
        <p:nvSpPr>
          <p:cNvPr id="348" name="Google Shape;348;p52"/>
          <p:cNvSpPr/>
          <p:nvPr/>
        </p:nvSpPr>
        <p:spPr>
          <a:xfrm>
            <a:off x="1788764" y="955725"/>
            <a:ext cx="5413500" cy="7635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http://example.org/staffid/857</a:t>
            </a:r>
            <a:endParaRPr sz="2000"/>
          </a:p>
        </p:txBody>
      </p:sp>
      <p:sp>
        <p:nvSpPr>
          <p:cNvPr id="349" name="Google Shape;349;p52"/>
          <p:cNvSpPr/>
          <p:nvPr/>
        </p:nvSpPr>
        <p:spPr>
          <a:xfrm>
            <a:off x="1789375" y="2327325"/>
            <a:ext cx="5413500" cy="7635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http://example.org/addressid/857</a:t>
            </a:r>
            <a:endParaRPr sz="2000"/>
          </a:p>
        </p:txBody>
      </p:sp>
      <p:sp>
        <p:nvSpPr>
          <p:cNvPr id="350" name="Google Shape;350;p52"/>
          <p:cNvSpPr/>
          <p:nvPr/>
        </p:nvSpPr>
        <p:spPr>
          <a:xfrm>
            <a:off x="6975525" y="4016600"/>
            <a:ext cx="12132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123</a:t>
            </a:r>
            <a:endParaRPr sz="2000"/>
          </a:p>
        </p:txBody>
      </p:sp>
      <p:sp>
        <p:nvSpPr>
          <p:cNvPr id="351" name="Google Shape;351;p52"/>
          <p:cNvSpPr/>
          <p:nvPr/>
        </p:nvSpPr>
        <p:spPr>
          <a:xfrm>
            <a:off x="5527725" y="5235800"/>
            <a:ext cx="12132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TQB</a:t>
            </a:r>
            <a:endParaRPr sz="2000"/>
          </a:p>
        </p:txBody>
      </p:sp>
      <p:sp>
        <p:nvSpPr>
          <p:cNvPr id="352" name="Google Shape;352;p52"/>
          <p:cNvSpPr/>
          <p:nvPr/>
        </p:nvSpPr>
        <p:spPr>
          <a:xfrm>
            <a:off x="2866025" y="5312000"/>
            <a:ext cx="18195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BachKhoa</a:t>
            </a:r>
            <a:endParaRPr sz="2000"/>
          </a:p>
        </p:txBody>
      </p:sp>
      <p:sp>
        <p:nvSpPr>
          <p:cNvPr id="353" name="Google Shape;353;p52"/>
          <p:cNvSpPr/>
          <p:nvPr/>
        </p:nvSpPr>
        <p:spPr>
          <a:xfrm>
            <a:off x="884825" y="4169000"/>
            <a:ext cx="18195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Hanoi</a:t>
            </a:r>
            <a:endParaRPr sz="2000"/>
          </a:p>
        </p:txBody>
      </p:sp>
      <p:cxnSp>
        <p:nvCxnSpPr>
          <p:cNvPr id="354" name="Google Shape;354;p52"/>
          <p:cNvCxnSpPr/>
          <p:nvPr/>
        </p:nvCxnSpPr>
        <p:spPr>
          <a:xfrm flipH="1">
            <a:off x="3669850" y="3093875"/>
            <a:ext cx="288000" cy="22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52"/>
          <p:cNvCxnSpPr/>
          <p:nvPr/>
        </p:nvCxnSpPr>
        <p:spPr>
          <a:xfrm>
            <a:off x="5565250" y="3109025"/>
            <a:ext cx="515700" cy="20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52"/>
          <p:cNvCxnSpPr/>
          <p:nvPr/>
        </p:nvCxnSpPr>
        <p:spPr>
          <a:xfrm>
            <a:off x="6626750" y="2957400"/>
            <a:ext cx="621600" cy="10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7" name="Google Shape;357;p52"/>
          <p:cNvCxnSpPr/>
          <p:nvPr/>
        </p:nvCxnSpPr>
        <p:spPr>
          <a:xfrm flipH="1">
            <a:off x="2032125" y="2957400"/>
            <a:ext cx="454800" cy="11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8" name="Google Shape;358;p52"/>
          <p:cNvCxnSpPr>
            <a:stCxn id="348" idx="4"/>
            <a:endCxn id="349" idx="0"/>
          </p:cNvCxnSpPr>
          <p:nvPr/>
        </p:nvCxnSpPr>
        <p:spPr>
          <a:xfrm>
            <a:off x="4495514" y="1719225"/>
            <a:ext cx="600" cy="60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9" name="Google Shape;359;p52"/>
          <p:cNvSpPr txBox="1"/>
          <p:nvPr/>
        </p:nvSpPr>
        <p:spPr>
          <a:xfrm>
            <a:off x="4503750" y="1789750"/>
            <a:ext cx="4245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http://www.example.org/terms/address</a:t>
            </a:r>
            <a:endParaRPr sz="1800"/>
          </a:p>
        </p:txBody>
      </p:sp>
      <p:sp>
        <p:nvSpPr>
          <p:cNvPr id="360" name="Google Shape;360;p52"/>
          <p:cNvSpPr txBox="1"/>
          <p:nvPr/>
        </p:nvSpPr>
        <p:spPr>
          <a:xfrm>
            <a:off x="7950" y="32375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http://www.example.org/terms/city</a:t>
            </a:r>
            <a:endParaRPr sz="1800"/>
          </a:p>
        </p:txBody>
      </p:sp>
      <p:sp>
        <p:nvSpPr>
          <p:cNvPr id="361" name="Google Shape;361;p52"/>
          <p:cNvSpPr txBox="1"/>
          <p:nvPr/>
        </p:nvSpPr>
        <p:spPr>
          <a:xfrm>
            <a:off x="160350" y="48377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http://www.example.org/terms/district</a:t>
            </a:r>
            <a:endParaRPr sz="1800"/>
          </a:p>
        </p:txBody>
      </p:sp>
      <p:sp>
        <p:nvSpPr>
          <p:cNvPr id="362" name="Google Shape;362;p52"/>
          <p:cNvSpPr txBox="1"/>
          <p:nvPr/>
        </p:nvSpPr>
        <p:spPr>
          <a:xfrm>
            <a:off x="4579950" y="48377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http://www.example.org/terms/street</a:t>
            </a:r>
            <a:endParaRPr sz="1800"/>
          </a:p>
        </p:txBody>
      </p:sp>
      <p:sp>
        <p:nvSpPr>
          <p:cNvPr id="363" name="Google Shape;363;p52"/>
          <p:cNvSpPr txBox="1"/>
          <p:nvPr/>
        </p:nvSpPr>
        <p:spPr>
          <a:xfrm>
            <a:off x="4185325" y="3389950"/>
            <a:ext cx="4869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http://www.example.org/terms/street_number</a:t>
            </a:r>
            <a:endParaRPr sz="1800"/>
          </a:p>
        </p:txBody>
      </p:sp>
      <p:sp>
        <p:nvSpPr>
          <p:cNvPr id="364" name="Google Shape;364;p52"/>
          <p:cNvSpPr txBox="1"/>
          <p:nvPr/>
        </p:nvSpPr>
        <p:spPr>
          <a:xfrm>
            <a:off x="311700" y="5929200"/>
            <a:ext cx="86046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B45F06"/>
                </a:solidFill>
              </a:rPr>
              <a:t>Cách triển khai này có thể dẫn đến nhiều URIrefs trung gian</a:t>
            </a:r>
            <a:endParaRPr i="1" sz="2000">
              <a:solidFill>
                <a:srgbClr val="B45F06"/>
              </a:solidFill>
            </a:endParaRPr>
          </a:p>
        </p:txBody>
      </p:sp>
      <p:sp>
        <p:nvSpPr>
          <p:cNvPr id="365" name="Google Shape;365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Dữ liệu có cấu trúc trong RDF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371" name="Google Shape;371;p53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S</a:t>
            </a:r>
            <a:r>
              <a:rPr lang="en-GB"/>
              <a:t>ử dụng các tài nguyên bổ trợ để biểu diễn các cấu trúc có thể dẫn đến 1 lượng lớn các URI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những cấu trúc không được tham chiếu từ bên ngoài, vì vậy sử dụng các định danh toàn cục sẽ gây lãng phí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 cho phép sử dụng nút rỗng để giải quyết vấn đề này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nút có id trong không gian tên _ là các nút rỗng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_:</a:t>
            </a:r>
            <a:endParaRPr/>
          </a:p>
        </p:txBody>
      </p:sp>
      <p:sp>
        <p:nvSpPr>
          <p:cNvPr id="372" name="Google Shape;372;p5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3.7. Dữ liệu có cấu trúc, bnode</a:t>
            </a:r>
            <a:endParaRPr/>
          </a:p>
        </p:txBody>
      </p:sp>
      <p:sp>
        <p:nvSpPr>
          <p:cNvPr id="378" name="Google Shape;378;p54"/>
          <p:cNvSpPr/>
          <p:nvPr/>
        </p:nvSpPr>
        <p:spPr>
          <a:xfrm>
            <a:off x="1788764" y="1031925"/>
            <a:ext cx="5413500" cy="7635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http://example.org/staffid/857</a:t>
            </a:r>
            <a:endParaRPr sz="2000"/>
          </a:p>
        </p:txBody>
      </p:sp>
      <p:sp>
        <p:nvSpPr>
          <p:cNvPr id="379" name="Google Shape;379;p54"/>
          <p:cNvSpPr/>
          <p:nvPr/>
        </p:nvSpPr>
        <p:spPr>
          <a:xfrm>
            <a:off x="1789375" y="2403525"/>
            <a:ext cx="5413500" cy="763500"/>
          </a:xfrm>
          <a:prstGeom prst="flowChartConnector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80" name="Google Shape;380;p54"/>
          <p:cNvSpPr/>
          <p:nvPr/>
        </p:nvSpPr>
        <p:spPr>
          <a:xfrm>
            <a:off x="6975525" y="4092800"/>
            <a:ext cx="12132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123</a:t>
            </a:r>
            <a:endParaRPr sz="2000"/>
          </a:p>
        </p:txBody>
      </p:sp>
      <p:sp>
        <p:nvSpPr>
          <p:cNvPr id="381" name="Google Shape;381;p54"/>
          <p:cNvSpPr/>
          <p:nvPr/>
        </p:nvSpPr>
        <p:spPr>
          <a:xfrm>
            <a:off x="5527725" y="5312000"/>
            <a:ext cx="12132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TQB</a:t>
            </a:r>
            <a:endParaRPr sz="2000"/>
          </a:p>
        </p:txBody>
      </p:sp>
      <p:sp>
        <p:nvSpPr>
          <p:cNvPr id="382" name="Google Shape;382;p54"/>
          <p:cNvSpPr/>
          <p:nvPr/>
        </p:nvSpPr>
        <p:spPr>
          <a:xfrm>
            <a:off x="2866025" y="5388200"/>
            <a:ext cx="18195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BachKhoa</a:t>
            </a:r>
            <a:endParaRPr sz="2000"/>
          </a:p>
        </p:txBody>
      </p:sp>
      <p:sp>
        <p:nvSpPr>
          <p:cNvPr id="383" name="Google Shape;383;p54"/>
          <p:cNvSpPr/>
          <p:nvPr/>
        </p:nvSpPr>
        <p:spPr>
          <a:xfrm>
            <a:off x="884825" y="4245200"/>
            <a:ext cx="1819500" cy="6369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Hanoi</a:t>
            </a:r>
            <a:endParaRPr sz="2000"/>
          </a:p>
        </p:txBody>
      </p:sp>
      <p:cxnSp>
        <p:nvCxnSpPr>
          <p:cNvPr id="384" name="Google Shape;384;p54"/>
          <p:cNvCxnSpPr/>
          <p:nvPr/>
        </p:nvCxnSpPr>
        <p:spPr>
          <a:xfrm flipH="1">
            <a:off x="3669850" y="3170075"/>
            <a:ext cx="288000" cy="22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54"/>
          <p:cNvCxnSpPr/>
          <p:nvPr/>
        </p:nvCxnSpPr>
        <p:spPr>
          <a:xfrm>
            <a:off x="5565250" y="3185225"/>
            <a:ext cx="515700" cy="209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54"/>
          <p:cNvCxnSpPr/>
          <p:nvPr/>
        </p:nvCxnSpPr>
        <p:spPr>
          <a:xfrm>
            <a:off x="6626750" y="3033600"/>
            <a:ext cx="621600" cy="10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54"/>
          <p:cNvCxnSpPr/>
          <p:nvPr/>
        </p:nvCxnSpPr>
        <p:spPr>
          <a:xfrm flipH="1">
            <a:off x="2032125" y="3033600"/>
            <a:ext cx="454800" cy="118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54"/>
          <p:cNvCxnSpPr>
            <a:stCxn id="378" idx="4"/>
            <a:endCxn id="379" idx="0"/>
          </p:cNvCxnSpPr>
          <p:nvPr/>
        </p:nvCxnSpPr>
        <p:spPr>
          <a:xfrm>
            <a:off x="4495514" y="1795425"/>
            <a:ext cx="600" cy="60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54"/>
          <p:cNvSpPr txBox="1"/>
          <p:nvPr/>
        </p:nvSpPr>
        <p:spPr>
          <a:xfrm>
            <a:off x="4503750" y="1865950"/>
            <a:ext cx="42459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http://www.example.org/terms/address</a:t>
            </a:r>
            <a:endParaRPr sz="1800"/>
          </a:p>
        </p:txBody>
      </p:sp>
      <p:sp>
        <p:nvSpPr>
          <p:cNvPr id="390" name="Google Shape;390;p54"/>
          <p:cNvSpPr txBox="1"/>
          <p:nvPr/>
        </p:nvSpPr>
        <p:spPr>
          <a:xfrm>
            <a:off x="7950" y="33137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http://www.example.org/terms/city</a:t>
            </a:r>
            <a:endParaRPr sz="1800"/>
          </a:p>
        </p:txBody>
      </p:sp>
      <p:sp>
        <p:nvSpPr>
          <p:cNvPr id="391" name="Google Shape;391;p54"/>
          <p:cNvSpPr txBox="1"/>
          <p:nvPr/>
        </p:nvSpPr>
        <p:spPr>
          <a:xfrm>
            <a:off x="160350" y="49139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http://www.example.org/terms/district</a:t>
            </a:r>
            <a:endParaRPr sz="1800"/>
          </a:p>
        </p:txBody>
      </p:sp>
      <p:sp>
        <p:nvSpPr>
          <p:cNvPr id="392" name="Google Shape;392;p54"/>
          <p:cNvSpPr txBox="1"/>
          <p:nvPr/>
        </p:nvSpPr>
        <p:spPr>
          <a:xfrm>
            <a:off x="4579950" y="4913950"/>
            <a:ext cx="42459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http://www.example.org/terms/street</a:t>
            </a:r>
            <a:endParaRPr sz="1800"/>
          </a:p>
        </p:txBody>
      </p:sp>
      <p:sp>
        <p:nvSpPr>
          <p:cNvPr id="393" name="Google Shape;393;p54"/>
          <p:cNvSpPr txBox="1"/>
          <p:nvPr/>
        </p:nvSpPr>
        <p:spPr>
          <a:xfrm>
            <a:off x="4185325" y="3466150"/>
            <a:ext cx="48690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http://www.example.org/terms/street_number</a:t>
            </a:r>
            <a:endParaRPr sz="1800"/>
          </a:p>
        </p:txBody>
      </p:sp>
      <p:sp>
        <p:nvSpPr>
          <p:cNvPr id="394" name="Google Shape;394;p5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 của nút rỗng</a:t>
            </a:r>
            <a:endParaRPr/>
          </a:p>
        </p:txBody>
      </p:sp>
      <p:sp>
        <p:nvSpPr>
          <p:cNvPr id="400" name="Google Shape;400;p5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ex:857 ex:address [ex:street "TQB", ex:city "Hanoi"] 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bnode khác nhau phải có id khác nhau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Id của bnode chỉ có phạm vi trong 1 đồ thị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bnode có cùng id nhưng thuộc các đồ thị khác nhau là các bnode khác nhau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Hợp nhất các đồ thị có thể kéo theo yêu cầu đổi tên các bnode để tránh xung đột.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bnode chỉ có thể xuất hiện ở vị trí chủ thể hoặc giá trị, không được sử dụng như thuộc tính trong </a:t>
            </a:r>
            <a:r>
              <a:rPr lang="en-GB"/>
              <a:t>bộ-3</a:t>
            </a:r>
            <a:r>
              <a:rPr lang="en-GB"/>
              <a:t>.</a:t>
            </a:r>
            <a:endParaRPr/>
          </a:p>
        </p:txBody>
      </p:sp>
      <p:sp>
        <p:nvSpPr>
          <p:cNvPr id="401" name="Google Shape;401;p5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trường hợp sử dụng bnode</a:t>
            </a:r>
            <a:endParaRPr/>
          </a:p>
        </p:txBody>
      </p:sp>
      <p:sp>
        <p:nvSpPr>
          <p:cNvPr id="407" name="Google Shape;407;p5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</a:t>
            </a:r>
            <a:r>
              <a:rPr lang="en-GB"/>
              <a:t>iểu diễn mối quan hệ nhiều ngôi trong RDF. Ví dụ, quan hệ giữa NVA với đường phố, thành phố, quận, số nhà.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Viết các câu mô tả những tài nguyên chưa có URI nhưng có liên hệ với các tài nguyên khác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nhà xuất bản của một cuốn sách</a:t>
            </a:r>
            <a:endParaRPr/>
          </a:p>
        </p:txBody>
      </p:sp>
      <p:sp>
        <p:nvSpPr>
          <p:cNvPr id="408" name="Google Shape;408;p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ô tả đối tượng khuyết định danh</a:t>
            </a:r>
            <a:endParaRPr/>
          </a:p>
        </p:txBody>
      </p:sp>
      <p:sp>
        <p:nvSpPr>
          <p:cNvPr id="414" name="Google Shape;414;p5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</a:t>
            </a:r>
            <a:r>
              <a:rPr lang="en-GB"/>
              <a:t>iả sử chúng ta muốn tạo các mô tả về Jane nhưng không có URI của Jane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Tạo 1 nút rỗng để kết nối các thông tin về Jane</a:t>
            </a:r>
            <a:endParaRPr/>
          </a:p>
        </p:txBody>
      </p:sp>
      <p:sp>
        <p:nvSpPr>
          <p:cNvPr id="415" name="Google Shape;415;p57"/>
          <p:cNvSpPr txBox="1"/>
          <p:nvPr/>
        </p:nvSpPr>
        <p:spPr>
          <a:xfrm>
            <a:off x="410250" y="2696975"/>
            <a:ext cx="7582800" cy="22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_:jane exterms:mailbox &lt;mailto:jane@example.org&gt; 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_:jane rdf:type exterms:Person .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_:jane exterms:name "Jane Smith" .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_:jane exterms:empID "23748" . 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434343"/>
                </a:solidFill>
              </a:rPr>
              <a:t>_:jane exterms:age "26" . 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416" name="Google Shape;416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iểu diễn phép đo</a:t>
            </a:r>
            <a:endParaRPr/>
          </a:p>
        </p:txBody>
      </p:sp>
      <p:sp>
        <p:nvSpPr>
          <p:cNvPr id="422" name="Google Shape;422;p58"/>
          <p:cNvSpPr txBox="1"/>
          <p:nvPr>
            <p:ph idx="4294967295" type="body"/>
          </p:nvPr>
        </p:nvSpPr>
        <p:spPr>
          <a:xfrm>
            <a:off x="224000" y="1904125"/>
            <a:ext cx="5026200" cy="14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</a:t>
            </a:r>
            <a:r>
              <a:rPr lang="en-GB"/>
              <a:t>ết quả của các phép đo thường bao gồm giá trị số cùng với đơn vị đo</a:t>
            </a:r>
            <a:endParaRPr/>
          </a:p>
        </p:txBody>
      </p:sp>
      <p:sp>
        <p:nvSpPr>
          <p:cNvPr id="423" name="Google Shape;423;p58"/>
          <p:cNvSpPr/>
          <p:nvPr/>
        </p:nvSpPr>
        <p:spPr>
          <a:xfrm>
            <a:off x="7342125" y="1003225"/>
            <a:ext cx="819000" cy="682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</a:t>
            </a:r>
            <a:r>
              <a:rPr lang="en-GB" sz="2000"/>
              <a:t>ile</a:t>
            </a:r>
            <a:endParaRPr sz="2000"/>
          </a:p>
        </p:txBody>
      </p:sp>
      <p:sp>
        <p:nvSpPr>
          <p:cNvPr id="424" name="Google Shape;424;p58"/>
          <p:cNvSpPr/>
          <p:nvPr/>
        </p:nvSpPr>
        <p:spPr>
          <a:xfrm>
            <a:off x="6808725" y="2679625"/>
            <a:ext cx="819000" cy="682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_:1</a:t>
            </a:r>
            <a:endParaRPr sz="2000"/>
          </a:p>
        </p:txBody>
      </p:sp>
      <p:sp>
        <p:nvSpPr>
          <p:cNvPr id="425" name="Google Shape;425;p58"/>
          <p:cNvSpPr/>
          <p:nvPr/>
        </p:nvSpPr>
        <p:spPr>
          <a:xfrm>
            <a:off x="5818125" y="4279825"/>
            <a:ext cx="1566900" cy="682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dbr:Km</a:t>
            </a:r>
            <a:endParaRPr sz="2000"/>
          </a:p>
        </p:txBody>
      </p:sp>
      <p:sp>
        <p:nvSpPr>
          <p:cNvPr id="426" name="Google Shape;426;p58"/>
          <p:cNvSpPr/>
          <p:nvPr/>
        </p:nvSpPr>
        <p:spPr>
          <a:xfrm>
            <a:off x="4943100" y="1536625"/>
            <a:ext cx="2052900" cy="682500"/>
          </a:xfrm>
          <a:prstGeom prst="ellipse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ex:Measure</a:t>
            </a:r>
            <a:endParaRPr sz="2000"/>
          </a:p>
        </p:txBody>
      </p:sp>
      <p:sp>
        <p:nvSpPr>
          <p:cNvPr id="427" name="Google Shape;427;p58"/>
          <p:cNvSpPr/>
          <p:nvPr/>
        </p:nvSpPr>
        <p:spPr>
          <a:xfrm>
            <a:off x="7794400" y="4369550"/>
            <a:ext cx="1167600" cy="5166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6853</a:t>
            </a:r>
            <a:endParaRPr sz="2000"/>
          </a:p>
        </p:txBody>
      </p:sp>
      <p:cxnSp>
        <p:nvCxnSpPr>
          <p:cNvPr id="428" name="Google Shape;428;p58"/>
          <p:cNvCxnSpPr>
            <a:stCxn id="424" idx="3"/>
            <a:endCxn id="425" idx="0"/>
          </p:cNvCxnSpPr>
          <p:nvPr/>
        </p:nvCxnSpPr>
        <p:spPr>
          <a:xfrm flipH="1">
            <a:off x="6601665" y="3262175"/>
            <a:ext cx="327000" cy="10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" name="Google Shape;429;p58"/>
          <p:cNvCxnSpPr>
            <a:stCxn id="424" idx="5"/>
            <a:endCxn id="427" idx="0"/>
          </p:cNvCxnSpPr>
          <p:nvPr/>
        </p:nvCxnSpPr>
        <p:spPr>
          <a:xfrm>
            <a:off x="7507785" y="3262175"/>
            <a:ext cx="870300" cy="11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58"/>
          <p:cNvCxnSpPr>
            <a:stCxn id="424" idx="1"/>
            <a:endCxn id="426" idx="5"/>
          </p:cNvCxnSpPr>
          <p:nvPr/>
        </p:nvCxnSpPr>
        <p:spPr>
          <a:xfrm rot="10800000">
            <a:off x="6695265" y="2119275"/>
            <a:ext cx="233400" cy="6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58"/>
          <p:cNvCxnSpPr>
            <a:stCxn id="423" idx="4"/>
            <a:endCxn id="424" idx="0"/>
          </p:cNvCxnSpPr>
          <p:nvPr/>
        </p:nvCxnSpPr>
        <p:spPr>
          <a:xfrm flipH="1">
            <a:off x="7218225" y="1685725"/>
            <a:ext cx="533400" cy="9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" name="Google Shape;432;p58"/>
          <p:cNvSpPr txBox="1"/>
          <p:nvPr/>
        </p:nvSpPr>
        <p:spPr>
          <a:xfrm>
            <a:off x="7142325" y="1802650"/>
            <a:ext cx="18198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dbp:length</a:t>
            </a:r>
            <a:endParaRPr sz="2000"/>
          </a:p>
        </p:txBody>
      </p:sp>
      <p:sp>
        <p:nvSpPr>
          <p:cNvPr id="433" name="Google Shape;433;p58"/>
          <p:cNvSpPr txBox="1"/>
          <p:nvPr/>
        </p:nvSpPr>
        <p:spPr>
          <a:xfrm>
            <a:off x="7370925" y="3250450"/>
            <a:ext cx="18198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rdf:value</a:t>
            </a:r>
            <a:endParaRPr sz="2000"/>
          </a:p>
        </p:txBody>
      </p:sp>
      <p:sp>
        <p:nvSpPr>
          <p:cNvPr id="434" name="Google Shape;434;p58"/>
          <p:cNvSpPr txBox="1"/>
          <p:nvPr/>
        </p:nvSpPr>
        <p:spPr>
          <a:xfrm>
            <a:off x="5923125" y="3479050"/>
            <a:ext cx="18198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un:unit</a:t>
            </a:r>
            <a:endParaRPr sz="2000"/>
          </a:p>
        </p:txBody>
      </p:sp>
      <p:sp>
        <p:nvSpPr>
          <p:cNvPr id="435" name="Google Shape;435;p58"/>
          <p:cNvSpPr txBox="1"/>
          <p:nvPr/>
        </p:nvSpPr>
        <p:spPr>
          <a:xfrm>
            <a:off x="5770725" y="2183650"/>
            <a:ext cx="18198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rdf:type</a:t>
            </a:r>
            <a:endParaRPr sz="2000"/>
          </a:p>
        </p:txBody>
      </p:sp>
      <p:sp>
        <p:nvSpPr>
          <p:cNvPr id="436" name="Google Shape;436;p58"/>
          <p:cNvSpPr txBox="1"/>
          <p:nvPr/>
        </p:nvSpPr>
        <p:spPr>
          <a:xfrm>
            <a:off x="235500" y="5048150"/>
            <a:ext cx="86727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-GB" sz="2400">
                <a:solidFill>
                  <a:schemeClr val="dk2"/>
                </a:solidFill>
              </a:rPr>
              <a:t>Thuộc tính value trong không gian tên rdf không được thiết lập ngữ nghĩa cụ thể.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437" name="Google Shape;437;p58"/>
          <p:cNvSpPr txBox="1"/>
          <p:nvPr/>
        </p:nvSpPr>
        <p:spPr>
          <a:xfrm>
            <a:off x="730400" y="3298900"/>
            <a:ext cx="48600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_:1 rdf:type ex:Measure.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_:1 rdf:value "6853"^^xsd:integer.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_:1 un:units dbr:Kilometre.</a:t>
            </a:r>
            <a:endParaRPr sz="2400"/>
          </a:p>
        </p:txBody>
      </p:sp>
      <p:sp>
        <p:nvSpPr>
          <p:cNvPr id="438" name="Google Shape;438;p58"/>
          <p:cNvSpPr txBox="1"/>
          <p:nvPr/>
        </p:nvSpPr>
        <p:spPr>
          <a:xfrm>
            <a:off x="311700" y="1009550"/>
            <a:ext cx="55836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2"/>
                </a:solidFill>
              </a:rPr>
              <a:t>Theo kết quả của 1 phép đo sông Nile có độ dài là 6853 Km</a:t>
            </a:r>
            <a:endParaRPr i="1" sz="2400">
              <a:solidFill>
                <a:schemeClr val="dk2"/>
              </a:solidFill>
            </a:endParaRPr>
          </a:p>
        </p:txBody>
      </p:sp>
      <p:sp>
        <p:nvSpPr>
          <p:cNvPr id="439" name="Google Shape;439;p5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9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dạng lưu trữ</a:t>
            </a:r>
            <a:endParaRPr/>
          </a:p>
        </p:txBody>
      </p:sp>
      <p:sp>
        <p:nvSpPr>
          <p:cNvPr id="445" name="Google Shape;445;p5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dạng lưu trữ RDF</a:t>
            </a:r>
            <a:endParaRPr/>
          </a:p>
        </p:txBody>
      </p:sp>
      <p:sp>
        <p:nvSpPr>
          <p:cNvPr id="451" name="Google Shape;451;p6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Đồ thị là một mô hình trực quan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i="1" lang="en-GB"/>
              <a:t>Không phải 1 định dạng lưu trữ (</a:t>
            </a:r>
            <a:r>
              <a:rPr i="1" lang="en-GB"/>
              <a:t>định dạng văn bản để trao đổi, lưu trữ, và xử lý bằng máy tính).</a:t>
            </a:r>
            <a:endParaRPr i="1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định dạng phổ biến: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Turtle</a:t>
            </a:r>
            <a:r>
              <a:rPr lang="en-GB"/>
              <a:t> - gọn nhẹ, dễ đọc và dễ viết hơn với con người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XML/RDF</a:t>
            </a:r>
            <a:r>
              <a:rPr lang="en-GB"/>
              <a:t> - Thiết kế ban đầu, có nhiều nền tảng phần mềm hỗ trợ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JSON-LD</a:t>
            </a:r>
            <a:r>
              <a:rPr lang="en-GB"/>
              <a:t> - Các câu RDF như những đối tượng JSON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Ntriples</a:t>
            </a:r>
            <a:r>
              <a:rPr lang="en-GB"/>
              <a:t> - đơn giản, dễ xử lý nhưng có phần cồng kềnh.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Một số định dạng đặc biệt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TriG</a:t>
            </a:r>
            <a:r>
              <a:rPr lang="en-GB"/>
              <a:t> - Định dạng cho đồ thị có tên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RDFa</a:t>
            </a:r>
            <a:r>
              <a:rPr lang="en-GB"/>
              <a:t> - RDF nhúng trong các thuộc tính HTML</a:t>
            </a:r>
            <a:endParaRPr/>
          </a:p>
        </p:txBody>
      </p:sp>
      <p:sp>
        <p:nvSpPr>
          <p:cNvPr id="452" name="Google Shape;452;p6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dạng XML cho RDF</a:t>
            </a:r>
            <a:endParaRPr/>
          </a:p>
        </p:txBody>
      </p:sp>
      <p:sp>
        <p:nvSpPr>
          <p:cNvPr id="458" name="Google Shape;458;p61"/>
          <p:cNvSpPr txBox="1"/>
          <p:nvPr/>
        </p:nvSpPr>
        <p:spPr>
          <a:xfrm>
            <a:off x="377825" y="1006475"/>
            <a:ext cx="7562100" cy="52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&lt;rdf:RDF xmlns:rdf="http://www.w3.org/1999/02/22-rdf-syntax-ns#"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xmlns:dc="http://purl.org/dc/elements/1.1/"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xmlns:bib="http://daml.umbc.edu/ontologies/bib/"&gt;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&lt;rdf:Description rdf:about="http://umbc.edu/~finin/talks/idm02/"&gt;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&lt;dc:title&gt;Intelligent Information Systems on the Web &lt;/dc:title&gt;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&lt;dc:creator&gt;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&lt;rdf:Description 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&lt;bib:name&gt;Tim Finin&lt;/bib:name&gt;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&lt;bib:email&gt;finin@umbc.edu&lt;/bib:email&gt;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&lt;bib:aff rdf:resource="http://umbc.edu/" /&gt;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&lt;/rdf:Description&gt;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&lt;/dc:creator&gt;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&lt;/rdf:Description&gt;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000"/>
              <a:t>&lt;/rdf:RDF&gt;</a:t>
            </a:r>
            <a:endParaRPr sz="2000"/>
          </a:p>
        </p:txBody>
      </p:sp>
      <p:sp>
        <p:nvSpPr>
          <p:cNvPr id="459" name="Google Shape;459;p61"/>
          <p:cNvSpPr txBox="1"/>
          <p:nvPr/>
        </p:nvSpPr>
        <p:spPr>
          <a:xfrm>
            <a:off x="5323000" y="3176200"/>
            <a:ext cx="3760800" cy="25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155CC"/>
                </a:solidFill>
              </a:rPr>
              <a:t>R</a:t>
            </a:r>
            <a:r>
              <a:rPr lang="en-GB" sz="2000">
                <a:solidFill>
                  <a:srgbClr val="1155CC"/>
                </a:solidFill>
              </a:rPr>
              <a:t>DF/XML là quy chuẩn W3C được sử dụng rộng rãi cho lưu trữ và trao đổi dữ liệu RDF.</a:t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1155CC"/>
                </a:solidFill>
              </a:rPr>
              <a:t>Tuy nhiên đọc/viết XML tương đối khó cho người</a:t>
            </a:r>
            <a:endParaRPr i="1" sz="2200">
              <a:solidFill>
                <a:srgbClr val="1155CC"/>
              </a:solidFill>
            </a:endParaRPr>
          </a:p>
        </p:txBody>
      </p:sp>
      <p:sp>
        <p:nvSpPr>
          <p:cNvPr id="460" name="Google Shape;460;p6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dạng XML cho RDF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466" name="Google Shape;466;p62"/>
          <p:cNvSpPr txBox="1"/>
          <p:nvPr/>
        </p:nvSpPr>
        <p:spPr>
          <a:xfrm>
            <a:off x="377825" y="1006475"/>
            <a:ext cx="4782300" cy="43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&lt;rdf:RDF xmlns:rdf="http://www.w3.org/1999/02/22-rdf-syntax-ns#"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xmlns:dc="http://purl.org/dc/elements/1.1/"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xmlns:bib="http://daml.umbc.edu/ontologies/bib/"&gt;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&lt;rdf:Description rdf:about="http://umbc.edu/~finin/talks/idm02/"&gt;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&lt;dc:title&gt;Intelligent Information Systems on the Web &lt;/dc:title&gt;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&lt;dc:creator&gt;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&lt;rdf:Description 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&lt;bib:name&gt;Tim Finin&lt;/bib:name&gt;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&lt;bib:email&gt;finin@umbc.edu&lt;/bib:email&gt;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&lt;bib:aff rdf:resource="http://umbc.edu/" /&gt;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&lt;/rdf:Description&gt;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&lt;/dc:creator&gt;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&lt;/rdf:Description&gt;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&lt;/rdf:RDF&gt;</a:t>
            </a:r>
            <a:endParaRPr/>
          </a:p>
        </p:txBody>
      </p:sp>
      <p:sp>
        <p:nvSpPr>
          <p:cNvPr id="467" name="Google Shape;467;p62"/>
          <p:cNvSpPr/>
          <p:nvPr/>
        </p:nvSpPr>
        <p:spPr>
          <a:xfrm>
            <a:off x="4952183" y="1902425"/>
            <a:ext cx="3606000" cy="68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http://umbc.edu/~finin/talks/idm02/</a:t>
            </a:r>
            <a:endParaRPr/>
          </a:p>
        </p:txBody>
      </p:sp>
      <p:sp>
        <p:nvSpPr>
          <p:cNvPr id="468" name="Google Shape;468;p62"/>
          <p:cNvSpPr/>
          <p:nvPr/>
        </p:nvSpPr>
        <p:spPr>
          <a:xfrm>
            <a:off x="5797583" y="3843350"/>
            <a:ext cx="3157200" cy="42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Intelligent Information Systems on the Web</a:t>
            </a:r>
            <a:endParaRPr/>
          </a:p>
        </p:txBody>
      </p:sp>
      <p:cxnSp>
        <p:nvCxnSpPr>
          <p:cNvPr id="469" name="Google Shape;469;p62"/>
          <p:cNvCxnSpPr>
            <a:stCxn id="467" idx="4"/>
            <a:endCxn id="468" idx="0"/>
          </p:cNvCxnSpPr>
          <p:nvPr/>
        </p:nvCxnSpPr>
        <p:spPr>
          <a:xfrm>
            <a:off x="6755183" y="2584025"/>
            <a:ext cx="621000" cy="125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62"/>
          <p:cNvSpPr txBox="1"/>
          <p:nvPr/>
        </p:nvSpPr>
        <p:spPr>
          <a:xfrm>
            <a:off x="7074283" y="2765050"/>
            <a:ext cx="134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dc:title</a:t>
            </a:r>
            <a:endParaRPr/>
          </a:p>
        </p:txBody>
      </p:sp>
      <p:sp>
        <p:nvSpPr>
          <p:cNvPr id="471" name="Google Shape;471;p62"/>
          <p:cNvSpPr/>
          <p:nvPr/>
        </p:nvSpPr>
        <p:spPr>
          <a:xfrm>
            <a:off x="4227583" y="3075600"/>
            <a:ext cx="1475100" cy="68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2" name="Google Shape;472;p62"/>
          <p:cNvCxnSpPr>
            <a:stCxn id="467" idx="3"/>
            <a:endCxn id="471" idx="0"/>
          </p:cNvCxnSpPr>
          <p:nvPr/>
        </p:nvCxnSpPr>
        <p:spPr>
          <a:xfrm flipH="1">
            <a:off x="4965170" y="2484207"/>
            <a:ext cx="515100" cy="59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" name="Google Shape;473;p62"/>
          <p:cNvSpPr txBox="1"/>
          <p:nvPr/>
        </p:nvSpPr>
        <p:spPr>
          <a:xfrm>
            <a:off x="5169283" y="2612650"/>
            <a:ext cx="134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dc:</a:t>
            </a:r>
            <a:r>
              <a:rPr lang="en-GB" sz="1200">
                <a:solidFill>
                  <a:schemeClr val="dk1"/>
                </a:solidFill>
              </a:rPr>
              <a:t>creator</a:t>
            </a:r>
            <a:endParaRPr/>
          </a:p>
        </p:txBody>
      </p:sp>
      <p:sp>
        <p:nvSpPr>
          <p:cNvPr id="474" name="Google Shape;474;p62"/>
          <p:cNvSpPr/>
          <p:nvPr/>
        </p:nvSpPr>
        <p:spPr>
          <a:xfrm>
            <a:off x="2901983" y="4529150"/>
            <a:ext cx="1170300" cy="34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Tim Finin</a:t>
            </a:r>
            <a:endParaRPr/>
          </a:p>
        </p:txBody>
      </p:sp>
      <p:sp>
        <p:nvSpPr>
          <p:cNvPr id="475" name="Google Shape;475;p62"/>
          <p:cNvSpPr/>
          <p:nvPr/>
        </p:nvSpPr>
        <p:spPr>
          <a:xfrm>
            <a:off x="4806983" y="4529150"/>
            <a:ext cx="1393200" cy="34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finin@umbc.edu</a:t>
            </a:r>
            <a:endParaRPr/>
          </a:p>
        </p:txBody>
      </p:sp>
      <p:sp>
        <p:nvSpPr>
          <p:cNvPr id="476" name="Google Shape;476;p62"/>
          <p:cNvSpPr/>
          <p:nvPr/>
        </p:nvSpPr>
        <p:spPr>
          <a:xfrm>
            <a:off x="3560458" y="5134450"/>
            <a:ext cx="1840200" cy="68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http://umbc.edu/</a:t>
            </a:r>
            <a:endParaRPr/>
          </a:p>
        </p:txBody>
      </p:sp>
      <p:cxnSp>
        <p:nvCxnSpPr>
          <p:cNvPr id="477" name="Google Shape;477;p62"/>
          <p:cNvCxnSpPr>
            <a:stCxn id="471" idx="3"/>
            <a:endCxn id="474" idx="0"/>
          </p:cNvCxnSpPr>
          <p:nvPr/>
        </p:nvCxnSpPr>
        <p:spPr>
          <a:xfrm flipH="1">
            <a:off x="3487207" y="3657382"/>
            <a:ext cx="956400" cy="8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62"/>
          <p:cNvCxnSpPr>
            <a:stCxn id="471" idx="4"/>
            <a:endCxn id="476" idx="0"/>
          </p:cNvCxnSpPr>
          <p:nvPr/>
        </p:nvCxnSpPr>
        <p:spPr>
          <a:xfrm flipH="1">
            <a:off x="4480633" y="3757200"/>
            <a:ext cx="484500" cy="137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9" name="Google Shape;479;p62"/>
          <p:cNvCxnSpPr>
            <a:stCxn id="471" idx="5"/>
            <a:endCxn id="475" idx="0"/>
          </p:cNvCxnSpPr>
          <p:nvPr/>
        </p:nvCxnSpPr>
        <p:spPr>
          <a:xfrm>
            <a:off x="5486660" y="3657382"/>
            <a:ext cx="16800" cy="87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62"/>
          <p:cNvSpPr txBox="1"/>
          <p:nvPr/>
        </p:nvSpPr>
        <p:spPr>
          <a:xfrm>
            <a:off x="4026283" y="3831850"/>
            <a:ext cx="134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bib:name</a:t>
            </a:r>
            <a:endParaRPr/>
          </a:p>
        </p:txBody>
      </p:sp>
      <p:sp>
        <p:nvSpPr>
          <p:cNvPr id="481" name="Google Shape;481;p62"/>
          <p:cNvSpPr txBox="1"/>
          <p:nvPr/>
        </p:nvSpPr>
        <p:spPr>
          <a:xfrm>
            <a:off x="4712083" y="4136650"/>
            <a:ext cx="134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bib:</a:t>
            </a:r>
            <a:r>
              <a:rPr lang="en-GB" sz="1200">
                <a:solidFill>
                  <a:schemeClr val="dk1"/>
                </a:solidFill>
              </a:rPr>
              <a:t>email</a:t>
            </a:r>
            <a:endParaRPr/>
          </a:p>
        </p:txBody>
      </p:sp>
      <p:sp>
        <p:nvSpPr>
          <p:cNvPr id="482" name="Google Shape;482;p62"/>
          <p:cNvSpPr txBox="1"/>
          <p:nvPr/>
        </p:nvSpPr>
        <p:spPr>
          <a:xfrm>
            <a:off x="4148483" y="4212850"/>
            <a:ext cx="11475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bib:</a:t>
            </a:r>
            <a:r>
              <a:rPr lang="en-GB" sz="1200">
                <a:solidFill>
                  <a:schemeClr val="dk1"/>
                </a:solidFill>
              </a:rPr>
              <a:t>aff</a:t>
            </a:r>
            <a:endParaRPr/>
          </a:p>
        </p:txBody>
      </p:sp>
      <p:sp>
        <p:nvSpPr>
          <p:cNvPr id="483" name="Google Shape;483;p6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Định dạng Turtle cho RDF</a:t>
            </a:r>
            <a:endParaRPr/>
          </a:p>
        </p:txBody>
      </p:sp>
      <p:sp>
        <p:nvSpPr>
          <p:cNvPr id="489" name="Google Shape;489;p63"/>
          <p:cNvSpPr txBox="1"/>
          <p:nvPr/>
        </p:nvSpPr>
        <p:spPr>
          <a:xfrm>
            <a:off x="377825" y="1006475"/>
            <a:ext cx="7498500" cy="52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rdf: &lt;http://www.w3.org/1999/02/22-rdf-syntax-ns#&gt; .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dc: &lt;http://purl.org/dc/elements/1.1/&gt; .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bib: &lt;http://daml.umbc.edu/ontologies/bib/&gt; .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&lt;http://umbc.edu/~finin/talks/idm02/&gt;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dc:title    "Intelligent Information Systems on the Web " 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dc:creator  _:b0 .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_:b0    bib:name   "Tim Finin" 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bib:email  "finin@umbc.edu" ;</a:t>
            </a:r>
            <a:endParaRPr sz="20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2000"/>
              <a:t>        bib:aff    &lt;http://umbc.edu/&gt; .</a:t>
            </a:r>
            <a:endParaRPr sz="2000"/>
          </a:p>
        </p:txBody>
      </p:sp>
      <p:sp>
        <p:nvSpPr>
          <p:cNvPr id="490" name="Google Shape;490;p63"/>
          <p:cNvSpPr txBox="1"/>
          <p:nvPr/>
        </p:nvSpPr>
        <p:spPr>
          <a:xfrm>
            <a:off x="5246800" y="3176200"/>
            <a:ext cx="3760800" cy="22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1155CC"/>
                </a:solidFill>
              </a:rPr>
              <a:t>Turtle</a:t>
            </a:r>
            <a:r>
              <a:rPr lang="en-GB" sz="2000">
                <a:solidFill>
                  <a:srgbClr val="1155CC"/>
                </a:solidFill>
              </a:rPr>
              <a:t> </a:t>
            </a:r>
            <a:r>
              <a:rPr lang="en-GB" sz="2000">
                <a:solidFill>
                  <a:srgbClr val="1155CC"/>
                </a:solidFill>
              </a:rPr>
              <a:t>cũng </a:t>
            </a:r>
            <a:r>
              <a:rPr lang="en-GB" sz="2000">
                <a:solidFill>
                  <a:srgbClr val="1155CC"/>
                </a:solidFill>
              </a:rPr>
              <a:t>là quy chuẩn W3C.</a:t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1155CC"/>
                </a:solidFill>
              </a:rPr>
              <a:t>Thuận tiện</a:t>
            </a:r>
            <a:r>
              <a:rPr i="1" lang="en-GB" sz="2200">
                <a:solidFill>
                  <a:srgbClr val="1155CC"/>
                </a:solidFill>
              </a:rPr>
              <a:t> cho người, </a:t>
            </a:r>
            <a:r>
              <a:rPr i="1" lang="en-GB" sz="2200">
                <a:solidFill>
                  <a:srgbClr val="1155CC"/>
                </a:solidFill>
              </a:rPr>
              <a:t>có thể biên soạn bằng trình soạn thảo văn bản.</a:t>
            </a:r>
            <a:endParaRPr i="1" sz="2200">
              <a:solidFill>
                <a:srgbClr val="1155CC"/>
              </a:solidFill>
            </a:endParaRPr>
          </a:p>
        </p:txBody>
      </p:sp>
      <p:sp>
        <p:nvSpPr>
          <p:cNvPr id="491" name="Google Shape;491;p6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Ntr</a:t>
            </a:r>
            <a:r>
              <a:rPr lang="en-GB"/>
              <a:t>iples</a:t>
            </a:r>
            <a:endParaRPr/>
          </a:p>
        </p:txBody>
      </p:sp>
      <p:sp>
        <p:nvSpPr>
          <p:cNvPr id="497" name="Google Shape;497;p64"/>
          <p:cNvSpPr txBox="1"/>
          <p:nvPr>
            <p:ph idx="4294967295" type="body"/>
          </p:nvPr>
        </p:nvSpPr>
        <p:spPr>
          <a:xfrm>
            <a:off x="311700" y="927025"/>
            <a:ext cx="8520600" cy="40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</a:t>
            </a:r>
            <a:r>
              <a:rPr lang="en-GB"/>
              <a:t>ập hợp các </a:t>
            </a:r>
            <a:r>
              <a:rPr lang="en-GB"/>
              <a:t>bộ-3</a:t>
            </a:r>
            <a:r>
              <a:rPr lang="en-GB"/>
              <a:t>, mỗi </a:t>
            </a:r>
            <a:r>
              <a:rPr lang="en-GB"/>
              <a:t>bộ-3</a:t>
            </a:r>
            <a:r>
              <a:rPr lang="en-GB"/>
              <a:t> được kết thúc bởi dấu chấm</a:t>
            </a:r>
            <a:r>
              <a:rPr lang="en-GB"/>
              <a:t>/</a:t>
            </a:r>
            <a:r>
              <a:rPr lang="en-GB"/>
              <a:t>"."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URIs được đặt trong cặp dấu ngoặc &lt; &gt;; không sử dụng QNames; hằng giá trị được đặt trong nháy kép.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Dễ đọc và xử lý; là định dạng tải về phổ biến cho các bộ dữ liệu RDF (ví dụ, DBpedia)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Sử dụng nhiều ký tự do các URLs lặp lại, tuy nhiên có tỉ lệ nén cao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Tốt cho lưu trữ</a:t>
            </a:r>
            <a:endParaRPr/>
          </a:p>
        </p:txBody>
      </p:sp>
      <p:sp>
        <p:nvSpPr>
          <p:cNvPr id="498" name="Google Shape;498;p64"/>
          <p:cNvSpPr txBox="1"/>
          <p:nvPr/>
        </p:nvSpPr>
        <p:spPr>
          <a:xfrm>
            <a:off x="75825" y="5033750"/>
            <a:ext cx="89319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300">
                <a:solidFill>
                  <a:srgbClr val="003366"/>
                </a:solidFill>
              </a:rPr>
              <a:t>&lt;http://example.org/Turing&gt;&lt;http://www.w3.org/1999/02/22-rdf-syntax-ns#type&gt; &lt;http://xmlns.com/foaf/0.1/Person&gt; 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300">
                <a:solidFill>
                  <a:srgbClr val="003366"/>
                </a:solidFill>
              </a:rPr>
              <a:t>&lt;http://example.org/Turing&gt; &lt;http://xmlns.com/foaf/0.1/name&gt; "Alan Turing" .</a:t>
            </a:r>
            <a:endParaRPr sz="1300">
              <a:solidFill>
                <a:srgbClr val="00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300">
                <a:solidFill>
                  <a:srgbClr val="003366"/>
                </a:solidFill>
              </a:rPr>
              <a:t>&lt;http://www.w3.org/2001/sw/RDFCore/ntriples/&gt; &lt;http://xmlns.com/foaf/0.1/mbox&gt; &lt;mailto:alan@turing.org&gt; .</a:t>
            </a:r>
            <a:endParaRPr sz="1300">
              <a:solidFill>
                <a:srgbClr val="0033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1300">
                <a:solidFill>
                  <a:srgbClr val="003366"/>
                </a:solidFill>
              </a:rPr>
              <a:t>&lt;http://example.org/Turing&gt; &lt;http://xmlns.com/foaf/0.1/mbox&gt; &lt;mailto:alan@turing.org&gt; .</a:t>
            </a:r>
            <a:endParaRPr sz="1300">
              <a:solidFill>
                <a:srgbClr val="003366"/>
              </a:solidFill>
            </a:endParaRPr>
          </a:p>
        </p:txBody>
      </p:sp>
      <p:sp>
        <p:nvSpPr>
          <p:cNvPr id="499" name="Google Shape;499;p6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</a:t>
            </a:r>
            <a:r>
              <a:rPr lang="en-GB"/>
              <a:t>urtle</a:t>
            </a:r>
            <a:endParaRPr/>
          </a:p>
        </p:txBody>
      </p:sp>
      <p:sp>
        <p:nvSpPr>
          <p:cNvPr id="505" name="Google Shape;505;p6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Ntriples ⊂ Turtle ⊂ N3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Gọn nhẹ, dễ đọc, dễ viết và xử lý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Qnames, bnode (biểu diễn bằng []), các dấu ; và ,</a:t>
            </a:r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311625" y="2426275"/>
            <a:ext cx="8520600" cy="3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200">
                <a:solidFill>
                  <a:srgbClr val="003366"/>
                </a:solidFill>
              </a:rPr>
              <a:t>@prefix rdf: &lt;http://www.w3.org/1999/02/22-rdf-syntax-ns#&gt;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200">
                <a:solidFill>
                  <a:srgbClr val="003366"/>
                </a:solidFill>
              </a:rPr>
              <a:t>@prefix dc: &lt;http://purl.org/dc/elements/1.1/&gt;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200">
                <a:solidFill>
                  <a:srgbClr val="003366"/>
                </a:solidFill>
              </a:rPr>
              <a:t>@prefix foaf: &lt;http://xmlns.com/foaf/0.1/&gt; 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800">
              <a:solidFill>
                <a:srgbClr val="003366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200">
                <a:solidFill>
                  <a:srgbClr val="003366"/>
                </a:solidFill>
              </a:rPr>
              <a:t>&lt;http://www.w3.org/TR/rdf-syntax-grammar&gt;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200">
                <a:solidFill>
                  <a:srgbClr val="003366"/>
                </a:solidFill>
              </a:rPr>
              <a:t>  dc:title "RDF/XML Syntax Specification (Revised)" 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 sz="2200">
                <a:solidFill>
                  <a:srgbClr val="003366"/>
                </a:solidFill>
              </a:rPr>
              <a:t>  dc:creator [ foaf:name "Dave Beckett";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3366"/>
                </a:solidFill>
              </a:rPr>
              <a:t>                     foaf:mbox &lt;mailto:</a:t>
            </a:r>
            <a:r>
              <a:rPr lang="en-GB" sz="2200" u="sng">
                <a:solidFill>
                  <a:srgbClr val="003366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dave@beckett.org</a:t>
            </a:r>
            <a:r>
              <a:rPr lang="en-GB" sz="2200">
                <a:solidFill>
                  <a:srgbClr val="003366"/>
                </a:solidFill>
              </a:rPr>
              <a:t>&gt; ,  </a:t>
            </a:r>
            <a:br>
              <a:rPr lang="en-GB" sz="2200">
                <a:solidFill>
                  <a:srgbClr val="003366"/>
                </a:solidFill>
              </a:rPr>
            </a:br>
            <a:r>
              <a:rPr lang="en-GB" sz="2200">
                <a:solidFill>
                  <a:srgbClr val="003366"/>
                </a:solidFill>
              </a:rPr>
              <a:t>                                      &lt;mailto:</a:t>
            </a:r>
            <a:r>
              <a:rPr lang="en-GB" sz="2200" u="sng">
                <a:solidFill>
                  <a:srgbClr val="003366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dbeck@gmail.com</a:t>
            </a:r>
            <a:r>
              <a:rPr lang="en-GB" sz="2200">
                <a:solidFill>
                  <a:srgbClr val="003366"/>
                </a:solidFill>
              </a:rPr>
              <a:t>&gt;</a:t>
            </a:r>
            <a:br>
              <a:rPr lang="en-GB" sz="2200">
                <a:solidFill>
                  <a:srgbClr val="003366"/>
                </a:solidFill>
              </a:rPr>
            </a:br>
            <a:r>
              <a:rPr lang="en-GB" sz="2200">
                <a:solidFill>
                  <a:srgbClr val="003366"/>
                </a:solidFill>
              </a:rPr>
              <a:t>                    ] . </a:t>
            </a:r>
            <a:endParaRPr/>
          </a:p>
        </p:txBody>
      </p:sp>
      <p:sp>
        <p:nvSpPr>
          <p:cNvPr id="507" name="Google Shape;507;p6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Khái quát cú pháp Turtle</a:t>
            </a:r>
            <a:endParaRPr/>
          </a:p>
        </p:txBody>
      </p:sp>
      <p:sp>
        <p:nvSpPr>
          <p:cNvPr id="513" name="Google Shape;513;p6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Dòng @PREFIX khai báo viết tắt không gian tên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Mẫu </a:t>
            </a:r>
            <a:r>
              <a:rPr lang="en-GB"/>
              <a:t>bộ-3 </a:t>
            </a:r>
            <a:r>
              <a:rPr lang="en-GB" sz="2400"/>
              <a:t>cơ bản:</a:t>
            </a:r>
            <a:endParaRPr sz="2400"/>
          </a:p>
          <a:p>
            <a:pPr indent="0" lvl="0" marL="72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Subject predicate1 object1; predicate2 object2;</a:t>
            </a:r>
            <a:endParaRPr sz="2000"/>
          </a:p>
          <a:p>
            <a:pPr indent="0" lvl="0" marL="72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    predicate3 object3, object4.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Tương đương với: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</a:t>
            </a:r>
            <a:r>
              <a:rPr lang="en-GB" sz="2000"/>
              <a:t>Subject predicate1 object1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Subject predicate2 object2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Subject predicate3 object3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         Subject predicate3 object4.</a:t>
            </a:r>
            <a:endParaRPr sz="20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Ký hiệu đặc biệt, dành riêng cho rdf:type</a:t>
            </a:r>
            <a:endParaRPr sz="2400"/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:john </a:t>
            </a:r>
            <a:r>
              <a:rPr b="1" lang="en-GB" sz="2000"/>
              <a:t>a foaf:Person</a:t>
            </a:r>
            <a:r>
              <a:rPr lang="en-GB" sz="2000"/>
              <a:t> .</a:t>
            </a:r>
            <a:endParaRPr sz="2000"/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Tương đương với :john rdf:type foaf:Person .</a:t>
            </a:r>
            <a:endParaRPr sz="2000"/>
          </a:p>
          <a:p>
            <a:pPr indent="-333375" lvl="0" marL="4500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Ký hiệu nút rỗng ([ ])</a:t>
            </a:r>
            <a:endParaRPr sz="2400"/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GB" sz="2000"/>
              <a:t>:john foaf:knows [a foaf:Person; foaf:nick "Bob"] .</a:t>
            </a:r>
            <a:endParaRPr sz="2000"/>
          </a:p>
        </p:txBody>
      </p:sp>
      <p:sp>
        <p:nvSpPr>
          <p:cNvPr id="514" name="Google Shape;514;p6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00"/>
              <a:t>‹#›</a:t>
            </a:fld>
            <a:endParaRPr sz="1000"/>
          </a:p>
        </p:txBody>
      </p:sp>
      <p:sp>
        <p:nvSpPr>
          <p:cNvPr id="515" name="Google Shape;515;p66"/>
          <p:cNvSpPr txBox="1"/>
          <p:nvPr/>
        </p:nvSpPr>
        <p:spPr>
          <a:xfrm>
            <a:off x="634475" y="6220675"/>
            <a:ext cx="8014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1155CC"/>
                </a:solidFill>
              </a:rPr>
              <a:t>[https://www.w3.org/TR/rdf12-turtle/]</a:t>
            </a:r>
            <a:endParaRPr sz="24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N3 (N</a:t>
            </a:r>
            <a:r>
              <a:rPr lang="en-GB"/>
              <a:t>otation3)</a:t>
            </a:r>
            <a:endParaRPr/>
          </a:p>
        </p:txBody>
      </p:sp>
      <p:sp>
        <p:nvSpPr>
          <p:cNvPr id="521" name="Google Shape;521;p6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N3 l</a:t>
            </a:r>
            <a:r>
              <a:rPr lang="en-GB"/>
              <a:t>à một định dạng tương tự turtle, ban đầu được phát triển bởi Tim Berners Lee.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Hỗ trợ luật suy diễn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Không phải là quy chuẩn W3C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số tính năng không tương thích với OWL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Được thay thế bởi Turtle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lẽ sẽ không bao giờ trở thành quy chuẩn W3C</a:t>
            </a:r>
            <a:endParaRPr/>
          </a:p>
        </p:txBody>
      </p:sp>
      <p:sp>
        <p:nvSpPr>
          <p:cNvPr id="522" name="Google Shape;522;p6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</a:t>
            </a:r>
            <a:r>
              <a:rPr lang="en-GB"/>
              <a:t>uyển đổi giữa các định dạng</a:t>
            </a:r>
            <a:endParaRPr/>
          </a:p>
        </p:txBody>
      </p:sp>
      <p:sp>
        <p:nvSpPr>
          <p:cNvPr id="528" name="Google Shape;528;p6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 sz="2400"/>
              <a:t>H</a:t>
            </a:r>
            <a:r>
              <a:rPr lang="en-GB" sz="2400"/>
              <a:t>ầu hết các phần mềm Web</a:t>
            </a:r>
            <a:r>
              <a:rPr lang="en-GB"/>
              <a:t>NN</a:t>
            </a:r>
            <a:r>
              <a:rPr lang="en-GB" sz="2400"/>
              <a:t> hiện đại (</a:t>
            </a:r>
            <a:r>
              <a:rPr lang="en-GB" sz="2400"/>
              <a:t>Protégé, Jena, Sesame v.v…) </a:t>
            </a:r>
            <a:r>
              <a:rPr lang="en-GB" sz="2400"/>
              <a:t>đều có thể đọc và ghi rdf theo các định dạng chính</a:t>
            </a:r>
            <a:endParaRPr sz="2400"/>
          </a:p>
        </p:txBody>
      </p:sp>
      <p:sp>
        <p:nvSpPr>
          <p:cNvPr id="529" name="Google Shape;529;p68"/>
          <p:cNvSpPr txBox="1"/>
          <p:nvPr/>
        </p:nvSpPr>
        <p:spPr>
          <a:xfrm>
            <a:off x="851850" y="2314050"/>
            <a:ext cx="7552500" cy="3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34343"/>
                </a:solidFill>
              </a:rPr>
              <a:t># M</a:t>
            </a:r>
            <a:r>
              <a:rPr lang="en-GB" sz="2000">
                <a:solidFill>
                  <a:srgbClr val="434343"/>
                </a:solidFill>
              </a:rPr>
              <a:t>ột tài liệu Turtle đơn giản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2000">
                <a:solidFill>
                  <a:srgbClr val="434343"/>
                </a:solidFill>
              </a:rPr>
              <a:t>@prefix foaf: &lt;http://xmlns.com/foaf/0.1/&gt; .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34343"/>
                </a:solidFill>
              </a:rPr>
              <a:t>@prefix : &lt;http://semweb.edu.vn/example#&gt; .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2000">
                <a:solidFill>
                  <a:srgbClr val="434343"/>
                </a:solidFill>
              </a:rPr>
              <a:t>:john a foaf:Person; foaf:gender "Male";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2000">
                <a:solidFill>
                  <a:srgbClr val="434343"/>
                </a:solidFill>
              </a:rPr>
              <a:t>  foaf:name "John Smith", "Johnny Smith";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2000">
                <a:solidFill>
                  <a:srgbClr val="434343"/>
                </a:solidFill>
              </a:rPr>
              <a:t>  foaf:knows :mary,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2000">
                <a:solidFill>
                  <a:srgbClr val="434343"/>
                </a:solidFill>
              </a:rPr>
              <a:t>             [a foaf:Person;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34343"/>
                </a:solidFill>
              </a:rPr>
              <a:t>                foaf:mbox &lt;mailto:mary.smith@gmail.com&gt;] .</a:t>
            </a:r>
            <a:endParaRPr sz="2000">
              <a:solidFill>
                <a:srgbClr val="434343"/>
              </a:solidFill>
            </a:endParaRPr>
          </a:p>
          <a:p>
            <a:pPr indent="0" lvl="0" marL="2301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2000">
                <a:solidFill>
                  <a:srgbClr val="434343"/>
                </a:solidFill>
              </a:rPr>
              <a:t>:mary a foaf:Person;  foaf:name "Mary Smith" .</a:t>
            </a:r>
            <a:endParaRPr sz="2000">
              <a:solidFill>
                <a:srgbClr val="434343"/>
              </a:solidFill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851850" y="5934100"/>
            <a:ext cx="78474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1155CC"/>
                </a:solidFill>
              </a:rPr>
              <a:t>Th</a:t>
            </a:r>
            <a:r>
              <a:rPr i="1" lang="en-GB" sz="2200">
                <a:solidFill>
                  <a:srgbClr val="1155CC"/>
                </a:solidFill>
              </a:rPr>
              <a:t>ử chuyển đổi giữa các định dạng</a:t>
            </a:r>
            <a:endParaRPr sz="2200">
              <a:solidFill>
                <a:srgbClr val="1155CC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1155CC"/>
                </a:solidFill>
              </a:rPr>
              <a:t>[https://www.easyrdf.org/converter]</a:t>
            </a:r>
            <a:endParaRPr sz="2200">
              <a:solidFill>
                <a:srgbClr val="1155CC"/>
              </a:solidFill>
            </a:endParaRPr>
          </a:p>
        </p:txBody>
      </p:sp>
      <p:sp>
        <p:nvSpPr>
          <p:cNvPr id="531" name="Google Shape;531;p6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537" name="Google Shape;537;p6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3.1. Mô hình dữ liệu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3.2. Cú pháp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3.3. Ontology đơn giản với RDFS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</a:rPr>
              <a:t>3.4. Biểu diễn các cấu trúc đặc biệt</a:t>
            </a:r>
            <a:endParaRPr/>
          </a:p>
        </p:txBody>
      </p:sp>
      <p:sp>
        <p:nvSpPr>
          <p:cNvPr id="538" name="Google Shape;538;p69"/>
          <p:cNvSpPr/>
          <p:nvPr/>
        </p:nvSpPr>
        <p:spPr>
          <a:xfrm>
            <a:off x="311700" y="1699239"/>
            <a:ext cx="57072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6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</a:t>
            </a:r>
            <a:r>
              <a:rPr lang="en-GB"/>
              <a:t>iới thiệu RDFS</a:t>
            </a:r>
            <a:endParaRPr/>
          </a:p>
        </p:txBody>
      </p:sp>
      <p:sp>
        <p:nvSpPr>
          <p:cNvPr id="545" name="Google Shape;545;p7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</a:t>
            </a:r>
            <a:r>
              <a:rPr lang="en-GB"/>
              <a:t>DF là mô hình dữ liệu đơn giản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Lược đồ RDF - RDFS làm </a:t>
            </a:r>
            <a:r>
              <a:rPr lang="en-GB"/>
              <a:t>giàu</a:t>
            </a:r>
            <a:r>
              <a:rPr lang="en-GB"/>
              <a:t> thêm ngữ nghĩa bằng cách bổ xung các từ vựng để mô tả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lớp và các lớp con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thuộc tính và thuộc tính con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Kiểu thuộc tính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RDFS cho phép mô tả các ontologies đơn giản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Bổ xung thêm các yếu tố hướng đối tượng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Nhưng với cách tiếp cận theo hướng Lô-gic, sử dụng ngữ nghĩa với giả thuyết không gian mở.</a:t>
            </a:r>
            <a:endParaRPr/>
          </a:p>
        </p:txBody>
      </p:sp>
      <p:sp>
        <p:nvSpPr>
          <p:cNvPr id="546" name="Google Shape;546;p7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ộ từ vựng RDFS</a:t>
            </a:r>
            <a:endParaRPr/>
          </a:p>
        </p:txBody>
      </p:sp>
      <p:sp>
        <p:nvSpPr>
          <p:cNvPr id="552" name="Google Shape;552;p71"/>
          <p:cNvSpPr txBox="1"/>
          <p:nvPr>
            <p:ph idx="4294967295" type="body"/>
          </p:nvPr>
        </p:nvSpPr>
        <p:spPr>
          <a:xfrm>
            <a:off x="311700" y="927400"/>
            <a:ext cx="8520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R</a:t>
            </a:r>
            <a:r>
              <a:rPr lang="en-GB" sz="2400"/>
              <a:t>DFS đưa ra các từ khóa sau, đồng thời quy ước ý nghĩa tương thích với mô hình dữ liệu RDF</a:t>
            </a:r>
            <a:endParaRPr sz="2400"/>
          </a:p>
        </p:txBody>
      </p:sp>
      <p:sp>
        <p:nvSpPr>
          <p:cNvPr id="553" name="Google Shape;553;p71"/>
          <p:cNvSpPr txBox="1"/>
          <p:nvPr/>
        </p:nvSpPr>
        <p:spPr>
          <a:xfrm>
            <a:off x="539552" y="1853208"/>
            <a:ext cx="3713100" cy="4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317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434343"/>
                </a:solidFill>
              </a:rPr>
              <a:t>Từ khóa cho lớp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rdfs:Class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rdfs:subClassOf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57175" lvl="0" marL="23177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434343"/>
                </a:solidFill>
              </a:rPr>
              <a:t>T</a:t>
            </a:r>
            <a:r>
              <a:rPr lang="en-GB" sz="2200">
                <a:solidFill>
                  <a:srgbClr val="434343"/>
                </a:solidFill>
              </a:rPr>
              <a:t>ừ khóa cho thuộc tính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rdfs:domain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rdfs:range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rdfs:subPropertyOf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57175" lvl="0" marL="23177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●"/>
            </a:pPr>
            <a:r>
              <a:rPr lang="en-GB" sz="2200">
                <a:solidFill>
                  <a:srgbClr val="434343"/>
                </a:solidFill>
              </a:rPr>
              <a:t>C</a:t>
            </a:r>
            <a:r>
              <a:rPr lang="en-GB" sz="2200">
                <a:solidFill>
                  <a:srgbClr val="434343"/>
                </a:solidFill>
              </a:rPr>
              <a:t>ác lớp đặc biệt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rdfs:Resource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rdfs:Literal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Arial"/>
              <a:buChar char="–"/>
            </a:pPr>
            <a:r>
              <a:rPr lang="en-GB" sz="2200" u="sng">
                <a:solidFill>
                  <a:srgbClr val="434343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rdfs:Datatype</a:t>
            </a:r>
            <a:r>
              <a:rPr lang="en-GB" sz="2200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554" name="Google Shape;554;p71"/>
          <p:cNvSpPr/>
          <p:nvPr/>
        </p:nvSpPr>
        <p:spPr>
          <a:xfrm>
            <a:off x="4133900" y="1781200"/>
            <a:ext cx="4698300" cy="45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7175" lvl="0" marL="23177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-GB" sz="2200">
                <a:solidFill>
                  <a:srgbClr val="434343"/>
                </a:solidFill>
              </a:rPr>
              <a:t>Từ khóa cho cấu trúc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marR="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Char char="–"/>
            </a:pPr>
            <a:r>
              <a:rPr i="0" lang="en-GB" sz="2200" u="sng" cap="none" strike="noStrike">
                <a:solidFill>
                  <a:srgbClr val="434343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rdfs:member</a:t>
            </a:r>
            <a:r>
              <a:rPr i="0" lang="en-GB" sz="2200" u="none" cap="none" strike="noStrike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marR="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Char char="–"/>
            </a:pPr>
            <a:r>
              <a:rPr i="0" lang="en-GB" sz="2200" u="sng" cap="none" strike="noStrike">
                <a:solidFill>
                  <a:srgbClr val="434343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rdfs:Container</a:t>
            </a:r>
            <a:r>
              <a:rPr i="0" lang="en-GB" sz="2200" u="none" cap="none" strike="noStrike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0" lang="en-GB" sz="2200" u="sng" cap="none" strike="noStrike">
                <a:solidFill>
                  <a:srgbClr val="434343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rdfs:ContainerMembershipProperty</a:t>
            </a:r>
            <a:r>
              <a:rPr i="0" lang="en-GB" sz="2200" u="none" cap="none" strike="noStrike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57175" lvl="0" marL="231775" marR="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2200"/>
              <a:buChar char="●"/>
            </a:pPr>
            <a:r>
              <a:rPr lang="en-GB" sz="2200">
                <a:solidFill>
                  <a:srgbClr val="434343"/>
                </a:solidFill>
              </a:rPr>
              <a:t>Các thuộc tính đặc biệt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2200"/>
              <a:buChar char="–"/>
            </a:pPr>
            <a:r>
              <a:rPr i="0" lang="en-GB" sz="2200" u="sng" cap="none" strike="noStrike">
                <a:solidFill>
                  <a:srgbClr val="434343"/>
                </a:solidFill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rdfs:comment</a:t>
            </a:r>
            <a:r>
              <a:rPr i="0" lang="en-GB" sz="2200" u="none" cap="none" strike="noStrike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2200"/>
              <a:buChar char="–"/>
            </a:pPr>
            <a:r>
              <a:rPr i="0" lang="en-GB" sz="2200" u="sng" cap="none" strike="noStrike">
                <a:solidFill>
                  <a:srgbClr val="434343"/>
                </a:solidFill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rdfs:seeAlso</a:t>
            </a:r>
            <a:r>
              <a:rPr i="0" lang="en-GB" sz="2200" u="none" cap="none" strike="noStrike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2200"/>
              <a:buChar char="–"/>
            </a:pPr>
            <a:r>
              <a:rPr i="0" lang="en-GB" sz="2200" u="sng" cap="none" strike="noStrike">
                <a:solidFill>
                  <a:srgbClr val="434343"/>
                </a:solidFill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rdfs:isDefinedBy</a:t>
            </a:r>
            <a:r>
              <a:rPr i="0" lang="en-GB" sz="2200" u="none" cap="none" strike="noStrike">
                <a:solidFill>
                  <a:srgbClr val="434343"/>
                </a:solidFill>
              </a:rPr>
              <a:t>  </a:t>
            </a:r>
            <a:endParaRPr sz="2200">
              <a:solidFill>
                <a:srgbClr val="434343"/>
              </a:solidFill>
            </a:endParaRPr>
          </a:p>
          <a:p>
            <a:pPr indent="-247650" lvl="1" marL="568325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434343"/>
              </a:buClr>
              <a:buSzPts val="2200"/>
              <a:buChar char="–"/>
            </a:pPr>
            <a:r>
              <a:rPr i="0" lang="en-GB" sz="2200" u="sng" cap="none" strike="noStrike">
                <a:solidFill>
                  <a:srgbClr val="434343"/>
                </a:solidFill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rdfs:label</a:t>
            </a:r>
            <a:endParaRPr i="0" sz="2200" u="none" cap="none" strike="noStrike">
              <a:solidFill>
                <a:srgbClr val="434343"/>
              </a:solidFill>
            </a:endParaRPr>
          </a:p>
        </p:txBody>
      </p:sp>
      <p:sp>
        <p:nvSpPr>
          <p:cNvPr id="555" name="Google Shape;555;p71"/>
          <p:cNvSpPr txBox="1"/>
          <p:nvPr/>
        </p:nvSpPr>
        <p:spPr>
          <a:xfrm>
            <a:off x="539550" y="6080725"/>
            <a:ext cx="80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@PREFIX rdfs: &lt;</a:t>
            </a:r>
            <a:r>
              <a:rPr b="1" i="0" lang="en-GB" sz="2200" u="sng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http://www.w3.org/2000/01/rdf-schema#</a:t>
            </a:r>
            <a:r>
              <a:rPr b="1" i="0" lang="en-GB" sz="22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2200"/>
          </a:p>
        </p:txBody>
      </p:sp>
      <p:sp>
        <p:nvSpPr>
          <p:cNvPr id="556" name="Google Shape;556;p7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</a:t>
            </a:r>
            <a:r>
              <a:rPr lang="en-GB"/>
              <a:t>ớp và các phần tử</a:t>
            </a:r>
            <a:endParaRPr/>
          </a:p>
        </p:txBody>
      </p:sp>
      <p:sp>
        <p:nvSpPr>
          <p:cNvPr id="562" name="Google Shape;562;p72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</a:t>
            </a:r>
            <a:r>
              <a:rPr lang="en-GB"/>
              <a:t>úng ta phân biệt giữa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phần tử (còn được gọi là các đối tượng, các thực thể, các tài nguyên) trong lĩnh vực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hợp các phần tử có những thuộc tính giống nhau được gọi là lớp: Giảng viên, sinh viên, khóa học, v.v..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tài nguyên thuộc 1 lớp được coi như phần tử của lớp đó (mô hình tập hợp).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Mối quan hệ giữa phần tử và lớp của nó trong RDF được thiết lập bằng thuộc tính rdf:type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Lưu ý: Có phần giống Lớp và đối tượng trong ngôn ngữ HĐT nhưng lớp RDF giữ vai trò như tập hợp.</a:t>
            </a:r>
            <a:endParaRPr/>
          </a:p>
        </p:txBody>
      </p:sp>
      <p:sp>
        <p:nvSpPr>
          <p:cNvPr id="563" name="Google Shape;563;p7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</a:t>
            </a:r>
            <a:r>
              <a:rPr lang="en-GB"/>
              <a:t>ớp như công cụ quản lý thông tin</a:t>
            </a:r>
            <a:endParaRPr/>
          </a:p>
        </p:txBody>
      </p:sp>
      <p:sp>
        <p:nvSpPr>
          <p:cNvPr id="569" name="Google Shape;569;p73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</a:t>
            </a:r>
            <a:r>
              <a:rPr lang="en-GB"/>
              <a:t>ớp cho phép chúng ta thiết lập giới hạn cho các câu trong RDF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Như trong ngôn ngữ lập trình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Ví dụ, A % B có ý nghĩa đúng đắn với A, B là các số nguyên, nhưng vô nghĩa với số thực.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Ngăn chặn các câu vô nghĩa dựa trên phát hiện mâu thuẫn.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-GB"/>
              <a:t>Lô-gic tính toán </a:t>
            </a:r>
            <a:r>
              <a:rPr lang="en-GB"/>
              <a:t>được dạy bởi </a:t>
            </a:r>
            <a:r>
              <a:rPr i="1" lang="en-GB"/>
              <a:t>cây bàng: </a:t>
            </a:r>
            <a:r>
              <a:rPr lang="en-GB"/>
              <a:t>Đây là một câu vô nghĩa, chúng ta muốn học phần phải được dạy bởi Giảng viên =&gt; Giới hạn phạm vi giá trị của "</a:t>
            </a:r>
            <a:r>
              <a:rPr i="1" lang="en-GB"/>
              <a:t>Được dạy bởi</a:t>
            </a:r>
            <a:r>
              <a:rPr lang="en-GB"/>
              <a:t>" (giới hạn khoảng - range).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Phòng D9-101 được dạy bởi NVA: Chỉ có học phần mới là chủ thể của </a:t>
            </a:r>
            <a:r>
              <a:rPr i="1" lang="en-GB"/>
              <a:t>được dạy bởi</a:t>
            </a:r>
            <a:r>
              <a:rPr lang="en-GB"/>
              <a:t> - giới hạn các tài nguyên có thể được áp dụng thuộc tính (giới hạn miền, domain).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Có thể suy diễn kiểu của 1 tài nguyên dựa vào cách nó được sử dụng - tương tự suy diễn kiểu trong ngôn ngữ lập trình.</a:t>
            </a:r>
            <a:endParaRPr/>
          </a:p>
        </p:txBody>
      </p:sp>
      <p:sp>
        <p:nvSpPr>
          <p:cNvPr id="570" name="Google Shape;570;p7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</a:t>
            </a:r>
            <a:r>
              <a:rPr lang="en-GB"/>
              <a:t>ân cấp lớp</a:t>
            </a:r>
            <a:endParaRPr/>
          </a:p>
        </p:txBody>
      </p:sp>
      <p:sp>
        <p:nvSpPr>
          <p:cNvPr id="576" name="Google Shape;576;p74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lớp được liên kết bởi quan hệ subClassOf có thể tạo thành 1 cấu trúc phân cấp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A là lớp con của B khi và chỉ khi tất cả các phần tử của A đồng thời là phần tử của B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Chúng ta còn nói rằng B là lớp cha của lớp 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Quan hệ subClassOf giữa các lớp không tạo thành 1 cấu trúc cây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Một lớp có thể là lớp con của nhiều lớp khác nhau.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Có thể hình thành chu trình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A rdfs:subClassOf B. B rdfs:subClassOf A.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Trong lô-gic: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subClassOf(p, q) &lt;=&gt; p(x) =&gt; q(x)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subClassOf</a:t>
            </a:r>
            <a:r>
              <a:rPr lang="en-GB"/>
              <a:t>(p, q) 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∧</a:t>
            </a:r>
            <a:r>
              <a:rPr lang="en-GB"/>
              <a:t> p(x) =&gt; q(x)</a:t>
            </a:r>
            <a:endParaRPr/>
          </a:p>
        </p:txBody>
      </p:sp>
      <p:sp>
        <p:nvSpPr>
          <p:cNvPr id="577" name="Google Shape;577;p7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iền &amp; phạm vi</a:t>
            </a:r>
            <a:endParaRPr/>
          </a:p>
        </p:txBody>
      </p:sp>
      <p:sp>
        <p:nvSpPr>
          <p:cNvPr id="583" name="Google Shape;583;p7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ràng buộc miền &amp; phạm vi cho phép giới hạn các tài nguyên có thể được sử dụng như chủ thể và giá trị của thuộc tính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Để hạn chế các câu vô nghĩa &lt;=&gt; Đảm bảo tính đúng đắn của dữ liệu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Miền / chủ thể: Chỉ có học phần mới có thể </a:t>
            </a:r>
            <a:r>
              <a:rPr i="1" lang="en-GB"/>
              <a:t>được dạy bởi</a:t>
            </a:r>
            <a:endParaRPr i="1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domain(isTaughtBy, course)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Phạm vi / giá trị: Giá trị của thuộc tính </a:t>
            </a:r>
            <a:r>
              <a:rPr i="1" lang="en-GB"/>
              <a:t>được dạy bởi</a:t>
            </a:r>
            <a:r>
              <a:rPr lang="en-GB"/>
              <a:t> phải là giảng viên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range(isTauchBy, Teacher)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Ngữ nghĩa trong lô-gic:</a:t>
            </a:r>
            <a:endParaRPr/>
          </a:p>
          <a:p>
            <a:pPr indent="-3619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Calibri"/>
              <a:buChar char="○"/>
            </a:pPr>
            <a:r>
              <a:rPr lang="en-GB"/>
              <a:t>domain(pred, domclass)∧pred(subj, obj) =&gt; domclass(subj) </a:t>
            </a:r>
            <a:endParaRPr/>
          </a:p>
          <a:p>
            <a:pPr indent="-3619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Calibri"/>
              <a:buChar char="○"/>
            </a:pPr>
            <a:r>
              <a:rPr lang="en-GB"/>
              <a:t>range(pred, ranclass)∧pred(subj, obj) =&gt; ranclass(obj)</a:t>
            </a:r>
            <a:endParaRPr/>
          </a:p>
        </p:txBody>
      </p:sp>
      <p:sp>
        <p:nvSpPr>
          <p:cNvPr id="584" name="Google Shape;584;p7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</a:t>
            </a:r>
            <a:r>
              <a:rPr lang="en-GB"/>
              <a:t>ân cấp thuộc tính</a:t>
            </a:r>
            <a:endParaRPr/>
          </a:p>
        </p:txBody>
      </p:sp>
      <p:sp>
        <p:nvSpPr>
          <p:cNvPr id="590" name="Google Shape;590;p7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</a:t>
            </a:r>
            <a:r>
              <a:rPr lang="en-GB"/>
              <a:t>uan hệ phân cấp cho các thuộc tính được mô tả bằng từ khóa rdfs:subPropertyOf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được dạy bởi là thuộc tính con của thuộc tính được phụ trách bởi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Nếu khóa C được dạy bởi A, thì C được phụ trách bởi 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Chiều ngược lại không luôn luôn đúng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Nghĩa là: Nếu C được phụ trách bởi A, thì A có thể là giảng viên của khóa C, nhưng A cũng có thể là trợ giảng và không giảng dạy khóa C.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Ngữ nghĩa lô-gic</a:t>
            </a:r>
            <a:endParaRPr/>
          </a:p>
          <a:p>
            <a:pPr indent="-3619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Calibri"/>
              <a:buChar char="○"/>
            </a:pPr>
            <a:r>
              <a:rPr lang="en-GB"/>
              <a:t>subPropertyOf(p, q) ∧ p(subj, obj) =&gt; q(sub,obj)</a:t>
            </a:r>
            <a:endParaRPr/>
          </a:p>
          <a:p>
            <a:pPr indent="-3619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Calibri"/>
              <a:buChar char="○"/>
            </a:pPr>
            <a:r>
              <a:rPr lang="en-GB"/>
              <a:t>subPropertyOf(isTaughtBy, isTakenBy) </a:t>
            </a:r>
            <a:r>
              <a:rPr lang="en-GB" sz="2200"/>
              <a:t>∧ isTaughtBy(p, q) =&gt; isTakenBy(p, q)</a:t>
            </a:r>
            <a:endParaRPr sz="2200"/>
          </a:p>
          <a:p>
            <a:pPr indent="-3619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66"/>
              </a:buClr>
              <a:buSzPts val="2100"/>
              <a:buFont typeface="Calibri"/>
              <a:buChar char="○"/>
            </a:pPr>
            <a:r>
              <a:rPr lang="en-GB"/>
              <a:t>subPropertyOf</a:t>
            </a:r>
            <a:r>
              <a:rPr lang="en-GB"/>
              <a:t>(mother, parent)∧</a:t>
            </a:r>
            <a:r>
              <a:rPr lang="en-GB" sz="2200"/>
              <a:t>mother(p, q)=&gt;parent(p, q)</a:t>
            </a:r>
            <a:endParaRPr sz="2200"/>
          </a:p>
        </p:txBody>
      </p:sp>
      <p:sp>
        <p:nvSpPr>
          <p:cNvPr id="591" name="Google Shape;591;p7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iểu diễn lược đồ RDF bằng RDF</a:t>
            </a:r>
            <a:endParaRPr/>
          </a:p>
        </p:txBody>
      </p:sp>
      <p:sp>
        <p:nvSpPr>
          <p:cNvPr id="597" name="Google Shape;597;p7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</a:t>
            </a:r>
            <a:r>
              <a:rPr lang="en-GB"/>
              <a:t>ô hình RDFS cũng có thể được biểu diễn bằng các </a:t>
            </a:r>
            <a:r>
              <a:rPr lang="en-GB"/>
              <a:t>bộ-3</a:t>
            </a:r>
            <a:r>
              <a:rPr lang="en-GB"/>
              <a:t>: tài nguyên-thuộc tính-giá trị.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Để khai báo Giảng Viên là lớp con của lớp cán bộ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Chúng ta khai báo các lớp Giảng Viên, lớp Cán bộ, và thiết lập quan hệ subClassOf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:lecturer rdf:type rdfs:Class.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:staffMember rdf:type rdfs:Class.</a:t>
            </a:r>
            <a:endParaRPr sz="22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:lecturer rdfs:subClassOf :staffMember.</a:t>
            </a:r>
            <a:endParaRPr sz="2200"/>
          </a:p>
        </p:txBody>
      </p:sp>
      <p:sp>
        <p:nvSpPr>
          <p:cNvPr id="598" name="Google Shape;598;p7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thành phần nền tảng</a:t>
            </a:r>
            <a:endParaRPr/>
          </a:p>
        </p:txBody>
      </p:sp>
      <p:sp>
        <p:nvSpPr>
          <p:cNvPr id="604" name="Google Shape;604;p7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lớp nền tảng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</a:t>
            </a:r>
            <a:r>
              <a:rPr b="1" lang="en-GB"/>
              <a:t>dfs:Resource -</a:t>
            </a:r>
            <a:r>
              <a:rPr lang="en-GB"/>
              <a:t> Lớp của tất cả các tài nguyên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rdfs:Class -</a:t>
            </a:r>
            <a:r>
              <a:rPr lang="en-GB"/>
              <a:t> Lớp của tất cả các lớp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rdfs:Literal -</a:t>
            </a:r>
            <a:r>
              <a:rPr lang="en-GB"/>
              <a:t> Lớp của tất cả các hằng giá trị (chuỗi)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rdf:Property -</a:t>
            </a:r>
            <a:r>
              <a:rPr lang="en-GB"/>
              <a:t> Lớp của tất cả các thuộc tính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rdf:Statement -</a:t>
            </a:r>
            <a:r>
              <a:rPr lang="en-GB"/>
              <a:t> Lớp của tất cả các câu thành phần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thuộc tính nền tảng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rdf:type -</a:t>
            </a:r>
            <a:r>
              <a:rPr lang="en-GB"/>
              <a:t> Xác định lớp của tài nguyên.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rdfs:subClassOf -</a:t>
            </a:r>
            <a:r>
              <a:rPr lang="en-GB"/>
              <a:t> Quan hệ lớp con của.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rdfs:subPropertyOf -</a:t>
            </a:r>
            <a:r>
              <a:rPr lang="en-GB"/>
              <a:t> Quan hệ thuộc tính con của.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</a:t>
            </a:r>
            <a:r>
              <a:rPr b="1" lang="en-GB"/>
              <a:t>domain</a:t>
            </a:r>
            <a:r>
              <a:rPr b="1" lang="en-GB"/>
              <a:t> -</a:t>
            </a:r>
            <a:r>
              <a:rPr lang="en-GB"/>
              <a:t> Giới hạn miền của thuộc tính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rdfs:range -</a:t>
            </a:r>
            <a:r>
              <a:rPr lang="en-GB"/>
              <a:t> Giới hạn khoảng giá trị của thuộc tính</a:t>
            </a:r>
            <a:endParaRPr/>
          </a:p>
        </p:txBody>
      </p:sp>
      <p:sp>
        <p:nvSpPr>
          <p:cNvPr id="605" name="Google Shape;605;p7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thành phần nền tảng: Các thuộc tính</a:t>
            </a:r>
            <a:endParaRPr/>
          </a:p>
        </p:txBody>
      </p:sp>
      <p:sp>
        <p:nvSpPr>
          <p:cNvPr id="611" name="Google Shape;611;p7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</a:t>
            </a:r>
            <a:r>
              <a:rPr b="1" lang="en-GB"/>
              <a:t>dfs:subClassOf</a:t>
            </a:r>
            <a:r>
              <a:rPr lang="en-GB"/>
              <a:t> và </a:t>
            </a:r>
            <a:r>
              <a:rPr b="1" lang="en-GB"/>
              <a:t>rdfs:subPropertyOf</a:t>
            </a:r>
            <a:r>
              <a:rPr lang="en-GB"/>
              <a:t> được quy ước có tính chất bắc cầu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rdfs:Class</a:t>
            </a:r>
            <a:r>
              <a:rPr lang="en-GB"/>
              <a:t> là lớp con của </a:t>
            </a:r>
            <a:r>
              <a:rPr b="1" lang="en-GB"/>
              <a:t>rdfs:Resource</a:t>
            </a:r>
            <a:endParaRPr b="1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Bởi vì tất cả các lớp đều là các tài nguyên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rdfs:Resource</a:t>
            </a:r>
            <a:r>
              <a:rPr lang="en-GB"/>
              <a:t> là 1 phần tử của r</a:t>
            </a:r>
            <a:r>
              <a:rPr b="1" lang="en-GB"/>
              <a:t>dfs:Class</a:t>
            </a:r>
            <a:endParaRPr b="1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/>
              <a:t>rdfs:Resource</a:t>
            </a:r>
            <a:r>
              <a:rPr lang="en-GB"/>
              <a:t> là lớp của tất cả các tài nguyên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Tất cả các lớp đều là phần tử của </a:t>
            </a:r>
            <a:r>
              <a:rPr b="1" lang="en-GB"/>
              <a:t>rdfs:Class</a:t>
            </a:r>
            <a:endParaRPr b="1"/>
          </a:p>
        </p:txBody>
      </p:sp>
      <p:sp>
        <p:nvSpPr>
          <p:cNvPr id="612" name="Google Shape;612;p7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8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Các thành phần nền tảng: Biểu diễn đồ thị</a:t>
            </a:r>
            <a:endParaRPr/>
          </a:p>
        </p:txBody>
      </p:sp>
      <p:sp>
        <p:nvSpPr>
          <p:cNvPr id="618" name="Google Shape;618;p80"/>
          <p:cNvSpPr/>
          <p:nvPr/>
        </p:nvSpPr>
        <p:spPr>
          <a:xfrm>
            <a:off x="3487950" y="1196200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</a:t>
            </a:r>
            <a:r>
              <a:rPr lang="en-GB" sz="2000"/>
              <a:t>dfs:Resource</a:t>
            </a:r>
            <a:endParaRPr sz="2000"/>
          </a:p>
        </p:txBody>
      </p:sp>
      <p:sp>
        <p:nvSpPr>
          <p:cNvPr id="619" name="Google Shape;619;p80"/>
          <p:cNvSpPr/>
          <p:nvPr/>
        </p:nvSpPr>
        <p:spPr>
          <a:xfrm>
            <a:off x="3745350" y="3120575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rdfs:Class</a:t>
            </a:r>
            <a:endParaRPr sz="2000"/>
          </a:p>
        </p:txBody>
      </p:sp>
      <p:sp>
        <p:nvSpPr>
          <p:cNvPr id="620" name="Google Shape;620;p80"/>
          <p:cNvSpPr/>
          <p:nvPr/>
        </p:nvSpPr>
        <p:spPr>
          <a:xfrm>
            <a:off x="428438" y="2649175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rdf:Property</a:t>
            </a:r>
            <a:endParaRPr sz="2000"/>
          </a:p>
        </p:txBody>
      </p:sp>
      <p:sp>
        <p:nvSpPr>
          <p:cNvPr id="621" name="Google Shape;621;p80"/>
          <p:cNvSpPr/>
          <p:nvPr/>
        </p:nvSpPr>
        <p:spPr>
          <a:xfrm>
            <a:off x="6535950" y="1639738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rdfs:Literal</a:t>
            </a:r>
            <a:endParaRPr sz="2000"/>
          </a:p>
        </p:txBody>
      </p:sp>
      <p:sp>
        <p:nvSpPr>
          <p:cNvPr id="622" name="Google Shape;622;p80"/>
          <p:cNvSpPr/>
          <p:nvPr/>
        </p:nvSpPr>
        <p:spPr>
          <a:xfrm>
            <a:off x="6479100" y="2741025"/>
            <a:ext cx="25290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rdfs:XMLLiteral</a:t>
            </a:r>
            <a:endParaRPr sz="2000"/>
          </a:p>
        </p:txBody>
      </p:sp>
      <p:sp>
        <p:nvSpPr>
          <p:cNvPr id="623" name="Google Shape;623;p80"/>
          <p:cNvSpPr/>
          <p:nvPr/>
        </p:nvSpPr>
        <p:spPr>
          <a:xfrm>
            <a:off x="6576125" y="3932913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rdfs:Datatype</a:t>
            </a:r>
            <a:endParaRPr sz="2000"/>
          </a:p>
        </p:txBody>
      </p:sp>
      <p:cxnSp>
        <p:nvCxnSpPr>
          <p:cNvPr id="624" name="Google Shape;624;p80"/>
          <p:cNvCxnSpPr>
            <a:stCxn id="619" idx="3"/>
            <a:endCxn id="619" idx="2"/>
          </p:cNvCxnSpPr>
          <p:nvPr/>
        </p:nvCxnSpPr>
        <p:spPr>
          <a:xfrm flipH="1" rot="5400000">
            <a:off x="3787212" y="3460413"/>
            <a:ext cx="270000" cy="353700"/>
          </a:xfrm>
          <a:prstGeom prst="curvedConnector4">
            <a:avLst>
              <a:gd fmla="val -129606" name="adj1"/>
              <a:gd fmla="val 16732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5" name="Google Shape;625;p80"/>
          <p:cNvSpPr/>
          <p:nvPr/>
        </p:nvSpPr>
        <p:spPr>
          <a:xfrm>
            <a:off x="592338" y="4114125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rdfs:domain</a:t>
            </a:r>
            <a:endParaRPr sz="2000"/>
          </a:p>
        </p:txBody>
      </p:sp>
      <p:sp>
        <p:nvSpPr>
          <p:cNvPr id="626" name="Google Shape;626;p80"/>
          <p:cNvSpPr/>
          <p:nvPr/>
        </p:nvSpPr>
        <p:spPr>
          <a:xfrm>
            <a:off x="276038" y="5200700"/>
            <a:ext cx="24153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rdf:range</a:t>
            </a:r>
            <a:endParaRPr sz="2000"/>
          </a:p>
        </p:txBody>
      </p:sp>
      <p:sp>
        <p:nvSpPr>
          <p:cNvPr id="627" name="Google Shape;627;p80"/>
          <p:cNvSpPr/>
          <p:nvPr/>
        </p:nvSpPr>
        <p:spPr>
          <a:xfrm>
            <a:off x="3162238" y="4848825"/>
            <a:ext cx="25290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rdf:subClassOf</a:t>
            </a:r>
            <a:endParaRPr sz="2000"/>
          </a:p>
        </p:txBody>
      </p:sp>
      <p:sp>
        <p:nvSpPr>
          <p:cNvPr id="628" name="Google Shape;628;p80"/>
          <p:cNvSpPr/>
          <p:nvPr/>
        </p:nvSpPr>
        <p:spPr>
          <a:xfrm>
            <a:off x="5903250" y="4887650"/>
            <a:ext cx="31047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rdfs:subPropertyOf</a:t>
            </a:r>
            <a:endParaRPr sz="2000"/>
          </a:p>
        </p:txBody>
      </p:sp>
      <p:sp>
        <p:nvSpPr>
          <p:cNvPr id="629" name="Google Shape;629;p80"/>
          <p:cNvSpPr/>
          <p:nvPr/>
        </p:nvSpPr>
        <p:spPr>
          <a:xfrm>
            <a:off x="3416688" y="5827250"/>
            <a:ext cx="2529000" cy="763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rdf:type</a:t>
            </a:r>
            <a:endParaRPr sz="2000"/>
          </a:p>
        </p:txBody>
      </p:sp>
      <p:sp>
        <p:nvSpPr>
          <p:cNvPr id="630" name="Google Shape;630;p80"/>
          <p:cNvSpPr txBox="1"/>
          <p:nvPr/>
        </p:nvSpPr>
        <p:spPr>
          <a:xfrm>
            <a:off x="1020800" y="1796150"/>
            <a:ext cx="2242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rdfs:subClassOf</a:t>
            </a:r>
            <a:endParaRPr sz="2000">
              <a:solidFill>
                <a:srgbClr val="0B5394"/>
              </a:solidFill>
            </a:endParaRPr>
          </a:p>
        </p:txBody>
      </p:sp>
      <p:sp>
        <p:nvSpPr>
          <p:cNvPr id="631" name="Google Shape;631;p80"/>
          <p:cNvSpPr txBox="1"/>
          <p:nvPr/>
        </p:nvSpPr>
        <p:spPr>
          <a:xfrm>
            <a:off x="3450600" y="2272400"/>
            <a:ext cx="22428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B5394"/>
                </a:solidFill>
              </a:rPr>
              <a:t>rdf:type</a:t>
            </a:r>
            <a:endParaRPr sz="2000">
              <a:solidFill>
                <a:srgbClr val="0B5394"/>
              </a:solidFill>
            </a:endParaRPr>
          </a:p>
        </p:txBody>
      </p:sp>
      <p:grpSp>
        <p:nvGrpSpPr>
          <p:cNvPr id="632" name="Google Shape;632;p80"/>
          <p:cNvGrpSpPr/>
          <p:nvPr/>
        </p:nvGrpSpPr>
        <p:grpSpPr>
          <a:xfrm>
            <a:off x="1636088" y="1847788"/>
            <a:ext cx="6107513" cy="2466875"/>
            <a:chOff x="1636088" y="1542988"/>
            <a:chExt cx="6107513" cy="2466875"/>
          </a:xfrm>
        </p:grpSpPr>
        <p:cxnSp>
          <p:nvCxnSpPr>
            <p:cNvPr id="633" name="Google Shape;633;p80"/>
            <p:cNvCxnSpPr>
              <a:stCxn id="619" idx="0"/>
              <a:endCxn id="618" idx="4"/>
            </p:cNvCxnSpPr>
            <p:nvPr/>
          </p:nvCxnSpPr>
          <p:spPr>
            <a:xfrm rot="10800000">
              <a:off x="4695600" y="1654775"/>
              <a:ext cx="257400" cy="11610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4" name="Google Shape;634;p80"/>
            <p:cNvCxnSpPr>
              <a:stCxn id="620" idx="0"/>
              <a:endCxn id="618" idx="3"/>
            </p:cNvCxnSpPr>
            <p:nvPr/>
          </p:nvCxnSpPr>
          <p:spPr>
            <a:xfrm flipH="1" rot="10800000">
              <a:off x="1636088" y="1543075"/>
              <a:ext cx="2205600" cy="8013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5" name="Google Shape;635;p80"/>
            <p:cNvCxnSpPr>
              <a:stCxn id="621" idx="2"/>
              <a:endCxn id="618" idx="5"/>
            </p:cNvCxnSpPr>
            <p:nvPr/>
          </p:nvCxnSpPr>
          <p:spPr>
            <a:xfrm rot="10800000">
              <a:off x="5549550" y="1542988"/>
              <a:ext cx="986400" cy="173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6" name="Google Shape;636;p80"/>
            <p:cNvCxnSpPr>
              <a:stCxn id="622" idx="0"/>
              <a:endCxn id="621" idx="4"/>
            </p:cNvCxnSpPr>
            <p:nvPr/>
          </p:nvCxnSpPr>
          <p:spPr>
            <a:xfrm rot="10800000">
              <a:off x="7743600" y="2098425"/>
              <a:ext cx="0" cy="3378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7" name="Google Shape;637;p80"/>
            <p:cNvCxnSpPr>
              <a:stCxn id="623" idx="2"/>
              <a:endCxn id="619" idx="5"/>
            </p:cNvCxnSpPr>
            <p:nvPr/>
          </p:nvCxnSpPr>
          <p:spPr>
            <a:xfrm rot="10800000">
              <a:off x="5806925" y="3467463"/>
              <a:ext cx="769200" cy="5424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638" name="Google Shape;638;p80"/>
          <p:cNvCxnSpPr>
            <a:stCxn id="620" idx="6"/>
            <a:endCxn id="619" idx="1"/>
          </p:cNvCxnSpPr>
          <p:nvPr/>
        </p:nvCxnSpPr>
        <p:spPr>
          <a:xfrm>
            <a:off x="2843738" y="3030925"/>
            <a:ext cx="1255200" cy="2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80"/>
          <p:cNvCxnSpPr/>
          <p:nvPr/>
        </p:nvCxnSpPr>
        <p:spPr>
          <a:xfrm>
            <a:off x="4270075" y="1943825"/>
            <a:ext cx="215700" cy="117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80"/>
          <p:cNvCxnSpPr>
            <a:stCxn id="621" idx="3"/>
            <a:endCxn id="619" idx="7"/>
          </p:cNvCxnSpPr>
          <p:nvPr/>
        </p:nvCxnSpPr>
        <p:spPr>
          <a:xfrm flipH="1">
            <a:off x="5806962" y="2291426"/>
            <a:ext cx="1082700" cy="94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80"/>
          <p:cNvCxnSpPr>
            <a:stCxn id="623" idx="1"/>
            <a:endCxn id="619" idx="6"/>
          </p:cNvCxnSpPr>
          <p:nvPr/>
        </p:nvCxnSpPr>
        <p:spPr>
          <a:xfrm rot="10800000">
            <a:off x="6160637" y="3502324"/>
            <a:ext cx="769200" cy="54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80"/>
          <p:cNvCxnSpPr>
            <a:stCxn id="622" idx="4"/>
            <a:endCxn id="623" idx="0"/>
          </p:cNvCxnSpPr>
          <p:nvPr/>
        </p:nvCxnSpPr>
        <p:spPr>
          <a:xfrm>
            <a:off x="7743600" y="3504525"/>
            <a:ext cx="40200" cy="4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80"/>
          <p:cNvCxnSpPr>
            <a:stCxn id="625" idx="0"/>
            <a:endCxn id="620" idx="4"/>
          </p:cNvCxnSpPr>
          <p:nvPr/>
        </p:nvCxnSpPr>
        <p:spPr>
          <a:xfrm rot="10800000">
            <a:off x="1636188" y="3412725"/>
            <a:ext cx="163800" cy="7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4" name="Google Shape;644;p80"/>
          <p:cNvCxnSpPr>
            <a:stCxn id="627" idx="1"/>
            <a:endCxn id="620" idx="5"/>
          </p:cNvCxnSpPr>
          <p:nvPr/>
        </p:nvCxnSpPr>
        <p:spPr>
          <a:xfrm rot="10800000">
            <a:off x="2490101" y="3300737"/>
            <a:ext cx="1042500" cy="165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80"/>
          <p:cNvSpPr/>
          <p:nvPr/>
        </p:nvSpPr>
        <p:spPr>
          <a:xfrm>
            <a:off x="2731700" y="3209025"/>
            <a:ext cx="3953775" cy="1710900"/>
          </a:xfrm>
          <a:custGeom>
            <a:rect b="b" l="l" r="r" t="t"/>
            <a:pathLst>
              <a:path extrusionOk="0" h="68436" w="158151">
                <a:moveTo>
                  <a:pt x="158151" y="68436"/>
                </a:moveTo>
                <a:lnTo>
                  <a:pt x="30480" y="37956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46" name="Google Shape;646;p80"/>
          <p:cNvSpPr/>
          <p:nvPr/>
        </p:nvSpPr>
        <p:spPr>
          <a:xfrm>
            <a:off x="416950" y="3395925"/>
            <a:ext cx="704475" cy="1926575"/>
          </a:xfrm>
          <a:custGeom>
            <a:rect b="b" l="l" r="r" t="t"/>
            <a:pathLst>
              <a:path extrusionOk="0" h="77063" w="28179">
                <a:moveTo>
                  <a:pt x="8626" y="77063"/>
                </a:moveTo>
                <a:lnTo>
                  <a:pt x="0" y="38532"/>
                </a:lnTo>
                <a:lnTo>
                  <a:pt x="28179" y="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47" name="Google Shape;647;p80"/>
          <p:cNvSpPr/>
          <p:nvPr/>
        </p:nvSpPr>
        <p:spPr>
          <a:xfrm>
            <a:off x="172525" y="3309675"/>
            <a:ext cx="3234900" cy="2904225"/>
          </a:xfrm>
          <a:custGeom>
            <a:rect b="b" l="l" r="r" t="t"/>
            <a:pathLst>
              <a:path extrusionOk="0" h="116169" w="129396">
                <a:moveTo>
                  <a:pt x="129396" y="116169"/>
                </a:moveTo>
                <a:lnTo>
                  <a:pt x="1725" y="106392"/>
                </a:lnTo>
                <a:lnTo>
                  <a:pt x="0" y="32205"/>
                </a:lnTo>
                <a:lnTo>
                  <a:pt x="26454" y="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48" name="Google Shape;648;p8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ác thuộc tính hỗ trợ</a:t>
            </a:r>
            <a:endParaRPr/>
          </a:p>
        </p:txBody>
      </p:sp>
      <p:sp>
        <p:nvSpPr>
          <p:cNvPr id="654" name="Google Shape;654;p81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</a:t>
            </a:r>
            <a:r>
              <a:rPr b="1" lang="en-GB"/>
              <a:t>dfs:seeAlso</a:t>
            </a:r>
            <a:r>
              <a:rPr lang="en-GB"/>
              <a:t> - Xem thêm, gợi ý tài nguyên liên quan.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rdfs:isDefinedBy</a:t>
            </a:r>
            <a:r>
              <a:rPr lang="en-GB"/>
              <a:t> - Được định nghĩa bởi, thuộc tính con của </a:t>
            </a:r>
            <a:r>
              <a:rPr b="1" lang="en-GB"/>
              <a:t>rdfs:seeAlso</a:t>
            </a:r>
            <a:r>
              <a:rPr lang="en-GB"/>
              <a:t>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rdfs:comment</a:t>
            </a:r>
            <a:r>
              <a:rPr lang="en-GB"/>
              <a:t> - Ghi chú, thường nội dung văn bản mô tả, giới thiệu về 1 tài nguyên.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rdfs:label</a:t>
            </a:r>
            <a:r>
              <a:rPr lang="en-GB"/>
              <a:t> - Tên thân thiện với người, được đặt cho tài nguyên.</a:t>
            </a:r>
            <a:endParaRPr/>
          </a:p>
        </p:txBody>
      </p:sp>
      <p:sp>
        <p:nvSpPr>
          <p:cNvPr id="655" name="Google Shape;655;p8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823467"/>
            <a:ext cx="8007012" cy="5729733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8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3.8. Dữ liệu và lược đồ</a:t>
            </a:r>
            <a:endParaRPr/>
          </a:p>
        </p:txBody>
      </p:sp>
      <p:sp>
        <p:nvSpPr>
          <p:cNvPr id="662" name="Google Shape;662;p8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</a:t>
            </a:r>
            <a:r>
              <a:rPr lang="en-GB"/>
              <a:t>ông gian tên RDF và RDFS</a:t>
            </a:r>
            <a:endParaRPr/>
          </a:p>
        </p:txBody>
      </p:sp>
      <p:sp>
        <p:nvSpPr>
          <p:cNvPr id="668" name="Google Shape;668;p83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</a:t>
            </a:r>
            <a:r>
              <a:rPr lang="en-GB"/>
              <a:t>ác không gian tên RDF và RDFS </a:t>
            </a:r>
            <a:endParaRPr/>
          </a:p>
          <a:p>
            <a:pPr indent="-3683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rdf: </a:t>
            </a:r>
            <a:r>
              <a:rPr lang="en-GB" u="sng">
                <a:solidFill>
                  <a:srgbClr val="0033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http://www.w3.org/1999/02/22-rdf-syntax-ns#</a:t>
            </a:r>
            <a:endParaRPr>
              <a:solidFill>
                <a:schemeClr val="dk1"/>
              </a:solidFill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66"/>
              </a:buClr>
              <a:buSzPts val="2200"/>
              <a:buChar char="○"/>
            </a:pPr>
            <a:r>
              <a:rPr lang="en-GB">
                <a:solidFill>
                  <a:srgbClr val="434343"/>
                </a:solidFill>
              </a:rPr>
              <a:t>rdfs: </a:t>
            </a:r>
            <a:r>
              <a:rPr lang="en-GB" u="sng">
                <a:solidFill>
                  <a:srgbClr val="0033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http://www.w3.org/2000/01/rdf-schema#</a:t>
            </a:r>
            <a:endParaRPr sz="1400"/>
          </a:p>
          <a:p>
            <a:pPr indent="-381000" lvl="0" marL="45720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từ khóa từ các không gian tên này được sử dụng để định nghĩa từ khóa riêng cho từng lĩnh vực và từng trường hợp sử dụng</a:t>
            </a:r>
            <a:endParaRPr/>
          </a:p>
        </p:txBody>
      </p:sp>
      <p:sp>
        <p:nvSpPr>
          <p:cNvPr id="669" name="Google Shape;669;p8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3.9. không gian tên</a:t>
            </a:r>
            <a:endParaRPr/>
          </a:p>
        </p:txBody>
      </p:sp>
      <p:sp>
        <p:nvSpPr>
          <p:cNvPr id="675" name="Google Shape;675;p84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dc: &lt;http://purl.org/dc/elements/1.1/&gt;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owl: &lt;http://www.w3.org/2002/07/owl#&gt;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rdf: &lt;http://www.w3.org/1999/02/22-rdf-syntax-ns#&gt;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rdfs: &lt;http://www.w3.org/2000/01/rdf-schema#&gt;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&lt;http://www.w3.org/1999/02/22-rdf-syntax-ns#&gt;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a owl:Ontology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dc:title "The RDF Vocabulary (RDF)"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dc:description "This is the RDF Schema for the RDF vocabulary defined in the RDF namespace."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rdf:type a rdf:Property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rdfs:isDefinedBy &lt;http://www.w3.org/1999/02/22-rdf-syntax-ns#&gt;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rdfs:label "type"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rdfs:comment "The subject is an instance of a class."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rdfs:range rdfs:Class 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rdfs:domain rdfs:Resource .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676" name="Google Shape;676;p8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3.9. không gian tên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682" name="Google Shape;682;p8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rdf:Statement a rdfs:Class ;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rdfs:subClassOf rdfs:Resource ;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rdfs:comment "The class of RDF statements." 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rdf:subject a rdf:Property ;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rdfs:domain rdf:Statement ;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rdfs:range rdfs:Resource 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600"/>
              <a:buFont typeface="Noto Sans Symbols"/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rdf:predicate a rdf:Property ;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rdfs:domain rdf:Statement ;</a:t>
            </a:r>
            <a:endParaRPr sz="1800">
              <a:solidFill>
                <a:srgbClr val="43434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  rdfs:range rdfs:Resource 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683" name="Google Shape;683;p8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</a:t>
            </a:r>
            <a:r>
              <a:rPr lang="en-GB"/>
              <a:t>DF(S) vs. mô hình HĐT</a:t>
            </a:r>
            <a:endParaRPr/>
          </a:p>
        </p:txBody>
      </p:sp>
      <p:sp>
        <p:nvSpPr>
          <p:cNvPr id="689" name="Google Shape;689;p8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Tr</a:t>
            </a:r>
            <a:r>
              <a:rPr lang="en-GB"/>
              <a:t>ong các mô hình LT HĐT, 1 lớp xác định các thuộc tính có thể áp dụng lên các đối tượng thuộc lớp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Bổ xung thêm thuộc tính có nghĩa là thay đổi lớp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Trong RDF(S), các thuộc tính được định nghĩa toàn cục và không được đóng gói lớp như trong LT HĐT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Chúng ta có thể định nghĩa các thuộc tính mới, có thể thay đổi hoặc không thay đổi lớp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thuộc tính có thể có thuộc tính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Nhưng không thể thu hẹp miền &amp; khoảng của thuộc tính trong phạm vi các lớp con</a:t>
            </a:r>
            <a:endParaRPr/>
          </a:p>
        </p:txBody>
      </p:sp>
      <p:sp>
        <p:nvSpPr>
          <p:cNvPr id="690" name="Google Shape;690;p8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3.10. Miền &amp; </a:t>
            </a:r>
            <a:r>
              <a:rPr lang="en-GB"/>
              <a:t>Khoảng</a:t>
            </a:r>
            <a:r>
              <a:rPr lang="en-GB"/>
              <a:t> và các lớp con</a:t>
            </a:r>
            <a:endParaRPr/>
          </a:p>
        </p:txBody>
      </p:sp>
      <p:sp>
        <p:nvSpPr>
          <p:cNvPr id="696" name="Google Shape;696;p8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rdf: &lt;http://www.w3.org/1999/02/22-rdf-syntax-ns#&gt;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rdfs: &lt;http://www.w3.org/2000/01/rdf-schema#&gt;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@prefix bio: &lt;http://example.com/biology#&gt; 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bio:Animal a rdfs:Class.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bio:offspring a rdf:Property;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	rdfs:domain bio:Animal;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	rdfs:range bio:Animal.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bio:Cat rdfs:subClassOf bio:Animal.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bio:Dog rdfs:subClassOf bio:Animal.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bio:fido a bio:Dog.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bio:milo a bio:Cat;</a:t>
            </a:r>
            <a:endParaRPr sz="18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GB" sz="1800">
                <a:solidFill>
                  <a:srgbClr val="434343"/>
                </a:solidFill>
              </a:rPr>
              <a:t>	bio:offspring bio:fido.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697" name="Google Shape;697;p8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Từ vựng và dữ kiện </a:t>
            </a:r>
            <a:endParaRPr/>
          </a:p>
        </p:txBody>
      </p:sp>
      <p:sp>
        <p:nvSpPr>
          <p:cNvPr id="703" name="Google Shape;703;p88"/>
          <p:cNvSpPr txBox="1"/>
          <p:nvPr>
            <p:ph idx="4294967295" type="body"/>
          </p:nvPr>
        </p:nvSpPr>
        <p:spPr>
          <a:xfrm>
            <a:off x="162425" y="964935"/>
            <a:ext cx="85206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N</a:t>
            </a:r>
            <a:r>
              <a:rPr i="1" lang="en-GB"/>
              <a:t>ên lưu từ vựng tách biệt với dữ kiện</a:t>
            </a:r>
            <a:endParaRPr i="1"/>
          </a:p>
        </p:txBody>
      </p:sp>
      <p:sp>
        <p:nvSpPr>
          <p:cNvPr id="704" name="Google Shape;704;p88"/>
          <p:cNvSpPr txBox="1"/>
          <p:nvPr/>
        </p:nvSpPr>
        <p:spPr>
          <a:xfrm>
            <a:off x="162425" y="1615075"/>
            <a:ext cx="4469100" cy="3963300"/>
          </a:xfrm>
          <a:prstGeom prst="rect">
            <a:avLst/>
          </a:prstGeom>
          <a:noFill/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# A simple Biology ontology - animal.ttl</a:t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Noto Sans Symbols"/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@prefix rdf: &lt;http://www.w3.org/1999/02/22-rdf-syntax-ns#&gt; 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@prefix rdfs: &lt;http://www.w3.org/2000/01/rdf-schema#&gt; 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@prefix bio: &lt;http://example.com/biology#&gt; 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Noto Sans Symbols"/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bio:Animal a rdfs:Class.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bio:offspring a rdf:Property;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rdfs:domain bio:Animal;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   rdfs:range bio:Animal.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bio:C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rdfs:subClassOf bio:Animal.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bio:Dog rdfs:subClassOf bio:Animal.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88"/>
          <p:cNvSpPr txBox="1"/>
          <p:nvPr/>
        </p:nvSpPr>
        <p:spPr>
          <a:xfrm>
            <a:off x="4702513" y="1615125"/>
            <a:ext cx="4379400" cy="3963300"/>
          </a:xfrm>
          <a:prstGeom prst="rect">
            <a:avLst/>
          </a:prstGeom>
          <a:noFill/>
          <a:ln cap="flat" cmpd="sng" w="9525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8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# Some biological data - data.ttl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Noto Sans Symbols"/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@prefix rdf: &lt;http://www.w3.org/1999/02/22-rdf-syntax-ns#&gt; 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@prefix rdfs: &lt;http://www.w3.org/2000/01/rdf-schema#&gt; 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Noto Sans Symbols"/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@prefix bio: &lt;http://example.com/biology#&gt; .</a:t>
            </a:r>
            <a:b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# fido’s  a dog!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:fido a bio:Dog.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# m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ilo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’s c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at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&amp; has offspring fido</a:t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bio:m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ilo</a:t>
            </a:r>
            <a:r>
              <a:rPr lang="en-GB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 a bio:Cat;</a:t>
            </a:r>
            <a:endParaRPr sz="16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bio:offspring bio:fido.</a:t>
            </a:r>
            <a:endParaRPr sz="1600">
              <a:solidFill>
                <a:srgbClr val="FF0000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8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Apache Jena</a:t>
            </a:r>
            <a:endParaRPr/>
          </a:p>
        </p:txBody>
      </p:sp>
      <p:sp>
        <p:nvSpPr>
          <p:cNvPr id="712" name="Google Shape;712;p8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Apache Jena là 1 dự án mã nguồn mở, được phát triển bằng Java, là 1 công nghệ WebNN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Jena có 1 tập công cụ dòng lệnh, ví dụ: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riot có thể chuyển đổi giữa các định dạng và thực hiện các suy diễn rdfs đơn giản.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riot --rdfs animal.ttl --formatted=ttl data.ttl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:      &lt;http://finin.org/example/#&gt;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rdf:   &lt;http://www.w3.org/1999/02/22-rdf-syntax-ns#&gt;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bio:   &lt;http://example.com/biology#&gt;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@prefix rdfs:  &lt;http://www.w3.org/2000/01/rdf-schema#&gt;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:</a:t>
            </a:r>
            <a:r>
              <a:rPr lang="en-GB" sz="2000"/>
              <a:t>m</a:t>
            </a:r>
            <a:r>
              <a:rPr lang="en-GB" sz="2000"/>
              <a:t>ilo   a              bio:Animal , bio:Cat 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   bio:offspring  :fido 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:fido   a       bio:Animal , bio:Dog .</a:t>
            </a:r>
            <a:endParaRPr sz="2000"/>
          </a:p>
        </p:txBody>
      </p:sp>
      <p:sp>
        <p:nvSpPr>
          <p:cNvPr id="713" name="Google Shape;713;p8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719" name="Google Shape;719;p9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3.1. Mô hình dữ liệu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3.2. Cú pháp RDF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3.3. Ontology đơn giản với RDFS</a:t>
            </a:r>
            <a:endParaRPr>
              <a:solidFill>
                <a:schemeClr val="dk1"/>
              </a:solidFill>
            </a:endParaRPr>
          </a:p>
          <a:p>
            <a:pPr indent="0" lvl="0" marL="0" marR="24765" rtl="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GB">
                <a:solidFill>
                  <a:schemeClr val="dk1"/>
                </a:solidFill>
              </a:rPr>
              <a:t>3.4. Biểu diễn các cấu trúc đặc biệt</a:t>
            </a:r>
            <a:endParaRPr sz="4000"/>
          </a:p>
        </p:txBody>
      </p:sp>
      <p:sp>
        <p:nvSpPr>
          <p:cNvPr id="720" name="Google Shape;720;p90"/>
          <p:cNvSpPr/>
          <p:nvPr/>
        </p:nvSpPr>
        <p:spPr>
          <a:xfrm>
            <a:off x="318450" y="2081475"/>
            <a:ext cx="5352900" cy="835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9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1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Câu thành phần/Reification</a:t>
            </a:r>
            <a:endParaRPr/>
          </a:p>
        </p:txBody>
      </p:sp>
      <p:sp>
        <p:nvSpPr>
          <p:cNvPr id="727" name="Google Shape;727;p9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Câu thành phần</a:t>
            </a:r>
            <a:endParaRPr/>
          </a:p>
        </p:txBody>
      </p:sp>
      <p:sp>
        <p:nvSpPr>
          <p:cNvPr id="733" name="Google Shape;733;p92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Câu thành phần - Reification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Có những</a:t>
            </a:r>
            <a:r>
              <a:rPr lang="en-GB"/>
              <a:t> trường hợp, chúng ta muốn viết các câu về những câu khác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đưa ra giả thuyết, mô tả nguồn của thông tin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John tin rằng Mary yêu John 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Theo dự báo của trung tâm khí tượng thủy văn, ngày mai trời nắng…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Cần b</a:t>
            </a:r>
            <a:r>
              <a:rPr lang="en-GB"/>
              <a:t>iểu diễn</a:t>
            </a:r>
            <a:r>
              <a:rPr lang="en-GB"/>
              <a:t> câu nh</a:t>
            </a:r>
            <a:r>
              <a:rPr lang="en-GB"/>
              <a:t>ư 1 tài nguyên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RDF cho phép m</a:t>
            </a:r>
            <a:r>
              <a:rPr lang="en-GB"/>
              <a:t>ô tả</a:t>
            </a:r>
            <a:r>
              <a:rPr lang="en-GB"/>
              <a:t> như vậy qua cơ chế Reification</a:t>
            </a:r>
            <a:endParaRPr/>
          </a:p>
        </p:txBody>
      </p:sp>
      <p:sp>
        <p:nvSpPr>
          <p:cNvPr id="734" name="Google Shape;734;p9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3.11. Câu thành phần</a:t>
            </a:r>
            <a:endParaRPr/>
          </a:p>
        </p:txBody>
      </p:sp>
      <p:sp>
        <p:nvSpPr>
          <p:cNvPr id="740" name="Google Shape;740;p93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:123 :name "Nguyen Van A"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Được tái cấu trúc lại như m</a:t>
            </a:r>
            <a:r>
              <a:rPr lang="en-GB"/>
              <a:t>ột tài nguyên như </a:t>
            </a:r>
            <a:r>
              <a:rPr lang="en-GB"/>
              <a:t>sau: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[a rdf:Statement;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rdf:subject :123;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rdf:predicate :name;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rdf:object "Nguyen Van A"] .</a:t>
            </a:r>
            <a:endParaRPr/>
          </a:p>
        </p:txBody>
      </p:sp>
      <p:sp>
        <p:nvSpPr>
          <p:cNvPr id="741" name="Google Shape;741;p9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3.11. Câu thành phần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747" name="Google Shape;747;p94"/>
          <p:cNvSpPr txBox="1"/>
          <p:nvPr>
            <p:ph idx="4294967295" type="body"/>
          </p:nvPr>
        </p:nvSpPr>
        <p:spPr>
          <a:xfrm>
            <a:off x="311700" y="927032"/>
            <a:ext cx="8520600" cy="6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Alice tin rằng Bob yêu Carol với độ chắc chắn = 0.5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94"/>
          <p:cNvSpPr txBox="1"/>
          <p:nvPr/>
        </p:nvSpPr>
        <p:spPr>
          <a:xfrm>
            <a:off x="724825" y="1366025"/>
            <a:ext cx="7833600" cy="3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@prefix ep: &lt;</a:t>
            </a:r>
            <a:r>
              <a:rPr lang="en-GB" sz="22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http://example.com/epistimology</a:t>
            </a: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&gt; 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@prefix rdf: &lt;http://www.w3.org/1999/02/22-rdf-syntax-ns#&gt;.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@prefix xsd: &lt;</a:t>
            </a:r>
            <a:r>
              <a:rPr lang="en-GB" sz="2200" u="sng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http://www.w3.org/2001/XMLSchema</a:t>
            </a: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&gt; .</a:t>
            </a:r>
            <a:b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@prefix : &lt;#&gt;.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:alice ep:believes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[a rdf:Statement;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rdf:subject :bob;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rdf:predicate :loves;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rdf:object :carol;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GB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:certainty "0.5"^^xsd:double</a:t>
            </a:r>
            <a:r>
              <a:rPr lang="en-GB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] .</a:t>
            </a:r>
            <a:endParaRPr sz="2200">
              <a:solidFill>
                <a:schemeClr val="dk2"/>
              </a:solidFill>
            </a:endParaRPr>
          </a:p>
        </p:txBody>
      </p:sp>
      <p:grpSp>
        <p:nvGrpSpPr>
          <p:cNvPr id="749" name="Google Shape;749;p94"/>
          <p:cNvGrpSpPr/>
          <p:nvPr/>
        </p:nvGrpSpPr>
        <p:grpSpPr>
          <a:xfrm>
            <a:off x="2488575" y="2629825"/>
            <a:ext cx="6558900" cy="3497650"/>
            <a:chOff x="2488575" y="2629825"/>
            <a:chExt cx="6558900" cy="3497650"/>
          </a:xfrm>
        </p:grpSpPr>
        <p:sp>
          <p:nvSpPr>
            <p:cNvPr id="750" name="Google Shape;750;p94"/>
            <p:cNvSpPr/>
            <p:nvPr/>
          </p:nvSpPr>
          <p:spPr>
            <a:xfrm>
              <a:off x="6597800" y="2629825"/>
              <a:ext cx="1301100" cy="669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18000" spcFirstLastPara="1" rIns="18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:</a:t>
              </a:r>
              <a:r>
                <a:rPr lang="en-GB" sz="2000"/>
                <a:t>alice</a:t>
              </a:r>
              <a:endParaRPr sz="2000"/>
            </a:p>
          </p:txBody>
        </p:sp>
        <p:sp>
          <p:nvSpPr>
            <p:cNvPr id="751" name="Google Shape;751;p94"/>
            <p:cNvSpPr/>
            <p:nvPr/>
          </p:nvSpPr>
          <p:spPr>
            <a:xfrm>
              <a:off x="6597800" y="3696625"/>
              <a:ext cx="1301100" cy="669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18000" spcFirstLastPara="1" rIns="18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_:1</a:t>
              </a:r>
              <a:endParaRPr sz="2000"/>
            </a:p>
          </p:txBody>
        </p:sp>
        <p:sp>
          <p:nvSpPr>
            <p:cNvPr id="752" name="Google Shape;752;p94"/>
            <p:cNvSpPr/>
            <p:nvPr/>
          </p:nvSpPr>
          <p:spPr>
            <a:xfrm>
              <a:off x="3994000" y="3010825"/>
              <a:ext cx="2248800" cy="669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18000" spcFirstLastPara="1" rIns="18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rdf</a:t>
              </a:r>
              <a:r>
                <a:rPr lang="en-GB" sz="2000"/>
                <a:t>:St</a:t>
              </a:r>
              <a:r>
                <a:rPr lang="en-GB" sz="2000"/>
                <a:t>atement</a:t>
              </a:r>
              <a:endParaRPr sz="2000"/>
            </a:p>
          </p:txBody>
        </p:sp>
        <p:sp>
          <p:nvSpPr>
            <p:cNvPr id="753" name="Google Shape;753;p94"/>
            <p:cNvSpPr/>
            <p:nvPr/>
          </p:nvSpPr>
          <p:spPr>
            <a:xfrm>
              <a:off x="4921400" y="5449225"/>
              <a:ext cx="1301100" cy="669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18000" spcFirstLastPara="1" rIns="18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:b</a:t>
              </a:r>
              <a:r>
                <a:rPr lang="en-GB" sz="2000"/>
                <a:t>ob</a:t>
              </a:r>
              <a:endParaRPr sz="2000"/>
            </a:p>
          </p:txBody>
        </p:sp>
        <p:sp>
          <p:nvSpPr>
            <p:cNvPr id="754" name="Google Shape;754;p94"/>
            <p:cNvSpPr/>
            <p:nvPr/>
          </p:nvSpPr>
          <p:spPr>
            <a:xfrm>
              <a:off x="6333888" y="5458475"/>
              <a:ext cx="1301100" cy="669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18000" spcFirstLastPara="1" rIns="18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:l</a:t>
              </a:r>
              <a:r>
                <a:rPr lang="en-GB" sz="2000"/>
                <a:t>oves</a:t>
              </a:r>
              <a:endParaRPr sz="2000"/>
            </a:p>
          </p:txBody>
        </p:sp>
        <p:sp>
          <p:nvSpPr>
            <p:cNvPr id="755" name="Google Shape;755;p94"/>
            <p:cNvSpPr/>
            <p:nvPr/>
          </p:nvSpPr>
          <p:spPr>
            <a:xfrm>
              <a:off x="7746375" y="5458475"/>
              <a:ext cx="1301100" cy="669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6000" lIns="18000" spcFirstLastPara="1" rIns="18000" wrap="square" tIns="36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:c</a:t>
              </a:r>
              <a:r>
                <a:rPr lang="en-GB" sz="2000"/>
                <a:t>arol</a:t>
              </a:r>
              <a:endParaRPr sz="2000"/>
            </a:p>
          </p:txBody>
        </p:sp>
        <p:sp>
          <p:nvSpPr>
            <p:cNvPr id="756" name="Google Shape;756;p94"/>
            <p:cNvSpPr/>
            <p:nvPr/>
          </p:nvSpPr>
          <p:spPr>
            <a:xfrm>
              <a:off x="2488575" y="5482675"/>
              <a:ext cx="2193000" cy="557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18000" spcFirstLastPara="1" rIns="18000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latin typeface="Calibri"/>
                  <a:ea typeface="Calibri"/>
                  <a:cs typeface="Calibri"/>
                  <a:sym typeface="Calibri"/>
                </a:rPr>
                <a:t>"0.5</a:t>
              </a:r>
              <a:r>
                <a:rPr lang="en-GB" sz="2000">
                  <a:latin typeface="Calibri"/>
                  <a:ea typeface="Calibri"/>
                  <a:cs typeface="Calibri"/>
                  <a:sym typeface="Calibri"/>
                </a:rPr>
                <a:t>"^^xsd:double</a:t>
              </a:r>
              <a:endParaRPr sz="2000"/>
            </a:p>
          </p:txBody>
        </p:sp>
        <p:cxnSp>
          <p:nvCxnSpPr>
            <p:cNvPr id="757" name="Google Shape;757;p94"/>
            <p:cNvCxnSpPr>
              <a:stCxn id="750" idx="4"/>
              <a:endCxn id="751" idx="0"/>
            </p:cNvCxnSpPr>
            <p:nvPr/>
          </p:nvCxnSpPr>
          <p:spPr>
            <a:xfrm>
              <a:off x="7248350" y="3298825"/>
              <a:ext cx="0" cy="39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8" name="Google Shape;758;p94"/>
            <p:cNvCxnSpPr>
              <a:stCxn id="751" idx="5"/>
              <a:endCxn id="755" idx="0"/>
            </p:cNvCxnSpPr>
            <p:nvPr/>
          </p:nvCxnSpPr>
          <p:spPr>
            <a:xfrm>
              <a:off x="7708358" y="4267652"/>
              <a:ext cx="688500" cy="1190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59" name="Google Shape;759;p94"/>
            <p:cNvCxnSpPr>
              <a:stCxn id="751" idx="4"/>
              <a:endCxn id="754" idx="0"/>
            </p:cNvCxnSpPr>
            <p:nvPr/>
          </p:nvCxnSpPr>
          <p:spPr>
            <a:xfrm flipH="1">
              <a:off x="6984350" y="4365625"/>
              <a:ext cx="264000" cy="109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0" name="Google Shape;760;p94"/>
            <p:cNvCxnSpPr>
              <a:stCxn id="751" idx="3"/>
              <a:endCxn id="753" idx="0"/>
            </p:cNvCxnSpPr>
            <p:nvPr/>
          </p:nvCxnSpPr>
          <p:spPr>
            <a:xfrm flipH="1">
              <a:off x="5571842" y="4267652"/>
              <a:ext cx="1216500" cy="118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1" name="Google Shape;761;p94"/>
            <p:cNvCxnSpPr>
              <a:stCxn id="751" idx="2"/>
              <a:endCxn id="756" idx="0"/>
            </p:cNvCxnSpPr>
            <p:nvPr/>
          </p:nvCxnSpPr>
          <p:spPr>
            <a:xfrm flipH="1">
              <a:off x="3585200" y="4031125"/>
              <a:ext cx="3012600" cy="145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62" name="Google Shape;762;p94"/>
            <p:cNvCxnSpPr>
              <a:stCxn id="751" idx="1"/>
              <a:endCxn id="752" idx="5"/>
            </p:cNvCxnSpPr>
            <p:nvPr/>
          </p:nvCxnSpPr>
          <p:spPr>
            <a:xfrm rot="10800000">
              <a:off x="5913542" y="3581898"/>
              <a:ext cx="874800" cy="21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3" name="Google Shape;763;p94"/>
            <p:cNvSpPr txBox="1"/>
            <p:nvPr/>
          </p:nvSpPr>
          <p:spPr>
            <a:xfrm>
              <a:off x="7257575" y="3326775"/>
              <a:ext cx="1574700" cy="4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ep:believes</a:t>
              </a:r>
              <a:endParaRPr sz="2000"/>
            </a:p>
          </p:txBody>
        </p:sp>
        <p:sp>
          <p:nvSpPr>
            <p:cNvPr id="764" name="Google Shape;764;p94"/>
            <p:cNvSpPr txBox="1"/>
            <p:nvPr/>
          </p:nvSpPr>
          <p:spPr>
            <a:xfrm>
              <a:off x="5504975" y="3555375"/>
              <a:ext cx="1574700" cy="4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rdf:type</a:t>
              </a:r>
              <a:endParaRPr sz="2000"/>
            </a:p>
          </p:txBody>
        </p:sp>
        <p:sp>
          <p:nvSpPr>
            <p:cNvPr id="765" name="Google Shape;765;p94"/>
            <p:cNvSpPr txBox="1"/>
            <p:nvPr/>
          </p:nvSpPr>
          <p:spPr>
            <a:xfrm>
              <a:off x="4742975" y="4774575"/>
              <a:ext cx="1574700" cy="4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rdf:subject</a:t>
              </a:r>
              <a:endParaRPr sz="2000"/>
            </a:p>
          </p:txBody>
        </p:sp>
        <p:sp>
          <p:nvSpPr>
            <p:cNvPr id="766" name="Google Shape;766;p94"/>
            <p:cNvSpPr txBox="1"/>
            <p:nvPr/>
          </p:nvSpPr>
          <p:spPr>
            <a:xfrm>
              <a:off x="5733575" y="5003175"/>
              <a:ext cx="1710000" cy="4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rdf:predicate</a:t>
              </a:r>
              <a:endParaRPr sz="2000"/>
            </a:p>
          </p:txBody>
        </p:sp>
        <p:sp>
          <p:nvSpPr>
            <p:cNvPr id="767" name="Google Shape;767;p94"/>
            <p:cNvSpPr txBox="1"/>
            <p:nvPr/>
          </p:nvSpPr>
          <p:spPr>
            <a:xfrm>
              <a:off x="7181375" y="4774575"/>
              <a:ext cx="1574700" cy="4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rdf:object</a:t>
              </a:r>
              <a:endParaRPr sz="2000"/>
            </a:p>
          </p:txBody>
        </p:sp>
        <p:sp>
          <p:nvSpPr>
            <p:cNvPr id="768" name="Google Shape;768;p94"/>
            <p:cNvSpPr txBox="1"/>
            <p:nvPr/>
          </p:nvSpPr>
          <p:spPr>
            <a:xfrm>
              <a:off x="2914175" y="4774575"/>
              <a:ext cx="1574700" cy="4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/>
                <a:t>ex:certainty</a:t>
              </a:r>
              <a:endParaRPr sz="2000"/>
            </a:p>
          </p:txBody>
        </p:sp>
      </p:grpSp>
      <p:sp>
        <p:nvSpPr>
          <p:cNvPr id="769" name="Google Shape;769;p9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0" name="Google Shape;770;p94"/>
          <p:cNvSpPr txBox="1"/>
          <p:nvPr/>
        </p:nvSpPr>
        <p:spPr>
          <a:xfrm>
            <a:off x="311700" y="6130975"/>
            <a:ext cx="8357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rgbClr val="1155CC"/>
                </a:solidFill>
              </a:rPr>
              <a:t>Biểu diễn câu Mary tin rằng Bob yêu Carol với độ chắc chắn = 0.8</a:t>
            </a:r>
            <a:endParaRPr i="1" sz="22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ấu trúc nhóm/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Nh</a:t>
            </a:r>
            <a:r>
              <a:rPr lang="en-GB"/>
              <a:t>óm tài nguyên</a:t>
            </a:r>
            <a:endParaRPr/>
          </a:p>
        </p:txBody>
      </p:sp>
      <p:sp>
        <p:nvSpPr>
          <p:cNvPr id="776" name="Google Shape;776;p9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9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thành phần của cấu trúc nh</a:t>
            </a:r>
            <a:r>
              <a:rPr lang="en-GB"/>
              <a:t>óm</a:t>
            </a:r>
            <a:endParaRPr/>
          </a:p>
        </p:txBody>
      </p:sp>
      <p:sp>
        <p:nvSpPr>
          <p:cNvPr id="782" name="Google Shape;782;p96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RDF có </a:t>
            </a:r>
            <a:r>
              <a:rPr lang="en-GB"/>
              <a:t>các</a:t>
            </a:r>
            <a:r>
              <a:rPr lang="en-GB"/>
              <a:t> từ </a:t>
            </a:r>
            <a:r>
              <a:rPr lang="en-GB"/>
              <a:t>khóa để</a:t>
            </a:r>
            <a:r>
              <a:rPr lang="en-GB"/>
              <a:t> mô tả các nhóm và viết các câu về nhóm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Ví dụ, chúng ta muốn diễn đạt thông tin 1 giảng viên dạy </a:t>
            </a:r>
            <a:r>
              <a:rPr lang="en-GB"/>
              <a:t>nhiều</a:t>
            </a:r>
            <a:r>
              <a:rPr lang="en-GB"/>
              <a:t> khóa học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thành phần của nhóm được ký hiệu rdf:_1, rdf:_2, v.v..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Tương đương với rdf:li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:john :teaches [a rdf:Bag; rdf:li :cmsc201, :cmsc202, :cmsc345 ] .</a:t>
            </a:r>
            <a:endParaRPr/>
          </a:p>
        </p:txBody>
      </p:sp>
      <p:sp>
        <p:nvSpPr>
          <p:cNvPr id="783" name="Google Shape;783;p9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9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 loại cấu trúc nh</a:t>
            </a:r>
            <a:r>
              <a:rPr lang="en-GB"/>
              <a:t>óm</a:t>
            </a:r>
            <a:endParaRPr/>
          </a:p>
        </p:txBody>
      </p:sp>
      <p:sp>
        <p:nvSpPr>
          <p:cNvPr id="789" name="Google Shape;789;p97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rdf:Bag - </a:t>
            </a:r>
            <a:r>
              <a:rPr lang="en-GB"/>
              <a:t>một cấu trúc nh</a:t>
            </a:r>
            <a:r>
              <a:rPr lang="en-GB"/>
              <a:t>óm</a:t>
            </a:r>
            <a:r>
              <a:rPr lang="en-GB"/>
              <a:t> không thứ tự, cho phép ph</a:t>
            </a:r>
            <a:r>
              <a:rPr lang="en-GB"/>
              <a:t>ần tử</a:t>
            </a:r>
            <a:r>
              <a:rPr lang="en-GB"/>
              <a:t> xuất hiện nhiều lần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c</a:t>
            </a:r>
            <a:r>
              <a:rPr lang="en-GB"/>
              <a:t>ác sinh viên trong lớp</a:t>
            </a:r>
            <a:r>
              <a:rPr lang="en-GB"/>
              <a:t>, các tệp trong một thư mục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rdf:Seq - </a:t>
            </a:r>
            <a:r>
              <a:rPr lang="en-GB"/>
              <a:t>một cấu trúc nh</a:t>
            </a:r>
            <a:r>
              <a:rPr lang="en-GB"/>
              <a:t>óm</a:t>
            </a:r>
            <a:r>
              <a:rPr lang="en-GB"/>
              <a:t> có thứ tự, một phần tử có thể xuất hiện nhiều lần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các mô-đun của một khóa </a:t>
            </a:r>
            <a:r>
              <a:rPr lang="en-GB"/>
              <a:t>đào tạo</a:t>
            </a:r>
            <a:r>
              <a:rPr lang="en-GB"/>
              <a:t>, danh sách sinh viên đã sắp xếp theo tên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/>
              <a:t>rdf:Alt - </a:t>
            </a:r>
            <a:r>
              <a:rPr lang="en-GB"/>
              <a:t>m</a:t>
            </a:r>
            <a:r>
              <a:rPr lang="en-GB"/>
              <a:t>ột tập các phần tử tương đương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ví dụ, một trang web và các ảnh của nó, các bản in của cùng một cuốn sách</a:t>
            </a:r>
            <a:endParaRPr/>
          </a:p>
        </p:txBody>
      </p:sp>
      <p:sp>
        <p:nvSpPr>
          <p:cNvPr id="790" name="Google Shape;790;p9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9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3.12. Bag</a:t>
            </a:r>
            <a:endParaRPr/>
          </a:p>
        </p:txBody>
      </p:sp>
      <p:sp>
        <p:nvSpPr>
          <p:cNvPr id="796" name="Google Shape;796;p98"/>
          <p:cNvSpPr txBox="1"/>
          <p:nvPr>
            <p:ph idx="4294967295" type="body"/>
          </p:nvPr>
        </p:nvSpPr>
        <p:spPr>
          <a:xfrm>
            <a:off x="311700" y="850832"/>
            <a:ext cx="85206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 tả danh sách sinh viên của 1 khóa học</a:t>
            </a:r>
            <a:endParaRPr/>
          </a:p>
        </p:txBody>
      </p:sp>
      <p:pic>
        <p:nvPicPr>
          <p:cNvPr id="797" name="Google Shape;797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2400" y="1447800"/>
            <a:ext cx="736600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9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9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3.12. Bag - định dạng turtle</a:t>
            </a:r>
            <a:endParaRPr/>
          </a:p>
        </p:txBody>
      </p:sp>
      <p:sp>
        <p:nvSpPr>
          <p:cNvPr id="804" name="Google Shape;804;p99"/>
          <p:cNvSpPr txBox="1"/>
          <p:nvPr>
            <p:ph idx="4294967295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rdf: &lt;http://www.w3.org/1999/02/22-rdf-syntax-ns#&gt;.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s:   &lt;http://example.org/students/vocab#&gt;.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&lt;http://example.org/courses/6.001&gt;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s:students [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a rdf:Bag;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rdf:_1 &lt;http://example.org/students/Amy&gt;;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rdf:_2 &lt;http://example.org/students/Mohamed&gt;;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rdf:_3 &lt;http://example.org/students/Johann&gt;;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rdf:_4 &lt;http://example.org/students/Maria&gt;;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rdf:_5 &lt;http://example.org/students/Phuong&gt;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].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05" name="Google Shape;805;p9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0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</a:t>
            </a:r>
            <a:r>
              <a:rPr lang="en-GB"/>
              <a:t>3</a:t>
            </a:r>
            <a:r>
              <a:rPr lang="en-GB"/>
              <a:t>. </a:t>
            </a:r>
            <a:r>
              <a:rPr lang="en-GB"/>
              <a:t>Seq</a:t>
            </a:r>
            <a:endParaRPr/>
          </a:p>
        </p:txBody>
      </p:sp>
      <p:sp>
        <p:nvSpPr>
          <p:cNvPr id="811" name="Google Shape;811;p100"/>
          <p:cNvSpPr txBox="1"/>
          <p:nvPr>
            <p:ph idx="4294967295" type="body"/>
          </p:nvPr>
        </p:nvSpPr>
        <p:spPr>
          <a:xfrm>
            <a:off x="311700" y="850832"/>
            <a:ext cx="85206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 tả danh sách sinh viên của 1 khóa học</a:t>
            </a:r>
            <a:endParaRPr/>
          </a:p>
        </p:txBody>
      </p:sp>
      <p:sp>
        <p:nvSpPr>
          <p:cNvPr id="812" name="Google Shape;812;p10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13" name="Google Shape;81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650" y="1363582"/>
            <a:ext cx="7600698" cy="5092468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00"/>
          <p:cNvSpPr txBox="1"/>
          <p:nvPr/>
        </p:nvSpPr>
        <p:spPr>
          <a:xfrm>
            <a:off x="185275" y="5396600"/>
            <a:ext cx="36519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B5394"/>
                </a:solidFill>
              </a:rPr>
              <a:t>Biểu diễn đồ thị của Seq tương tự như Bag</a:t>
            </a:r>
            <a:endParaRPr i="1" sz="20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0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3.13. Seq - định dạng turtle</a:t>
            </a:r>
            <a:endParaRPr/>
          </a:p>
        </p:txBody>
      </p:sp>
      <p:sp>
        <p:nvSpPr>
          <p:cNvPr id="820" name="Google Shape;820;p101"/>
          <p:cNvSpPr txBox="1"/>
          <p:nvPr>
            <p:ph idx="4294967295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rdf: &lt;http://www.w3.org/1999/02/22-rdf-syntax-ns#&gt;.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s:   &lt;http://example.org/students/vocab#&gt;.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&lt;http://example.org/courses/6.001&gt;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s:students [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a rdf:Seq;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rdf:_1 &lt;http://example.org/students/Amy&gt;;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rdf:_2 &lt;http://example.org/students/Mohamed&gt;;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rdf:_3 &lt;http://example.org/students/Johann&gt;;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rdf:_4 &lt;http://example.org/students/Maria&gt;;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rdf:_5 &lt;http://example.org/students/Phuong&gt;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].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21" name="Google Shape;821;p101"/>
          <p:cNvSpPr txBox="1"/>
          <p:nvPr/>
        </p:nvSpPr>
        <p:spPr>
          <a:xfrm>
            <a:off x="2746050" y="5576000"/>
            <a:ext cx="5756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B5394"/>
                </a:solidFill>
              </a:rPr>
              <a:t>Cú pháp của </a:t>
            </a:r>
            <a:r>
              <a:rPr lang="en-GB" sz="2000">
                <a:solidFill>
                  <a:srgbClr val="0B5394"/>
                </a:solidFill>
              </a:rPr>
              <a:t>Seq</a:t>
            </a:r>
            <a:r>
              <a:rPr i="1" lang="en-GB" sz="2000">
                <a:solidFill>
                  <a:srgbClr val="0B5394"/>
                </a:solidFill>
              </a:rPr>
              <a:t> tương tự như </a:t>
            </a:r>
            <a:r>
              <a:rPr lang="en-GB" sz="2000">
                <a:solidFill>
                  <a:srgbClr val="0B5394"/>
                </a:solidFill>
              </a:rPr>
              <a:t>Bag</a:t>
            </a:r>
            <a:r>
              <a:rPr i="1" lang="en-GB" sz="2000">
                <a:solidFill>
                  <a:srgbClr val="0B5394"/>
                </a:solidFill>
              </a:rPr>
              <a:t>, </a:t>
            </a:r>
            <a:r>
              <a:rPr lang="en-GB" sz="2000">
                <a:solidFill>
                  <a:srgbClr val="0B5394"/>
                </a:solidFill>
              </a:rPr>
              <a:t>nhãn lớp Seq nhấn mạnh tính quan trọng của số thứ tự.</a:t>
            </a:r>
            <a:endParaRPr sz="2000">
              <a:solidFill>
                <a:srgbClr val="0B5394"/>
              </a:solidFill>
            </a:endParaRPr>
          </a:p>
        </p:txBody>
      </p:sp>
      <p:sp>
        <p:nvSpPr>
          <p:cNvPr id="822" name="Google Shape;822;p10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99" y="769523"/>
            <a:ext cx="7770300" cy="40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10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Ví dụ 3.1</a:t>
            </a:r>
            <a:r>
              <a:rPr lang="en-GB"/>
              <a:t>4</a:t>
            </a:r>
            <a:r>
              <a:rPr lang="en-GB"/>
              <a:t>. Alt </a:t>
            </a:r>
            <a:endParaRPr/>
          </a:p>
        </p:txBody>
      </p:sp>
      <p:sp>
        <p:nvSpPr>
          <p:cNvPr id="829" name="Google Shape;829;p102"/>
          <p:cNvSpPr txBox="1"/>
          <p:nvPr/>
        </p:nvSpPr>
        <p:spPr>
          <a:xfrm>
            <a:off x="224875" y="4643025"/>
            <a:ext cx="70644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@prefix rdf: &lt;http://www.w3.org/1999/02/22-rdf-syntax-ns#&gt;.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@prefix s:   &lt;http://example.org/packages/vocab#&gt;.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&lt;http://example.org/packages/X11&gt;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    s:distributionSite [a rdf:Alt;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        rdf:_1 &lt;ftp://ftp.example.org&gt;;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        rdf:_2 &lt;ftp://ftp1.example.org&gt;;</a:t>
            </a:r>
            <a:endParaRPr sz="18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</a:rPr>
              <a:t>        rdf:_3 &lt;ftp://ftp2.example.org&gt;   ].</a:t>
            </a:r>
            <a:endParaRPr sz="1800">
              <a:solidFill>
                <a:srgbClr val="434343"/>
              </a:solidFill>
            </a:endParaRPr>
          </a:p>
        </p:txBody>
      </p:sp>
      <p:sp>
        <p:nvSpPr>
          <p:cNvPr id="830" name="Google Shape;830;p10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1" name="Google Shape;831;p102"/>
          <p:cNvSpPr txBox="1"/>
          <p:nvPr/>
        </p:nvSpPr>
        <p:spPr>
          <a:xfrm>
            <a:off x="4483100" y="5382650"/>
            <a:ext cx="44523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0B5394"/>
                </a:solidFill>
              </a:rPr>
              <a:t>Cú pháp của </a:t>
            </a:r>
            <a:r>
              <a:rPr lang="en-GB" sz="2000">
                <a:solidFill>
                  <a:srgbClr val="0B5394"/>
                </a:solidFill>
              </a:rPr>
              <a:t>Alt</a:t>
            </a:r>
            <a:r>
              <a:rPr i="1" lang="en-GB" sz="2000">
                <a:solidFill>
                  <a:srgbClr val="0B5394"/>
                </a:solidFill>
              </a:rPr>
              <a:t> tương tự như </a:t>
            </a:r>
            <a:r>
              <a:rPr lang="en-GB" sz="2000">
                <a:solidFill>
                  <a:srgbClr val="0B5394"/>
                </a:solidFill>
              </a:rPr>
              <a:t>Bag </a:t>
            </a:r>
            <a:r>
              <a:rPr lang="en-GB" sz="2000">
                <a:solidFill>
                  <a:srgbClr val="0B5394"/>
                </a:solidFill>
              </a:rPr>
              <a:t>và Seq</a:t>
            </a:r>
            <a:r>
              <a:rPr i="1" lang="en-GB" sz="2000">
                <a:solidFill>
                  <a:srgbClr val="0B5394"/>
                </a:solidFill>
              </a:rPr>
              <a:t>, </a:t>
            </a:r>
            <a:r>
              <a:rPr lang="en-GB" sz="2000">
                <a:solidFill>
                  <a:srgbClr val="0B5394"/>
                </a:solidFill>
              </a:rPr>
              <a:t>nhãn lớp </a:t>
            </a:r>
            <a:r>
              <a:rPr lang="en-GB" sz="2000">
                <a:solidFill>
                  <a:srgbClr val="0B5394"/>
                </a:solidFill>
              </a:rPr>
              <a:t>Alt</a:t>
            </a:r>
            <a:r>
              <a:rPr lang="en-GB" sz="2000">
                <a:solidFill>
                  <a:srgbClr val="0B5394"/>
                </a:solidFill>
              </a:rPr>
              <a:t> </a:t>
            </a:r>
            <a:r>
              <a:rPr lang="en-GB" sz="2000">
                <a:solidFill>
                  <a:srgbClr val="0B5394"/>
                </a:solidFill>
              </a:rPr>
              <a:t>gợi ý chọn 1 trong các phương án</a:t>
            </a:r>
            <a:r>
              <a:rPr lang="en-GB" sz="2000">
                <a:solidFill>
                  <a:srgbClr val="0B5394"/>
                </a:solidFill>
              </a:rPr>
              <a:t>.</a:t>
            </a:r>
            <a:endParaRPr sz="20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03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Bag, </a:t>
            </a:r>
            <a:r>
              <a:rPr lang="en-GB"/>
              <a:t>Seq, và Alt</a:t>
            </a:r>
            <a:r>
              <a:rPr lang="en-GB"/>
              <a:t> không bao giờ đầy</a:t>
            </a:r>
            <a:endParaRPr/>
          </a:p>
        </p:txBody>
      </p:sp>
      <p:sp>
        <p:nvSpPr>
          <p:cNvPr id="837" name="Google Shape;837;p103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cấu trúc Bag, Seq </a:t>
            </a:r>
            <a:r>
              <a:rPr lang="en-GB"/>
              <a:t>và Alt </a:t>
            </a:r>
            <a:r>
              <a:rPr lang="en-GB"/>
              <a:t>luôn mở: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thể "đóng" c</a:t>
            </a:r>
            <a:r>
              <a:rPr lang="en-GB"/>
              <a:t>ác nhóm và </a:t>
            </a:r>
            <a:r>
              <a:rPr lang="en-GB"/>
              <a:t>tuyên bố: "Đây là tất cả các phần tử, ng</a:t>
            </a:r>
            <a:r>
              <a:rPr lang="en-GB"/>
              <a:t>oài ra </a:t>
            </a:r>
            <a:r>
              <a:rPr lang="en-GB"/>
              <a:t>không có phần tử nào khác nữa"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i="1" lang="en-GB"/>
              <a:t>Không có từ khóa cho việc này.</a:t>
            </a:r>
            <a:endParaRPr i="1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RDF là m</a:t>
            </a:r>
            <a:r>
              <a:rPr lang="en-GB"/>
              <a:t>ô hình dữ liệu</a:t>
            </a:r>
            <a:r>
              <a:rPr lang="en-GB"/>
              <a:t> đồ thị</a:t>
            </a:r>
            <a:r>
              <a:rPr lang="en-GB"/>
              <a:t>, </a:t>
            </a:r>
            <a:r>
              <a:rPr lang="en-GB"/>
              <a:t>không có cách nào để loại trừ khả năng một đồ thị khác có thể bổ xung thêm các phần tử mới.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Danh sách - L</a:t>
            </a:r>
            <a:r>
              <a:rPr lang="en-GB"/>
              <a:t>ist, </a:t>
            </a:r>
            <a:r>
              <a:rPr lang="en-GB"/>
              <a:t>là các cấu trúc nh</a:t>
            </a:r>
            <a:r>
              <a:rPr lang="en-GB"/>
              <a:t>óm</a:t>
            </a:r>
            <a:r>
              <a:rPr lang="en-GB"/>
              <a:t> </a:t>
            </a:r>
            <a:r>
              <a:rPr lang="en-GB"/>
              <a:t>đóng, </a:t>
            </a:r>
            <a:r>
              <a:rPr lang="en-GB"/>
              <a:t>chỉ có các phần tử được liệt kê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Được mô tả theo khuôn mẫu danh sách liên kết: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rdf:List, rdf:first, rdf:rest, rdf:nil</a:t>
            </a:r>
            <a:endParaRPr/>
          </a:p>
        </p:txBody>
      </p:sp>
      <p:sp>
        <p:nvSpPr>
          <p:cNvPr id="838" name="Google Shape;838;p10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0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</a:t>
            </a:r>
            <a:r>
              <a:rPr lang="en-GB"/>
              <a:t>iả thuyết</a:t>
            </a:r>
            <a:r>
              <a:rPr lang="en-GB"/>
              <a:t> kh</a:t>
            </a:r>
            <a:r>
              <a:rPr lang="en-GB"/>
              <a:t>ông gian</a:t>
            </a:r>
            <a:r>
              <a:rPr lang="en-GB"/>
              <a:t> mở vs. đóng</a:t>
            </a:r>
            <a:endParaRPr/>
          </a:p>
        </p:txBody>
      </p:sp>
      <p:sp>
        <p:nvSpPr>
          <p:cNvPr id="844" name="Google Shape;844;p104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hệ thống suy diễn phân biệt giữa c</a:t>
            </a:r>
            <a:r>
              <a:rPr lang="en-GB"/>
              <a:t>ác giả thuyết không gian</a:t>
            </a:r>
            <a:r>
              <a:rPr lang="en-GB"/>
              <a:t> mở và kh</a:t>
            </a:r>
            <a:r>
              <a:rPr lang="en-GB"/>
              <a:t>ông gian </a:t>
            </a:r>
            <a:r>
              <a:rPr lang="en-GB"/>
              <a:t>đóng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</a:t>
            </a:r>
            <a:r>
              <a:rPr lang="en-GB"/>
              <a:t>ông gian</a:t>
            </a:r>
            <a:r>
              <a:rPr lang="en-GB"/>
              <a:t> mở - OWA, Open World Assumption, c</a:t>
            </a:r>
            <a:r>
              <a:rPr lang="en-GB"/>
              <a:t>oi cơ sở tri thức luôn ở trạng thái chưa đầy đủ.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Nếu </a:t>
            </a:r>
            <a:r>
              <a:rPr lang="en-GB"/>
              <a:t>không thể chứng minh m</a:t>
            </a:r>
            <a:r>
              <a:rPr lang="en-GB"/>
              <a:t>ột khẳng định</a:t>
            </a:r>
            <a:r>
              <a:rPr lang="en-GB"/>
              <a:t> là đúng hoặc sai, th</a:t>
            </a:r>
            <a:r>
              <a:rPr lang="en-GB"/>
              <a:t>ì coi như không biết giá trị chân lý của khẳng định đó.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gian đóng - CWS, Close World Assumption, c</a:t>
            </a:r>
            <a:r>
              <a:rPr lang="en-GB"/>
              <a:t>oi cơ sở tri thức đã ở trạng thái hoàn thiện.</a:t>
            </a:r>
            <a:r>
              <a:rPr lang="en-GB"/>
              <a:t>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Tất cả những gì không thể chứng minh là đúng </a:t>
            </a:r>
            <a:r>
              <a:rPr lang="en-GB"/>
              <a:t>được coi là</a:t>
            </a:r>
            <a:r>
              <a:rPr lang="en-GB"/>
              <a:t> sai.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</a:t>
            </a:r>
            <a:r>
              <a:rPr lang="en-GB"/>
              <a:t>ô hình ngữ nghĩa</a:t>
            </a:r>
            <a:r>
              <a:rPr lang="en-GB"/>
              <a:t> mặc định cho Web ngữ nghĩa </a:t>
            </a:r>
            <a:r>
              <a:rPr lang="en-GB"/>
              <a:t>được dựa trên</a:t>
            </a:r>
            <a:r>
              <a:rPr lang="en-GB"/>
              <a:t> OWA</a:t>
            </a:r>
            <a:endParaRPr/>
          </a:p>
        </p:txBody>
      </p:sp>
      <p:sp>
        <p:nvSpPr>
          <p:cNvPr id="845" name="Google Shape;845;p10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Ngữ nghĩa kh</a:t>
            </a:r>
            <a:r>
              <a:rPr lang="en-GB"/>
              <a:t>ông gian</a:t>
            </a:r>
            <a:r>
              <a:rPr lang="en-GB"/>
              <a:t> mở vs đóng</a:t>
            </a:r>
            <a:endParaRPr/>
          </a:p>
        </p:txBody>
      </p:sp>
      <p:sp>
        <p:nvSpPr>
          <p:cNvPr id="851" name="Google Shape;851;p10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Lô-gic cổ điển sử dụng ngữ nghĩa không gian mở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Nếu không thể chứng minh P </a:t>
            </a:r>
            <a:r>
              <a:rPr lang="en-GB"/>
              <a:t>hoặc</a:t>
            </a:r>
            <a:r>
              <a:rPr lang="en-GB"/>
              <a:t> NP thì không ph</a:t>
            </a:r>
            <a:r>
              <a:rPr lang="en-GB"/>
              <a:t>ủ nhận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HQT CSDL thường áp dụng CWS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Nếu không tìm thấy đơn hàng nào nghĩa là chưa mua hàng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Toán tử </a:t>
            </a:r>
            <a:r>
              <a:rPr lang="en-GB"/>
              <a:t>không thể chứng minh trong thời điểm hiện tại </a:t>
            </a:r>
            <a:r>
              <a:rPr lang="en-GB"/>
              <a:t>(</a:t>
            </a:r>
            <a:r>
              <a:rPr lang="en-GB"/>
              <a:t>ví dụ </a:t>
            </a:r>
            <a:r>
              <a:rPr lang="en-GB"/>
              <a:t>\+ trong Prolog) hỗ trợ CWS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fly(x) :- bird(x), \+flightless(x) .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flightless(x) :- penguin(x); ostrich(x); emu(x) 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Một số hệ thống cho phép chúng ta chỉ ra khẳng định nào chúng ta đã có đủ thông tin, khẳng định nào chưa có đủ thông tin.</a:t>
            </a:r>
            <a:endParaRPr/>
          </a:p>
        </p:txBody>
      </p:sp>
      <p:sp>
        <p:nvSpPr>
          <p:cNvPr id="852" name="Google Shape;852;p10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10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3.14. </a:t>
            </a:r>
            <a:r>
              <a:rPr lang="en-GB"/>
              <a:t>Danh sách RDF</a:t>
            </a:r>
            <a:endParaRPr/>
          </a:p>
        </p:txBody>
      </p:sp>
      <p:sp>
        <p:nvSpPr>
          <p:cNvPr id="858" name="Google Shape;858;p106"/>
          <p:cNvSpPr txBox="1"/>
          <p:nvPr>
            <p:ph idx="4294967295" type="body"/>
          </p:nvPr>
        </p:nvSpPr>
        <p:spPr>
          <a:xfrm>
            <a:off x="311700" y="927032"/>
            <a:ext cx="8520600" cy="6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Một danh sách của 3 sinh viên trong lớp</a:t>
            </a:r>
            <a:endParaRPr/>
          </a:p>
        </p:txBody>
      </p:sp>
      <p:pic>
        <p:nvPicPr>
          <p:cNvPr id="859" name="Google Shape;859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8600" y="1454150"/>
            <a:ext cx="6604000" cy="5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10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07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3.15. </a:t>
            </a:r>
            <a:r>
              <a:rPr lang="en-GB"/>
              <a:t>Danh sách RDF</a:t>
            </a:r>
            <a:endParaRPr/>
          </a:p>
        </p:txBody>
      </p:sp>
      <p:sp>
        <p:nvSpPr>
          <p:cNvPr id="866" name="Google Shape;866;p107"/>
          <p:cNvSpPr txBox="1"/>
          <p:nvPr>
            <p:ph idx="4294967295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0988" lvl="0" marL="2809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rdf: &lt;http://www.w3.org/1999/02/22-rdf-syntax-ns#&gt;.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s:   &lt;http://example.org/students/vocab#&gt;.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&lt;http://example.org/courses/6.001&gt;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s:students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[a rdf:List;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rdf:first &lt;http://example.org/students/Amy&gt;;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rdf:rest [a rdf:list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rdf:first &lt;http://example.org/students/Mohamed&gt;;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rdf:rest [a rdf:List;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                rdf:first &lt;http://example.org/students/Johann&gt;;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                     rdf:rest rdf:nil ] ] ] .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67" name="Google Shape;867;p10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0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</a:t>
            </a:r>
            <a:r>
              <a:rPr lang="en-GB"/>
              <a:t>í dụ 3.15. </a:t>
            </a:r>
            <a:r>
              <a:rPr lang="en-GB"/>
              <a:t>Danh sách RDF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873" name="Google Shape;873;p10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# </a:t>
            </a:r>
            <a:r>
              <a:rPr lang="en-GB" sz="2200">
                <a:solidFill>
                  <a:srgbClr val="434343"/>
                </a:solidFill>
              </a:rPr>
              <a:t>Turtle có một cấu trúc riêng để biểu diễn danh sách: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rdf: &lt;http://www.w3.org/1999/02/22-rdf-syntax-ns#&gt;.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@prefix s:   &lt;http://example.org/students/vocab#&gt;.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&lt;http://example.org/courses/6.001&gt;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s:students (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&lt;http://example.org/students/Amy&gt;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&lt;http://example.org/students/Mohamed&gt;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    &lt;http://example.org/students/Johann&gt;</a:t>
            </a:r>
            <a:endParaRPr sz="2200">
              <a:solidFill>
                <a:srgbClr val="434343"/>
              </a:solidFill>
            </a:endParaRPr>
          </a:p>
          <a:p>
            <a:pPr indent="-280988" lvl="0" marL="280988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434343"/>
                </a:solidFill>
              </a:rPr>
              <a:t>    ).</a:t>
            </a:r>
            <a:endParaRPr sz="2200">
              <a:solidFill>
                <a:srgbClr val="434343"/>
              </a:solidFill>
            </a:endParaRPr>
          </a:p>
        </p:txBody>
      </p:sp>
      <p:sp>
        <p:nvSpPr>
          <p:cNvPr id="874" name="Google Shape;874;p10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0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0" name="Google Shape;880;p109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</a:t>
            </a:r>
            <a:r>
              <a:rPr lang="en-GB"/>
              <a:t>ử nghiệm</a:t>
            </a:r>
            <a:endParaRPr/>
          </a:p>
        </p:txBody>
      </p:sp>
      <p:sp>
        <p:nvSpPr>
          <p:cNvPr id="881" name="Google Shape;881;p109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Lược đồ </a:t>
            </a:r>
            <a:r>
              <a:rPr lang="en-GB"/>
              <a:t>schema.ttl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@prefix rdfs: &lt;http://www.w3.org/2000/01/rdf-schema#&gt;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@prefix : &lt;http://semweb.edu.vn/demo#&gt;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:A rdfs:subClassOf :B.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:p rdfs:subPropertyOf :q.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Dữ liệu </a:t>
            </a:r>
            <a:r>
              <a:rPr lang="en-GB"/>
              <a:t>data.ttl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@prefix : &lt;http://semweb.edu.vn/demo#&gt; 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:a a :A.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:b a :B.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:a :p :c.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Thử: </a:t>
            </a:r>
            <a:r>
              <a:rPr i="1" lang="en-GB"/>
              <a:t>Tìm những khẳng định mới có thể suy ra được trên cơ sở lược đồ.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RDFS: riot --rdfs schema.ttl data.ttl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1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ài tập 3.1</a:t>
            </a:r>
            <a:endParaRPr/>
          </a:p>
        </p:txBody>
      </p:sp>
      <p:sp>
        <p:nvSpPr>
          <p:cNvPr id="887" name="Google Shape;887;p11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Xây dựng mô hình rdf cho nội dung sau: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Nhóm 1 gồm các thành viên An, Nam và Linh đã chọn đề tài “xây dựng mô hình rdf cho lĩnh vực Điện Ảnh".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Sử dụng: a) Đồ thị RDF  b) Turtle   c) RDF/XML</a:t>
            </a:r>
            <a:endParaRPr/>
          </a:p>
        </p:txBody>
      </p:sp>
      <p:sp>
        <p:nvSpPr>
          <p:cNvPr id="888" name="Google Shape;888;p1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1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4" name="Google Shape;894;p111"/>
          <p:cNvSpPr/>
          <p:nvPr/>
        </p:nvSpPr>
        <p:spPr>
          <a:xfrm>
            <a:off x="3646050" y="1719752"/>
            <a:ext cx="16191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:N1</a:t>
            </a:r>
            <a:endParaRPr sz="1800"/>
          </a:p>
        </p:txBody>
      </p:sp>
      <p:sp>
        <p:nvSpPr>
          <p:cNvPr id="895" name="Google Shape;895;p111"/>
          <p:cNvSpPr/>
          <p:nvPr/>
        </p:nvSpPr>
        <p:spPr>
          <a:xfrm>
            <a:off x="6028350" y="839100"/>
            <a:ext cx="16191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rdf:List</a:t>
            </a:r>
            <a:endParaRPr sz="1800"/>
          </a:p>
        </p:txBody>
      </p:sp>
      <p:cxnSp>
        <p:nvCxnSpPr>
          <p:cNvPr id="896" name="Google Shape;896;p111"/>
          <p:cNvCxnSpPr>
            <a:endCxn id="895" idx="3"/>
          </p:cNvCxnSpPr>
          <p:nvPr/>
        </p:nvCxnSpPr>
        <p:spPr>
          <a:xfrm flipH="1" rot="10800000">
            <a:off x="5104162" y="1508457"/>
            <a:ext cx="1161300" cy="2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111"/>
          <p:cNvSpPr txBox="1"/>
          <p:nvPr/>
        </p:nvSpPr>
        <p:spPr>
          <a:xfrm>
            <a:off x="4979225" y="12451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8" name="Google Shape;898;p111"/>
          <p:cNvSpPr/>
          <p:nvPr/>
        </p:nvSpPr>
        <p:spPr>
          <a:xfrm>
            <a:off x="6333150" y="1753500"/>
            <a:ext cx="1619100" cy="714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:An</a:t>
            </a:r>
            <a:endParaRPr sz="1800"/>
          </a:p>
        </p:txBody>
      </p:sp>
      <p:cxnSp>
        <p:nvCxnSpPr>
          <p:cNvPr id="899" name="Google Shape;899;p111"/>
          <p:cNvCxnSpPr>
            <a:stCxn id="894" idx="6"/>
            <a:endCxn id="898" idx="2"/>
          </p:cNvCxnSpPr>
          <p:nvPr/>
        </p:nvCxnSpPr>
        <p:spPr>
          <a:xfrm flipH="1" rot="10800000">
            <a:off x="5265150" y="2110652"/>
            <a:ext cx="1068000" cy="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0" name="Google Shape;900;p111"/>
          <p:cNvSpPr txBox="1"/>
          <p:nvPr/>
        </p:nvSpPr>
        <p:spPr>
          <a:xfrm>
            <a:off x="5284025" y="17023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rdf:first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1" name="Google Shape;901;p111"/>
          <p:cNvSpPr/>
          <p:nvPr/>
        </p:nvSpPr>
        <p:spPr>
          <a:xfrm>
            <a:off x="3656108" y="2879948"/>
            <a:ext cx="1619100" cy="66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2" name="Google Shape;902;p111"/>
          <p:cNvCxnSpPr>
            <a:stCxn id="894" idx="4"/>
            <a:endCxn id="901" idx="0"/>
          </p:cNvCxnSpPr>
          <p:nvPr/>
        </p:nvCxnSpPr>
        <p:spPr>
          <a:xfrm>
            <a:off x="4455600" y="2503952"/>
            <a:ext cx="10200" cy="37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3" name="Google Shape;903;p111"/>
          <p:cNvSpPr txBox="1"/>
          <p:nvPr/>
        </p:nvSpPr>
        <p:spPr>
          <a:xfrm>
            <a:off x="4445825" y="24643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rdf:rest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4" name="Google Shape;904;p111"/>
          <p:cNvSpPr/>
          <p:nvPr/>
        </p:nvSpPr>
        <p:spPr>
          <a:xfrm>
            <a:off x="6256950" y="2896500"/>
            <a:ext cx="1619100" cy="714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:Nam</a:t>
            </a:r>
            <a:endParaRPr sz="1800"/>
          </a:p>
        </p:txBody>
      </p:sp>
      <p:cxnSp>
        <p:nvCxnSpPr>
          <p:cNvPr id="905" name="Google Shape;905;p111"/>
          <p:cNvCxnSpPr>
            <a:stCxn id="901" idx="6"/>
            <a:endCxn id="904" idx="2"/>
          </p:cNvCxnSpPr>
          <p:nvPr/>
        </p:nvCxnSpPr>
        <p:spPr>
          <a:xfrm>
            <a:off x="5275208" y="3211748"/>
            <a:ext cx="981600" cy="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111"/>
          <p:cNvSpPr txBox="1"/>
          <p:nvPr/>
        </p:nvSpPr>
        <p:spPr>
          <a:xfrm>
            <a:off x="5360225" y="27691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rdf:first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7" name="Google Shape;907;p111"/>
          <p:cNvSpPr/>
          <p:nvPr/>
        </p:nvSpPr>
        <p:spPr>
          <a:xfrm>
            <a:off x="3656108" y="3946748"/>
            <a:ext cx="1619100" cy="66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11"/>
          <p:cNvSpPr/>
          <p:nvPr/>
        </p:nvSpPr>
        <p:spPr>
          <a:xfrm>
            <a:off x="6256950" y="3963300"/>
            <a:ext cx="1619100" cy="714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:Linh</a:t>
            </a:r>
            <a:endParaRPr sz="1800"/>
          </a:p>
        </p:txBody>
      </p:sp>
      <p:cxnSp>
        <p:nvCxnSpPr>
          <p:cNvPr id="909" name="Google Shape;909;p111"/>
          <p:cNvCxnSpPr>
            <a:stCxn id="907" idx="6"/>
            <a:endCxn id="908" idx="2"/>
          </p:cNvCxnSpPr>
          <p:nvPr/>
        </p:nvCxnSpPr>
        <p:spPr>
          <a:xfrm>
            <a:off x="5275208" y="4278548"/>
            <a:ext cx="981600" cy="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0" name="Google Shape;910;p111"/>
          <p:cNvSpPr txBox="1"/>
          <p:nvPr/>
        </p:nvSpPr>
        <p:spPr>
          <a:xfrm>
            <a:off x="5360225" y="38359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rdf:first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11" name="Google Shape;911;p111"/>
          <p:cNvCxnSpPr>
            <a:stCxn id="901" idx="4"/>
            <a:endCxn id="907" idx="0"/>
          </p:cNvCxnSpPr>
          <p:nvPr/>
        </p:nvCxnSpPr>
        <p:spPr>
          <a:xfrm>
            <a:off x="4465658" y="3543548"/>
            <a:ext cx="0" cy="4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2" name="Google Shape;912;p111"/>
          <p:cNvSpPr txBox="1"/>
          <p:nvPr/>
        </p:nvSpPr>
        <p:spPr>
          <a:xfrm>
            <a:off x="4445825" y="35311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rdf:rest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3" name="Google Shape;913;p111"/>
          <p:cNvSpPr/>
          <p:nvPr/>
        </p:nvSpPr>
        <p:spPr>
          <a:xfrm>
            <a:off x="3666150" y="5030100"/>
            <a:ext cx="16191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rdf:nil</a:t>
            </a:r>
            <a:endParaRPr sz="1800"/>
          </a:p>
        </p:txBody>
      </p:sp>
      <p:cxnSp>
        <p:nvCxnSpPr>
          <p:cNvPr id="914" name="Google Shape;914;p111"/>
          <p:cNvCxnSpPr>
            <a:stCxn id="907" idx="4"/>
            <a:endCxn id="913" idx="0"/>
          </p:cNvCxnSpPr>
          <p:nvPr/>
        </p:nvCxnSpPr>
        <p:spPr>
          <a:xfrm>
            <a:off x="4465658" y="4610348"/>
            <a:ext cx="9900" cy="4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5" name="Google Shape;915;p111"/>
          <p:cNvSpPr/>
          <p:nvPr/>
        </p:nvSpPr>
        <p:spPr>
          <a:xfrm>
            <a:off x="3666150" y="534300"/>
            <a:ext cx="16191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:Group</a:t>
            </a:r>
            <a:endParaRPr sz="1800"/>
          </a:p>
        </p:txBody>
      </p:sp>
      <p:cxnSp>
        <p:nvCxnSpPr>
          <p:cNvPr id="916" name="Google Shape;916;p111"/>
          <p:cNvCxnSpPr>
            <a:stCxn id="894" idx="0"/>
            <a:endCxn id="915" idx="4"/>
          </p:cNvCxnSpPr>
          <p:nvPr/>
        </p:nvCxnSpPr>
        <p:spPr>
          <a:xfrm flipH="1" rot="10800000">
            <a:off x="4455600" y="1318352"/>
            <a:ext cx="20100" cy="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7" name="Google Shape;917;p111"/>
          <p:cNvSpPr txBox="1"/>
          <p:nvPr/>
        </p:nvSpPr>
        <p:spPr>
          <a:xfrm>
            <a:off x="3531425" y="12451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8" name="Google Shape;918;p111"/>
          <p:cNvSpPr/>
          <p:nvPr/>
        </p:nvSpPr>
        <p:spPr>
          <a:xfrm>
            <a:off x="1446308" y="2194148"/>
            <a:ext cx="1619100" cy="66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9" name="Google Shape;919;p111"/>
          <p:cNvCxnSpPr>
            <a:stCxn id="894" idx="2"/>
            <a:endCxn id="918" idx="7"/>
          </p:cNvCxnSpPr>
          <p:nvPr/>
        </p:nvCxnSpPr>
        <p:spPr>
          <a:xfrm flipH="1">
            <a:off x="2828250" y="2111852"/>
            <a:ext cx="817800" cy="17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0" name="Google Shape;920;p111"/>
          <p:cNvSpPr txBox="1"/>
          <p:nvPr/>
        </p:nvSpPr>
        <p:spPr>
          <a:xfrm>
            <a:off x="2388425" y="1778500"/>
            <a:ext cx="1403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:proposed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1" name="Google Shape;921;p111"/>
          <p:cNvSpPr/>
          <p:nvPr/>
        </p:nvSpPr>
        <p:spPr>
          <a:xfrm>
            <a:off x="770550" y="839100"/>
            <a:ext cx="16191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:Project</a:t>
            </a:r>
            <a:endParaRPr sz="1800"/>
          </a:p>
        </p:txBody>
      </p:sp>
      <p:cxnSp>
        <p:nvCxnSpPr>
          <p:cNvPr id="922" name="Google Shape;922;p111"/>
          <p:cNvCxnSpPr>
            <a:endCxn id="921" idx="4"/>
          </p:cNvCxnSpPr>
          <p:nvPr/>
        </p:nvCxnSpPr>
        <p:spPr>
          <a:xfrm rot="10800000">
            <a:off x="1580100" y="1623300"/>
            <a:ext cx="103200" cy="6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3" name="Google Shape;923;p111"/>
          <p:cNvSpPr/>
          <p:nvPr/>
        </p:nvSpPr>
        <p:spPr>
          <a:xfrm>
            <a:off x="569900" y="3319275"/>
            <a:ext cx="2393400" cy="5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Điện ảnh</a:t>
            </a:r>
            <a:endParaRPr/>
          </a:p>
        </p:txBody>
      </p:sp>
      <p:cxnSp>
        <p:nvCxnSpPr>
          <p:cNvPr id="924" name="Google Shape;924;p111"/>
          <p:cNvCxnSpPr>
            <a:stCxn id="918" idx="4"/>
            <a:endCxn id="923" idx="0"/>
          </p:cNvCxnSpPr>
          <p:nvPr/>
        </p:nvCxnSpPr>
        <p:spPr>
          <a:xfrm flipH="1">
            <a:off x="1766558" y="2857748"/>
            <a:ext cx="4893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111"/>
          <p:cNvSpPr txBox="1"/>
          <p:nvPr/>
        </p:nvSpPr>
        <p:spPr>
          <a:xfrm>
            <a:off x="2007425" y="28453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dc</a:t>
            </a:r>
            <a:r>
              <a:rPr lang="en-GB" sz="1800">
                <a:solidFill>
                  <a:schemeClr val="dk2"/>
                </a:solidFill>
              </a:rPr>
              <a:t>:title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6" name="Google Shape;926;p111"/>
          <p:cNvSpPr/>
          <p:nvPr/>
        </p:nvSpPr>
        <p:spPr>
          <a:xfrm>
            <a:off x="6472700" y="5071875"/>
            <a:ext cx="1403400" cy="52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Linh</a:t>
            </a:r>
            <a:endParaRPr/>
          </a:p>
        </p:txBody>
      </p:sp>
      <p:cxnSp>
        <p:nvCxnSpPr>
          <p:cNvPr id="927" name="Google Shape;927;p111"/>
          <p:cNvCxnSpPr>
            <a:stCxn id="908" idx="4"/>
            <a:endCxn id="926" idx="0"/>
          </p:cNvCxnSpPr>
          <p:nvPr/>
        </p:nvCxnSpPr>
        <p:spPr>
          <a:xfrm>
            <a:off x="7066500" y="4677900"/>
            <a:ext cx="1080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8" name="Google Shape;928;p111"/>
          <p:cNvSpPr txBox="1"/>
          <p:nvPr/>
        </p:nvSpPr>
        <p:spPr>
          <a:xfrm>
            <a:off x="7189025" y="4597900"/>
            <a:ext cx="1515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foaf</a:t>
            </a:r>
            <a:r>
              <a:rPr lang="en-GB" sz="1800">
                <a:solidFill>
                  <a:schemeClr val="dk2"/>
                </a:solidFill>
              </a:rPr>
              <a:t>:</a:t>
            </a:r>
            <a:r>
              <a:rPr lang="en-GB" sz="1800">
                <a:solidFill>
                  <a:schemeClr val="dk2"/>
                </a:solidFill>
              </a:rPr>
              <a:t>name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9" name="Google Shape;929;p111"/>
          <p:cNvSpPr txBox="1"/>
          <p:nvPr/>
        </p:nvSpPr>
        <p:spPr>
          <a:xfrm>
            <a:off x="1550225" y="1626100"/>
            <a:ext cx="1236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Đi</a:t>
            </a: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5" name="Google Shape;935;p112"/>
          <p:cNvSpPr txBox="1"/>
          <p:nvPr/>
        </p:nvSpPr>
        <p:spPr>
          <a:xfrm>
            <a:off x="232250" y="162900"/>
            <a:ext cx="8446800" cy="6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@prefix rdf: &lt;http://www.w3.org/1999/02/22-rdf-syntax-ns#&gt; 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@prefix rdfs: &lt;http://www.w3.org/2000/01/rdf-schema#&gt; 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@prefix dc: &lt;http://purl.org/dc/elements/1.1/&gt; 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@prefix foaf: &lt;http://xmlns.com/foaf/0.1/&gt; 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@prefix : &lt;http://semweb.edu.vn/example#&gt; 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:N1 a rdf:Group;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    :members (:An :Nam :Linh);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    :proposed [a :Project; dc:title "Điện ảnh"].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dk2"/>
                </a:solidFill>
              </a:rPr>
              <a:t>:Linh foaf:name "Linh".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1" name="Google Shape;941;p113"/>
          <p:cNvSpPr txBox="1"/>
          <p:nvPr/>
        </p:nvSpPr>
        <p:spPr>
          <a:xfrm>
            <a:off x="232250" y="162900"/>
            <a:ext cx="8446800" cy="6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&lt;rdf:RDF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xmlns:rdf="http://www.w3.org/1999/02/22-rdf-syntax-ns#"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xmlns:dc="http://purl.org/dc/elements/1.1/"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xmlns="http://semweb.edu.vn/example#"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xmlns:rdfs="http://www.w3.org/2000/01/rdf-schema#"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xmlns:foaf="http://xmlns.com/foaf/0.1/"&gt;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&lt;rdf:Group rdf:about="http://semweb.edu.vn/example#N1"&gt;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&lt;proposed&gt;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&lt;Project&gt;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  &lt;dc:title&gt;Điện ảnh&lt;/dc:title&gt;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&lt;/Project&gt;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&lt;/proposed&gt;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&lt;members rdf:parseType="Collection"&gt;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&lt;rdf:Description rdf:about="http://semweb.edu.vn/example#An"/&gt;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&lt;rdf:Description rdf:about="http://semweb.edu.vn/example#Nam"/&gt;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&lt;rdf:Description rdf:about="http://semweb.edu.vn/example#Linh"&gt;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  &lt;foaf:name&gt;Linh&lt;/foaf:name&gt;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  &lt;/rdf:Description&gt;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  &lt;/members&gt;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  &lt;/rdf:Group&gt;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&lt;/rdf:RDF&gt;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4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3.2</a:t>
            </a:r>
            <a:endParaRPr/>
          </a:p>
        </p:txBody>
      </p:sp>
      <p:sp>
        <p:nvSpPr>
          <p:cNvPr id="947" name="Google Shape;947;p114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Xây dựng mô hình rdf cho các nội dung sau: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Sông Mê-Kông có chiều dài 4350 Km, bắt nguồn từ Thanh Hải/Trung Quốc và đổ ra biển ở Đồng bằng sông cửu Long/Việt Nam.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Sử dụng: a) Đồ thị RDF  </a:t>
            </a:r>
            <a:r>
              <a:rPr lang="en-GB"/>
              <a:t>b) Turtle   </a:t>
            </a:r>
            <a:r>
              <a:rPr lang="en-GB"/>
              <a:t>c) RDF/XML</a:t>
            </a:r>
            <a:endParaRPr/>
          </a:p>
        </p:txBody>
      </p:sp>
      <p:sp>
        <p:nvSpPr>
          <p:cNvPr id="948" name="Google Shape;948;p1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9" name="Google Shape;949;p114"/>
          <p:cNvSpPr txBox="1"/>
          <p:nvPr/>
        </p:nvSpPr>
        <p:spPr>
          <a:xfrm>
            <a:off x="405000" y="4938625"/>
            <a:ext cx="85725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hlinkClick r:id="rId3"/>
              </a:rPr>
              <a:t>https://github.com/bangoc/semweb</a:t>
            </a:r>
            <a:endParaRPr sz="24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115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3.2</a:t>
            </a:r>
            <a:r>
              <a:rPr baseline="-25000" lang="en-GB"/>
              <a:t>(</a:t>
            </a:r>
            <a:r>
              <a:rPr baseline="-25000" lang="en-GB"/>
              <a:t>2)</a:t>
            </a:r>
            <a:endParaRPr baseline="-25000"/>
          </a:p>
        </p:txBody>
      </p:sp>
      <p:sp>
        <p:nvSpPr>
          <p:cNvPr id="955" name="Google Shape;955;p115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Li</a:t>
            </a:r>
            <a:r>
              <a:rPr lang="en-GB"/>
              <a:t>ệt kê các thành phần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Lớp: Không có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Phần tử: </a:t>
            </a:r>
            <a:endParaRPr/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/>
              <a:t>Sông Mê-Kông -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http://semweb.edu.vn/river#mekong</a:t>
            </a:r>
            <a:endParaRPr/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/>
              <a:t>…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Thuộc tính:</a:t>
            </a:r>
            <a:endParaRPr/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/>
              <a:t>Độ dài -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http://semweb.edu.vn/measures#length</a:t>
            </a:r>
            <a:endParaRPr/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/>
              <a:t>…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Hằng giá trị</a:t>
            </a:r>
            <a:endParaRPr/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-GB"/>
              <a:t>4350 Km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Tạo các bộ-3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Định nghĩa lớp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Định nghĩa thuộc tính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GB"/>
              <a:t>Mô tả các phần tử</a:t>
            </a:r>
            <a:endParaRPr/>
          </a:p>
        </p:txBody>
      </p:sp>
      <p:sp>
        <p:nvSpPr>
          <p:cNvPr id="956" name="Google Shape;956;p1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16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3.2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962" name="Google Shape;962;p116"/>
          <p:cNvSpPr txBox="1"/>
          <p:nvPr>
            <p:ph idx="1" type="body"/>
          </p:nvPr>
        </p:nvSpPr>
        <p:spPr>
          <a:xfrm>
            <a:off x="311700" y="975875"/>
            <a:ext cx="8520600" cy="57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Liệt kê các thành phần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Lớp: Không có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Phần tử: </a:t>
            </a:r>
            <a:endParaRPr sz="2000"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Sông Mê-Kông - </a:t>
            </a:r>
            <a:r>
              <a:rPr lang="en-GB" sz="1800" u="sng">
                <a:solidFill>
                  <a:schemeClr val="hlink"/>
                </a:solidFill>
                <a:hlinkClick r:id="rId3"/>
              </a:rPr>
              <a:t>http://semweb.edu.vn/river#mekong</a:t>
            </a:r>
            <a:endParaRPr sz="1800"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…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Thuộc tính:</a:t>
            </a:r>
            <a:endParaRPr sz="2000"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Độ dài - </a:t>
            </a:r>
            <a:r>
              <a:rPr lang="en-GB" sz="1800" u="sng">
                <a:solidFill>
                  <a:schemeClr val="hlink"/>
                </a:solidFill>
                <a:hlinkClick r:id="rId4"/>
              </a:rPr>
              <a:t>http://semweb.edu.vn/measures#length</a:t>
            </a:r>
            <a:endParaRPr sz="1800"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…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Hằng giá trị</a:t>
            </a:r>
            <a:endParaRPr sz="2000"/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sz="1800"/>
              <a:t>4350 Km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Tạo các bộ-3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Định nghĩa lớp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Định nghĩa thuộc tính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Mô tả các phần tử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:mekong :length [:hasValue 4350; :hasUnit :Km].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GB" sz="2000"/>
              <a:t>…</a:t>
            </a:r>
            <a:endParaRPr sz="2000"/>
          </a:p>
        </p:txBody>
      </p:sp>
      <p:sp>
        <p:nvSpPr>
          <p:cNvPr id="963" name="Google Shape;963;p1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17"/>
          <p:cNvSpPr txBox="1"/>
          <p:nvPr>
            <p:ph type="title"/>
          </p:nvPr>
        </p:nvSpPr>
        <p:spPr>
          <a:xfrm>
            <a:off x="1593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ài tập 3.3.</a:t>
            </a:r>
            <a:endParaRPr/>
          </a:p>
        </p:txBody>
      </p:sp>
      <p:sp>
        <p:nvSpPr>
          <p:cNvPr id="969" name="Google Shape;969;p1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0" name="Google Shape;970;p117"/>
          <p:cNvSpPr txBox="1"/>
          <p:nvPr/>
        </p:nvSpPr>
        <p:spPr>
          <a:xfrm>
            <a:off x="2441825" y="76200"/>
            <a:ext cx="7011600" cy="6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&lt;rdf:RDF xmlns:rdf="http://www.w3.org/1999/02/22-rdf-syntax-ns#"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xmlns:rdfs="http://www.w3.org/2000/01/rdf-schema#"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xmlns:w="http://semweb.edu.vn/#" 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&lt;rdf:Description rdf:about="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/#germany"&gt;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&lt;rdf:type rdf:resource="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/#country"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&lt;/rdf:Description&gt;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&lt;rdf:Description rdf:about="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/#capital_of"&gt;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&lt;rdf:type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rdf:resource="http://www.w3.org/1999/02/22-rdf-syntax-ns#Property"/ 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&lt;rdfs:domain rdf:resource="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/#city"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&lt;rdfs:range rdf:resource="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/#country"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&lt;/rdf:Description&gt;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&lt;rdf:Description rdf:about="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/#country"&gt;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&lt;rdf:type rdf:resource="http://www.w3.org/2000/01/rdf-schema#Class"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&lt;rdfs:label xml:lang="de"&gt;Land&lt;/rdfs:label&gt;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&lt;/rdf:Description&gt;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&lt;rdf:Description rdf:about="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/#berlin"&gt;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&lt;rdfs:label xml:lang="en"&gt;Berlin&lt;/rdfs:label&gt;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&lt;rdf:type rdf:resource="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/#city"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&lt;w:capital_of rdf:resource="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/#germany"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&lt;/rdf:Description&gt;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&lt;rdf:Description rdf:about="</a:t>
            </a:r>
            <a:r>
              <a:rPr lang="en-GB" sz="1600">
                <a:solidFill>
                  <a:schemeClr val="dk2"/>
                </a:solidFill>
              </a:rPr>
              <a:t>http://semweb.edu.vn</a:t>
            </a:r>
            <a:r>
              <a:rPr lang="en-GB" sz="1600">
                <a:solidFill>
                  <a:schemeClr val="dk2"/>
                </a:solidFill>
              </a:rPr>
              <a:t>/#city"&gt;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&lt;rdf:type rdf:resource="http://www.w3.org/2000/01/rdf-schema#Class" /&gt;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&lt;rdfs:label xml:lang="de"&gt;Stadt&lt;/rdfs:label&gt;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&lt;/rdf:Description&gt;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2"/>
                </a:solidFill>
              </a:rPr>
              <a:t>&lt;/rdf:RDF&gt;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971" name="Google Shape;971;p117"/>
          <p:cNvSpPr txBox="1"/>
          <p:nvPr/>
        </p:nvSpPr>
        <p:spPr>
          <a:xfrm>
            <a:off x="61300" y="3471225"/>
            <a:ext cx="2041200" cy="27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AutoNum type="alphaLcParenR"/>
            </a:pPr>
            <a:r>
              <a:rPr lang="en-GB" sz="2400">
                <a:solidFill>
                  <a:schemeClr val="dk2"/>
                </a:solidFill>
              </a:rPr>
              <a:t>Vẽ đồ thị RDF</a:t>
            </a:r>
            <a:endParaRPr sz="2400">
              <a:solidFill>
                <a:schemeClr val="dk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AutoNum type="alphaLcParenR"/>
            </a:pPr>
            <a:r>
              <a:rPr lang="en-GB" sz="2400">
                <a:solidFill>
                  <a:schemeClr val="dk2"/>
                </a:solidFill>
              </a:rPr>
              <a:t>Diễn đạt lại bằng Turtle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18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ài tập 3.4.</a:t>
            </a:r>
            <a:endParaRPr/>
          </a:p>
        </p:txBody>
      </p:sp>
      <p:sp>
        <p:nvSpPr>
          <p:cNvPr id="977" name="Google Shape;977;p1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8" name="Google Shape;978;p118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Có thể diễn đạt mệnh đề nào trong số các mệnh đề sau bằng RDFS? Nếu có thể thì viết các mô tả tương ứng bằng Turtle?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Every pizza is a meal.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Pizzas always have at least two toppings.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Every pizza from the class PizzaMargarita has a Tomato topping.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Everything having a topping is a pizza.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• No pizza from the class PizzaMargarita has a topping from the class Meat.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“Having a topping” is a containedness relation.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84" name="Google Shape;984;p119"/>
          <p:cNvSpPr txBox="1"/>
          <p:nvPr>
            <p:ph idx="1" type="body"/>
          </p:nvPr>
        </p:nvSpPr>
        <p:spPr>
          <a:xfrm>
            <a:off x="311700" y="272650"/>
            <a:ext cx="8520600" cy="60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20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3.4.</a:t>
            </a:r>
            <a:r>
              <a:rPr baseline="-25000" lang="en-GB"/>
              <a:t>(</a:t>
            </a:r>
            <a:r>
              <a:rPr baseline="-25000" lang="en-GB"/>
              <a:t>2)</a:t>
            </a:r>
            <a:endParaRPr baseline="-25000"/>
          </a:p>
        </p:txBody>
      </p:sp>
      <p:sp>
        <p:nvSpPr>
          <p:cNvPr id="990" name="Google Shape;990;p1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1" name="Google Shape;991;p120"/>
          <p:cNvSpPr txBox="1"/>
          <p:nvPr>
            <p:ph idx="1" type="body"/>
          </p:nvPr>
        </p:nvSpPr>
        <p:spPr>
          <a:xfrm>
            <a:off x="311700" y="975875"/>
            <a:ext cx="8520600" cy="5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Every pizza is a meal.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	:P</a:t>
            </a:r>
            <a:r>
              <a:rPr lang="en-GB"/>
              <a:t>izza rdfs:subClassOf :Meal.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Pizzas always have at least two toppings.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Every pizza from the class PizzaMargarita has a Tomato topping.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Everything having a topping is a pizza.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No pizza from the class PizzaMargarita has a topping from the class Meat.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• “Having a topping” is a containedness relation.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:</a:t>
            </a:r>
            <a:r>
              <a:rPr lang="en-GB"/>
              <a:t>hasTopping a rdfs:ContainerMembershipProperty 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21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3.5. </a:t>
            </a:r>
            <a:r>
              <a:rPr lang="en-GB"/>
              <a:t>Đồ thị RDF</a:t>
            </a:r>
            <a:endParaRPr/>
          </a:p>
        </p:txBody>
      </p:sp>
      <p:sp>
        <p:nvSpPr>
          <p:cNvPr id="997" name="Google Shape;997;p1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98" name="Google Shape;998;p121"/>
          <p:cNvSpPr/>
          <p:nvPr/>
        </p:nvSpPr>
        <p:spPr>
          <a:xfrm>
            <a:off x="770550" y="2134500"/>
            <a:ext cx="18750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</a:t>
            </a:r>
            <a:r>
              <a:rPr lang="en-GB" sz="1800"/>
              <a:t>:Germany</a:t>
            </a:r>
            <a:endParaRPr sz="1800"/>
          </a:p>
        </p:txBody>
      </p:sp>
      <p:sp>
        <p:nvSpPr>
          <p:cNvPr id="999" name="Google Shape;999;p121"/>
          <p:cNvSpPr/>
          <p:nvPr/>
        </p:nvSpPr>
        <p:spPr>
          <a:xfrm>
            <a:off x="3742350" y="2134500"/>
            <a:ext cx="18750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w:Country</a:t>
            </a:r>
            <a:endParaRPr sz="1800"/>
          </a:p>
        </p:txBody>
      </p:sp>
      <p:cxnSp>
        <p:nvCxnSpPr>
          <p:cNvPr id="1000" name="Google Shape;1000;p121"/>
          <p:cNvCxnSpPr>
            <a:stCxn id="998" idx="6"/>
            <a:endCxn id="999" idx="2"/>
          </p:cNvCxnSpPr>
          <p:nvPr/>
        </p:nvCxnSpPr>
        <p:spPr>
          <a:xfrm>
            <a:off x="2645550" y="2526600"/>
            <a:ext cx="109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1" name="Google Shape;1001;p121"/>
          <p:cNvSpPr txBox="1"/>
          <p:nvPr/>
        </p:nvSpPr>
        <p:spPr>
          <a:xfrm>
            <a:off x="2617025" y="20833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2" name="Google Shape;1002;p121"/>
          <p:cNvSpPr/>
          <p:nvPr/>
        </p:nvSpPr>
        <p:spPr>
          <a:xfrm>
            <a:off x="990225" y="3610900"/>
            <a:ext cx="18750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w:capital_of</a:t>
            </a:r>
            <a:endParaRPr sz="1800"/>
          </a:p>
        </p:txBody>
      </p:sp>
      <p:sp>
        <p:nvSpPr>
          <p:cNvPr id="1003" name="Google Shape;1003;p121"/>
          <p:cNvSpPr/>
          <p:nvPr/>
        </p:nvSpPr>
        <p:spPr>
          <a:xfrm>
            <a:off x="4428150" y="3506100"/>
            <a:ext cx="18750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w:City</a:t>
            </a:r>
            <a:endParaRPr sz="1800"/>
          </a:p>
        </p:txBody>
      </p:sp>
      <p:cxnSp>
        <p:nvCxnSpPr>
          <p:cNvPr id="1004" name="Google Shape;1004;p121"/>
          <p:cNvCxnSpPr>
            <a:stCxn id="1002" idx="6"/>
            <a:endCxn id="1003" idx="2"/>
          </p:cNvCxnSpPr>
          <p:nvPr/>
        </p:nvCxnSpPr>
        <p:spPr>
          <a:xfrm flipH="1" rot="10800000">
            <a:off x="2865225" y="3898300"/>
            <a:ext cx="1563000" cy="10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5" name="Google Shape;1005;p121"/>
          <p:cNvCxnSpPr>
            <a:stCxn id="1002" idx="7"/>
            <a:endCxn id="999" idx="3"/>
          </p:cNvCxnSpPr>
          <p:nvPr/>
        </p:nvCxnSpPr>
        <p:spPr>
          <a:xfrm flipH="1" rot="10800000">
            <a:off x="2590638" y="2803843"/>
            <a:ext cx="1426200" cy="9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6" name="Google Shape;1006;p121"/>
          <p:cNvSpPr txBox="1"/>
          <p:nvPr/>
        </p:nvSpPr>
        <p:spPr>
          <a:xfrm>
            <a:off x="2693225" y="3531100"/>
            <a:ext cx="14262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rdfs:domain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7" name="Google Shape;1007;p121"/>
          <p:cNvSpPr txBox="1"/>
          <p:nvPr/>
        </p:nvSpPr>
        <p:spPr>
          <a:xfrm rot="-1996134">
            <a:off x="2540727" y="2845275"/>
            <a:ext cx="1426256" cy="4322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rdfs:range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8" name="Google Shape;1008;p121"/>
          <p:cNvSpPr/>
          <p:nvPr/>
        </p:nvSpPr>
        <p:spPr>
          <a:xfrm>
            <a:off x="4199550" y="839100"/>
            <a:ext cx="18750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rdfs</a:t>
            </a:r>
            <a:r>
              <a:rPr lang="en-GB" sz="1800"/>
              <a:t>:Class</a:t>
            </a:r>
            <a:endParaRPr sz="1800"/>
          </a:p>
        </p:txBody>
      </p:sp>
      <p:cxnSp>
        <p:nvCxnSpPr>
          <p:cNvPr id="1009" name="Google Shape;1009;p121"/>
          <p:cNvCxnSpPr>
            <a:stCxn id="999" idx="0"/>
            <a:endCxn id="1008" idx="4"/>
          </p:cNvCxnSpPr>
          <p:nvPr/>
        </p:nvCxnSpPr>
        <p:spPr>
          <a:xfrm flipH="1" rot="10800000">
            <a:off x="4679850" y="1623300"/>
            <a:ext cx="4572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0" name="Google Shape;1010;p121"/>
          <p:cNvSpPr txBox="1"/>
          <p:nvPr/>
        </p:nvSpPr>
        <p:spPr>
          <a:xfrm>
            <a:off x="3836225" y="16261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1" name="Google Shape;1011;p121"/>
          <p:cNvSpPr/>
          <p:nvPr/>
        </p:nvSpPr>
        <p:spPr>
          <a:xfrm>
            <a:off x="6493825" y="2778950"/>
            <a:ext cx="15213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“Land”@de</a:t>
            </a:r>
            <a:endParaRPr/>
          </a:p>
        </p:txBody>
      </p:sp>
      <p:cxnSp>
        <p:nvCxnSpPr>
          <p:cNvPr id="1012" name="Google Shape;1012;p121"/>
          <p:cNvCxnSpPr>
            <a:stCxn id="999" idx="5"/>
            <a:endCxn id="1011" idx="1"/>
          </p:cNvCxnSpPr>
          <p:nvPr/>
        </p:nvCxnSpPr>
        <p:spPr>
          <a:xfrm>
            <a:off x="5342763" y="2803857"/>
            <a:ext cx="1151100" cy="22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3" name="Google Shape;1013;p121"/>
          <p:cNvSpPr txBox="1"/>
          <p:nvPr/>
        </p:nvSpPr>
        <p:spPr>
          <a:xfrm rot="923188">
            <a:off x="5466657" y="2540485"/>
            <a:ext cx="1136328" cy="4321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rdfs:label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4" name="Google Shape;1014;p121"/>
          <p:cNvSpPr/>
          <p:nvPr/>
        </p:nvSpPr>
        <p:spPr>
          <a:xfrm>
            <a:off x="2827950" y="4725300"/>
            <a:ext cx="1875000" cy="784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w:Berlin</a:t>
            </a:r>
            <a:endParaRPr sz="1800"/>
          </a:p>
        </p:txBody>
      </p:sp>
      <p:cxnSp>
        <p:nvCxnSpPr>
          <p:cNvPr id="1015" name="Google Shape;1015;p121"/>
          <p:cNvCxnSpPr>
            <a:stCxn id="1014" idx="0"/>
            <a:endCxn id="1003" idx="3"/>
          </p:cNvCxnSpPr>
          <p:nvPr/>
        </p:nvCxnSpPr>
        <p:spPr>
          <a:xfrm flipH="1" rot="10800000">
            <a:off x="3765450" y="4175400"/>
            <a:ext cx="937200" cy="5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6" name="Google Shape;1016;p121"/>
          <p:cNvSpPr txBox="1"/>
          <p:nvPr/>
        </p:nvSpPr>
        <p:spPr>
          <a:xfrm>
            <a:off x="4064825" y="42931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17" name="Google Shape;1017;p121"/>
          <p:cNvCxnSpPr>
            <a:stCxn id="1014" idx="2"/>
            <a:endCxn id="998" idx="2"/>
          </p:cNvCxnSpPr>
          <p:nvPr/>
        </p:nvCxnSpPr>
        <p:spPr>
          <a:xfrm rot="10800000">
            <a:off x="770550" y="2526600"/>
            <a:ext cx="2057400" cy="2590800"/>
          </a:xfrm>
          <a:prstGeom prst="curvedConnector3">
            <a:avLst>
              <a:gd fmla="val 11157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018" name="Google Shape;1018;p121"/>
          <p:cNvSpPr txBox="1"/>
          <p:nvPr/>
        </p:nvSpPr>
        <p:spPr>
          <a:xfrm>
            <a:off x="331025" y="4750300"/>
            <a:ext cx="15705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w:capital_of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9" name="Google Shape;1019;p121"/>
          <p:cNvSpPr/>
          <p:nvPr/>
        </p:nvSpPr>
        <p:spPr>
          <a:xfrm>
            <a:off x="4741225" y="5826950"/>
            <a:ext cx="15213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“Berlin”@en</a:t>
            </a:r>
            <a:endParaRPr/>
          </a:p>
        </p:txBody>
      </p:sp>
      <p:cxnSp>
        <p:nvCxnSpPr>
          <p:cNvPr id="1020" name="Google Shape;1020;p121"/>
          <p:cNvCxnSpPr>
            <a:stCxn id="1014" idx="6"/>
            <a:endCxn id="1019" idx="0"/>
          </p:cNvCxnSpPr>
          <p:nvPr/>
        </p:nvCxnSpPr>
        <p:spPr>
          <a:xfrm>
            <a:off x="4702950" y="5117400"/>
            <a:ext cx="798900" cy="70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1" name="Google Shape;1021;p121"/>
          <p:cNvSpPr txBox="1"/>
          <p:nvPr/>
        </p:nvSpPr>
        <p:spPr>
          <a:xfrm rot="908">
            <a:off x="5161857" y="5207543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rdfs:label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22" name="Google Shape;1022;p121"/>
          <p:cNvCxnSpPr>
            <a:stCxn id="1003" idx="6"/>
            <a:endCxn id="1008" idx="6"/>
          </p:cNvCxnSpPr>
          <p:nvPr/>
        </p:nvCxnSpPr>
        <p:spPr>
          <a:xfrm rot="10800000">
            <a:off x="6074550" y="1231200"/>
            <a:ext cx="228600" cy="2667000"/>
          </a:xfrm>
          <a:prstGeom prst="curvedConnector3">
            <a:avLst>
              <a:gd fmla="val -84138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3" name="Google Shape;1023;p121"/>
          <p:cNvSpPr txBox="1"/>
          <p:nvPr/>
        </p:nvSpPr>
        <p:spPr>
          <a:xfrm>
            <a:off x="7722425" y="1397500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rdf:type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4" name="Google Shape;1024;p121"/>
          <p:cNvSpPr/>
          <p:nvPr/>
        </p:nvSpPr>
        <p:spPr>
          <a:xfrm>
            <a:off x="6341425" y="4607750"/>
            <a:ext cx="1521300" cy="492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“Stadt”@de</a:t>
            </a:r>
            <a:endParaRPr/>
          </a:p>
        </p:txBody>
      </p:sp>
      <p:cxnSp>
        <p:nvCxnSpPr>
          <p:cNvPr id="1025" name="Google Shape;1025;p121"/>
          <p:cNvCxnSpPr>
            <a:stCxn id="1003" idx="4"/>
            <a:endCxn id="1024" idx="1"/>
          </p:cNvCxnSpPr>
          <p:nvPr/>
        </p:nvCxnSpPr>
        <p:spPr>
          <a:xfrm>
            <a:off x="5365650" y="4290300"/>
            <a:ext cx="975900" cy="56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6" name="Google Shape;1026;p121"/>
          <p:cNvSpPr txBox="1"/>
          <p:nvPr/>
        </p:nvSpPr>
        <p:spPr>
          <a:xfrm rot="908">
            <a:off x="5771457" y="4216943"/>
            <a:ext cx="1136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rdfs:label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22"/>
          <p:cNvSpPr txBox="1"/>
          <p:nvPr>
            <p:ph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Bài tập 3.5. </a:t>
            </a:r>
            <a:r>
              <a:rPr lang="en-GB"/>
              <a:t>Turtle</a:t>
            </a:r>
            <a:endParaRPr/>
          </a:p>
        </p:txBody>
      </p:sp>
      <p:sp>
        <p:nvSpPr>
          <p:cNvPr id="1032" name="Google Shape;1032;p1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33" name="Google Shape;1033;p122"/>
          <p:cNvSpPr txBox="1"/>
          <p:nvPr/>
        </p:nvSpPr>
        <p:spPr>
          <a:xfrm>
            <a:off x="483650" y="1017625"/>
            <a:ext cx="8348700" cy="5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039" name="Google Shape;103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