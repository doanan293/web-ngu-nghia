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6858000" cx="9144000"/>
  <p:notesSz cx="6858000" cy="9144000"/>
  <p:embeddedFontLst>
    <p:embeddedFont>
      <p:font typeface="Caveat"/>
      <p:regular r:id="rId100"/>
      <p:bold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1B1D0D-D2F0-4FFE-8277-CC19B5FD8E5E}">
  <a:tblStyle styleId="{301B1D0D-D2F0-4FFE-8277-CC19B5FD8E5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1" Type="http://schemas.openxmlformats.org/officeDocument/2006/relationships/font" Target="fonts/Caveat-bold.fntdata"/><Relationship Id="rId100" Type="http://schemas.openxmlformats.org/officeDocument/2006/relationships/font" Target="fonts/Caveat-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43208743c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43208743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43208743cf_0_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43208743c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b17e44047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b17e4404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23f66f3e6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23f66f3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c80bbea2f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c80bbea2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bacfca68a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bacfca68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80bbea2fe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80bbea2f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c80bbea2fe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c80bbea2f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e68a96614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e68a9661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acfca68a0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acfca68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c7717f861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c7717f86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b17e440479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b17e4404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b98544cef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b98544ce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b98544cef6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b98544ce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98544cef6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98544cef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9a48f28e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9a48f28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b98544cef6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b98544cef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acfca68a0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bacfca68a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acfca68a0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acfca68a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23f66f3e6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23f66f3e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afaf894dd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afaf894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b17e440479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b17e44047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b8b9b2841e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b8b9b2841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8b9b2841e_1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8b9b2841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bafaf894dd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bafaf894d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e68a96614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e68a966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b8b9b2841e_1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b8b9b2841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b9a48f28e8_0_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b9a48f28e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5e68a96614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5e68a966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e68a96614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5e68a9661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5e8feacee6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5e8feacee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5e68a96614_0_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5e68a9661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5e68a96614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5e68a9661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e68a96614_0_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e68a9661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5e68a96614_0_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5e68a9661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5e68a96614_0_9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5e68a9661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bafaf894dd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bafaf894d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bafaf894dd_0_2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bafaf894d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bafaf894dd_0_2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bafaf894dd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bafaf894dd_0_3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bafaf894dd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96b84f874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96b84f87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bafaf894dd_0_3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bafaf894dd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bafaf894dd_0_3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bafaf894dd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bafaf894dd_0_3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bafaf894dd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afaf894dd_0_3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afaf894dd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afaf894dd_0_3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afaf894dd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bafaf894dd_0_3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bafaf894dd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9764ed4be2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9764ed4be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9764ed4be2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9764ed4be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c6779474d6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c6779474d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a65153718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a6515371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c6779474d6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c6779474d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c6779474d6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c6779474d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c6779474d6_0_1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c6779474d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b23f66f3e6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b23f66f3e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c6779474d6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c6779474d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adb59cbc8f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adb59cbc8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b9a48f28e8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b9a48f28e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9764ed4be2_1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9764ed4be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c6779474d6_0_15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c6779474d6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9764ed4be2_1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9764ed4be2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9764ed4be2_1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29764ed4be2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ab61fae027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ab61fae02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c6779474d6_0_1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c6779474d6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bafaf894dd_0_2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bafaf894d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b23f66f3e6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b23f66f3e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c6779474d6_0_1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c6779474d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c6779474d6_0_1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c6779474d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b9a48f28e8_0_2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b9a48f28e8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bafaf894dd_0_2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bafaf894d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b9a48f28e8_0_2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b9a48f28e8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c7717f861e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c7717f861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c6779474d6_0_1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c6779474d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b9a48f28e8_0_2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b9a48f28e8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b9a48f28e8_0_2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b9a48f28e8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78035dfec6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78035dfec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6378787538_0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637878753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6378787538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2637878753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6378787538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2637878753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c52376bc97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c52376bc9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2a6690353ad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2a6690353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637878753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63787875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2a6690353ad_22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2a6690353ad_2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63c33a62f9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63c33a62f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a6690353ad_1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a6690353a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a6690353ad_22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a6690353ad_2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42380a0b69_0_1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42380a0b6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a6690353ad_22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a6690353ad_2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a6690353ad_22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2a6690353ad_2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2425539523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242553952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a6690353ad_22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a6690353ad_2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a6690353ad_22_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a6690353ad_2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143208743cf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143208743c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4800"/>
              <a:buNone/>
              <a:defRPr b="1" sz="4800">
                <a:solidFill>
                  <a:srgbClr val="FFFFFF"/>
                </a:solidFill>
              </a:defRPr>
            </a:lvl1pPr>
            <a:lvl2pPr lvl="1" algn="ctr">
              <a:spcBef>
                <a:spcPts val="0"/>
              </a:spcBef>
              <a:spcAft>
                <a:spcPts val="0"/>
              </a:spcAft>
              <a:buClr>
                <a:srgbClr val="FFFFFF"/>
              </a:buClr>
              <a:buSzPts val="5200"/>
              <a:buNone/>
              <a:defRPr sz="5200">
                <a:solidFill>
                  <a:srgbClr val="FFFFFF"/>
                </a:solidFill>
              </a:defRPr>
            </a:lvl2pPr>
            <a:lvl3pPr lvl="2" algn="ctr">
              <a:spcBef>
                <a:spcPts val="0"/>
              </a:spcBef>
              <a:spcAft>
                <a:spcPts val="0"/>
              </a:spcAft>
              <a:buClr>
                <a:srgbClr val="FFFFFF"/>
              </a:buClr>
              <a:buSzPts val="5200"/>
              <a:buNone/>
              <a:defRPr sz="5200">
                <a:solidFill>
                  <a:srgbClr val="FFFFFF"/>
                </a:solidFill>
              </a:defRPr>
            </a:lvl3pPr>
            <a:lvl4pPr lvl="3" algn="ctr">
              <a:spcBef>
                <a:spcPts val="0"/>
              </a:spcBef>
              <a:spcAft>
                <a:spcPts val="0"/>
              </a:spcAft>
              <a:buClr>
                <a:srgbClr val="FFFFFF"/>
              </a:buClr>
              <a:buSzPts val="5200"/>
              <a:buNone/>
              <a:defRPr sz="5200">
                <a:solidFill>
                  <a:srgbClr val="FFFFFF"/>
                </a:solidFill>
              </a:defRPr>
            </a:lvl4pPr>
            <a:lvl5pPr lvl="4" algn="ctr">
              <a:spcBef>
                <a:spcPts val="0"/>
              </a:spcBef>
              <a:spcAft>
                <a:spcPts val="0"/>
              </a:spcAft>
              <a:buClr>
                <a:srgbClr val="FFFFFF"/>
              </a:buClr>
              <a:buSzPts val="5200"/>
              <a:buNone/>
              <a:defRPr sz="5200">
                <a:solidFill>
                  <a:srgbClr val="FFFFFF"/>
                </a:solidFill>
              </a:defRPr>
            </a:lvl5pPr>
            <a:lvl6pPr lvl="5" algn="ctr">
              <a:spcBef>
                <a:spcPts val="0"/>
              </a:spcBef>
              <a:spcAft>
                <a:spcPts val="0"/>
              </a:spcAft>
              <a:buClr>
                <a:srgbClr val="FFFFFF"/>
              </a:buClr>
              <a:buSzPts val="5200"/>
              <a:buNone/>
              <a:defRPr sz="5200">
                <a:solidFill>
                  <a:srgbClr val="FFFFFF"/>
                </a:solidFill>
              </a:defRPr>
            </a:lvl6pPr>
            <a:lvl7pPr lvl="6" algn="ctr">
              <a:spcBef>
                <a:spcPts val="0"/>
              </a:spcBef>
              <a:spcAft>
                <a:spcPts val="0"/>
              </a:spcAft>
              <a:buClr>
                <a:srgbClr val="FFFFFF"/>
              </a:buClr>
              <a:buSzPts val="5200"/>
              <a:buNone/>
              <a:defRPr sz="5200">
                <a:solidFill>
                  <a:srgbClr val="FFFFFF"/>
                </a:solidFill>
              </a:defRPr>
            </a:lvl7pPr>
            <a:lvl8pPr lvl="7" algn="ctr">
              <a:spcBef>
                <a:spcPts val="0"/>
              </a:spcBef>
              <a:spcAft>
                <a:spcPts val="0"/>
              </a:spcAft>
              <a:buClr>
                <a:srgbClr val="FFFFFF"/>
              </a:buClr>
              <a:buSzPts val="5200"/>
              <a:buNone/>
              <a:defRPr sz="5200">
                <a:solidFill>
                  <a:srgbClr val="FFFFFF"/>
                </a:solidFill>
              </a:defRPr>
            </a:lvl8pPr>
            <a:lvl9pPr lvl="8" algn="ctr">
              <a:spcBef>
                <a:spcPts val="0"/>
              </a:spcBef>
              <a:spcAft>
                <a:spcPts val="0"/>
              </a:spcAft>
              <a:buClr>
                <a:srgbClr val="FFFFFF"/>
              </a:buClr>
              <a:buSzPts val="5200"/>
              <a:buNone/>
              <a:defRPr sz="5200">
                <a:solidFill>
                  <a:srgbClr val="FFFFFF"/>
                </a:solidFill>
              </a:defRPr>
            </a:lvl9pPr>
          </a:lstStyle>
          <a:p/>
        </p:txBody>
      </p:sp>
      <p:sp>
        <p:nvSpPr>
          <p:cNvPr id="11" name="Google Shape;11;p2"/>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3200"/>
              <a:buNone/>
              <a:defRPr b="1" sz="3200">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3" name="Shape 13"/>
        <p:cNvGrpSpPr/>
        <p:nvPr/>
      </p:nvGrpSpPr>
      <p:grpSpPr>
        <a:xfrm>
          <a:off x="0" y="0"/>
          <a:ext cx="0" cy="0"/>
          <a:chOff x="0" y="0"/>
          <a:chExt cx="0" cy="0"/>
        </a:xfrm>
      </p:grpSpPr>
      <p:sp>
        <p:nvSpPr>
          <p:cNvPr id="14" name="Google Shape;14;p3"/>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5"/>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 name="Shape 22"/>
        <p:cNvGrpSpPr/>
        <p:nvPr/>
      </p:nvGrpSpPr>
      <p:grpSpPr>
        <a:xfrm>
          <a:off x="0" y="0"/>
          <a:ext cx="0" cy="0"/>
          <a:chOff x="0" y="0"/>
          <a:chExt cx="0" cy="0"/>
        </a:xfrm>
      </p:grpSpPr>
      <p:sp>
        <p:nvSpPr>
          <p:cNvPr id="23" name="Google Shape;23;p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6" name="Google Shape;26;p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1" name="Google Shape;31;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1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7" name="Google Shape;47;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647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sz="32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1088600"/>
            <a:ext cx="8520600" cy="52047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59" name="Google Shape;59;p15"/>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
        <p:nvSpPr>
          <p:cNvPr id="60" name="Google Shape;60;p15"/>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61" name="Google Shape;61;p15"/>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6</a:t>
            </a:r>
            <a:endParaRPr sz="3600"/>
          </a:p>
        </p:txBody>
      </p:sp>
      <p:sp>
        <p:nvSpPr>
          <p:cNvPr id="62" name="Google Shape;62;p15"/>
          <p:cNvSpPr txBox="1"/>
          <p:nvPr>
            <p:ph idx="4294967295" type="title"/>
          </p:nvPr>
        </p:nvSpPr>
        <p:spPr>
          <a:xfrm>
            <a:off x="464100" y="1627233"/>
            <a:ext cx="8520600" cy="26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63" name="Google Shape;63;p15"/>
          <p:cNvSpPr txBox="1"/>
          <p:nvPr>
            <p:ph idx="4294967295" type="body"/>
          </p:nvPr>
        </p:nvSpPr>
        <p:spPr>
          <a:xfrm>
            <a:off x="464100" y="4355367"/>
            <a:ext cx="8520600" cy="1734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6.</a:t>
            </a:r>
            <a:endParaRPr/>
          </a:p>
          <a:p>
            <a:pPr indent="0" lvl="0" marL="0" rtl="0" algn="ctr">
              <a:spcBef>
                <a:spcPts val="0"/>
              </a:spcBef>
              <a:spcAft>
                <a:spcPts val="0"/>
              </a:spcAft>
              <a:buNone/>
            </a:pPr>
            <a:r>
              <a:rPr lang="en-GB"/>
              <a:t>Ngữ nghĩa hình thức của OWL</a:t>
            </a:r>
            <a:endParaRPr/>
          </a:p>
        </p:txBody>
      </p:sp>
      <p:sp>
        <p:nvSpPr>
          <p:cNvPr id="69" name="Google Shape;69;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ội dung</a:t>
            </a:r>
            <a:endParaRPr/>
          </a:p>
        </p:txBody>
      </p:sp>
      <p:sp>
        <p:nvSpPr>
          <p:cNvPr id="75" name="Google Shape;75;p1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p:txBody>
      </p:sp>
      <p:sp>
        <p:nvSpPr>
          <p:cNvPr id="76" name="Google Shape;76;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2" name="Google Shape;82;p18"/>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t/>
            </a:r>
            <a:endParaRPr>
              <a:solidFill>
                <a:schemeClr val="dk1"/>
              </a:solidFill>
              <a:latin typeface="Times New Roman"/>
              <a:ea typeface="Times New Roman"/>
              <a:cs typeface="Times New Roman"/>
              <a:sym typeface="Times New Roman"/>
            </a:endParaRPr>
          </a:p>
        </p:txBody>
      </p:sp>
      <p:sp>
        <p:nvSpPr>
          <p:cNvPr id="83" name="Google Shape;83;p18"/>
          <p:cNvSpPr/>
          <p:nvPr/>
        </p:nvSpPr>
        <p:spPr>
          <a:xfrm>
            <a:off x="318450" y="1000508"/>
            <a:ext cx="57231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iểu diễn tri thức</a:t>
            </a:r>
            <a:endParaRPr/>
          </a:p>
        </p:txBody>
      </p:sp>
      <p:sp>
        <p:nvSpPr>
          <p:cNvPr id="90" name="Google Shape;90;p19"/>
          <p:cNvSpPr txBox="1"/>
          <p:nvPr>
            <p:ph idx="4294967295" type="body"/>
          </p:nvPr>
        </p:nvSpPr>
        <p:spPr>
          <a:xfrm>
            <a:off x="311700" y="927026"/>
            <a:ext cx="8520600" cy="196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M</a:t>
            </a:r>
            <a:r>
              <a:rPr i="1" lang="en-GB"/>
              <a:t>ục đích cơ bản:</a:t>
            </a:r>
            <a:endParaRPr i="1"/>
          </a:p>
          <a:p>
            <a:pPr indent="0" lvl="0" marL="0" rtl="0" algn="just">
              <a:spcBef>
                <a:spcPts val="0"/>
              </a:spcBef>
              <a:spcAft>
                <a:spcPts val="0"/>
              </a:spcAft>
              <a:buNone/>
            </a:pPr>
            <a:r>
              <a:rPr lang="en-GB"/>
              <a:t>Phát triển các nền tảng hình thức để tạo biểu diễn về thế giới để có thể tính toán hiệu quả và sử dụng để xây dựng các ứng dụng thông minh </a:t>
            </a:r>
            <a:endParaRPr/>
          </a:p>
        </p:txBody>
      </p:sp>
      <p:sp>
        <p:nvSpPr>
          <p:cNvPr id="91" name="Google Shape;91;p19"/>
          <p:cNvSpPr/>
          <p:nvPr/>
        </p:nvSpPr>
        <p:spPr>
          <a:xfrm>
            <a:off x="3185850" y="2714100"/>
            <a:ext cx="3170556" cy="1592892"/>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B</a:t>
            </a:r>
            <a:r>
              <a:rPr lang="en-GB" sz="2400"/>
              <a:t>iểu diễn tri thức</a:t>
            </a:r>
            <a:endParaRPr sz="2400"/>
          </a:p>
        </p:txBody>
      </p:sp>
      <p:sp>
        <p:nvSpPr>
          <p:cNvPr id="92" name="Google Shape;92;p19"/>
          <p:cNvSpPr txBox="1"/>
          <p:nvPr/>
        </p:nvSpPr>
        <p:spPr>
          <a:xfrm>
            <a:off x="595050" y="5981625"/>
            <a:ext cx="3482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434343"/>
                </a:solidFill>
              </a:rPr>
              <a:t>Ví dụ các cấu trúc mạng </a:t>
            </a:r>
            <a:endParaRPr sz="2400">
              <a:solidFill>
                <a:srgbClr val="434343"/>
              </a:solidFill>
            </a:endParaRPr>
          </a:p>
        </p:txBody>
      </p:sp>
      <p:sp>
        <p:nvSpPr>
          <p:cNvPr id="93" name="Google Shape;93;p19"/>
          <p:cNvSpPr txBox="1"/>
          <p:nvPr/>
        </p:nvSpPr>
        <p:spPr>
          <a:xfrm>
            <a:off x="4935300" y="5955075"/>
            <a:ext cx="38970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434343"/>
                </a:solidFill>
              </a:rPr>
              <a:t>V</a:t>
            </a:r>
            <a:r>
              <a:rPr lang="en-GB" sz="2400">
                <a:solidFill>
                  <a:srgbClr val="434343"/>
                </a:solidFill>
              </a:rPr>
              <a:t>í dụ lô-gic bậc nhất (FOL)</a:t>
            </a:r>
            <a:endParaRPr sz="2400">
              <a:solidFill>
                <a:srgbClr val="434343"/>
              </a:solidFill>
            </a:endParaRPr>
          </a:p>
        </p:txBody>
      </p:sp>
      <p:cxnSp>
        <p:nvCxnSpPr>
          <p:cNvPr id="94" name="Google Shape;94;p19"/>
          <p:cNvCxnSpPr/>
          <p:nvPr/>
        </p:nvCxnSpPr>
        <p:spPr>
          <a:xfrm flipH="1">
            <a:off x="2713488" y="4092518"/>
            <a:ext cx="980400" cy="429000"/>
          </a:xfrm>
          <a:prstGeom prst="straightConnector1">
            <a:avLst/>
          </a:prstGeom>
          <a:noFill/>
          <a:ln cap="flat" cmpd="sng" w="19050">
            <a:solidFill>
              <a:schemeClr val="dk2"/>
            </a:solidFill>
            <a:prstDash val="solid"/>
            <a:round/>
            <a:headEnd len="med" w="med" type="none"/>
            <a:tailEnd len="med" w="med" type="triangle"/>
          </a:ln>
        </p:spPr>
      </p:cxnSp>
      <p:cxnSp>
        <p:nvCxnSpPr>
          <p:cNvPr id="95" name="Google Shape;95;p19"/>
          <p:cNvCxnSpPr/>
          <p:nvPr/>
        </p:nvCxnSpPr>
        <p:spPr>
          <a:xfrm>
            <a:off x="5952354" y="3956110"/>
            <a:ext cx="1148700" cy="505500"/>
          </a:xfrm>
          <a:prstGeom prst="straightConnector1">
            <a:avLst/>
          </a:prstGeom>
          <a:noFill/>
          <a:ln cap="flat" cmpd="sng" w="19050">
            <a:solidFill>
              <a:schemeClr val="dk2"/>
            </a:solidFill>
            <a:prstDash val="solid"/>
            <a:round/>
            <a:headEnd len="med" w="med" type="none"/>
            <a:tailEnd len="med" w="med" type="triangle"/>
          </a:ln>
        </p:spPr>
      </p:cxnSp>
      <p:sp>
        <p:nvSpPr>
          <p:cNvPr id="96" name="Google Shape;96;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7" name="Google Shape;97;p19"/>
          <p:cNvSpPr/>
          <p:nvPr/>
        </p:nvSpPr>
        <p:spPr>
          <a:xfrm>
            <a:off x="671250" y="4542900"/>
            <a:ext cx="3170556" cy="1514916"/>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Biểu diễn </a:t>
            </a:r>
            <a:r>
              <a:rPr lang="en-GB" sz="2400"/>
              <a:t>trực quan</a:t>
            </a:r>
            <a:endParaRPr sz="2400"/>
          </a:p>
        </p:txBody>
      </p:sp>
      <p:sp>
        <p:nvSpPr>
          <p:cNvPr id="98" name="Google Shape;98;p19"/>
          <p:cNvSpPr/>
          <p:nvPr/>
        </p:nvSpPr>
        <p:spPr>
          <a:xfrm>
            <a:off x="5121975" y="4542900"/>
            <a:ext cx="3324024" cy="1514916"/>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Biểu diễn </a:t>
            </a:r>
            <a:r>
              <a:rPr lang="en-GB" sz="2400"/>
              <a:t>dựa trên lô-gic</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Lị</a:t>
            </a:r>
            <a:r>
              <a:rPr lang="en-GB"/>
              <a:t>ch sử biểu diễn tri thức nhận biết</a:t>
            </a:r>
            <a:endParaRPr/>
          </a:p>
        </p:txBody>
      </p:sp>
      <p:pic>
        <p:nvPicPr>
          <p:cNvPr id="104" name="Google Shape;104;p20"/>
          <p:cNvPicPr preferRelativeResize="0"/>
          <p:nvPr/>
        </p:nvPicPr>
        <p:blipFill>
          <a:blip r:embed="rId3">
            <a:alphaModFix/>
          </a:blip>
          <a:stretch>
            <a:fillRect/>
          </a:stretch>
        </p:blipFill>
        <p:spPr>
          <a:xfrm>
            <a:off x="1766100" y="1992350"/>
            <a:ext cx="6047774" cy="4402261"/>
          </a:xfrm>
          <a:prstGeom prst="rect">
            <a:avLst/>
          </a:prstGeom>
          <a:noFill/>
          <a:ln>
            <a:noFill/>
          </a:ln>
        </p:spPr>
      </p:pic>
      <p:sp>
        <p:nvSpPr>
          <p:cNvPr id="105" name="Google Shape;105;p20"/>
          <p:cNvSpPr txBox="1"/>
          <p:nvPr>
            <p:ph idx="4294967295" type="body"/>
          </p:nvPr>
        </p:nvSpPr>
        <p:spPr>
          <a:xfrm>
            <a:off x="311700" y="1088600"/>
            <a:ext cx="8520600" cy="10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Pl</a:t>
            </a:r>
            <a:r>
              <a:rPr lang="en-GB"/>
              <a:t>ato: "</a:t>
            </a:r>
            <a:r>
              <a:rPr b="1" i="1" lang="en-GB"/>
              <a:t>Knowledge</a:t>
            </a:r>
            <a:r>
              <a:rPr i="1" lang="en-GB"/>
              <a:t> is justified true belief</a:t>
            </a:r>
            <a:r>
              <a:rPr lang="en-GB"/>
              <a:t>”</a:t>
            </a:r>
            <a:endParaRPr/>
          </a:p>
          <a:p>
            <a:pPr indent="0" lvl="0" marL="0" rtl="0" algn="l">
              <a:spcBef>
                <a:spcPts val="0"/>
              </a:spcBef>
              <a:spcAft>
                <a:spcPts val="0"/>
              </a:spcAft>
              <a:buNone/>
            </a:pPr>
            <a:r>
              <a:rPr lang="en-GB"/>
              <a:t>Tri thức là niềm tin đã được kiểm chứng là đúng.</a:t>
            </a:r>
            <a:endParaRPr/>
          </a:p>
        </p:txBody>
      </p:sp>
      <p:sp>
        <p:nvSpPr>
          <p:cNvPr id="106" name="Google Shape;106;p20"/>
          <p:cNvSpPr txBox="1"/>
          <p:nvPr/>
        </p:nvSpPr>
        <p:spPr>
          <a:xfrm>
            <a:off x="1918500" y="2201750"/>
            <a:ext cx="2208900" cy="66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rgbClr val="434343"/>
                </a:solidFill>
              </a:rPr>
              <a:t>Bên trong</a:t>
            </a:r>
            <a:endParaRPr b="1" sz="2400">
              <a:solidFill>
                <a:srgbClr val="434343"/>
              </a:solidFill>
            </a:endParaRPr>
          </a:p>
        </p:txBody>
      </p:sp>
      <p:sp>
        <p:nvSpPr>
          <p:cNvPr id="107" name="Google Shape;107;p20"/>
          <p:cNvSpPr txBox="1"/>
          <p:nvPr/>
        </p:nvSpPr>
        <p:spPr>
          <a:xfrm>
            <a:off x="5389150" y="2201750"/>
            <a:ext cx="20217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434343"/>
                </a:solidFill>
              </a:rPr>
              <a:t>Bên ngoài</a:t>
            </a:r>
            <a:endParaRPr b="1" sz="2400">
              <a:solidFill>
                <a:srgbClr val="434343"/>
              </a:solidFill>
            </a:endParaRPr>
          </a:p>
        </p:txBody>
      </p:sp>
      <p:sp>
        <p:nvSpPr>
          <p:cNvPr id="108" name="Google Shape;108;p20"/>
          <p:cNvSpPr txBox="1"/>
          <p:nvPr/>
        </p:nvSpPr>
        <p:spPr>
          <a:xfrm>
            <a:off x="5236750" y="5859350"/>
            <a:ext cx="20217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434343"/>
                </a:solidFill>
              </a:rPr>
              <a:t>Cây tri thức</a:t>
            </a:r>
            <a:endParaRPr sz="2400">
              <a:solidFill>
                <a:srgbClr val="434343"/>
              </a:solidFill>
            </a:endParaRPr>
          </a:p>
        </p:txBody>
      </p:sp>
      <p:sp>
        <p:nvSpPr>
          <p:cNvPr id="109" name="Google Shape;109;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0" name="Google Shape;110;p20"/>
          <p:cNvSpPr txBox="1"/>
          <p:nvPr/>
        </p:nvSpPr>
        <p:spPr>
          <a:xfrm>
            <a:off x="1990200" y="6011750"/>
            <a:ext cx="2144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434343"/>
                </a:solidFill>
              </a:rPr>
              <a:t>T</a:t>
            </a:r>
            <a:r>
              <a:rPr lang="en-GB" sz="2400">
                <a:solidFill>
                  <a:srgbClr val="434343"/>
                </a:solidFill>
              </a:rPr>
              <a:t>hế giới quan</a:t>
            </a:r>
            <a:endParaRPr sz="2400">
              <a:solidFill>
                <a:srgbClr val="43434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606376" y="1577600"/>
            <a:ext cx="8069000" cy="4823199"/>
          </a:xfrm>
          <a:prstGeom prst="rect">
            <a:avLst/>
          </a:prstGeom>
          <a:noFill/>
          <a:ln>
            <a:noFill/>
          </a:ln>
        </p:spPr>
      </p:pic>
      <p:sp>
        <p:nvSpPr>
          <p:cNvPr id="116" name="Google Shape;116;p2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t>
            </a:r>
            <a:r>
              <a:rPr lang="en-GB"/>
              <a:t>ịch sử biểu diễn tri thức nhận biết</a:t>
            </a:r>
            <a:r>
              <a:rPr baseline="-25000" lang="en-GB"/>
              <a:t>(2)</a:t>
            </a:r>
            <a:endParaRPr baseline="-25000"/>
          </a:p>
        </p:txBody>
      </p:sp>
      <p:sp>
        <p:nvSpPr>
          <p:cNvPr id="117" name="Google Shape;117;p21"/>
          <p:cNvSpPr txBox="1"/>
          <p:nvPr>
            <p:ph idx="4294967295" type="body"/>
          </p:nvPr>
        </p:nvSpPr>
        <p:spPr>
          <a:xfrm>
            <a:off x="311700" y="1088600"/>
            <a:ext cx="8520600" cy="25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a:t>
            </a:r>
            <a:r>
              <a:rPr b="1" lang="en-GB"/>
              <a:t>ạng ngữ nghĩa</a:t>
            </a:r>
            <a:r>
              <a:rPr lang="en-GB"/>
              <a:t> được giới thiệu trong [Quillan, 1967]</a:t>
            </a:r>
            <a:endParaRPr/>
          </a:p>
        </p:txBody>
      </p:sp>
      <p:sp>
        <p:nvSpPr>
          <p:cNvPr id="118" name="Google Shape;118;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t>
            </a:r>
            <a:r>
              <a:rPr lang="en-GB"/>
              <a:t>ịch sử biểu diễn tri thức dựa trên lô-gic</a:t>
            </a:r>
            <a:endParaRPr/>
          </a:p>
        </p:txBody>
      </p:sp>
      <p:sp>
        <p:nvSpPr>
          <p:cNvPr id="124" name="Google Shape;124;p22"/>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sz="2400"/>
              <a:t>N</a:t>
            </a:r>
            <a:r>
              <a:rPr lang="en-GB" sz="2400"/>
              <a:t>h</a:t>
            </a:r>
            <a:r>
              <a:rPr lang="en-GB" sz="2400"/>
              <a:t>ững năm </a:t>
            </a:r>
            <a:r>
              <a:rPr lang="en-GB" sz="2400"/>
              <a:t>1950: </a:t>
            </a:r>
            <a:r>
              <a:rPr lang="en-GB"/>
              <a:t>B</a:t>
            </a:r>
            <a:r>
              <a:rPr lang="en-GB" sz="2400"/>
              <a:t>iểu diễn tri thức </a:t>
            </a:r>
            <a:r>
              <a:rPr lang="en-GB"/>
              <a:t>bằng </a:t>
            </a:r>
            <a:r>
              <a:rPr lang="en-GB"/>
              <a:t>Lô-gic bậc nhất </a:t>
            </a:r>
            <a:r>
              <a:rPr lang="en-GB" sz="2400"/>
              <a:t>[McCarthy, 1959]</a:t>
            </a:r>
            <a:r>
              <a:rPr lang="en-GB"/>
              <a:t> - </a:t>
            </a:r>
            <a:r>
              <a:rPr i="1" lang="en-GB" sz="2400"/>
              <a:t>(không khả quyết)</a:t>
            </a:r>
            <a:endParaRPr i="1"/>
          </a:p>
          <a:p>
            <a:pPr indent="-381000" lvl="0" marL="457200" rtl="0" algn="just">
              <a:spcBef>
                <a:spcPts val="0"/>
              </a:spcBef>
              <a:spcAft>
                <a:spcPts val="0"/>
              </a:spcAft>
              <a:buSzPts val="2400"/>
              <a:buChar char="●"/>
            </a:pPr>
            <a:r>
              <a:rPr lang="en-GB"/>
              <a:t>Những năm 1960: B</a:t>
            </a:r>
            <a:r>
              <a:rPr lang="en-GB"/>
              <a:t>iểu diễn tri thức bằng Các cấu trúc mạng [Quillan, 1967]. - </a:t>
            </a:r>
            <a:r>
              <a:rPr i="1" lang="en-GB"/>
              <a:t>(không có ngữ nghĩa hình thức)</a:t>
            </a:r>
            <a:endParaRPr i="1"/>
          </a:p>
          <a:p>
            <a:pPr indent="-381000" lvl="0" marL="457200" rtl="0" algn="just">
              <a:spcBef>
                <a:spcPts val="0"/>
              </a:spcBef>
              <a:spcAft>
                <a:spcPts val="0"/>
              </a:spcAft>
              <a:buSzPts val="2400"/>
              <a:buChar char="●"/>
            </a:pPr>
            <a:r>
              <a:rPr lang="en-GB"/>
              <a:t>N</a:t>
            </a:r>
            <a:r>
              <a:rPr lang="en-GB" sz="2400"/>
              <a:t>hững năm 1970: </a:t>
            </a:r>
            <a:r>
              <a:rPr lang="en-GB"/>
              <a:t>Biểu diễn cấu trúc mạng bằng FOL [Hayes, 1979].</a:t>
            </a:r>
            <a:endParaRPr/>
          </a:p>
          <a:p>
            <a:pPr indent="-381000" lvl="0" marL="457200" rtl="0" algn="just">
              <a:spcBef>
                <a:spcPts val="0"/>
              </a:spcBef>
              <a:spcAft>
                <a:spcPts val="0"/>
              </a:spcAft>
              <a:buSzPts val="2400"/>
              <a:buChar char="●"/>
            </a:pPr>
            <a:r>
              <a:rPr lang="en-GB"/>
              <a:t>Những năm 1980: </a:t>
            </a:r>
            <a:endParaRPr/>
          </a:p>
          <a:p>
            <a:pPr indent="-368300" lvl="1" marL="914400" rtl="0" algn="just">
              <a:spcBef>
                <a:spcPts val="0"/>
              </a:spcBef>
              <a:spcAft>
                <a:spcPts val="0"/>
              </a:spcAft>
              <a:buSzPts val="2200"/>
              <a:buChar char="○"/>
            </a:pPr>
            <a:r>
              <a:rPr lang="en-GB"/>
              <a:t>Các khung lô-gic [Minsky, 1985]</a:t>
            </a:r>
            <a:endParaRPr/>
          </a:p>
          <a:p>
            <a:pPr indent="-368300" lvl="1" marL="914400" rtl="0" algn="just">
              <a:spcBef>
                <a:spcPts val="0"/>
              </a:spcBef>
              <a:spcAft>
                <a:spcPts val="0"/>
              </a:spcAft>
              <a:buSzPts val="2200"/>
              <a:buChar char="○"/>
            </a:pPr>
            <a:r>
              <a:rPr lang="en-GB"/>
              <a:t>Biểu diễn tri thức bằng l</a:t>
            </a:r>
            <a:r>
              <a:rPr lang="en-GB"/>
              <a:t>ô-gic mô tả (DL)</a:t>
            </a:r>
            <a:endParaRPr/>
          </a:p>
          <a:p>
            <a:pPr indent="-342900" lvl="2" marL="1371600" rtl="0" algn="l">
              <a:spcBef>
                <a:spcPts val="0"/>
              </a:spcBef>
              <a:spcAft>
                <a:spcPts val="0"/>
              </a:spcAft>
              <a:buSzPts val="1800"/>
              <a:buChar char="■"/>
            </a:pPr>
            <a:r>
              <a:rPr lang="en-GB"/>
              <a:t>Các phần khả quyết của FOL;</a:t>
            </a:r>
            <a:endParaRPr/>
          </a:p>
          <a:p>
            <a:pPr indent="-342900" lvl="2" marL="1371600" rtl="0" algn="l">
              <a:spcBef>
                <a:spcPts val="0"/>
              </a:spcBef>
              <a:spcAft>
                <a:spcPts val="0"/>
              </a:spcAft>
              <a:buSzPts val="1800"/>
              <a:buChar char="■"/>
            </a:pPr>
            <a:r>
              <a:rPr lang="en-GB"/>
              <a:t>Các tri thức được biểu diễn bằng DLs cũng được gọi là ontology;</a:t>
            </a:r>
            <a:endParaRPr/>
          </a:p>
          <a:p>
            <a:pPr indent="-342900" lvl="2" marL="1371600" rtl="0" algn="l">
              <a:spcBef>
                <a:spcPts val="0"/>
              </a:spcBef>
              <a:spcAft>
                <a:spcPts val="0"/>
              </a:spcAft>
              <a:buSzPts val="1800"/>
              <a:buChar char="■"/>
            </a:pPr>
            <a:r>
              <a:rPr lang="en-GB"/>
              <a:t>Nhiều phiên bản DLs với khả năng diễn đạt và tính toán khác nhau;</a:t>
            </a:r>
            <a:endParaRPr/>
          </a:p>
          <a:p>
            <a:pPr indent="-342900" lvl="2" marL="1371600" rtl="0" algn="l">
              <a:spcBef>
                <a:spcPts val="0"/>
              </a:spcBef>
              <a:spcAft>
                <a:spcPts val="0"/>
              </a:spcAft>
              <a:buSzPts val="1800"/>
              <a:buChar char="■"/>
            </a:pPr>
            <a:r>
              <a:rPr lang="en-GB"/>
              <a:t>Thường được sử dụng để suy diễn khái niệm;</a:t>
            </a:r>
            <a:endParaRPr/>
          </a:p>
        </p:txBody>
      </p:sp>
      <p:sp>
        <p:nvSpPr>
          <p:cNvPr id="125" name="Google Shape;125;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31" name="Google Shape;131;p23"/>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t/>
            </a:r>
            <a:endParaRPr>
              <a:solidFill>
                <a:schemeClr val="dk1"/>
              </a:solidFill>
              <a:latin typeface="Times New Roman"/>
              <a:ea typeface="Times New Roman"/>
              <a:cs typeface="Times New Roman"/>
              <a:sym typeface="Times New Roman"/>
            </a:endParaRPr>
          </a:p>
        </p:txBody>
      </p:sp>
      <p:sp>
        <p:nvSpPr>
          <p:cNvPr id="132" name="Google Shape;132;p23"/>
          <p:cNvSpPr/>
          <p:nvPr/>
        </p:nvSpPr>
        <p:spPr>
          <a:xfrm>
            <a:off x="318450" y="1408758"/>
            <a:ext cx="57231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t>
            </a:r>
            <a:r>
              <a:rPr lang="en-GB"/>
              <a:t>ô-gic mệnh đề</a:t>
            </a:r>
            <a:endParaRPr/>
          </a:p>
        </p:txBody>
      </p:sp>
      <p:sp>
        <p:nvSpPr>
          <p:cNvPr id="139" name="Google Shape;139;p24"/>
          <p:cNvSpPr txBox="1"/>
          <p:nvPr>
            <p:ph idx="4294967295" type="body"/>
          </p:nvPr>
        </p:nvSpPr>
        <p:spPr>
          <a:xfrm>
            <a:off x="311700" y="1088600"/>
            <a:ext cx="8520600" cy="420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t>Thử biểu diễn những câu sau:</a:t>
            </a:r>
            <a:endParaRPr/>
          </a:p>
          <a:p>
            <a:pPr indent="0" lvl="0" marL="0" rtl="0" algn="l">
              <a:spcBef>
                <a:spcPts val="0"/>
              </a:spcBef>
              <a:spcAft>
                <a:spcPts val="0"/>
              </a:spcAft>
              <a:buNone/>
            </a:pPr>
            <a:r>
              <a:rPr lang="en-GB" sz="2400"/>
              <a:t>(1) </a:t>
            </a:r>
            <a:r>
              <a:rPr lang="en-GB" sz="2400"/>
              <a:t>Aristotle là người   (2) Socrates là người</a:t>
            </a:r>
            <a:endParaRPr sz="2400"/>
          </a:p>
          <a:p>
            <a:pPr indent="0" lvl="0" marL="0" rtl="0" algn="l">
              <a:spcBef>
                <a:spcPts val="0"/>
              </a:spcBef>
              <a:spcAft>
                <a:spcPts val="0"/>
              </a:spcAft>
              <a:buNone/>
            </a:pPr>
            <a:r>
              <a:rPr lang="en-GB" sz="2400"/>
              <a:t>(3) Người không bất tử </a:t>
            </a:r>
            <a:endParaRPr/>
          </a:p>
          <a:p>
            <a:pPr indent="0" lvl="0" marL="0" rtl="0" algn="l">
              <a:spcBef>
                <a:spcPts val="0"/>
              </a:spcBef>
              <a:spcAft>
                <a:spcPts val="0"/>
              </a:spcAft>
              <a:buNone/>
            </a:pPr>
            <a:r>
              <a:rPr lang="en-GB"/>
              <a:t>=&gt; Aristotle không bất tử và Socrates không bất tử.</a:t>
            </a:r>
            <a:endParaRPr/>
          </a:p>
          <a:p>
            <a:pPr indent="-381000" lvl="0" marL="457200" rtl="0" algn="l">
              <a:spcBef>
                <a:spcPts val="0"/>
              </a:spcBef>
              <a:spcAft>
                <a:spcPts val="0"/>
              </a:spcAft>
              <a:buSzPts val="2400"/>
              <a:buChar char="●"/>
            </a:pPr>
            <a:r>
              <a:rPr b="1" lang="en-GB" sz="2400"/>
              <a:t>Lô-gic </a:t>
            </a:r>
            <a:r>
              <a:rPr b="1" lang="en-GB" sz="2400"/>
              <a:t>mệnh đề</a:t>
            </a:r>
            <a:r>
              <a:rPr b="1" lang="en-GB" sz="2400"/>
              <a:t> (PL - Propositional Logic)</a:t>
            </a:r>
            <a:r>
              <a:rPr lang="en-GB" sz="2400"/>
              <a:t>: Các biến mệnh đề, ¬, ∨, ∧, →</a:t>
            </a:r>
            <a:endParaRPr sz="2400"/>
          </a:p>
          <a:p>
            <a:pPr indent="-368300" lvl="1" marL="914400" rtl="0" algn="l">
              <a:spcBef>
                <a:spcPts val="0"/>
              </a:spcBef>
              <a:spcAft>
                <a:spcPts val="0"/>
              </a:spcAft>
              <a:buSzPts val="2200"/>
              <a:buChar char="○"/>
            </a:pPr>
            <a:r>
              <a:rPr lang="en-GB"/>
              <a:t>AristotleIsAMan = true;  </a:t>
            </a:r>
            <a:endParaRPr/>
          </a:p>
          <a:p>
            <a:pPr indent="-368300" lvl="1" marL="914400" rtl="0" algn="l">
              <a:spcBef>
                <a:spcPts val="0"/>
              </a:spcBef>
              <a:spcAft>
                <a:spcPts val="0"/>
              </a:spcAft>
              <a:buSzPts val="2200"/>
              <a:buChar char="○"/>
            </a:pPr>
            <a:r>
              <a:rPr lang="en-GB"/>
              <a:t>SocratesIsAMan = true</a:t>
            </a:r>
            <a:endParaRPr/>
          </a:p>
          <a:p>
            <a:pPr indent="-368300" lvl="1" marL="914400" rtl="0" algn="l">
              <a:spcBef>
                <a:spcPts val="0"/>
              </a:spcBef>
              <a:spcAft>
                <a:spcPts val="0"/>
              </a:spcAft>
              <a:buSzPts val="2200"/>
              <a:buChar char="○"/>
            </a:pPr>
            <a:r>
              <a:rPr lang="en-GB"/>
              <a:t>AristotleIsAMan →AristotleIsMortal</a:t>
            </a:r>
            <a:endParaRPr/>
          </a:p>
          <a:p>
            <a:pPr indent="-368300" lvl="1" marL="914400" rtl="0" algn="l">
              <a:spcBef>
                <a:spcPts val="0"/>
              </a:spcBef>
              <a:spcAft>
                <a:spcPts val="0"/>
              </a:spcAft>
              <a:buSzPts val="2200"/>
              <a:buChar char="○"/>
            </a:pPr>
            <a:r>
              <a:rPr lang="en-GB"/>
              <a:t>SocratesIsAMan→SocratesIsMortal</a:t>
            </a:r>
            <a:endParaRPr/>
          </a:p>
        </p:txBody>
      </p:sp>
      <p:sp>
        <p:nvSpPr>
          <p:cNvPr id="140" name="Google Shape;140;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1" name="Google Shape;141;p24"/>
          <p:cNvSpPr txBox="1"/>
          <p:nvPr/>
        </p:nvSpPr>
        <p:spPr>
          <a:xfrm>
            <a:off x="455100" y="5642625"/>
            <a:ext cx="8284200" cy="52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000"/>
              </a:spcBef>
              <a:spcAft>
                <a:spcPts val="0"/>
              </a:spcAft>
              <a:buNone/>
            </a:pPr>
            <a:r>
              <a:rPr lang="en-GB" sz="2400">
                <a:solidFill>
                  <a:srgbClr val="990000"/>
                </a:solidFill>
              </a:rPr>
              <a:t>Khả năng diễn đạt của PL tương đối hạn chế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Lô-gic mệnh đề và lô-gic bậc nhất</a:t>
            </a:r>
            <a:r>
              <a:rPr baseline="-25000" lang="en-GB"/>
              <a:t>(2)</a:t>
            </a:r>
            <a:endParaRPr baseline="-25000"/>
          </a:p>
        </p:txBody>
      </p:sp>
      <p:sp>
        <p:nvSpPr>
          <p:cNvPr id="147" name="Google Shape;147;p25"/>
          <p:cNvSpPr txBox="1"/>
          <p:nvPr>
            <p:ph idx="4294967295" type="body"/>
          </p:nvPr>
        </p:nvSpPr>
        <p:spPr>
          <a:xfrm>
            <a:off x="311700" y="1088600"/>
            <a:ext cx="8520600" cy="39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t>Thử biểu diễn những ý sau:</a:t>
            </a:r>
            <a:endParaRPr/>
          </a:p>
          <a:p>
            <a:pPr indent="0" lvl="0" marL="0" rtl="0" algn="l">
              <a:spcBef>
                <a:spcPts val="0"/>
              </a:spcBef>
              <a:spcAft>
                <a:spcPts val="0"/>
              </a:spcAft>
              <a:buClr>
                <a:schemeClr val="dk1"/>
              </a:buClr>
              <a:buSzPts val="1100"/>
              <a:buFont typeface="Arial"/>
              <a:buNone/>
            </a:pPr>
            <a:r>
              <a:rPr lang="en-GB"/>
              <a:t>(1) Aristotle là người   (2) Socrates là người</a:t>
            </a:r>
            <a:endParaRPr/>
          </a:p>
          <a:p>
            <a:pPr indent="0" lvl="0" marL="0" rtl="0" algn="l">
              <a:spcBef>
                <a:spcPts val="0"/>
              </a:spcBef>
              <a:spcAft>
                <a:spcPts val="0"/>
              </a:spcAft>
              <a:buClr>
                <a:schemeClr val="dk1"/>
              </a:buClr>
              <a:buSzPts val="1100"/>
              <a:buFont typeface="Arial"/>
              <a:buNone/>
            </a:pPr>
            <a:r>
              <a:rPr lang="en-GB"/>
              <a:t>(3) Người không bất tử </a:t>
            </a:r>
            <a:endParaRPr/>
          </a:p>
          <a:p>
            <a:pPr indent="0" lvl="0" marL="0" rtl="0" algn="l">
              <a:spcBef>
                <a:spcPts val="0"/>
              </a:spcBef>
              <a:spcAft>
                <a:spcPts val="0"/>
              </a:spcAft>
              <a:buClr>
                <a:schemeClr val="dk1"/>
              </a:buClr>
              <a:buSzPts val="1100"/>
              <a:buFont typeface="Arial"/>
              <a:buNone/>
            </a:pPr>
            <a:r>
              <a:rPr lang="en-GB"/>
              <a:t>=&gt; Aristotle không bất tử và Socrates không bất tử.</a:t>
            </a:r>
            <a:endParaRPr sz="1400">
              <a:solidFill>
                <a:srgbClr val="434343"/>
              </a:solidFill>
            </a:endParaRPr>
          </a:p>
          <a:p>
            <a:pPr indent="-381000" lvl="0" marL="457200" rtl="0" algn="l">
              <a:spcBef>
                <a:spcPts val="0"/>
              </a:spcBef>
              <a:spcAft>
                <a:spcPts val="0"/>
              </a:spcAft>
              <a:buSzPts val="2400"/>
              <a:buChar char="●"/>
            </a:pPr>
            <a:r>
              <a:rPr b="1" lang="en-GB"/>
              <a:t>Lô-gic bậc nhất (FOL - First Order Logic):</a:t>
            </a:r>
            <a:r>
              <a:rPr lang="en-GB"/>
              <a:t> Các thuộc tính, hằng, biến, hàm ký tự, ¬, ∨, ∧,∀, ∃, →</a:t>
            </a:r>
            <a:endParaRPr/>
          </a:p>
          <a:p>
            <a:pPr indent="-368300" lvl="1" marL="914400" rtl="0" algn="l">
              <a:spcBef>
                <a:spcPts val="0"/>
              </a:spcBef>
              <a:spcAft>
                <a:spcPts val="0"/>
              </a:spcAft>
              <a:buSzPts val="2200"/>
              <a:buChar char="○"/>
            </a:pPr>
            <a:r>
              <a:rPr lang="en-GB"/>
              <a:t>Man(Socrates); </a:t>
            </a:r>
            <a:endParaRPr/>
          </a:p>
          <a:p>
            <a:pPr indent="-368300" lvl="1" marL="914400" rtl="0" algn="l">
              <a:spcBef>
                <a:spcPts val="0"/>
              </a:spcBef>
              <a:spcAft>
                <a:spcPts val="0"/>
              </a:spcAft>
              <a:buSzPts val="2200"/>
              <a:buChar char="○"/>
            </a:pPr>
            <a:r>
              <a:rPr lang="en-GB"/>
              <a:t>Man(Aristotel);</a:t>
            </a:r>
            <a:endParaRPr/>
          </a:p>
          <a:p>
            <a:pPr indent="-368300" lvl="1" marL="914400" rtl="0" algn="l">
              <a:spcBef>
                <a:spcPts val="0"/>
              </a:spcBef>
              <a:spcAft>
                <a:spcPts val="0"/>
              </a:spcAft>
              <a:buSzPts val="2200"/>
              <a:buChar char="○"/>
            </a:pPr>
            <a:r>
              <a:rPr lang="en-GB"/>
              <a:t>∀X(Man(X)) → Mortal(X)</a:t>
            </a:r>
            <a:endParaRPr>
              <a:solidFill>
                <a:srgbClr val="990000"/>
              </a:solidFill>
            </a:endParaRPr>
          </a:p>
        </p:txBody>
      </p:sp>
      <p:sp>
        <p:nvSpPr>
          <p:cNvPr id="148" name="Google Shape;148;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9" name="Google Shape;149;p25"/>
          <p:cNvSpPr txBox="1"/>
          <p:nvPr/>
        </p:nvSpPr>
        <p:spPr>
          <a:xfrm>
            <a:off x="309775" y="5270200"/>
            <a:ext cx="8520600" cy="86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000"/>
              </a:spcBef>
              <a:spcAft>
                <a:spcPts val="0"/>
              </a:spcAft>
              <a:buClr>
                <a:schemeClr val="dk1"/>
              </a:buClr>
              <a:buSzPts val="1100"/>
              <a:buFont typeface="Arial"/>
              <a:buNone/>
            </a:pPr>
            <a:r>
              <a:rPr lang="en-GB" sz="2400">
                <a:solidFill>
                  <a:srgbClr val="990000"/>
                </a:solidFill>
              </a:rPr>
              <a:t>FOL có khả năng diễn đạt cao nhưng không khả quyết trong trường hợp tổng quát.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ú pháp của FOL</a:t>
            </a:r>
            <a:endParaRPr/>
          </a:p>
        </p:txBody>
      </p:sp>
      <p:sp>
        <p:nvSpPr>
          <p:cNvPr id="155" name="Google Shape;155;p2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FOL bao gồm những thành phần cơ bản sau:</a:t>
            </a:r>
            <a:endParaRPr/>
          </a:p>
          <a:p>
            <a:pPr indent="-368300" lvl="1" marL="914400" rtl="0" algn="l">
              <a:spcBef>
                <a:spcPts val="0"/>
              </a:spcBef>
              <a:spcAft>
                <a:spcPts val="0"/>
              </a:spcAft>
              <a:buSzPts val="2200"/>
              <a:buChar char="○"/>
            </a:pPr>
            <a:r>
              <a:rPr lang="en-GB"/>
              <a:t>Các biến: x, y, …</a:t>
            </a:r>
            <a:endParaRPr/>
          </a:p>
          <a:p>
            <a:pPr indent="-368300" lvl="1" marL="914400" rtl="0" algn="l">
              <a:spcBef>
                <a:spcPts val="0"/>
              </a:spcBef>
              <a:spcAft>
                <a:spcPts val="0"/>
              </a:spcAft>
              <a:buSzPts val="2200"/>
              <a:buChar char="○"/>
            </a:pPr>
            <a:r>
              <a:rPr lang="en-GB"/>
              <a:t>Các toán tử: Tương tự lô-gic mệnh đề (PL): phủ định (¬), và (⨅), hoặc (⨆), suy ra (=&gt;), khi và chỉ khi (&lt;=&gt;)</a:t>
            </a:r>
            <a:endParaRPr/>
          </a:p>
          <a:p>
            <a:pPr indent="-368300" lvl="1" marL="914400" rtl="0" algn="l">
              <a:spcBef>
                <a:spcPts val="0"/>
              </a:spcBef>
              <a:spcAft>
                <a:spcPts val="0"/>
              </a:spcAft>
              <a:buSzPts val="2200"/>
              <a:buChar char="○"/>
            </a:pPr>
            <a:r>
              <a:rPr lang="en-GB"/>
              <a:t>Định lượng: Tất cả (∀) và tồn tại (∃)</a:t>
            </a:r>
            <a:endParaRPr/>
          </a:p>
          <a:p>
            <a:pPr indent="-381000" lvl="0" marL="457200" rtl="0" algn="l">
              <a:spcBef>
                <a:spcPts val="0"/>
              </a:spcBef>
              <a:spcAft>
                <a:spcPts val="0"/>
              </a:spcAft>
              <a:buSzPts val="2400"/>
              <a:buChar char="●"/>
            </a:pPr>
            <a:r>
              <a:rPr lang="en-GB"/>
              <a:t>Ng</a:t>
            </a:r>
            <a:r>
              <a:rPr lang="en-GB"/>
              <a:t>ười dùng tự định nghĩa các thành phần sau:</a:t>
            </a:r>
            <a:endParaRPr/>
          </a:p>
          <a:p>
            <a:pPr indent="-368300" lvl="1" marL="914400" rtl="0" algn="l">
              <a:spcBef>
                <a:spcPts val="0"/>
              </a:spcBef>
              <a:spcAft>
                <a:spcPts val="0"/>
              </a:spcAft>
              <a:buSzPts val="2200"/>
              <a:buChar char="○"/>
            </a:pPr>
            <a:r>
              <a:rPr lang="en-GB"/>
              <a:t>Các ký hiệu: "Các phần tử" trong thế giới;</a:t>
            </a:r>
            <a:endParaRPr/>
          </a:p>
          <a:p>
            <a:pPr indent="-342900" lvl="2" marL="1371600" rtl="0" algn="l">
              <a:spcBef>
                <a:spcPts val="0"/>
              </a:spcBef>
              <a:spcAft>
                <a:spcPts val="0"/>
              </a:spcAft>
              <a:buSzPts val="1800"/>
              <a:buChar char="■"/>
            </a:pPr>
            <a:r>
              <a:rPr lang="en-GB"/>
              <a:t> Ví dụ, Mary, 3, …</a:t>
            </a:r>
            <a:endParaRPr/>
          </a:p>
          <a:p>
            <a:pPr indent="-368300" lvl="1" marL="914400" rtl="0" algn="l">
              <a:spcBef>
                <a:spcPts val="0"/>
              </a:spcBef>
              <a:spcAft>
                <a:spcPts val="0"/>
              </a:spcAft>
              <a:buSzPts val="2200"/>
              <a:buChar char="○"/>
            </a:pPr>
            <a:r>
              <a:rPr lang="en-GB"/>
              <a:t>Các hàm: Ánh xạ các phần tử tới các phần tử; </a:t>
            </a:r>
            <a:endParaRPr/>
          </a:p>
          <a:p>
            <a:pPr indent="-342900" lvl="2" marL="1371600" rtl="0" algn="l">
              <a:spcBef>
                <a:spcPts val="0"/>
              </a:spcBef>
              <a:spcAft>
                <a:spcPts val="0"/>
              </a:spcAft>
              <a:buSzPts val="1800"/>
              <a:buChar char="■"/>
            </a:pPr>
            <a:r>
              <a:rPr lang="en-GB"/>
              <a:t>Ví du, father-of(Mary) = John, color-of(Sky) = Blue</a:t>
            </a:r>
            <a:endParaRPr/>
          </a:p>
          <a:p>
            <a:pPr indent="-368300" lvl="1" marL="914400" rtl="0" algn="l">
              <a:spcBef>
                <a:spcPts val="0"/>
              </a:spcBef>
              <a:spcAft>
                <a:spcPts val="0"/>
              </a:spcAft>
              <a:buSzPts val="2200"/>
              <a:buChar char="○"/>
            </a:pPr>
            <a:r>
              <a:rPr lang="en-GB"/>
              <a:t>Các mệnh đề: Ánh xạ các thành phần tới các giá trị chân lý;  </a:t>
            </a:r>
            <a:endParaRPr/>
          </a:p>
          <a:p>
            <a:pPr indent="-342900" lvl="2" marL="1371600" rtl="0" algn="l">
              <a:spcBef>
                <a:spcPts val="0"/>
              </a:spcBef>
              <a:spcAft>
                <a:spcPts val="0"/>
              </a:spcAft>
              <a:buSzPts val="1800"/>
              <a:buChar char="■"/>
            </a:pPr>
            <a:r>
              <a:rPr lang="en-GB"/>
              <a:t>Ví dụ: greater(5, 3), green(Grass), color(Grass, Green)</a:t>
            </a:r>
            <a:endParaRPr/>
          </a:p>
        </p:txBody>
      </p:sp>
      <p:sp>
        <p:nvSpPr>
          <p:cNvPr id="156" name="Google Shape;156;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định lượng</a:t>
            </a:r>
            <a:endParaRPr/>
          </a:p>
        </p:txBody>
      </p:sp>
      <p:sp>
        <p:nvSpPr>
          <p:cNvPr id="162" name="Google Shape;162;p2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Định lượng tất cả</a:t>
            </a:r>
            <a:endParaRPr/>
          </a:p>
          <a:p>
            <a:pPr indent="-368300" lvl="1" marL="914400" rtl="0" algn="l">
              <a:spcBef>
                <a:spcPts val="0"/>
              </a:spcBef>
              <a:spcAft>
                <a:spcPts val="0"/>
              </a:spcAft>
              <a:buSzPts val="2200"/>
              <a:buChar char="○"/>
            </a:pPr>
            <a:r>
              <a:rPr lang="en-GB"/>
              <a:t>(∀x)P(x) - Với tất cả x mà P(x) đúng</a:t>
            </a:r>
            <a:endParaRPr/>
          </a:p>
          <a:p>
            <a:pPr indent="-342900" lvl="2" marL="1371600" rtl="0" algn="l">
              <a:spcBef>
                <a:spcPts val="0"/>
              </a:spcBef>
              <a:spcAft>
                <a:spcPts val="0"/>
              </a:spcAft>
              <a:buSzPts val="1800"/>
              <a:buChar char="■"/>
            </a:pPr>
            <a:r>
              <a:rPr lang="en-GB"/>
              <a:t>Ví dụ, </a:t>
            </a:r>
            <a:r>
              <a:rPr lang="en-GB"/>
              <a:t>(∀x)dolphin(x) =&gt; mammal(x)</a:t>
            </a:r>
            <a:endParaRPr/>
          </a:p>
          <a:p>
            <a:pPr indent="-381000" lvl="0" marL="457200" rtl="0" algn="l">
              <a:spcBef>
                <a:spcPts val="0"/>
              </a:spcBef>
              <a:spcAft>
                <a:spcPts val="0"/>
              </a:spcAft>
              <a:buSzPts val="2400"/>
              <a:buChar char="●"/>
            </a:pPr>
            <a:r>
              <a:rPr lang="en-GB"/>
              <a:t>Định lượng tồn tại</a:t>
            </a:r>
            <a:endParaRPr/>
          </a:p>
          <a:p>
            <a:pPr indent="-368300" lvl="1" marL="914400" rtl="0" algn="l">
              <a:spcBef>
                <a:spcPts val="0"/>
              </a:spcBef>
              <a:spcAft>
                <a:spcPts val="0"/>
              </a:spcAft>
              <a:buSzPts val="2200"/>
              <a:buChar char="○"/>
            </a:pPr>
            <a:r>
              <a:rPr lang="en-GB"/>
              <a:t>(∃x)P(x) - Tồn tại x mà P(x) đúng</a:t>
            </a:r>
            <a:endParaRPr/>
          </a:p>
          <a:p>
            <a:pPr indent="-342900" lvl="2" marL="1371600" rtl="0" algn="l">
              <a:spcBef>
                <a:spcPts val="0"/>
              </a:spcBef>
              <a:spcAft>
                <a:spcPts val="0"/>
              </a:spcAft>
              <a:buSzPts val="1800"/>
              <a:buChar char="■"/>
            </a:pPr>
            <a:r>
              <a:rPr lang="en-GB"/>
              <a:t>Ví dụ, (∃x) mammal(x) ⨅ lays-eggs(x)</a:t>
            </a:r>
            <a:endParaRPr/>
          </a:p>
          <a:p>
            <a:pPr indent="-381000" lvl="0" marL="457200" rtl="0" algn="l">
              <a:spcBef>
                <a:spcPts val="0"/>
              </a:spcBef>
              <a:spcAft>
                <a:spcPts val="0"/>
              </a:spcAft>
              <a:buSzPts val="2400"/>
              <a:buChar char="●"/>
            </a:pPr>
            <a:r>
              <a:rPr lang="en-GB"/>
              <a:t>Định lượng tất cả thường được sử dụng với liên kết "suy ra" để thiết lập luật nếu-thì</a:t>
            </a:r>
            <a:endParaRPr/>
          </a:p>
          <a:p>
            <a:pPr indent="-368300" lvl="1" marL="914400" rtl="0" algn="l">
              <a:spcBef>
                <a:spcPts val="0"/>
              </a:spcBef>
              <a:spcAft>
                <a:spcPts val="0"/>
              </a:spcAft>
              <a:buSzPts val="2200"/>
              <a:buChar char="○"/>
            </a:pPr>
            <a:r>
              <a:rPr lang="en-GB"/>
              <a:t>Ví dụ, (∀x) IT6390-student(x) =&gt; hard-working(x) </a:t>
            </a:r>
            <a:endParaRPr/>
          </a:p>
          <a:p>
            <a:pPr indent="-342900" lvl="2" marL="1371600" rtl="0" algn="l">
              <a:spcBef>
                <a:spcPts val="0"/>
              </a:spcBef>
              <a:spcAft>
                <a:spcPts val="0"/>
              </a:spcAft>
              <a:buSzPts val="1800"/>
              <a:buChar char="■"/>
            </a:pPr>
            <a:r>
              <a:rPr lang="en-GB"/>
              <a:t>"Tất cả các học viên IT6390 đều chăm học"</a:t>
            </a:r>
            <a:endParaRPr/>
          </a:p>
        </p:txBody>
      </p:sp>
      <p:sp>
        <p:nvSpPr>
          <p:cNvPr id="163" name="Google Shape;16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định lượng</a:t>
            </a:r>
            <a:r>
              <a:rPr baseline="-25000" lang="en-GB"/>
              <a:t>(2)</a:t>
            </a:r>
            <a:endParaRPr baseline="-25000"/>
          </a:p>
        </p:txBody>
      </p:sp>
      <p:sp>
        <p:nvSpPr>
          <p:cNvPr id="169" name="Google Shape;169;p28"/>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Định lượng tồn tại thường được sử dụng với liên kết "và" để xác định các tính chất</a:t>
            </a:r>
            <a:endParaRPr/>
          </a:p>
          <a:p>
            <a:pPr indent="-368300" lvl="1" marL="914400" rtl="0" algn="l">
              <a:spcBef>
                <a:spcPts val="0"/>
              </a:spcBef>
              <a:spcAft>
                <a:spcPts val="0"/>
              </a:spcAft>
              <a:buSzPts val="2200"/>
              <a:buChar char="○"/>
            </a:pPr>
            <a:r>
              <a:rPr lang="en-GB"/>
              <a:t>Ví dụ, (∃x) IT6390-student(x) ⨅ female(x)</a:t>
            </a:r>
            <a:endParaRPr/>
          </a:p>
          <a:p>
            <a:pPr indent="-342900" lvl="2" marL="1371600" rtl="0" algn="l">
              <a:spcBef>
                <a:spcPts val="0"/>
              </a:spcBef>
              <a:spcAft>
                <a:spcPts val="0"/>
              </a:spcAft>
              <a:buSzPts val="1800"/>
              <a:buChar char="■"/>
            </a:pPr>
            <a:r>
              <a:rPr lang="en-GB"/>
              <a:t>"Có nữ học viên IT6390"</a:t>
            </a:r>
            <a:endParaRPr/>
          </a:p>
          <a:p>
            <a:pPr indent="-381000" lvl="0" marL="457200" rtl="0" algn="l">
              <a:spcBef>
                <a:spcPts val="0"/>
              </a:spcBef>
              <a:spcAft>
                <a:spcPts val="0"/>
              </a:spcAft>
              <a:buSzPts val="2400"/>
              <a:buChar char="●"/>
            </a:pPr>
            <a:r>
              <a:rPr lang="en-GB"/>
              <a:t>Có thể đảo trật tự các định lượng mà không làm thay đổi ý nghĩa </a:t>
            </a:r>
            <a:endParaRPr/>
          </a:p>
          <a:p>
            <a:pPr indent="-368300" lvl="1" marL="914400" rtl="0" algn="l">
              <a:spcBef>
                <a:spcPts val="0"/>
              </a:spcBef>
              <a:spcAft>
                <a:spcPts val="0"/>
              </a:spcAft>
              <a:buSzPts val="2200"/>
              <a:buChar char="○"/>
            </a:pPr>
            <a:r>
              <a:rPr lang="en-GB"/>
              <a:t>(∀x)(∀y)P(x, y) tương đương với (∀y)(∀x)P(x, y)</a:t>
            </a:r>
            <a:endParaRPr/>
          </a:p>
          <a:p>
            <a:pPr indent="-342900" lvl="2" marL="1371600" rtl="0" algn="l">
              <a:spcBef>
                <a:spcPts val="0"/>
              </a:spcBef>
              <a:spcAft>
                <a:spcPts val="0"/>
              </a:spcAft>
              <a:buSzPts val="1800"/>
              <a:buChar char="■"/>
            </a:pPr>
            <a:r>
              <a:rPr i="1" lang="en-GB"/>
              <a:t>(Tương tự cũng có thể đảo trật tự các toán tử tồn tại)</a:t>
            </a:r>
            <a:endParaRPr i="1"/>
          </a:p>
          <a:p>
            <a:pPr indent="-368300" lvl="1" marL="914400" rtl="0" algn="l">
              <a:spcBef>
                <a:spcPts val="0"/>
              </a:spcBef>
              <a:spcAft>
                <a:spcPts val="0"/>
              </a:spcAft>
              <a:buSzPts val="2200"/>
              <a:buChar char="○"/>
            </a:pPr>
            <a:r>
              <a:rPr lang="en-GB"/>
              <a:t>(∀x)(∃y)likes(x, y) tương đương với (∃y)(∀x)likes(x, y)</a:t>
            </a:r>
            <a:endParaRPr/>
          </a:p>
          <a:p>
            <a:pPr indent="-342900" lvl="2" marL="1371600" rtl="0" algn="l">
              <a:spcBef>
                <a:spcPts val="0"/>
              </a:spcBef>
              <a:spcAft>
                <a:spcPts val="0"/>
              </a:spcAft>
              <a:buSzPts val="1800"/>
              <a:buChar char="■"/>
            </a:pPr>
            <a:r>
              <a:rPr lang="en-GB"/>
              <a:t>Tất cả mọi người đều thích ai đó</a:t>
            </a:r>
            <a:endParaRPr/>
          </a:p>
        </p:txBody>
      </p:sp>
      <p:sp>
        <p:nvSpPr>
          <p:cNvPr id="170" name="Google Shape;170;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Câu Lô-gic bậc nhất</a:t>
            </a:r>
            <a:endParaRPr baseline="-25000"/>
          </a:p>
        </p:txBody>
      </p:sp>
      <p:sp>
        <p:nvSpPr>
          <p:cNvPr id="176" name="Google Shape;176;p2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Từ: Chỉ 1 đối tượng trong thế giới thực, 1 hằng ký tự, 1 tên biến, hoặc 1 hàm; </a:t>
            </a:r>
            <a:endParaRPr/>
          </a:p>
          <a:p>
            <a:pPr indent="-368300" lvl="1" marL="914400" rtl="0" algn="l">
              <a:spcBef>
                <a:spcPts val="0"/>
              </a:spcBef>
              <a:spcAft>
                <a:spcPts val="0"/>
              </a:spcAft>
              <a:buSzPts val="2200"/>
              <a:buChar char="○"/>
            </a:pPr>
            <a:r>
              <a:rPr lang="en-GB"/>
              <a:t>Ví dụ, left-leg-of; t và f(t1, ..., tn) là các từ.</a:t>
            </a:r>
            <a:endParaRPr/>
          </a:p>
          <a:p>
            <a:pPr indent="-381000" lvl="0" marL="457200" rtl="0" algn="l">
              <a:spcBef>
                <a:spcPts val="0"/>
              </a:spcBef>
              <a:spcAft>
                <a:spcPts val="0"/>
              </a:spcAft>
              <a:buSzPts val="2400"/>
              <a:buChar char="●"/>
            </a:pPr>
            <a:r>
              <a:rPr lang="en-GB" sz="2400"/>
              <a:t>C</a:t>
            </a:r>
            <a:r>
              <a:rPr lang="en-GB" sz="2400"/>
              <a:t>ác </a:t>
            </a:r>
            <a:r>
              <a:rPr lang="en-GB"/>
              <a:t>công thức</a:t>
            </a:r>
            <a:r>
              <a:rPr lang="en-GB" sz="2400"/>
              <a:t> được xây dựng dựa trên từ:</a:t>
            </a:r>
            <a:endParaRPr sz="2400"/>
          </a:p>
          <a:p>
            <a:pPr indent="-355600" lvl="1" marL="914400" rtl="0" algn="l">
              <a:spcBef>
                <a:spcPts val="0"/>
              </a:spcBef>
              <a:spcAft>
                <a:spcPts val="0"/>
              </a:spcAft>
              <a:buSzPts val="2000"/>
              <a:buChar char="○"/>
            </a:pPr>
            <a:r>
              <a:rPr lang="en-GB" sz="2000"/>
              <a:t>Công thức cơ bản có dạng  t1 = t2 hoặc f(t1, ..., tn).</a:t>
            </a:r>
            <a:endParaRPr sz="2000"/>
          </a:p>
          <a:p>
            <a:pPr indent="-355600" lvl="1" marL="914400" rtl="0" algn="l">
              <a:spcBef>
                <a:spcPts val="0"/>
              </a:spcBef>
              <a:spcAft>
                <a:spcPts val="0"/>
              </a:spcAft>
              <a:buSzPts val="2000"/>
              <a:buChar char="○"/>
            </a:pPr>
            <a:r>
              <a:rPr lang="en-GB" sz="2000"/>
              <a:t>Nếu P và Q là các công thức, thì </a:t>
            </a:r>
            <a:r>
              <a:rPr lang="en-GB" sz="2000"/>
              <a:t>¬P, P ⨅ Q, P ⨆ Q, P=&gt;Q, P &lt;=&gt; Q cũng là các công thức.</a:t>
            </a:r>
            <a:endParaRPr sz="2000"/>
          </a:p>
          <a:p>
            <a:pPr indent="-355600" lvl="1" marL="914400" rtl="0" algn="l">
              <a:spcBef>
                <a:spcPts val="0"/>
              </a:spcBef>
              <a:spcAft>
                <a:spcPts val="0"/>
              </a:spcAft>
              <a:buSzPts val="2000"/>
              <a:buChar char="○"/>
            </a:pPr>
            <a:r>
              <a:rPr lang="en-GB" sz="2000"/>
              <a:t>Với P là công thức và x là biến, thì (∀x)P và (∃x)P cũng là các công thức.</a:t>
            </a:r>
            <a:endParaRPr sz="2000"/>
          </a:p>
          <a:p>
            <a:pPr indent="-381000" lvl="0" marL="457200" rtl="0" algn="l">
              <a:spcBef>
                <a:spcPts val="0"/>
              </a:spcBef>
              <a:spcAft>
                <a:spcPts val="0"/>
              </a:spcAft>
              <a:buSzPts val="2400"/>
              <a:buChar char="●"/>
            </a:pPr>
            <a:r>
              <a:rPr lang="en-GB"/>
              <a:t>Câu:</a:t>
            </a:r>
            <a:endParaRPr sz="1800"/>
          </a:p>
          <a:p>
            <a:pPr indent="-355600" lvl="1" marL="914400" rtl="0" algn="l">
              <a:spcBef>
                <a:spcPts val="0"/>
              </a:spcBef>
              <a:spcAft>
                <a:spcPts val="0"/>
              </a:spcAft>
              <a:buSzPts val="2000"/>
              <a:buChar char="○"/>
            </a:pPr>
            <a:r>
              <a:rPr lang="en-GB" sz="2000"/>
              <a:t>Công thức không chứa biến tự do</a:t>
            </a:r>
            <a:endParaRPr sz="2000"/>
          </a:p>
          <a:p>
            <a:pPr indent="-330200" lvl="2" marL="1371600" rtl="0" algn="l">
              <a:spcBef>
                <a:spcPts val="0"/>
              </a:spcBef>
              <a:spcAft>
                <a:spcPts val="0"/>
              </a:spcAft>
              <a:buSzPts val="1600"/>
              <a:buChar char="■"/>
            </a:pPr>
            <a:r>
              <a:rPr lang="en-GB" sz="1600"/>
              <a:t>Các biến đều được gắn với các định lượng </a:t>
            </a:r>
            <a:endParaRPr sz="1600"/>
          </a:p>
          <a:p>
            <a:pPr indent="-330200" lvl="2" marL="1371600" rtl="0" algn="l">
              <a:spcBef>
                <a:spcPts val="0"/>
              </a:spcBef>
              <a:spcAft>
                <a:spcPts val="0"/>
              </a:spcAft>
              <a:buSzPts val="1600"/>
              <a:buChar char="■"/>
            </a:pPr>
            <a:r>
              <a:rPr lang="en-GB" sz="1600"/>
              <a:t>Ví dụ (∀x)P(x, y) - x được gắn với định lượng tất cả, còn y là biến tự do =&gt; sai quy cách.</a:t>
            </a:r>
            <a:endParaRPr sz="1600"/>
          </a:p>
        </p:txBody>
      </p:sp>
      <p:sp>
        <p:nvSpPr>
          <p:cNvPr id="177" name="Google Shape;17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iên dịch NNTN sang FOL</a:t>
            </a:r>
            <a:endParaRPr/>
          </a:p>
        </p:txBody>
      </p:sp>
      <p:sp>
        <p:nvSpPr>
          <p:cNvPr id="183" name="Google Shape;183;p30"/>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a:t>
            </a:r>
            <a:r>
              <a:rPr lang="en-GB"/>
              <a:t>ất cả người làm vườn đều thích mặt trời</a:t>
            </a:r>
            <a:endParaRPr/>
          </a:p>
          <a:p>
            <a:pPr indent="-368300" lvl="1" marL="914400" rtl="0" algn="l">
              <a:spcBef>
                <a:spcPts val="0"/>
              </a:spcBef>
              <a:spcAft>
                <a:spcPts val="0"/>
              </a:spcAft>
              <a:buSzPts val="2200"/>
              <a:buChar char="○"/>
            </a:pPr>
            <a:r>
              <a:rPr lang="en-GB"/>
              <a:t>Every gardener likes the sun</a:t>
            </a:r>
            <a:endParaRPr/>
          </a:p>
          <a:p>
            <a:pPr indent="-368300" lvl="1" marL="914400" rtl="0" algn="l">
              <a:spcBef>
                <a:spcPts val="0"/>
              </a:spcBef>
              <a:spcAft>
                <a:spcPts val="0"/>
              </a:spcAft>
              <a:buSzPts val="2200"/>
              <a:buChar char="○"/>
            </a:pPr>
            <a:r>
              <a:rPr lang="en-GB"/>
              <a:t>(</a:t>
            </a:r>
            <a:r>
              <a:rPr lang="en-GB" sz="2400"/>
              <a:t>∀</a:t>
            </a:r>
            <a:r>
              <a:rPr lang="en-GB"/>
              <a:t>x) gardener(x) =&gt; likes (x, Sun)</a:t>
            </a:r>
            <a:endParaRPr/>
          </a:p>
          <a:p>
            <a:pPr indent="-381000" lvl="0" marL="457200" rtl="0" algn="l">
              <a:spcBef>
                <a:spcPts val="0"/>
              </a:spcBef>
              <a:spcAft>
                <a:spcPts val="0"/>
              </a:spcAft>
              <a:buSzPts val="2400"/>
              <a:buChar char="●"/>
            </a:pPr>
            <a:r>
              <a:rPr lang="en-GB"/>
              <a:t>Bạn luôn có thể đánh lừa ai đó</a:t>
            </a:r>
            <a:endParaRPr/>
          </a:p>
          <a:p>
            <a:pPr indent="-368300" lvl="1" marL="914400" rtl="0" algn="l">
              <a:spcBef>
                <a:spcPts val="0"/>
              </a:spcBef>
              <a:spcAft>
                <a:spcPts val="0"/>
              </a:spcAft>
              <a:buSzPts val="2200"/>
              <a:buChar char="○"/>
            </a:pPr>
            <a:r>
              <a:rPr lang="en-GB"/>
              <a:t>You can fool some of the people all of the time</a:t>
            </a:r>
            <a:endParaRPr/>
          </a:p>
          <a:p>
            <a:pPr indent="-368300" lvl="1" marL="914400" rtl="0" algn="l">
              <a:spcBef>
                <a:spcPts val="0"/>
              </a:spcBef>
              <a:spcAft>
                <a:spcPts val="0"/>
              </a:spcAft>
              <a:buSzPts val="2200"/>
              <a:buChar char="○"/>
            </a:pPr>
            <a:r>
              <a:rPr lang="en-GB"/>
              <a:t>(</a:t>
            </a:r>
            <a:r>
              <a:rPr lang="en-GB" sz="2400"/>
              <a:t>∃</a:t>
            </a:r>
            <a:r>
              <a:rPr lang="en-GB"/>
              <a:t>x)(</a:t>
            </a:r>
            <a:r>
              <a:rPr lang="en-GB" sz="2400"/>
              <a:t>∀</a:t>
            </a:r>
            <a:r>
              <a:rPr lang="en-GB"/>
              <a:t>t) (person(x) ⨅ time(t)) =&gt; can-fool(x, t)</a:t>
            </a:r>
            <a:endParaRPr sz="1600"/>
          </a:p>
          <a:p>
            <a:pPr indent="-381000" lvl="0" marL="457200" rtl="0" algn="l">
              <a:spcBef>
                <a:spcPts val="0"/>
              </a:spcBef>
              <a:spcAft>
                <a:spcPts val="0"/>
              </a:spcAft>
              <a:buSzPts val="2400"/>
              <a:buChar char="●"/>
            </a:pPr>
            <a:r>
              <a:rPr lang="en-GB"/>
              <a:t>Đôi khi bạn có thể nói dối tất cả mọi người</a:t>
            </a:r>
            <a:endParaRPr/>
          </a:p>
          <a:p>
            <a:pPr indent="-368300" lvl="1" marL="914400" rtl="0" algn="l">
              <a:spcBef>
                <a:spcPts val="0"/>
              </a:spcBef>
              <a:spcAft>
                <a:spcPts val="0"/>
              </a:spcAft>
              <a:buSzPts val="2200"/>
              <a:buChar char="○"/>
            </a:pPr>
            <a:r>
              <a:rPr lang="en-GB"/>
              <a:t>(</a:t>
            </a:r>
            <a:r>
              <a:rPr lang="en-GB" sz="2400"/>
              <a:t>∀</a:t>
            </a:r>
            <a:r>
              <a:rPr lang="en-GB"/>
              <a:t>x)(</a:t>
            </a:r>
            <a:r>
              <a:rPr lang="en-GB" sz="2400"/>
              <a:t>∃</a:t>
            </a:r>
            <a:r>
              <a:rPr lang="en-GB"/>
              <a:t>t) (person(x) </a:t>
            </a:r>
            <a:r>
              <a:rPr lang="en-GB"/>
              <a:t>⨅ time(t)) =&gt; can-fool(x, t)</a:t>
            </a:r>
            <a:endParaRPr/>
          </a:p>
          <a:p>
            <a:pPr indent="-381000" lvl="0" marL="457200" rtl="0" algn="l">
              <a:spcBef>
                <a:spcPts val="0"/>
              </a:spcBef>
              <a:spcAft>
                <a:spcPts val="0"/>
              </a:spcAft>
              <a:buSzPts val="2400"/>
              <a:buChar char="●"/>
            </a:pPr>
            <a:r>
              <a:rPr lang="en-GB"/>
              <a:t>NVA không cao: </a:t>
            </a:r>
            <a:endParaRPr/>
          </a:p>
          <a:p>
            <a:pPr indent="-368300" lvl="1" marL="914400" rtl="0" algn="l">
              <a:spcBef>
                <a:spcPts val="0"/>
              </a:spcBef>
              <a:spcAft>
                <a:spcPts val="0"/>
              </a:spcAft>
              <a:buSzPts val="2200"/>
              <a:buChar char="○"/>
            </a:pPr>
            <a:r>
              <a:rPr lang="en-GB"/>
              <a:t>NVA is not tall</a:t>
            </a:r>
            <a:endParaRPr/>
          </a:p>
          <a:p>
            <a:pPr indent="-355600" lvl="1" marL="914400" rtl="0" algn="l">
              <a:spcBef>
                <a:spcPts val="0"/>
              </a:spcBef>
              <a:spcAft>
                <a:spcPts val="0"/>
              </a:spcAft>
              <a:buSzPts val="2000"/>
              <a:buChar char="○"/>
            </a:pPr>
            <a:r>
              <a:rPr lang="en-GB" sz="2100"/>
              <a:t>¬</a:t>
            </a:r>
            <a:r>
              <a:rPr lang="en-GB" sz="2000"/>
              <a:t>tall(NVA)</a:t>
            </a:r>
            <a:endParaRPr/>
          </a:p>
        </p:txBody>
      </p:sp>
      <p:sp>
        <p:nvSpPr>
          <p:cNvPr id="184" name="Google Shape;184;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uy diễn</a:t>
            </a:r>
            <a:endParaRPr/>
          </a:p>
        </p:txBody>
      </p:sp>
      <p:sp>
        <p:nvSpPr>
          <p:cNvPr id="190" name="Google Shape;190;p31"/>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a:t>
            </a:r>
            <a:r>
              <a:rPr lang="en-GB"/>
              <a:t>uy diễn trong lô-gic hình thức là tiến trình sinh các câu hợp lệ từ những câu hợp lệ đang có (trong CSTT) bằng cách áp dụng các luật suy diễn</a:t>
            </a:r>
            <a:endParaRPr/>
          </a:p>
          <a:p>
            <a:pPr indent="-368300" lvl="1" marL="914400" rtl="0" algn="l">
              <a:spcBef>
                <a:spcPts val="0"/>
              </a:spcBef>
              <a:spcAft>
                <a:spcPts val="0"/>
              </a:spcAft>
              <a:buSzPts val="2200"/>
              <a:buChar char="○"/>
            </a:pPr>
            <a:r>
              <a:rPr lang="en-GB"/>
              <a:t>Mô-tơ suy diễn là đúng đắn nếu</a:t>
            </a:r>
            <a:endParaRPr/>
          </a:p>
          <a:p>
            <a:pPr indent="-342900" lvl="2" marL="1371600" rtl="0" algn="l">
              <a:spcBef>
                <a:spcPts val="0"/>
              </a:spcBef>
              <a:spcAft>
                <a:spcPts val="0"/>
              </a:spcAft>
              <a:buSzPts val="1800"/>
              <a:buChar char="■"/>
            </a:pPr>
            <a:r>
              <a:rPr lang="en-GB"/>
              <a:t>Sinh ra những câu mới có thể được suy ra theo lô-gic từ CSTT</a:t>
            </a:r>
            <a:endParaRPr/>
          </a:p>
          <a:p>
            <a:pPr indent="-342900" lvl="2" marL="1371600" rtl="0" algn="l">
              <a:spcBef>
                <a:spcPts val="0"/>
              </a:spcBef>
              <a:spcAft>
                <a:spcPts val="0"/>
              </a:spcAft>
              <a:buSzPts val="1800"/>
              <a:buChar char="■"/>
            </a:pPr>
            <a:r>
              <a:rPr lang="en-GB"/>
              <a:t>- Không chứng minh các hệ quả sai</a:t>
            </a:r>
            <a:endParaRPr/>
          </a:p>
          <a:p>
            <a:pPr indent="-368300" lvl="1" marL="914400" rtl="0" algn="l">
              <a:spcBef>
                <a:spcPts val="0"/>
              </a:spcBef>
              <a:spcAft>
                <a:spcPts val="0"/>
              </a:spcAft>
              <a:buSzPts val="2200"/>
              <a:buChar char="○"/>
            </a:pPr>
            <a:r>
              <a:rPr lang="en-GB"/>
              <a:t>Mô-tơ suy diễn là đầy đủ nếu</a:t>
            </a:r>
            <a:endParaRPr/>
          </a:p>
          <a:p>
            <a:pPr indent="-342900" lvl="2" marL="1371600" rtl="0" algn="l">
              <a:spcBef>
                <a:spcPts val="0"/>
              </a:spcBef>
              <a:spcAft>
                <a:spcPts val="0"/>
              </a:spcAft>
              <a:buSzPts val="1800"/>
              <a:buChar char="■"/>
            </a:pPr>
            <a:r>
              <a:rPr lang="en-GB"/>
              <a:t>Có thể sinh tất cả các câu có thể suy ra theo lô-gic từ CSTT</a:t>
            </a:r>
            <a:endParaRPr/>
          </a:p>
        </p:txBody>
      </p:sp>
      <p:sp>
        <p:nvSpPr>
          <p:cNvPr id="191" name="Google Shape;191;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ắn tắt về tính khả quyết</a:t>
            </a:r>
            <a:endParaRPr/>
          </a:p>
        </p:txBody>
      </p:sp>
      <p:sp>
        <p:nvSpPr>
          <p:cNvPr id="197" name="Google Shape;197;p32"/>
          <p:cNvSpPr/>
          <p:nvPr/>
        </p:nvSpPr>
        <p:spPr>
          <a:xfrm>
            <a:off x="439750" y="1091825"/>
            <a:ext cx="8520600" cy="221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rgbClr val="1155CC"/>
                </a:solidFill>
              </a:rPr>
              <a:t>T</a:t>
            </a:r>
            <a:r>
              <a:rPr lang="en-GB" sz="2200">
                <a:solidFill>
                  <a:srgbClr val="1155CC"/>
                </a:solidFill>
              </a:rPr>
              <a:t>ính khả quyết</a:t>
            </a:r>
            <a:endParaRPr sz="2200">
              <a:solidFill>
                <a:srgbClr val="1155CC"/>
              </a:solidFill>
            </a:endParaRPr>
          </a:p>
          <a:p>
            <a:pPr indent="0" lvl="0" marL="0" rtl="0" algn="l">
              <a:lnSpc>
                <a:spcPct val="115000"/>
              </a:lnSpc>
              <a:spcBef>
                <a:spcPts val="0"/>
              </a:spcBef>
              <a:spcAft>
                <a:spcPts val="0"/>
              </a:spcAft>
              <a:buNone/>
            </a:pPr>
            <a:r>
              <a:rPr lang="en-GB" sz="2200">
                <a:solidFill>
                  <a:srgbClr val="434343"/>
                </a:solidFill>
              </a:rPr>
              <a:t>Một lớp vấn đề được gọi là khả quyết nếu tồn tại giải thuật cho bất kỳ vấn đề nào thuộc lớp này, với đầu vào bất kỳ giải thuật có thể kiểm tra "đúng" hoặc "sai" trong thời gian hữu hạn.</a:t>
            </a:r>
            <a:endParaRPr sz="2200">
              <a:solidFill>
                <a:srgbClr val="434343"/>
              </a:solidFill>
            </a:endParaRPr>
          </a:p>
          <a:p>
            <a:pPr indent="0" lvl="0" marL="0" rtl="0" algn="ctr">
              <a:lnSpc>
                <a:spcPct val="115000"/>
              </a:lnSpc>
              <a:spcBef>
                <a:spcPts val="0"/>
              </a:spcBef>
              <a:spcAft>
                <a:spcPts val="0"/>
              </a:spcAft>
              <a:buNone/>
            </a:pPr>
            <a:r>
              <a:rPr i="1" lang="en-GB" sz="2200">
                <a:solidFill>
                  <a:srgbClr val="1155CC"/>
                </a:solidFill>
              </a:rPr>
              <a:t>Giải thuật có tính dừng</a:t>
            </a:r>
            <a:endParaRPr i="1" sz="2200">
              <a:solidFill>
                <a:srgbClr val="1155CC"/>
              </a:solidFill>
            </a:endParaRPr>
          </a:p>
          <a:p>
            <a:pPr indent="0" lvl="0" marL="0" rtl="0" algn="l">
              <a:lnSpc>
                <a:spcPct val="115000"/>
              </a:lnSpc>
              <a:spcBef>
                <a:spcPts val="0"/>
              </a:spcBef>
              <a:spcAft>
                <a:spcPts val="0"/>
              </a:spcAft>
              <a:buNone/>
            </a:pPr>
            <a:r>
              <a:t/>
            </a:r>
            <a:endParaRPr sz="2200"/>
          </a:p>
        </p:txBody>
      </p:sp>
      <p:sp>
        <p:nvSpPr>
          <p:cNvPr id="198" name="Google Shape;198;p32"/>
          <p:cNvSpPr/>
          <p:nvPr/>
        </p:nvSpPr>
        <p:spPr>
          <a:xfrm>
            <a:off x="439750" y="3452125"/>
            <a:ext cx="8520600" cy="303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rgbClr val="1155CC"/>
                </a:solidFill>
              </a:rPr>
              <a:t>Lô-gic </a:t>
            </a:r>
            <a:r>
              <a:rPr lang="en-GB" sz="2200">
                <a:solidFill>
                  <a:srgbClr val="1155CC"/>
                </a:solidFill>
              </a:rPr>
              <a:t>khả quyết</a:t>
            </a:r>
            <a:endParaRPr sz="2200">
              <a:solidFill>
                <a:srgbClr val="1155CC"/>
              </a:solidFill>
            </a:endParaRPr>
          </a:p>
          <a:p>
            <a:pPr indent="0" lvl="0" marL="0" rtl="0" algn="l">
              <a:lnSpc>
                <a:spcPct val="115000"/>
              </a:lnSpc>
              <a:spcBef>
                <a:spcPts val="0"/>
              </a:spcBef>
              <a:spcAft>
                <a:spcPts val="0"/>
              </a:spcAft>
              <a:buNone/>
            </a:pPr>
            <a:r>
              <a:rPr lang="en-GB" sz="2200">
                <a:solidFill>
                  <a:srgbClr val="434343"/>
                </a:solidFill>
              </a:rPr>
              <a:t>Trong phạm vi lô-gic vấn đề khái quát sau được nghiên cứu</a:t>
            </a:r>
            <a:endParaRPr sz="2200">
              <a:solidFill>
                <a:srgbClr val="434343"/>
              </a:solidFill>
            </a:endParaRPr>
          </a:p>
          <a:p>
            <a:pPr indent="0" lvl="0" marL="269999" rtl="0" algn="l">
              <a:lnSpc>
                <a:spcPct val="115000"/>
              </a:lnSpc>
              <a:spcBef>
                <a:spcPts val="0"/>
              </a:spcBef>
              <a:spcAft>
                <a:spcPts val="0"/>
              </a:spcAft>
              <a:buNone/>
            </a:pPr>
            <a:r>
              <a:rPr b="1" lang="en-GB" sz="2200">
                <a:solidFill>
                  <a:srgbClr val="434343"/>
                </a:solidFill>
              </a:rPr>
              <a:t>Đầu vào:</a:t>
            </a:r>
            <a:r>
              <a:rPr lang="en-GB" sz="2200">
                <a:solidFill>
                  <a:srgbClr val="434343"/>
                </a:solidFill>
              </a:rPr>
              <a:t> Một tập phát biểu 𝓣 và phát biểu 𝜙</a:t>
            </a:r>
            <a:endParaRPr sz="2200">
              <a:solidFill>
                <a:srgbClr val="434343"/>
              </a:solidFill>
            </a:endParaRPr>
          </a:p>
          <a:p>
            <a:pPr indent="0" lvl="0" marL="269999" rtl="0" algn="just">
              <a:lnSpc>
                <a:spcPct val="115000"/>
              </a:lnSpc>
              <a:spcBef>
                <a:spcPts val="0"/>
              </a:spcBef>
              <a:spcAft>
                <a:spcPts val="0"/>
              </a:spcAft>
              <a:buNone/>
            </a:pPr>
            <a:r>
              <a:rPr b="1" lang="en-GB" sz="2200">
                <a:solidFill>
                  <a:srgbClr val="434343"/>
                </a:solidFill>
              </a:rPr>
              <a:t>Đầu ra:</a:t>
            </a:r>
            <a:r>
              <a:rPr lang="en-GB" sz="2200">
                <a:solidFill>
                  <a:srgbClr val="434343"/>
                </a:solidFill>
              </a:rPr>
              <a:t> "Đúng" nếu 𝓣 suy ra 𝜙, và "Sai" nếu ngược lại. </a:t>
            </a:r>
            <a:endParaRPr sz="2200">
              <a:solidFill>
                <a:srgbClr val="434343"/>
              </a:solidFill>
            </a:endParaRPr>
          </a:p>
          <a:p>
            <a:pPr indent="0" lvl="0" marL="0" rtl="0" algn="just">
              <a:lnSpc>
                <a:spcPct val="115000"/>
              </a:lnSpc>
              <a:spcBef>
                <a:spcPts val="0"/>
              </a:spcBef>
              <a:spcAft>
                <a:spcPts val="0"/>
              </a:spcAft>
              <a:buNone/>
            </a:pPr>
            <a:r>
              <a:rPr lang="en-GB" sz="2200">
                <a:solidFill>
                  <a:srgbClr val="434343"/>
                </a:solidFill>
              </a:rPr>
              <a:t>Trong trường hợp không có nhập nhằng trong vấn đề được xử lý, tùy theo khả năng giải quyết vấn đề lô-gic còn được gọi là khả quyết hoặc không khả quyết.</a:t>
            </a:r>
            <a:endParaRPr sz="2200">
              <a:solidFill>
                <a:srgbClr val="434343"/>
              </a:solidFill>
            </a:endParaRPr>
          </a:p>
        </p:txBody>
      </p:sp>
      <p:sp>
        <p:nvSpPr>
          <p:cNvPr id="199" name="Google Shape;199;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Vắn tắt về tính khả quyết </a:t>
            </a:r>
            <a:r>
              <a:rPr baseline="-25000" lang="en-GB"/>
              <a:t>(2)</a:t>
            </a:r>
            <a:endParaRPr baseline="-25000"/>
          </a:p>
        </p:txBody>
      </p:sp>
      <p:sp>
        <p:nvSpPr>
          <p:cNvPr id="205" name="Google Shape;205;p33"/>
          <p:cNvSpPr/>
          <p:nvPr/>
        </p:nvSpPr>
        <p:spPr>
          <a:xfrm>
            <a:off x="439750" y="1128275"/>
            <a:ext cx="8520600" cy="524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GB" sz="2200"/>
              <a:t>Các câu hỏi tương đương trong PL</a:t>
            </a:r>
            <a:endParaRPr sz="2200"/>
          </a:p>
          <a:p>
            <a:pPr indent="-368300" lvl="0" marL="914400" rtl="0" algn="just">
              <a:lnSpc>
                <a:spcPct val="115000"/>
              </a:lnSpc>
              <a:spcBef>
                <a:spcPts val="0"/>
              </a:spcBef>
              <a:spcAft>
                <a:spcPts val="0"/>
              </a:spcAft>
              <a:buSzPts val="2200"/>
              <a:buChar char="●"/>
            </a:pPr>
            <a:r>
              <a:rPr lang="en-GB" sz="2200">
                <a:solidFill>
                  <a:schemeClr val="dk1"/>
                </a:solidFill>
              </a:rPr>
              <a:t>𝓣 ⊨ 𝜙? </a:t>
            </a:r>
            <a:endParaRPr sz="2200">
              <a:solidFill>
                <a:schemeClr val="dk1"/>
              </a:solidFill>
            </a:endParaRPr>
          </a:p>
          <a:p>
            <a:pPr indent="-368300" lvl="0" marL="914400" rtl="0" algn="just">
              <a:lnSpc>
                <a:spcPct val="115000"/>
              </a:lnSpc>
              <a:spcBef>
                <a:spcPts val="0"/>
              </a:spcBef>
              <a:spcAft>
                <a:spcPts val="0"/>
              </a:spcAft>
              <a:buSzPts val="2200"/>
              <a:buChar char="●"/>
            </a:pPr>
            <a:r>
              <a:rPr lang="en-GB" sz="2200">
                <a:solidFill>
                  <a:schemeClr val="dk1"/>
                </a:solidFill>
              </a:rPr>
              <a:t>𝓣 ∧ ¬𝜙 không thỏa mãn/sai với tất cả các giá trị?</a:t>
            </a:r>
            <a:endParaRPr sz="2200">
              <a:solidFill>
                <a:schemeClr val="dk1"/>
              </a:solidFill>
            </a:endParaRPr>
          </a:p>
          <a:p>
            <a:pPr indent="0" lvl="0" marL="0" rtl="0" algn="just">
              <a:lnSpc>
                <a:spcPct val="115000"/>
              </a:lnSpc>
              <a:spcBef>
                <a:spcPts val="0"/>
              </a:spcBef>
              <a:spcAft>
                <a:spcPts val="0"/>
              </a:spcAft>
              <a:buNone/>
            </a:pPr>
            <a:r>
              <a:rPr lang="en-GB" sz="2200">
                <a:solidFill>
                  <a:schemeClr val="dk1"/>
                </a:solidFill>
              </a:rPr>
              <a:t>Vấn đề (không) được đáp ứng ( (un)satisfiability) trong PL được gọi là (UN)SAT, PL là khả quyết.</a:t>
            </a:r>
            <a:endParaRPr sz="2200">
              <a:solidFill>
                <a:schemeClr val="dk1"/>
              </a:solidFill>
            </a:endParaRPr>
          </a:p>
        </p:txBody>
      </p:sp>
      <p:sp>
        <p:nvSpPr>
          <p:cNvPr id="206" name="Google Shape;206;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12" name="Google Shape;212;p34"/>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p:txBody>
      </p:sp>
      <p:sp>
        <p:nvSpPr>
          <p:cNvPr id="213" name="Google Shape;213;p34"/>
          <p:cNvSpPr/>
          <p:nvPr/>
        </p:nvSpPr>
        <p:spPr>
          <a:xfrm>
            <a:off x="318450" y="1853093"/>
            <a:ext cx="5352900" cy="712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Lô-gic mô tả: Khái quát</a:t>
            </a:r>
            <a:endParaRPr/>
          </a:p>
        </p:txBody>
      </p:sp>
      <p:sp>
        <p:nvSpPr>
          <p:cNvPr id="220" name="Google Shape;220;p35"/>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a:t>
            </a:r>
            <a:r>
              <a:rPr lang="en-GB"/>
              <a:t>hần khả quyết của lô-gic bậc nhất</a:t>
            </a:r>
            <a:endParaRPr/>
          </a:p>
          <a:p>
            <a:pPr indent="-381000" lvl="0" marL="457200" rtl="0" algn="l">
              <a:spcBef>
                <a:spcPts val="0"/>
              </a:spcBef>
              <a:spcAft>
                <a:spcPts val="0"/>
              </a:spcAft>
              <a:buSzPts val="2400"/>
              <a:buChar char="●"/>
            </a:pPr>
            <a:r>
              <a:rPr lang="en-GB"/>
              <a:t>Một phần nghiên cứu DL đáng kể hướng tới làm rõ chi phí tính toán cho các bài toán suy diễn </a:t>
            </a:r>
            <a:r>
              <a:rPr lang="en-GB"/>
              <a:t>với</a:t>
            </a:r>
            <a:r>
              <a:rPr lang="en-GB"/>
              <a:t> độ phức tạp c</a:t>
            </a:r>
            <a:r>
              <a:rPr lang="en-GB"/>
              <a:t>ao</a:t>
            </a:r>
            <a:r>
              <a:rPr lang="en-GB"/>
              <a:t> nhất.</a:t>
            </a:r>
            <a:endParaRPr/>
          </a:p>
          <a:p>
            <a:pPr indent="-381000" lvl="0" marL="457200" rtl="0" algn="l">
              <a:spcBef>
                <a:spcPts val="0"/>
              </a:spcBef>
              <a:spcAft>
                <a:spcPts val="0"/>
              </a:spcAft>
              <a:buSzPts val="2400"/>
              <a:buChar char="●"/>
            </a:pPr>
            <a:r>
              <a:rPr lang="en-GB"/>
              <a:t>Tuy có độ phức tạp cao </a:t>
            </a:r>
            <a:r>
              <a:rPr lang="en-GB"/>
              <a:t>nhưng</a:t>
            </a:r>
            <a:r>
              <a:rPr lang="en-GB"/>
              <a:t> DLs </a:t>
            </a:r>
            <a:r>
              <a:rPr lang="en-GB"/>
              <a:t>cũng </a:t>
            </a:r>
            <a:r>
              <a:rPr lang="en-GB"/>
              <a:t>có </a:t>
            </a:r>
            <a:r>
              <a:rPr lang="en-GB"/>
              <a:t>khả năng</a:t>
            </a:r>
            <a:r>
              <a:rPr lang="en-GB"/>
              <a:t> diễn đạt cao, </a:t>
            </a:r>
            <a:r>
              <a:rPr lang="en-GB"/>
              <a:t>và</a:t>
            </a:r>
            <a:r>
              <a:rPr lang="en-GB"/>
              <a:t> vẫn có các giải thuật suy diễn được tối ưu hóa có hành vi tốt trong m</a:t>
            </a:r>
            <a:r>
              <a:rPr lang="en-GB"/>
              <a:t>ôi trường</a:t>
            </a:r>
            <a:r>
              <a:rPr lang="en-GB"/>
              <a:t> ứng dụng</a:t>
            </a:r>
            <a:endParaRPr/>
          </a:p>
          <a:p>
            <a:pPr indent="-368300" lvl="1" marL="914400" rtl="0" algn="l">
              <a:spcBef>
                <a:spcPts val="0"/>
              </a:spcBef>
              <a:spcAft>
                <a:spcPts val="0"/>
              </a:spcAft>
              <a:buSzPts val="2200"/>
              <a:buChar char="○"/>
            </a:pPr>
            <a:r>
              <a:rPr lang="en-GB"/>
              <a:t>Ví dụ, SAT solving: Thuộc lớp NP-khó nhưng hoạt động tốt trong thực tế.</a:t>
            </a:r>
            <a:endParaRPr/>
          </a:p>
        </p:txBody>
      </p:sp>
      <p:sp>
        <p:nvSpPr>
          <p:cNvPr id="221" name="Google Shape;221;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t>
            </a:r>
            <a:r>
              <a:rPr lang="en-GB"/>
              <a:t>ô-gic mô tả: Khái quát</a:t>
            </a:r>
            <a:r>
              <a:rPr baseline="-25000" lang="en-GB"/>
              <a:t>(2)</a:t>
            </a:r>
            <a:endParaRPr baseline="-25000"/>
          </a:p>
        </p:txBody>
      </p:sp>
      <p:sp>
        <p:nvSpPr>
          <p:cNvPr id="227" name="Google Shape;227;p3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a:t>
            </a:r>
            <a:r>
              <a:rPr lang="en-GB"/>
              <a:t>ô-gic mô tả (DLs) là nền tảng biểu diễn tri thức tiêu biểu hiện nay</a:t>
            </a:r>
            <a:endParaRPr/>
          </a:p>
          <a:p>
            <a:pPr indent="-381000" lvl="0" marL="457200" rtl="0" algn="l">
              <a:spcBef>
                <a:spcPts val="0"/>
              </a:spcBef>
              <a:spcAft>
                <a:spcPts val="0"/>
              </a:spcAft>
              <a:buSzPts val="2400"/>
              <a:buChar char="●"/>
            </a:pPr>
            <a:r>
              <a:rPr lang="en-GB"/>
              <a:t>Đã ảnh hưởng đáng kể tới sự hình thành của các ngôn ngữ Web ngữ nghĩa</a:t>
            </a:r>
            <a:endParaRPr/>
          </a:p>
          <a:p>
            <a:pPr indent="-368300" lvl="1" marL="914400" rtl="0" algn="l">
              <a:spcBef>
                <a:spcPts val="0"/>
              </a:spcBef>
              <a:spcAft>
                <a:spcPts val="0"/>
              </a:spcAft>
              <a:buSzPts val="2200"/>
              <a:buChar char="○"/>
            </a:pPr>
            <a:r>
              <a:rPr lang="en-GB"/>
              <a:t>OWL chủ yếu dựa trên lô-gic mô tả</a:t>
            </a:r>
            <a:endParaRPr/>
          </a:p>
          <a:p>
            <a:pPr indent="-381000" lvl="0" marL="457200" rtl="0" algn="l">
              <a:spcBef>
                <a:spcPts val="0"/>
              </a:spcBef>
              <a:spcAft>
                <a:spcPts val="0"/>
              </a:spcAft>
              <a:buSzPts val="2400"/>
              <a:buChar char="●"/>
            </a:pPr>
            <a:r>
              <a:rPr lang="en-GB"/>
              <a:t>Có nhiều mô-tơ suy diễn</a:t>
            </a:r>
            <a:endParaRPr/>
          </a:p>
          <a:p>
            <a:pPr indent="0" lvl="0" marL="0" rtl="0" algn="l">
              <a:spcBef>
                <a:spcPts val="0"/>
              </a:spcBef>
              <a:spcAft>
                <a:spcPts val="0"/>
              </a:spcAft>
              <a:buNone/>
            </a:pPr>
            <a:r>
              <a:rPr lang="en-GB"/>
              <a:t>Jena 		</a:t>
            </a:r>
            <a:r>
              <a:rPr lang="en-GB"/>
              <a:t>Mastro</a:t>
            </a:r>
            <a:r>
              <a:rPr lang="en-GB"/>
              <a:t>		HermiT 		FaCT++    Pellet      ELK</a:t>
            </a:r>
            <a:endParaRPr/>
          </a:p>
          <a:p>
            <a:pPr indent="0" lvl="0" marL="0" rtl="0" algn="l">
              <a:spcBef>
                <a:spcPts val="0"/>
              </a:spcBef>
              <a:spcAft>
                <a:spcPts val="0"/>
              </a:spcAft>
              <a:buNone/>
            </a:pPr>
            <a:r>
              <a:rPr lang="en-GB"/>
              <a:t>...</a:t>
            </a:r>
            <a:endParaRPr/>
          </a:p>
        </p:txBody>
      </p:sp>
      <p:sp>
        <p:nvSpPr>
          <p:cNvPr id="228" name="Google Shape;228;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thành phần DL</a:t>
            </a:r>
            <a:endParaRPr/>
          </a:p>
        </p:txBody>
      </p:sp>
      <p:sp>
        <p:nvSpPr>
          <p:cNvPr id="234" name="Google Shape;234;p3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ác phần tử: john, mary, sun</a:t>
            </a:r>
            <a:endParaRPr/>
          </a:p>
          <a:p>
            <a:pPr indent="-368300" lvl="1" marL="914400" rtl="0" algn="l">
              <a:spcBef>
                <a:spcPts val="0"/>
              </a:spcBef>
              <a:spcAft>
                <a:spcPts val="0"/>
              </a:spcAft>
              <a:buSzPts val="2200"/>
              <a:buChar char="○"/>
            </a:pPr>
            <a:r>
              <a:rPr lang="en-GB"/>
              <a:t>⇝ các hằng trong FOL, các tài nguyên trong RDF</a:t>
            </a:r>
            <a:endParaRPr/>
          </a:p>
          <a:p>
            <a:pPr indent="-381000" lvl="0" marL="457200" rtl="0" algn="l">
              <a:spcBef>
                <a:spcPts val="0"/>
              </a:spcBef>
              <a:spcAft>
                <a:spcPts val="0"/>
              </a:spcAft>
              <a:buSzPts val="2400"/>
              <a:buChar char="●"/>
            </a:pPr>
            <a:r>
              <a:rPr lang="en-GB"/>
              <a:t>Các khái niệm: Person, Course, Student, Film, v.v.</a:t>
            </a:r>
            <a:endParaRPr/>
          </a:p>
          <a:p>
            <a:pPr indent="-368300" lvl="1" marL="914400" rtl="0" algn="l">
              <a:spcBef>
                <a:spcPts val="0"/>
              </a:spcBef>
              <a:spcAft>
                <a:spcPts val="0"/>
              </a:spcAft>
              <a:buSzPts val="2200"/>
              <a:buChar char="○"/>
            </a:pPr>
            <a:r>
              <a:rPr lang="en-GB"/>
              <a:t>⇝ các thuộc tính 1 đối số (FOL), các lớp (Ontology)</a:t>
            </a:r>
            <a:endParaRPr/>
          </a:p>
          <a:p>
            <a:pPr indent="-381000" lvl="0" marL="457200" rtl="0" algn="l">
              <a:spcBef>
                <a:spcPts val="0"/>
              </a:spcBef>
              <a:spcAft>
                <a:spcPts val="0"/>
              </a:spcAft>
              <a:buSzPts val="2400"/>
              <a:buChar char="●"/>
            </a:pPr>
            <a:r>
              <a:rPr lang="en-GB"/>
              <a:t>Các vai trò: hasFather, attends, worksWith, v.v.</a:t>
            </a:r>
            <a:endParaRPr/>
          </a:p>
          <a:p>
            <a:pPr indent="-368300" lvl="1" marL="914400" rtl="0" algn="l">
              <a:spcBef>
                <a:spcPts val="0"/>
              </a:spcBef>
              <a:spcAft>
                <a:spcPts val="0"/>
              </a:spcAft>
              <a:buSzPts val="2200"/>
              <a:buChar char="○"/>
            </a:pPr>
            <a:r>
              <a:rPr lang="en-GB"/>
              <a:t>⇝  các thuộc tính 2 đối số (FOL), các thuộc tính (Ontology)</a:t>
            </a:r>
            <a:endParaRPr/>
          </a:p>
          <a:p>
            <a:pPr indent="-368300" lvl="1" marL="914400" rtl="0" algn="l">
              <a:spcBef>
                <a:spcPts val="0"/>
              </a:spcBef>
              <a:spcAft>
                <a:spcPts val="0"/>
              </a:spcAft>
              <a:buSzPts val="2200"/>
              <a:buChar char="○"/>
            </a:pPr>
            <a:r>
              <a:rPr lang="en-GB"/>
              <a:t>Có thể t</a:t>
            </a:r>
            <a:r>
              <a:rPr lang="en-GB"/>
              <a:t>iếp tục phân rã thành vai trò trừu tượng và vai trò cụ thể (thuộc tính đối tượng và thuộc tính dữ liệu - OWL).</a:t>
            </a:r>
            <a:endParaRPr/>
          </a:p>
          <a:p>
            <a:pPr indent="-381000" lvl="0" marL="457200" rtl="0" algn="l">
              <a:spcBef>
                <a:spcPts val="0"/>
              </a:spcBef>
              <a:spcAft>
                <a:spcPts val="0"/>
              </a:spcAft>
              <a:buSzPts val="2400"/>
              <a:buChar char="●"/>
            </a:pPr>
            <a:r>
              <a:rPr lang="en-GB"/>
              <a:t>Mỗi hệ DL quy định các cấu trúc để mô tả khái niệm, vai trò, và các phần tử.</a:t>
            </a:r>
            <a:endParaRPr/>
          </a:p>
          <a:p>
            <a:pPr indent="0" lvl="0" marL="0" rtl="0" algn="l">
              <a:spcBef>
                <a:spcPts val="0"/>
              </a:spcBef>
              <a:spcAft>
                <a:spcPts val="0"/>
              </a:spcAft>
              <a:buNone/>
            </a:pPr>
            <a:r>
              <a:rPr i="1" lang="en-GB"/>
              <a:t>Tập hợp tất cả các phần tử, khái niệm, và vai trò được gọi là chữ ký hoặc bộ từ vựng của CSTT.</a:t>
            </a:r>
            <a:endParaRPr i="1"/>
          </a:p>
        </p:txBody>
      </p:sp>
      <p:sp>
        <p:nvSpPr>
          <p:cNvPr id="235" name="Google Shape;235;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thành phần của CSTT DL</a:t>
            </a:r>
            <a:endParaRPr/>
          </a:p>
        </p:txBody>
      </p:sp>
      <p:sp>
        <p:nvSpPr>
          <p:cNvPr id="241" name="Google Shape;241;p38"/>
          <p:cNvSpPr/>
          <p:nvPr/>
        </p:nvSpPr>
        <p:spPr>
          <a:xfrm>
            <a:off x="560725" y="1600200"/>
            <a:ext cx="2559000" cy="60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t>TB</a:t>
            </a:r>
            <a:r>
              <a:rPr lang="en-GB" sz="2600"/>
              <a:t>ox 𝓣</a:t>
            </a:r>
            <a:endParaRPr sz="2600"/>
          </a:p>
        </p:txBody>
      </p:sp>
      <p:sp>
        <p:nvSpPr>
          <p:cNvPr id="242" name="Google Shape;242;p38"/>
          <p:cNvSpPr txBox="1"/>
          <p:nvPr/>
        </p:nvSpPr>
        <p:spPr>
          <a:xfrm>
            <a:off x="3395250" y="1452125"/>
            <a:ext cx="55848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400">
                <a:solidFill>
                  <a:srgbClr val="434343"/>
                </a:solidFill>
              </a:rPr>
              <a:t>Biểu diễn các khái niệm và mối quan hệ giữa các khái niệm</a:t>
            </a:r>
            <a:endParaRPr sz="2400">
              <a:solidFill>
                <a:srgbClr val="434343"/>
              </a:solidFill>
            </a:endParaRPr>
          </a:p>
        </p:txBody>
      </p:sp>
      <p:sp>
        <p:nvSpPr>
          <p:cNvPr id="243" name="Google Shape;243;p38"/>
          <p:cNvSpPr/>
          <p:nvPr/>
        </p:nvSpPr>
        <p:spPr>
          <a:xfrm>
            <a:off x="560725" y="2819400"/>
            <a:ext cx="2559000" cy="60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t>ABox</a:t>
            </a:r>
            <a:r>
              <a:rPr lang="en-GB" sz="2600"/>
              <a:t> 𝓐</a:t>
            </a:r>
            <a:endParaRPr sz="2600"/>
          </a:p>
        </p:txBody>
      </p:sp>
      <p:sp>
        <p:nvSpPr>
          <p:cNvPr id="244" name="Google Shape;244;p38"/>
          <p:cNvSpPr txBox="1"/>
          <p:nvPr/>
        </p:nvSpPr>
        <p:spPr>
          <a:xfrm>
            <a:off x="3395250" y="2640692"/>
            <a:ext cx="55269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400">
                <a:solidFill>
                  <a:srgbClr val="434343"/>
                </a:solidFill>
              </a:rPr>
              <a:t>Biểu diễn các phần tử, gắn kết các phần tử với các khái niệm, mối quan hệ giữa các phần tử </a:t>
            </a:r>
            <a:endParaRPr sz="2400">
              <a:solidFill>
                <a:srgbClr val="434343"/>
              </a:solidFill>
            </a:endParaRPr>
          </a:p>
        </p:txBody>
      </p:sp>
      <p:sp>
        <p:nvSpPr>
          <p:cNvPr id="245" name="Google Shape;245;p38"/>
          <p:cNvSpPr txBox="1"/>
          <p:nvPr/>
        </p:nvSpPr>
        <p:spPr>
          <a:xfrm>
            <a:off x="517575" y="4216875"/>
            <a:ext cx="821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rgbClr val="434343"/>
                </a:solidFill>
              </a:rPr>
              <a:t>Ngoài ra CSTT DLs còn có thể có:</a:t>
            </a:r>
            <a:endParaRPr i="1" sz="2400">
              <a:solidFill>
                <a:srgbClr val="434343"/>
              </a:solidFill>
            </a:endParaRPr>
          </a:p>
        </p:txBody>
      </p:sp>
      <p:sp>
        <p:nvSpPr>
          <p:cNvPr id="246" name="Google Shape;246;p38"/>
          <p:cNvSpPr/>
          <p:nvPr/>
        </p:nvSpPr>
        <p:spPr>
          <a:xfrm>
            <a:off x="560725" y="4953000"/>
            <a:ext cx="2559000" cy="60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t>RBox</a:t>
            </a:r>
            <a:r>
              <a:rPr lang="en-GB" sz="2600"/>
              <a:t> </a:t>
            </a:r>
            <a:r>
              <a:rPr lang="en-GB" sz="2600"/>
              <a:t>𝓡</a:t>
            </a:r>
            <a:endParaRPr sz="2600"/>
          </a:p>
        </p:txBody>
      </p:sp>
      <p:sp>
        <p:nvSpPr>
          <p:cNvPr id="247" name="Google Shape;247;p38"/>
          <p:cNvSpPr txBox="1"/>
          <p:nvPr/>
        </p:nvSpPr>
        <p:spPr>
          <a:xfrm>
            <a:off x="3395250" y="4804925"/>
            <a:ext cx="55269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400">
                <a:solidFill>
                  <a:srgbClr val="434343"/>
                </a:solidFill>
              </a:rPr>
              <a:t>Biểu diễn các vai trò và mối quan hệ giữa các vai trò</a:t>
            </a:r>
            <a:endParaRPr sz="2400">
              <a:solidFill>
                <a:srgbClr val="434343"/>
              </a:solidFill>
            </a:endParaRPr>
          </a:p>
        </p:txBody>
      </p:sp>
      <p:sp>
        <p:nvSpPr>
          <p:cNvPr id="248" name="Google Shape;248;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CSTT DL</a:t>
            </a:r>
            <a:endParaRPr baseline="-25000"/>
          </a:p>
        </p:txBody>
      </p:sp>
      <p:sp>
        <p:nvSpPr>
          <p:cNvPr id="254" name="Google Shape;254;p3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Hộp khái niệm (TBox </a:t>
            </a:r>
            <a:r>
              <a:rPr lang="en-GB">
                <a:solidFill>
                  <a:schemeClr val="dk1"/>
                </a:solidFill>
              </a:rPr>
              <a:t>𝓣</a:t>
            </a:r>
            <a:r>
              <a:rPr lang="en-GB"/>
              <a:t>):</a:t>
            </a:r>
            <a:endParaRPr/>
          </a:p>
          <a:p>
            <a:pPr indent="-342900" lvl="1" marL="914400" rtl="0" algn="l">
              <a:spcBef>
                <a:spcPts val="0"/>
              </a:spcBef>
              <a:spcAft>
                <a:spcPts val="0"/>
              </a:spcAft>
              <a:buSzPts val="1800"/>
              <a:buChar char="○"/>
            </a:pPr>
            <a:r>
              <a:rPr lang="en-GB"/>
              <a:t>𝓣 = {Father ≡ Human ⊓ Male ⊓ ∃hasChild, HappyFather ⊑ Father ⊓ ∀hasChild.(Doctor ⊔ Lawyer )}</a:t>
            </a:r>
            <a:endParaRPr/>
          </a:p>
          <a:p>
            <a:pPr indent="-381000" lvl="0" marL="457200" rtl="0" algn="l">
              <a:spcBef>
                <a:spcPts val="0"/>
              </a:spcBef>
              <a:spcAft>
                <a:spcPts val="0"/>
              </a:spcAft>
              <a:buSzPts val="2400"/>
              <a:buChar char="●"/>
            </a:pPr>
            <a:r>
              <a:rPr lang="en-GB"/>
              <a:t>Hộp vai trò (RBox 𝓡):</a:t>
            </a:r>
            <a:endParaRPr/>
          </a:p>
          <a:p>
            <a:pPr indent="-342900" lvl="1" marL="914400" rtl="0" algn="l">
              <a:spcBef>
                <a:spcPts val="0"/>
              </a:spcBef>
              <a:spcAft>
                <a:spcPts val="0"/>
              </a:spcAft>
              <a:buSzPts val="1800"/>
              <a:buChar char="○"/>
            </a:pPr>
            <a:r>
              <a:rPr lang="en-GB"/>
              <a:t>𝓡</a:t>
            </a:r>
            <a:r>
              <a:rPr lang="en-GB" sz="2600">
                <a:solidFill>
                  <a:schemeClr val="dk1"/>
                </a:solidFill>
              </a:rPr>
              <a:t> </a:t>
            </a:r>
            <a:r>
              <a:rPr lang="en-GB"/>
              <a:t>= {hasFather ⊑ hasParent}</a:t>
            </a:r>
            <a:endParaRPr/>
          </a:p>
          <a:p>
            <a:pPr indent="-381000" lvl="0" marL="457200" rtl="0" algn="l">
              <a:spcBef>
                <a:spcPts val="0"/>
              </a:spcBef>
              <a:spcAft>
                <a:spcPts val="0"/>
              </a:spcAft>
              <a:buSzPts val="2400"/>
              <a:buChar char="●"/>
            </a:pPr>
            <a:r>
              <a:rPr lang="en-GB"/>
              <a:t>Hộp dữ kiện</a:t>
            </a:r>
            <a:r>
              <a:rPr lang="en-GB"/>
              <a:t> (ABox 𝓐):</a:t>
            </a:r>
            <a:endParaRPr/>
          </a:p>
          <a:p>
            <a:pPr indent="-368300" lvl="1" marL="914400" rtl="0" algn="l">
              <a:spcBef>
                <a:spcPts val="0"/>
              </a:spcBef>
              <a:spcAft>
                <a:spcPts val="0"/>
              </a:spcAft>
              <a:buSzPts val="2200"/>
              <a:buChar char="○"/>
            </a:pPr>
            <a:r>
              <a:rPr lang="en-GB"/>
              <a:t>𝓐 = {HappyFather (john), hasChild (john, mary)}</a:t>
            </a:r>
            <a:endParaRPr/>
          </a:p>
          <a:p>
            <a:pPr indent="0" lvl="0" marL="0" rtl="0" algn="l">
              <a:spcBef>
                <a:spcPts val="1000"/>
              </a:spcBef>
              <a:spcAft>
                <a:spcPts val="0"/>
              </a:spcAft>
              <a:buNone/>
            </a:pPr>
            <a:r>
              <a:rPr i="1" lang="en-GB">
                <a:solidFill>
                  <a:srgbClr val="1155CC"/>
                </a:solidFill>
              </a:rPr>
              <a:t>Dựa trên ngữ nghĩa có thể suy diễn được gì trên CSTT?</a:t>
            </a:r>
            <a:endParaRPr i="1">
              <a:solidFill>
                <a:srgbClr val="1155CC"/>
              </a:solidFill>
            </a:endParaRPr>
          </a:p>
          <a:p>
            <a:pPr indent="-368300" lvl="1" marL="914400" rtl="0" algn="l">
              <a:spcBef>
                <a:spcPts val="0"/>
              </a:spcBef>
              <a:spcAft>
                <a:spcPts val="0"/>
              </a:spcAft>
              <a:buSzPts val="2200"/>
              <a:buChar char="○"/>
            </a:pPr>
            <a:r>
              <a:rPr lang="en-GB"/>
              <a:t>𝓣 ∪ 𝓐 ⊨ (Doctor ⊔ Lawyer )(mary)</a:t>
            </a:r>
            <a:endParaRPr/>
          </a:p>
        </p:txBody>
      </p:sp>
      <p:sp>
        <p:nvSpPr>
          <p:cNvPr id="255" name="Google Shape;255;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Các ngôn ngữ DL</a:t>
            </a:r>
            <a:r>
              <a:rPr lang="en-GB">
                <a:solidFill>
                  <a:srgbClr val="666666"/>
                </a:solidFill>
              </a:rPr>
              <a:t> </a:t>
            </a:r>
            <a:endParaRPr/>
          </a:p>
        </p:txBody>
      </p:sp>
      <p:sp>
        <p:nvSpPr>
          <p:cNvPr id="261" name="Google Shape;261;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gôn ngữ thuộc tính với phần bù</a:t>
            </a:r>
            <a:endParaRPr/>
          </a:p>
        </p:txBody>
      </p:sp>
      <p:sp>
        <p:nvSpPr>
          <p:cNvPr id="267" name="Google Shape;267;p41"/>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i="1" lang="en-GB"/>
              <a:t>𝓐𝓛𝓒 (Attributive Language with Complement) - ngôn ngữ DL cơ bản nhất thuộc lớp Boolean đóng. </a:t>
            </a:r>
            <a:endParaRPr i="1"/>
          </a:p>
          <a:p>
            <a:pPr indent="0" lvl="0" marL="0" rtl="0" algn="just">
              <a:lnSpc>
                <a:spcPct val="115000"/>
              </a:lnSpc>
              <a:spcBef>
                <a:spcPts val="1000"/>
              </a:spcBef>
              <a:spcAft>
                <a:spcPts val="0"/>
              </a:spcAft>
              <a:buNone/>
            </a:pPr>
            <a:r>
              <a:rPr lang="en-GB"/>
              <a:t>Biểu thức k</a:t>
            </a:r>
            <a:r>
              <a:rPr lang="en-GB"/>
              <a:t>hái niệm trong </a:t>
            </a:r>
            <a:r>
              <a:rPr lang="en-GB"/>
              <a:t>𝓐𝓛𝓒 được tạo lập như sau:</a:t>
            </a:r>
            <a:endParaRPr/>
          </a:p>
          <a:p>
            <a:pPr indent="-381000" lvl="0" marL="457200" rtl="0" algn="just">
              <a:lnSpc>
                <a:spcPct val="115000"/>
              </a:lnSpc>
              <a:spcBef>
                <a:spcPts val="1000"/>
              </a:spcBef>
              <a:spcAft>
                <a:spcPts val="0"/>
              </a:spcAft>
              <a:buSzPts val="2400"/>
              <a:buChar char="●"/>
            </a:pPr>
            <a:r>
              <a:rPr lang="en-GB"/>
              <a:t>Tên khái niệm đồng thời là biểu thức khái niệm;</a:t>
            </a:r>
            <a:endParaRPr/>
          </a:p>
          <a:p>
            <a:pPr indent="-381000" lvl="0" marL="457200" rtl="0" algn="just">
              <a:lnSpc>
                <a:spcPct val="115000"/>
              </a:lnSpc>
              <a:spcBef>
                <a:spcPts val="0"/>
              </a:spcBef>
              <a:spcAft>
                <a:spcPts val="0"/>
              </a:spcAft>
              <a:buSzPts val="2400"/>
              <a:buChar char="●"/>
            </a:pPr>
            <a:r>
              <a:rPr lang="en-GB"/>
              <a:t>⊤ và ⊥ là các biểu thức khái niệm;</a:t>
            </a:r>
            <a:endParaRPr>
              <a:solidFill>
                <a:srgbClr val="E69138"/>
              </a:solidFill>
            </a:endParaRPr>
          </a:p>
          <a:p>
            <a:pPr indent="-381000" lvl="0" marL="457200" rtl="0" algn="just">
              <a:lnSpc>
                <a:spcPct val="115000"/>
              </a:lnSpc>
              <a:spcBef>
                <a:spcPts val="0"/>
              </a:spcBef>
              <a:spcAft>
                <a:spcPts val="0"/>
              </a:spcAft>
              <a:buSzPts val="2400"/>
              <a:buChar char="●"/>
            </a:pPr>
            <a:r>
              <a:rPr lang="en-GB"/>
              <a:t>C và D là các khái niệm, ¬C, C ⨅ D, and C ⨆ D là các biểu thức khái niệm.</a:t>
            </a:r>
            <a:endParaRPr/>
          </a:p>
          <a:p>
            <a:pPr indent="-381000" lvl="0" marL="457200" rtl="0" algn="just">
              <a:spcBef>
                <a:spcPts val="0"/>
              </a:spcBef>
              <a:spcAft>
                <a:spcPts val="0"/>
              </a:spcAft>
              <a:buClr>
                <a:srgbClr val="666666"/>
              </a:buClr>
              <a:buSzPts val="2400"/>
              <a:buChar char="●"/>
            </a:pPr>
            <a:r>
              <a:rPr lang="en-GB">
                <a:solidFill>
                  <a:srgbClr val="666666"/>
                </a:solidFill>
              </a:rPr>
              <a:t>Với 1 vai trò r và 1 khái niệm C, ∃r.C và ∀r.C là các biểu thức khái niệm. </a:t>
            </a:r>
            <a:endParaRPr>
              <a:solidFill>
                <a:srgbClr val="666666"/>
              </a:solidFill>
            </a:endParaRPr>
          </a:p>
          <a:p>
            <a:pPr indent="-368300" lvl="1" marL="914400" rtl="0" algn="just">
              <a:spcBef>
                <a:spcPts val="0"/>
              </a:spcBef>
              <a:spcAft>
                <a:spcPts val="0"/>
              </a:spcAft>
              <a:buClr>
                <a:srgbClr val="666666"/>
              </a:buClr>
              <a:buSzPts val="2200"/>
              <a:buChar char="○"/>
            </a:pPr>
            <a:r>
              <a:rPr lang="en-GB">
                <a:solidFill>
                  <a:srgbClr val="666666"/>
                </a:solidFill>
              </a:rPr>
              <a:t>Ví dụ: Student ⨆ ∀attendsCourse.MasterCourse</a:t>
            </a:r>
            <a:endParaRPr/>
          </a:p>
        </p:txBody>
      </p:sp>
      <p:sp>
        <p:nvSpPr>
          <p:cNvPr id="268" name="Google Shape;268;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Ngôn ngữ thuộc tính với phần bù</a:t>
            </a:r>
            <a:r>
              <a:rPr baseline="-25000" lang="en-GB"/>
              <a:t>(2)</a:t>
            </a:r>
            <a:endParaRPr baseline="-25000"/>
          </a:p>
        </p:txBody>
      </p:sp>
      <p:sp>
        <p:nvSpPr>
          <p:cNvPr id="274" name="Google Shape;274;p42"/>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M</a:t>
            </a:r>
            <a:r>
              <a:rPr lang="en-GB">
                <a:solidFill>
                  <a:srgbClr val="666666"/>
                </a:solidFill>
              </a:rPr>
              <a:t>ỗi</a:t>
            </a:r>
            <a:r>
              <a:rPr lang="en-GB">
                <a:solidFill>
                  <a:srgbClr val="666666"/>
                </a:solidFill>
              </a:rPr>
              <a:t> kh</a:t>
            </a:r>
            <a:r>
              <a:rPr lang="en-GB">
                <a:solidFill>
                  <a:srgbClr val="666666"/>
                </a:solidFill>
              </a:rPr>
              <a:t>ẳng định</a:t>
            </a:r>
            <a:r>
              <a:rPr lang="en-GB">
                <a:solidFill>
                  <a:srgbClr val="666666"/>
                </a:solidFill>
              </a:rPr>
              <a:t> 𝓐𝓛𝓒 có thể th</a:t>
            </a:r>
            <a:r>
              <a:rPr lang="en-GB">
                <a:solidFill>
                  <a:srgbClr val="666666"/>
                </a:solidFill>
              </a:rPr>
              <a:t>uộc</a:t>
            </a:r>
            <a:r>
              <a:rPr lang="en-GB">
                <a:solidFill>
                  <a:srgbClr val="666666"/>
                </a:solidFill>
              </a:rPr>
              <a:t> 1 trong các dạng sau:</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C(a), được gọi là kh</a:t>
            </a:r>
            <a:r>
              <a:rPr lang="en-GB">
                <a:solidFill>
                  <a:srgbClr val="666666"/>
                </a:solidFill>
              </a:rPr>
              <a:t>ẳng định</a:t>
            </a:r>
            <a:r>
              <a:rPr lang="en-GB">
                <a:solidFill>
                  <a:srgbClr val="666666"/>
                </a:solidFill>
              </a:rPr>
              <a:t> khái niệm</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r(a, b) - kh</a:t>
            </a:r>
            <a:r>
              <a:rPr lang="en-GB">
                <a:solidFill>
                  <a:srgbClr val="666666"/>
                </a:solidFill>
              </a:rPr>
              <a:t>ẳng định</a:t>
            </a:r>
            <a:r>
              <a:rPr lang="en-GB">
                <a:solidFill>
                  <a:srgbClr val="666666"/>
                </a:solidFill>
              </a:rPr>
              <a:t> vai trò</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t>
            </a:r>
            <a:r>
              <a:rPr lang="en-GB">
                <a:solidFill>
                  <a:srgbClr val="666666"/>
                </a:solidFill>
              </a:rPr>
              <a:t>r(a, b) - phủ định vai trò</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 ≈ b - phát biểu tương đương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 ≉ b - phát biểu không tương đương (khác nhau)</a:t>
            </a:r>
            <a:endParaRPr>
              <a:solidFill>
                <a:srgbClr val="666666"/>
              </a:solidFill>
            </a:endParaRPr>
          </a:p>
          <a:p>
            <a:pPr indent="0" lvl="0" marL="0" rtl="0" algn="l">
              <a:spcBef>
                <a:spcPts val="0"/>
              </a:spcBef>
              <a:spcAft>
                <a:spcPts val="0"/>
              </a:spcAft>
              <a:buNone/>
            </a:pPr>
            <a:r>
              <a:t/>
            </a:r>
            <a:endParaRPr>
              <a:solidFill>
                <a:srgbClr val="666666"/>
              </a:solidFill>
            </a:endParaRPr>
          </a:p>
        </p:txBody>
      </p:sp>
      <p:sp>
        <p:nvSpPr>
          <p:cNvPr id="275" name="Google Shape;275;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𝓐𝓛𝓒</a:t>
            </a:r>
            <a:endParaRPr/>
          </a:p>
        </p:txBody>
      </p:sp>
      <p:sp>
        <p:nvSpPr>
          <p:cNvPr id="281" name="Google Shape;281;p43"/>
          <p:cNvSpPr txBox="1"/>
          <p:nvPr>
            <p:ph idx="4294967295" type="body"/>
          </p:nvPr>
        </p:nvSpPr>
        <p:spPr>
          <a:xfrm>
            <a:off x="311700" y="1088600"/>
            <a:ext cx="8520600" cy="55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(𝓐𝓛𝓒)[</a:t>
            </a:r>
            <a:r>
              <a:rPr lang="en-GB"/>
              <a:t>𝓢][</a:t>
            </a:r>
            <a:r>
              <a:rPr lang="en-GB" sz="2400"/>
              <a:t>𝓗|𝓡</a:t>
            </a:r>
            <a:r>
              <a:rPr lang="en-GB"/>
              <a:t>]</a:t>
            </a:r>
            <a:r>
              <a:rPr lang="en-GB" sz="2400"/>
              <a:t>[𝓞][𝓘][𝓕|𝓝|𝓠]</a:t>
            </a:r>
            <a:r>
              <a:rPr lang="en-GB"/>
              <a:t>(𝓓)</a:t>
            </a:r>
            <a:endParaRPr sz="2400"/>
          </a:p>
          <a:p>
            <a:pPr indent="0" lvl="0" marL="457200" rtl="0" algn="l">
              <a:spcBef>
                <a:spcPts val="0"/>
              </a:spcBef>
              <a:spcAft>
                <a:spcPts val="0"/>
              </a:spcAft>
              <a:buNone/>
            </a:pPr>
            <a:r>
              <a:rPr lang="en-GB" sz="2400"/>
              <a:t>𝓢 - </a:t>
            </a:r>
            <a:r>
              <a:rPr lang="en-GB"/>
              <a:t>Các tính chất </a:t>
            </a:r>
            <a:r>
              <a:rPr lang="en-GB" sz="2400"/>
              <a:t>của vai trò (</a:t>
            </a:r>
            <a:r>
              <a:rPr lang="en-GB"/>
              <a:t>bắc cầu, đối xứng, v.v..)</a:t>
            </a:r>
            <a:endParaRPr sz="2400"/>
          </a:p>
          <a:p>
            <a:pPr indent="0" lvl="0" marL="457200" rtl="0" algn="l">
              <a:spcBef>
                <a:spcPts val="0"/>
              </a:spcBef>
              <a:spcAft>
                <a:spcPts val="0"/>
              </a:spcAft>
              <a:buNone/>
            </a:pPr>
            <a:r>
              <a:rPr lang="en-GB" sz="2400"/>
              <a:t>𝓗 - </a:t>
            </a:r>
            <a:r>
              <a:rPr lang="en-GB"/>
              <a:t>Bao gồm v</a:t>
            </a:r>
            <a:r>
              <a:rPr lang="en-GB" sz="2400"/>
              <a:t>ai trò</a:t>
            </a:r>
            <a:r>
              <a:rPr lang="en-GB" sz="2400"/>
              <a:t>, </a:t>
            </a:r>
            <a:r>
              <a:rPr lang="en-GB"/>
              <a:t>hình</a:t>
            </a:r>
            <a:r>
              <a:rPr lang="en-GB" sz="2400"/>
              <a:t> thành cây vai trò</a:t>
            </a:r>
            <a:endParaRPr sz="2400"/>
          </a:p>
          <a:p>
            <a:pPr indent="0" lvl="0" marL="457200" rtl="0" algn="l">
              <a:spcBef>
                <a:spcPts val="0"/>
              </a:spcBef>
              <a:spcAft>
                <a:spcPts val="0"/>
              </a:spcAft>
              <a:buNone/>
            </a:pPr>
            <a:r>
              <a:rPr lang="en-GB" sz="2400"/>
              <a:t>𝓞 - </a:t>
            </a:r>
            <a:r>
              <a:rPr lang="en-GB"/>
              <a:t>C</a:t>
            </a:r>
            <a:r>
              <a:rPr lang="en-GB" sz="2400"/>
              <a:t>ác lớp đóng</a:t>
            </a:r>
            <a:endParaRPr sz="2400"/>
          </a:p>
          <a:p>
            <a:pPr indent="0" lvl="0" marL="457200" rtl="0" algn="l">
              <a:spcBef>
                <a:spcPts val="0"/>
              </a:spcBef>
              <a:spcAft>
                <a:spcPts val="0"/>
              </a:spcAft>
              <a:buNone/>
            </a:pPr>
            <a:r>
              <a:rPr lang="en-GB" sz="2400"/>
              <a:t>𝓘 - </a:t>
            </a:r>
            <a:r>
              <a:rPr lang="en-GB"/>
              <a:t>C</a:t>
            </a:r>
            <a:r>
              <a:rPr lang="en-GB" sz="2400"/>
              <a:t>ác vai trò nghịch</a:t>
            </a:r>
            <a:endParaRPr sz="2400"/>
          </a:p>
          <a:p>
            <a:pPr indent="0" lvl="0" marL="457200" rtl="0" algn="l">
              <a:spcBef>
                <a:spcPts val="0"/>
              </a:spcBef>
              <a:spcAft>
                <a:spcPts val="0"/>
              </a:spcAft>
              <a:buNone/>
            </a:pPr>
            <a:r>
              <a:rPr lang="en-GB" sz="2400"/>
              <a:t>𝓝 - </a:t>
            </a:r>
            <a:r>
              <a:rPr lang="en-GB"/>
              <a:t>G</a:t>
            </a:r>
            <a:r>
              <a:rPr lang="en-GB" sz="2400"/>
              <a:t>iới hạn </a:t>
            </a:r>
            <a:r>
              <a:rPr lang="en-GB"/>
              <a:t>cơ số</a:t>
            </a:r>
            <a:r>
              <a:rPr lang="en-GB" sz="2400"/>
              <a:t> tùy ý</a:t>
            </a:r>
            <a:endParaRPr sz="2400"/>
          </a:p>
          <a:p>
            <a:pPr indent="0" lvl="0" marL="457200" rtl="0" algn="l">
              <a:spcBef>
                <a:spcPts val="0"/>
              </a:spcBef>
              <a:spcAft>
                <a:spcPts val="0"/>
              </a:spcAft>
              <a:buClr>
                <a:schemeClr val="dk1"/>
              </a:buClr>
              <a:buSzPts val="1100"/>
              <a:buFont typeface="Arial"/>
              <a:buNone/>
            </a:pPr>
            <a:r>
              <a:rPr lang="en-GB"/>
              <a:t>𝓠 -  Giới hạn cơ số tùy ý có điều kiện</a:t>
            </a:r>
            <a:endParaRPr/>
          </a:p>
          <a:p>
            <a:pPr indent="0" lvl="0" marL="457200" rtl="0" algn="l">
              <a:spcBef>
                <a:spcPts val="0"/>
              </a:spcBef>
              <a:spcAft>
                <a:spcPts val="0"/>
              </a:spcAft>
              <a:buNone/>
            </a:pPr>
            <a:r>
              <a:rPr lang="en-GB" sz="2400"/>
              <a:t>𝓕 - </a:t>
            </a:r>
            <a:r>
              <a:rPr lang="en-GB"/>
              <a:t>V</a:t>
            </a:r>
            <a:r>
              <a:rPr lang="en-GB" sz="2400"/>
              <a:t>ai trò hàm</a:t>
            </a:r>
            <a:endParaRPr sz="2400"/>
          </a:p>
          <a:p>
            <a:pPr indent="0" lvl="0" marL="457200" rtl="0" algn="l">
              <a:spcBef>
                <a:spcPts val="0"/>
              </a:spcBef>
              <a:spcAft>
                <a:spcPts val="0"/>
              </a:spcAft>
              <a:buNone/>
            </a:pPr>
            <a:r>
              <a:rPr lang="en-GB" sz="2400"/>
              <a:t>𝓓 - </a:t>
            </a:r>
            <a:r>
              <a:rPr lang="en-GB"/>
              <a:t>K</a:t>
            </a:r>
            <a:r>
              <a:rPr lang="en-GB" sz="2400"/>
              <a:t>iểu dữ liệu</a:t>
            </a:r>
            <a:endParaRPr sz="2400"/>
          </a:p>
          <a:p>
            <a:pPr indent="0" lvl="0" marL="457200" rtl="0" algn="l">
              <a:spcBef>
                <a:spcPts val="0"/>
              </a:spcBef>
              <a:spcAft>
                <a:spcPts val="0"/>
              </a:spcAft>
              <a:buNone/>
            </a:pPr>
            <a:r>
              <a:rPr lang="en-GB" sz="2400"/>
              <a:t>𝓡 - </a:t>
            </a:r>
            <a:r>
              <a:rPr lang="en-GB"/>
              <a:t>B</a:t>
            </a:r>
            <a:r>
              <a:rPr lang="en-GB"/>
              <a:t>ao gồm vai trò khái quát - </a:t>
            </a:r>
            <a:r>
              <a:rPr lang="en-GB"/>
              <a:t>chuỗi vai trò</a:t>
            </a:r>
            <a:endParaRPr/>
          </a:p>
          <a:p>
            <a:pPr indent="0" lvl="0" marL="0" rtl="0" algn="l">
              <a:spcBef>
                <a:spcPts val="0"/>
              </a:spcBef>
              <a:spcAft>
                <a:spcPts val="0"/>
              </a:spcAft>
              <a:buNone/>
            </a:pPr>
            <a:r>
              <a:rPr i="1" lang="en-GB"/>
              <a:t>!</a:t>
            </a:r>
            <a:r>
              <a:rPr i="1" lang="en-GB" sz="2400"/>
              <a:t>Ghi chú:</a:t>
            </a:r>
            <a:r>
              <a:rPr lang="en-GB" sz="2400"/>
              <a:t>	</a:t>
            </a:r>
            <a:r>
              <a:rPr lang="en-GB"/>
              <a:t>𝓕 có thể được diễn đạt qua </a:t>
            </a:r>
            <a:r>
              <a:rPr lang="en-GB" sz="2400"/>
              <a:t>𝓝; 𝓝 (và 𝓕) </a:t>
            </a:r>
            <a:r>
              <a:rPr lang="en-GB"/>
              <a:t>có thể được diễn đạt qua 𝓠</a:t>
            </a:r>
            <a:endParaRPr sz="2400"/>
          </a:p>
        </p:txBody>
      </p:sp>
      <p:sp>
        <p:nvSpPr>
          <p:cNvPr id="282" name="Google Shape;282;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Cú pháp DL: </a:t>
            </a:r>
            <a:r>
              <a:rPr lang="en-GB"/>
              <a:t>Sơ lược</a:t>
            </a:r>
            <a:endParaRPr/>
          </a:p>
        </p:txBody>
      </p:sp>
      <p:graphicFrame>
        <p:nvGraphicFramePr>
          <p:cNvPr id="288" name="Google Shape;288;p44"/>
          <p:cNvGraphicFramePr/>
          <p:nvPr/>
        </p:nvGraphicFramePr>
        <p:xfrm>
          <a:off x="376250" y="1111725"/>
          <a:ext cx="3000000" cy="3000000"/>
        </p:xfrm>
        <a:graphic>
          <a:graphicData uri="http://schemas.openxmlformats.org/drawingml/2006/table">
            <a:tbl>
              <a:tblPr>
                <a:noFill/>
                <a:tableStyleId>{301B1D0D-D2F0-4FFE-8277-CC19B5FD8E5E}</a:tableStyleId>
              </a:tblPr>
              <a:tblGrid>
                <a:gridCol w="1225050"/>
                <a:gridCol w="2075625"/>
                <a:gridCol w="2476675"/>
              </a:tblGrid>
              <a:tr h="2047675">
                <a:tc>
                  <a:txBody>
                    <a:bodyPr/>
                    <a:lstStyle/>
                    <a:p>
                      <a:pPr indent="0" lvl="0" marL="0" rtl="0" algn="ctr">
                        <a:lnSpc>
                          <a:spcPct val="115000"/>
                        </a:lnSpc>
                        <a:spcBef>
                          <a:spcPts val="0"/>
                        </a:spcBef>
                        <a:spcAft>
                          <a:spcPts val="0"/>
                        </a:spcAft>
                        <a:buClr>
                          <a:schemeClr val="dk1"/>
                        </a:buClr>
                        <a:buSzPts val="1100"/>
                        <a:buFont typeface="Arial"/>
                        <a:buNone/>
                      </a:pPr>
                      <a:r>
                        <a:rPr lang="en-GB" sz="2200">
                          <a:solidFill>
                            <a:srgbClr val="434343"/>
                          </a:solidFill>
                        </a:rPr>
                        <a:t>𝓐𝓛𝓒</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Lớp n</a:t>
                      </a:r>
                      <a:r>
                        <a:rPr lang="en-GB" sz="2200">
                          <a:solidFill>
                            <a:srgbClr val="434343"/>
                          </a:solidFill>
                        </a:rPr>
                        <a:t>guyên tố</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Ph</a:t>
                      </a:r>
                      <a:r>
                        <a:rPr lang="en-GB" sz="2200">
                          <a:solidFill>
                            <a:srgbClr val="434343"/>
                          </a:solidFill>
                        </a:rPr>
                        <a:t>ần bù</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Giao</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Hợp</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Tồn tại</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Tất cả</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Bao hàm</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Tương đương</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Thành viên</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Quan hệ</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Giống nhau</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Khác nhau</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434343"/>
                          </a:solidFill>
                        </a:rPr>
                        <a:t>A, B</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¬C</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C ⊓ D</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C ⊔ D</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∃r.C</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∀r.C</a:t>
                      </a:r>
                      <a:endParaRPr sz="2200">
                        <a:solidFill>
                          <a:srgbClr val="434343"/>
                        </a:solidFill>
                      </a:endParaRPr>
                    </a:p>
                    <a:p>
                      <a:pPr indent="0" lvl="0" marL="0" rtl="0" algn="l">
                        <a:lnSpc>
                          <a:spcPct val="115000"/>
                        </a:lnSpc>
                        <a:spcBef>
                          <a:spcPts val="0"/>
                        </a:spcBef>
                        <a:spcAft>
                          <a:spcPts val="0"/>
                        </a:spcAft>
                        <a:buClr>
                          <a:schemeClr val="dk1"/>
                        </a:buClr>
                        <a:buSzPts val="1100"/>
                        <a:buFont typeface="Arial"/>
                        <a:buNone/>
                      </a:pPr>
                      <a:r>
                        <a:rPr lang="en-GB" sz="2200">
                          <a:solidFill>
                            <a:srgbClr val="666666"/>
                          </a:solidFill>
                        </a:rPr>
                        <a:t>C ⊑ D</a:t>
                      </a:r>
                      <a:endParaRPr sz="2200">
                        <a:solidFill>
                          <a:srgbClr val="666666"/>
                        </a:solidFill>
                      </a:endParaRPr>
                    </a:p>
                    <a:p>
                      <a:pPr indent="0" lvl="0" marL="0" rtl="0" algn="l">
                        <a:lnSpc>
                          <a:spcPct val="115000"/>
                        </a:lnSpc>
                        <a:spcBef>
                          <a:spcPts val="0"/>
                        </a:spcBef>
                        <a:spcAft>
                          <a:spcPts val="0"/>
                        </a:spcAft>
                        <a:buNone/>
                      </a:pPr>
                      <a:r>
                        <a:rPr lang="en-GB" sz="2200">
                          <a:solidFill>
                            <a:srgbClr val="666666"/>
                          </a:solidFill>
                        </a:rPr>
                        <a:t>C ≡ D</a:t>
                      </a:r>
                      <a:endParaRPr sz="2200">
                        <a:solidFill>
                          <a:srgbClr val="666666"/>
                        </a:solidFill>
                      </a:endParaRPr>
                    </a:p>
                    <a:p>
                      <a:pPr indent="0" lvl="0" marL="0" rtl="0" algn="l">
                        <a:lnSpc>
                          <a:spcPct val="115000"/>
                        </a:lnSpc>
                        <a:spcBef>
                          <a:spcPts val="0"/>
                        </a:spcBef>
                        <a:spcAft>
                          <a:spcPts val="0"/>
                        </a:spcAft>
                        <a:buNone/>
                      </a:pPr>
                      <a:r>
                        <a:rPr lang="en-GB" sz="2200">
                          <a:solidFill>
                            <a:srgbClr val="666666"/>
                          </a:solidFill>
                        </a:rPr>
                        <a:t>C(a)</a:t>
                      </a:r>
                      <a:endParaRPr sz="2200">
                        <a:solidFill>
                          <a:srgbClr val="666666"/>
                        </a:solidFill>
                      </a:endParaRPr>
                    </a:p>
                    <a:p>
                      <a:pPr indent="0" lvl="0" marL="0" rtl="0" algn="l">
                        <a:lnSpc>
                          <a:spcPct val="115000"/>
                        </a:lnSpc>
                        <a:spcBef>
                          <a:spcPts val="0"/>
                        </a:spcBef>
                        <a:spcAft>
                          <a:spcPts val="0"/>
                        </a:spcAft>
                        <a:buNone/>
                      </a:pPr>
                      <a:r>
                        <a:rPr lang="en-GB" sz="2200">
                          <a:solidFill>
                            <a:srgbClr val="666666"/>
                          </a:solidFill>
                        </a:rPr>
                        <a:t>r(a, b)</a:t>
                      </a:r>
                      <a:endParaRPr sz="2200">
                        <a:solidFill>
                          <a:srgbClr val="666666"/>
                        </a:solidFill>
                      </a:endParaRPr>
                    </a:p>
                    <a:p>
                      <a:pPr indent="0" lvl="0" marL="0" rtl="0" algn="l">
                        <a:lnSpc>
                          <a:spcPct val="115000"/>
                        </a:lnSpc>
                        <a:spcBef>
                          <a:spcPts val="0"/>
                        </a:spcBef>
                        <a:spcAft>
                          <a:spcPts val="0"/>
                        </a:spcAft>
                        <a:buNone/>
                      </a:pPr>
                      <a:r>
                        <a:rPr lang="en-GB" sz="2200">
                          <a:solidFill>
                            <a:srgbClr val="666666"/>
                          </a:solidFill>
                        </a:rPr>
                        <a:t>a ≈ b</a:t>
                      </a:r>
                      <a:endParaRPr sz="2200">
                        <a:solidFill>
                          <a:srgbClr val="666666"/>
                        </a:solidFill>
                      </a:endParaRPr>
                    </a:p>
                    <a:p>
                      <a:pPr indent="0" lvl="0" marL="0" rtl="0" algn="l">
                        <a:lnSpc>
                          <a:spcPct val="115000"/>
                        </a:lnSpc>
                        <a:spcBef>
                          <a:spcPts val="0"/>
                        </a:spcBef>
                        <a:spcAft>
                          <a:spcPts val="0"/>
                        </a:spcAft>
                        <a:buClr>
                          <a:schemeClr val="dk1"/>
                        </a:buClr>
                        <a:buSzPts val="1100"/>
                        <a:buFont typeface="Arial"/>
                        <a:buNone/>
                      </a:pPr>
                      <a:r>
                        <a:rPr lang="en-GB" sz="2200">
                          <a:solidFill>
                            <a:srgbClr val="666666"/>
                          </a:solidFill>
                        </a:rPr>
                        <a:t>a ≠ b</a:t>
                      </a:r>
                      <a:endParaRPr sz="2200">
                        <a:solidFill>
                          <a:srgbClr val="666666"/>
                        </a:solidFill>
                      </a:endParaRPr>
                    </a:p>
                  </a:txBody>
                  <a:tcPr marT="18000" marB="18000" marR="18000" marL="18000"/>
                </a:tc>
              </a:tr>
              <a:tr h="706550">
                <a:tc>
                  <a:txBody>
                    <a:bodyPr/>
                    <a:lstStyle/>
                    <a:p>
                      <a:pPr indent="0" lvl="0" marL="0" rtl="0" algn="ctr">
                        <a:lnSpc>
                          <a:spcPct val="115000"/>
                        </a:lnSpc>
                        <a:spcBef>
                          <a:spcPts val="0"/>
                        </a:spcBef>
                        <a:spcAft>
                          <a:spcPts val="0"/>
                        </a:spcAft>
                        <a:buClr>
                          <a:schemeClr val="dk1"/>
                        </a:buClr>
                        <a:buSzPts val="1100"/>
                        <a:buFont typeface="Arial"/>
                        <a:buNone/>
                      </a:pPr>
                      <a:r>
                        <a:rPr lang="en-GB" sz="2200">
                          <a:solidFill>
                            <a:srgbClr val="434343"/>
                          </a:solidFill>
                        </a:rPr>
                        <a:t>𝓝</a:t>
                      </a:r>
                      <a:endParaRPr sz="2200">
                        <a:solidFill>
                          <a:srgbClr val="434343"/>
                        </a:solidFill>
                      </a:endParaRPr>
                    </a:p>
                  </a:txBody>
                  <a:tcPr marT="18000" marB="18000" marR="18000" marL="18000" anchor="ctr"/>
                </a:tc>
                <a:tc>
                  <a:txBody>
                    <a:bodyPr/>
                    <a:lstStyle/>
                    <a:p>
                      <a:pPr indent="0" lvl="0" marL="0" rtl="0" algn="l">
                        <a:spcBef>
                          <a:spcPts val="0"/>
                        </a:spcBef>
                        <a:spcAft>
                          <a:spcPts val="0"/>
                        </a:spcAft>
                        <a:buNone/>
                      </a:pPr>
                      <a:r>
                        <a:rPr lang="en-GB" sz="2200">
                          <a:solidFill>
                            <a:srgbClr val="434343"/>
                          </a:solidFill>
                        </a:rPr>
                        <a:t>Tối thiểu</a:t>
                      </a:r>
                      <a:endParaRPr sz="2200">
                        <a:solidFill>
                          <a:srgbClr val="434343"/>
                        </a:solidFill>
                      </a:endParaRPr>
                    </a:p>
                    <a:p>
                      <a:pPr indent="0" lvl="0" marL="0" rtl="0" algn="l">
                        <a:spcBef>
                          <a:spcPts val="0"/>
                        </a:spcBef>
                        <a:spcAft>
                          <a:spcPts val="0"/>
                        </a:spcAft>
                        <a:buNone/>
                      </a:pPr>
                      <a:r>
                        <a:rPr lang="en-GB" sz="2200">
                          <a:solidFill>
                            <a:srgbClr val="434343"/>
                          </a:solidFill>
                        </a:rPr>
                        <a:t>Tối đa</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≥n r</a:t>
                      </a:r>
                      <a:endParaRPr sz="2200">
                        <a:solidFill>
                          <a:srgbClr val="434343"/>
                        </a:solidFill>
                      </a:endParaRPr>
                    </a:p>
                    <a:p>
                      <a:pPr indent="0" lvl="0" marL="0" rtl="0" algn="l">
                        <a:spcBef>
                          <a:spcPts val="0"/>
                        </a:spcBef>
                        <a:spcAft>
                          <a:spcPts val="0"/>
                        </a:spcAft>
                        <a:buNone/>
                      </a:pPr>
                      <a:r>
                        <a:rPr lang="en-GB" sz="2200">
                          <a:solidFill>
                            <a:srgbClr val="434343"/>
                          </a:solidFill>
                        </a:rPr>
                        <a:t>≤n r</a:t>
                      </a:r>
                      <a:endParaRPr sz="2200">
                        <a:solidFill>
                          <a:srgbClr val="434343"/>
                        </a:solidFill>
                      </a:endParaRPr>
                    </a:p>
                  </a:txBody>
                  <a:tcPr marT="18000" marB="18000" marR="18000" marL="18000"/>
                </a:tc>
              </a:tr>
            </a:tbl>
          </a:graphicData>
        </a:graphic>
      </p:graphicFrame>
      <p:sp>
        <p:nvSpPr>
          <p:cNvPr id="289" name="Google Shape;289;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Cú pháp DL: </a:t>
            </a:r>
            <a:r>
              <a:rPr lang="en-GB"/>
              <a:t>Sơ lược</a:t>
            </a:r>
            <a:r>
              <a:rPr baseline="-25000" lang="en-GB"/>
              <a:t>(</a:t>
            </a:r>
            <a:r>
              <a:rPr baseline="-25000" lang="en-GB"/>
              <a:t>2)</a:t>
            </a:r>
            <a:endParaRPr baseline="-25000"/>
          </a:p>
        </p:txBody>
      </p:sp>
      <p:graphicFrame>
        <p:nvGraphicFramePr>
          <p:cNvPr id="295" name="Google Shape;295;p45"/>
          <p:cNvGraphicFramePr/>
          <p:nvPr/>
        </p:nvGraphicFramePr>
        <p:xfrm>
          <a:off x="456875" y="1213550"/>
          <a:ext cx="3000000" cy="3000000"/>
        </p:xfrm>
        <a:graphic>
          <a:graphicData uri="http://schemas.openxmlformats.org/drawingml/2006/table">
            <a:tbl>
              <a:tblPr>
                <a:noFill/>
                <a:tableStyleId>{301B1D0D-D2F0-4FFE-8277-CC19B5FD8E5E}</a:tableStyleId>
              </a:tblPr>
              <a:tblGrid>
                <a:gridCol w="1225050"/>
                <a:gridCol w="2624650"/>
                <a:gridCol w="1927650"/>
              </a:tblGrid>
              <a:tr h="43950">
                <a:tc>
                  <a:txBody>
                    <a:bodyPr/>
                    <a:lstStyle/>
                    <a:p>
                      <a:pPr indent="0" lvl="0" marL="0" rtl="0" algn="ctr">
                        <a:lnSpc>
                          <a:spcPct val="115000"/>
                        </a:lnSpc>
                        <a:spcBef>
                          <a:spcPts val="0"/>
                        </a:spcBef>
                        <a:spcAft>
                          <a:spcPts val="0"/>
                        </a:spcAft>
                        <a:buClr>
                          <a:schemeClr val="dk1"/>
                        </a:buClr>
                        <a:buSzPts val="1100"/>
                        <a:buFont typeface="Arial"/>
                        <a:buNone/>
                      </a:pPr>
                      <a:r>
                        <a:rPr i="1" lang="en-GB" sz="2200">
                          <a:solidFill>
                            <a:srgbClr val="434343"/>
                          </a:solidFill>
                        </a:rPr>
                        <a:t>𝓝</a:t>
                      </a:r>
                      <a:endParaRPr i="1" sz="2200">
                        <a:solidFill>
                          <a:srgbClr val="434343"/>
                        </a:solidFill>
                      </a:endParaRPr>
                    </a:p>
                  </a:txBody>
                  <a:tcPr marT="18000" marB="18000" marR="18000" marL="180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GB" sz="2200">
                          <a:solidFill>
                            <a:srgbClr val="434343"/>
                          </a:solidFill>
                        </a:rPr>
                        <a:t>Tối thiểu</a:t>
                      </a:r>
                      <a:endParaRPr i="1" sz="2200">
                        <a:solidFill>
                          <a:srgbClr val="434343"/>
                        </a:solidFill>
                      </a:endParaRPr>
                    </a:p>
                    <a:p>
                      <a:pPr indent="0" lvl="0" marL="0" rtl="0" algn="l">
                        <a:spcBef>
                          <a:spcPts val="0"/>
                        </a:spcBef>
                        <a:spcAft>
                          <a:spcPts val="0"/>
                        </a:spcAft>
                        <a:buNone/>
                      </a:pPr>
                      <a:r>
                        <a:rPr i="1" lang="en-GB" sz="2200">
                          <a:solidFill>
                            <a:srgbClr val="434343"/>
                          </a:solidFill>
                        </a:rPr>
                        <a:t>Tối đa</a:t>
                      </a:r>
                      <a:endParaRPr i="1"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GB" sz="2200">
                          <a:solidFill>
                            <a:srgbClr val="434343"/>
                          </a:solidFill>
                        </a:rPr>
                        <a:t>≥n r</a:t>
                      </a:r>
                      <a:endParaRPr i="1" sz="2200">
                        <a:solidFill>
                          <a:srgbClr val="434343"/>
                        </a:solidFill>
                      </a:endParaRPr>
                    </a:p>
                    <a:p>
                      <a:pPr indent="0" lvl="0" marL="0" rtl="0" algn="l">
                        <a:spcBef>
                          <a:spcPts val="0"/>
                        </a:spcBef>
                        <a:spcAft>
                          <a:spcPts val="0"/>
                        </a:spcAft>
                        <a:buNone/>
                      </a:pPr>
                      <a:r>
                        <a:rPr i="1" lang="en-GB" sz="2200">
                          <a:solidFill>
                            <a:srgbClr val="434343"/>
                          </a:solidFill>
                        </a:rPr>
                        <a:t>≤n r</a:t>
                      </a:r>
                      <a:endParaRPr i="1"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950">
                <a:tc>
                  <a:txBody>
                    <a:bodyPr/>
                    <a:lstStyle/>
                    <a:p>
                      <a:pPr indent="0" lvl="0" marL="0" rtl="0" algn="ctr">
                        <a:lnSpc>
                          <a:spcPct val="115000"/>
                        </a:lnSpc>
                        <a:spcBef>
                          <a:spcPts val="0"/>
                        </a:spcBef>
                        <a:spcAft>
                          <a:spcPts val="0"/>
                        </a:spcAft>
                        <a:buClr>
                          <a:schemeClr val="dk1"/>
                        </a:buClr>
                        <a:buSzPts val="1100"/>
                        <a:buFont typeface="Arial"/>
                        <a:buNone/>
                      </a:pPr>
                      <a:r>
                        <a:rPr lang="en-GB" sz="2200">
                          <a:solidFill>
                            <a:srgbClr val="434343"/>
                          </a:solidFill>
                        </a:rPr>
                        <a:t>𝓠</a:t>
                      </a:r>
                      <a:endParaRPr sz="2200">
                        <a:solidFill>
                          <a:srgbClr val="434343"/>
                        </a:solidFill>
                      </a:endParaRPr>
                    </a:p>
                  </a:txBody>
                  <a:tcPr marT="18000" marB="18000" marR="18000" marL="18000" anchor="ctr">
                    <a:lnT cap="flat" cmpd="sng" w="9525">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GB" sz="2200">
                          <a:solidFill>
                            <a:srgbClr val="434343"/>
                          </a:solidFill>
                        </a:rPr>
                        <a:t>Tối thiểu </a:t>
                      </a:r>
                      <a:r>
                        <a:rPr lang="en-GB" sz="2200">
                          <a:solidFill>
                            <a:srgbClr val="434343"/>
                          </a:solidFill>
                        </a:rPr>
                        <a:t>định kiểu</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Tối đa </a:t>
                      </a:r>
                      <a:r>
                        <a:rPr lang="en-GB" sz="2200">
                          <a:solidFill>
                            <a:srgbClr val="434343"/>
                          </a:solidFill>
                        </a:rPr>
                        <a:t>định kiểu</a:t>
                      </a:r>
                      <a:endParaRPr sz="2200">
                        <a:solidFill>
                          <a:srgbClr val="434343"/>
                        </a:solidFill>
                      </a:endParaRPr>
                    </a:p>
                  </a:txBody>
                  <a:tcPr marT="18000" marB="18000" marR="18000" marL="18000">
                    <a:lnT cap="flat" cmpd="sng" w="9525">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GB" sz="2200">
                          <a:solidFill>
                            <a:srgbClr val="434343"/>
                          </a:solidFill>
                        </a:rPr>
                        <a:t>≥n r.C</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≤n r.C</a:t>
                      </a:r>
                      <a:endParaRPr sz="2200">
                        <a:solidFill>
                          <a:srgbClr val="434343"/>
                        </a:solidFill>
                      </a:endParaRPr>
                    </a:p>
                  </a:txBody>
                  <a:tcPr marT="18000" marB="18000" marR="18000" marL="18000">
                    <a:lnT cap="flat" cmpd="sng" w="9525">
                      <a:solidFill>
                        <a:srgbClr val="9E9E9E"/>
                      </a:solidFill>
                      <a:prstDash val="solid"/>
                      <a:round/>
                      <a:headEnd len="sm" w="sm" type="none"/>
                      <a:tailEnd len="sm" w="sm" type="none"/>
                    </a:lnT>
                  </a:tcPr>
                </a:tc>
              </a:tr>
              <a:tr h="42600">
                <a:tc>
                  <a:txBody>
                    <a:bodyPr/>
                    <a:lstStyle/>
                    <a:p>
                      <a:pPr indent="0" lvl="0" marL="0" rtl="0" algn="ctr">
                        <a:lnSpc>
                          <a:spcPct val="115000"/>
                        </a:lnSpc>
                        <a:spcBef>
                          <a:spcPts val="0"/>
                        </a:spcBef>
                        <a:spcAft>
                          <a:spcPts val="0"/>
                        </a:spcAft>
                        <a:buClr>
                          <a:schemeClr val="dk1"/>
                        </a:buClr>
                        <a:buSzPts val="1100"/>
                        <a:buFont typeface="Arial"/>
                        <a:buNone/>
                      </a:pPr>
                      <a:r>
                        <a:rPr lang="en-GB" sz="2200">
                          <a:solidFill>
                            <a:srgbClr val="434343"/>
                          </a:solidFill>
                        </a:rPr>
                        <a:t>𝓞</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Lớp đóng</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434343"/>
                          </a:solidFill>
                        </a:rPr>
                        <a:t>{i</a:t>
                      </a:r>
                      <a:r>
                        <a:rPr baseline="-25000" lang="en-GB" sz="2200">
                          <a:solidFill>
                            <a:srgbClr val="434343"/>
                          </a:solidFill>
                        </a:rPr>
                        <a:t>1</a:t>
                      </a:r>
                      <a:r>
                        <a:rPr lang="en-GB" sz="2200">
                          <a:solidFill>
                            <a:srgbClr val="434343"/>
                          </a:solidFill>
                        </a:rPr>
                        <a:t>, i</a:t>
                      </a:r>
                      <a:r>
                        <a:rPr baseline="-25000" lang="en-GB" sz="2200">
                          <a:solidFill>
                            <a:srgbClr val="434343"/>
                          </a:solidFill>
                        </a:rPr>
                        <a:t>2</a:t>
                      </a:r>
                      <a:r>
                        <a:rPr lang="en-GB" sz="2200">
                          <a:solidFill>
                            <a:srgbClr val="434343"/>
                          </a:solidFill>
                        </a:rPr>
                        <a:t>, ..., i</a:t>
                      </a:r>
                      <a:r>
                        <a:rPr baseline="-25000" lang="en-GB" sz="2200">
                          <a:solidFill>
                            <a:srgbClr val="434343"/>
                          </a:solidFill>
                        </a:rPr>
                        <a:t>n</a:t>
                      </a:r>
                      <a:r>
                        <a:rPr lang="en-GB" sz="2200">
                          <a:solidFill>
                            <a:srgbClr val="434343"/>
                          </a:solidFill>
                        </a:rPr>
                        <a:t>}</a:t>
                      </a:r>
                      <a:endParaRPr sz="2200">
                        <a:solidFill>
                          <a:srgbClr val="434343"/>
                        </a:solidFill>
                      </a:endParaRPr>
                    </a:p>
                  </a:txBody>
                  <a:tcPr marT="18000" marB="18000" marR="18000" marL="18000"/>
                </a:tc>
              </a:tr>
              <a:tr h="42600">
                <a:tc>
                  <a:txBody>
                    <a:bodyPr/>
                    <a:lstStyle/>
                    <a:p>
                      <a:pPr indent="0" lvl="0" marL="0" rtl="0" algn="ctr">
                        <a:lnSpc>
                          <a:spcPct val="115000"/>
                        </a:lnSpc>
                        <a:spcBef>
                          <a:spcPts val="0"/>
                        </a:spcBef>
                        <a:spcAft>
                          <a:spcPts val="0"/>
                        </a:spcAft>
                        <a:buNone/>
                      </a:pPr>
                      <a:r>
                        <a:rPr lang="en-GB" sz="2200">
                          <a:solidFill>
                            <a:srgbClr val="434343"/>
                          </a:solidFill>
                        </a:rPr>
                        <a:t>𝓘</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Thuộc tính đảo</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Clr>
                          <a:schemeClr val="dk1"/>
                        </a:buClr>
                        <a:buSzPts val="1100"/>
                        <a:buFont typeface="Arial"/>
                        <a:buNone/>
                      </a:pPr>
                      <a:r>
                        <a:rPr lang="en-GB" sz="2200">
                          <a:solidFill>
                            <a:srgbClr val="434343"/>
                          </a:solidFill>
                        </a:rPr>
                        <a:t>r</a:t>
                      </a:r>
                      <a:r>
                        <a:rPr baseline="30000" lang="en-GB" sz="2200">
                          <a:solidFill>
                            <a:srgbClr val="434343"/>
                          </a:solidFill>
                        </a:rPr>
                        <a:t>−</a:t>
                      </a:r>
                      <a:endParaRPr sz="2200">
                        <a:solidFill>
                          <a:srgbClr val="666666"/>
                        </a:solidFill>
                      </a:endParaRPr>
                    </a:p>
                  </a:txBody>
                  <a:tcPr marT="18000" marB="18000" marR="18000" marL="18000"/>
                </a:tc>
              </a:tr>
              <a:tr h="42600">
                <a:tc>
                  <a:txBody>
                    <a:bodyPr/>
                    <a:lstStyle/>
                    <a:p>
                      <a:pPr indent="0" lvl="0" marL="0" rtl="0" algn="ctr">
                        <a:lnSpc>
                          <a:spcPct val="115000"/>
                        </a:lnSpc>
                        <a:spcBef>
                          <a:spcPts val="0"/>
                        </a:spcBef>
                        <a:spcAft>
                          <a:spcPts val="0"/>
                        </a:spcAft>
                        <a:buNone/>
                      </a:pPr>
                      <a:r>
                        <a:rPr lang="en-GB" sz="2200">
                          <a:solidFill>
                            <a:srgbClr val="434343"/>
                          </a:solidFill>
                        </a:rPr>
                        <a:t>𝓗</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Bao hàm thuộc tính</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1600"/>
                        </a:spcAft>
                        <a:buClr>
                          <a:schemeClr val="dk1"/>
                        </a:buClr>
                        <a:buSzPts val="1100"/>
                        <a:buFont typeface="Arial"/>
                        <a:buNone/>
                      </a:pPr>
                      <a:r>
                        <a:rPr lang="en-GB" sz="2200">
                          <a:solidFill>
                            <a:srgbClr val="666666"/>
                          </a:solidFill>
                        </a:rPr>
                        <a:t>r ⊑ s</a:t>
                      </a:r>
                      <a:endParaRPr sz="2200">
                        <a:solidFill>
                          <a:srgbClr val="434343"/>
                        </a:solidFill>
                      </a:endParaRPr>
                    </a:p>
                  </a:txBody>
                  <a:tcPr marT="18000" marB="18000" marR="18000" marL="18000"/>
                </a:tc>
              </a:tr>
              <a:tr h="42600">
                <a:tc>
                  <a:txBody>
                    <a:bodyPr/>
                    <a:lstStyle/>
                    <a:p>
                      <a:pPr indent="0" lvl="0" marL="0" rtl="0" algn="ctr">
                        <a:lnSpc>
                          <a:spcPct val="115000"/>
                        </a:lnSpc>
                        <a:spcBef>
                          <a:spcPts val="0"/>
                        </a:spcBef>
                        <a:spcAft>
                          <a:spcPts val="0"/>
                        </a:spcAft>
                        <a:buNone/>
                      </a:pPr>
                      <a:r>
                        <a:rPr lang="en-GB" sz="2200">
                          <a:solidFill>
                            <a:srgbClr val="434343"/>
                          </a:solidFill>
                        </a:rPr>
                        <a:t>𝓢</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Bắc cầu</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Bất đối xứng</a:t>
                      </a:r>
                      <a:endParaRPr sz="2200">
                        <a:solidFill>
                          <a:srgbClr val="434343"/>
                        </a:solidFill>
                      </a:endParaRPr>
                    </a:p>
                    <a:p>
                      <a:pPr indent="0" lvl="0" marL="0" rtl="0" algn="l">
                        <a:lnSpc>
                          <a:spcPct val="115000"/>
                        </a:lnSpc>
                        <a:spcBef>
                          <a:spcPts val="0"/>
                        </a:spcBef>
                        <a:spcAft>
                          <a:spcPts val="0"/>
                        </a:spcAft>
                        <a:buNone/>
                      </a:pPr>
                      <a:r>
                        <a:rPr lang="en-GB" sz="2200">
                          <a:solidFill>
                            <a:srgbClr val="434343"/>
                          </a:solidFill>
                        </a:rPr>
                        <a:t>Phản xạ</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666666"/>
                          </a:solidFill>
                        </a:rPr>
                        <a:t>Trans(r)</a:t>
                      </a:r>
                      <a:endParaRPr sz="2200">
                        <a:solidFill>
                          <a:srgbClr val="666666"/>
                        </a:solidFill>
                      </a:endParaRPr>
                    </a:p>
                    <a:p>
                      <a:pPr indent="0" lvl="0" marL="0" rtl="0" algn="l">
                        <a:lnSpc>
                          <a:spcPct val="115000"/>
                        </a:lnSpc>
                        <a:spcBef>
                          <a:spcPts val="0"/>
                        </a:spcBef>
                        <a:spcAft>
                          <a:spcPts val="0"/>
                        </a:spcAft>
                        <a:buNone/>
                      </a:pPr>
                      <a:r>
                        <a:rPr lang="en-GB" sz="2200">
                          <a:solidFill>
                            <a:srgbClr val="666666"/>
                          </a:solidFill>
                        </a:rPr>
                        <a:t>Asy(r)*</a:t>
                      </a:r>
                      <a:endParaRPr sz="2200">
                        <a:solidFill>
                          <a:srgbClr val="666666"/>
                        </a:solidFill>
                      </a:endParaRPr>
                    </a:p>
                    <a:p>
                      <a:pPr indent="0" lvl="0" marL="0" rtl="0" algn="l">
                        <a:lnSpc>
                          <a:spcPct val="115000"/>
                        </a:lnSpc>
                        <a:spcBef>
                          <a:spcPts val="0"/>
                        </a:spcBef>
                        <a:spcAft>
                          <a:spcPts val="1600"/>
                        </a:spcAft>
                        <a:buNone/>
                      </a:pPr>
                      <a:r>
                        <a:rPr lang="en-GB" sz="2200">
                          <a:solidFill>
                            <a:srgbClr val="666666"/>
                          </a:solidFill>
                        </a:rPr>
                        <a:t>Ref(r)*</a:t>
                      </a:r>
                      <a:endParaRPr sz="2200">
                        <a:solidFill>
                          <a:srgbClr val="666666"/>
                        </a:solidFill>
                      </a:endParaRPr>
                    </a:p>
                  </a:txBody>
                  <a:tcPr marT="18000" marB="18000" marR="18000" marL="18000"/>
                </a:tc>
              </a:tr>
              <a:tr h="42600">
                <a:tc>
                  <a:txBody>
                    <a:bodyPr/>
                    <a:lstStyle/>
                    <a:p>
                      <a:pPr indent="0" lvl="0" marL="0" rtl="0" algn="ctr">
                        <a:lnSpc>
                          <a:spcPct val="115000"/>
                        </a:lnSpc>
                        <a:spcBef>
                          <a:spcPts val="0"/>
                        </a:spcBef>
                        <a:spcAft>
                          <a:spcPts val="0"/>
                        </a:spcAft>
                        <a:buNone/>
                      </a:pPr>
                      <a:r>
                        <a:rPr lang="en-GB" sz="2200">
                          <a:solidFill>
                            <a:srgbClr val="434343"/>
                          </a:solidFill>
                        </a:rPr>
                        <a:t>𝓡</a:t>
                      </a:r>
                      <a:endParaRPr sz="2200">
                        <a:solidFill>
                          <a:srgbClr val="434343"/>
                        </a:solidFill>
                      </a:endParaRPr>
                    </a:p>
                  </a:txBody>
                  <a:tcPr marT="18000" marB="18000" marR="18000" marL="18000" anchor="ctr"/>
                </a:tc>
                <a:tc>
                  <a:txBody>
                    <a:bodyPr/>
                    <a:lstStyle/>
                    <a:p>
                      <a:pPr indent="0" lvl="0" marL="0" rtl="0" algn="l">
                        <a:lnSpc>
                          <a:spcPct val="115000"/>
                        </a:lnSpc>
                        <a:spcBef>
                          <a:spcPts val="0"/>
                        </a:spcBef>
                        <a:spcAft>
                          <a:spcPts val="0"/>
                        </a:spcAft>
                        <a:buNone/>
                      </a:pPr>
                      <a:r>
                        <a:rPr lang="en-GB" sz="2200">
                          <a:solidFill>
                            <a:srgbClr val="434343"/>
                          </a:solidFill>
                        </a:rPr>
                        <a:t>Chuỗi vai trò</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666666"/>
                          </a:solidFill>
                        </a:rPr>
                        <a:t>r ◦ r' ⊑ s</a:t>
                      </a:r>
                      <a:endParaRPr sz="2200">
                        <a:solidFill>
                          <a:srgbClr val="666666"/>
                        </a:solidFill>
                      </a:endParaRPr>
                    </a:p>
                  </a:txBody>
                  <a:tcPr marT="18000" marB="18000" marR="18000" marL="18000"/>
                </a:tc>
              </a:tr>
            </a:tbl>
          </a:graphicData>
        </a:graphic>
      </p:graphicFrame>
      <p:sp>
        <p:nvSpPr>
          <p:cNvPr id="296" name="Google Shape;296;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Mệnh đề bao gồm khái niệm</a:t>
            </a:r>
            <a:endParaRPr/>
          </a:p>
        </p:txBody>
      </p:sp>
      <p:sp>
        <p:nvSpPr>
          <p:cNvPr id="302" name="Google Shape;302;p4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solidFill>
                  <a:srgbClr val="666666"/>
                </a:solidFill>
              </a:rPr>
              <a:t>Mệnh đề bao gồm khái niệm (</a:t>
            </a:r>
            <a:r>
              <a:rPr i="1" lang="en-GB">
                <a:solidFill>
                  <a:srgbClr val="666666"/>
                </a:solidFill>
              </a:rPr>
              <a:t>GCI - General Concept Inclusion</a:t>
            </a:r>
            <a:r>
              <a:rPr lang="en-GB">
                <a:solidFill>
                  <a:srgbClr val="666666"/>
                </a:solidFill>
              </a:rPr>
              <a:t>) có dạng:</a:t>
            </a:r>
            <a:endParaRPr>
              <a:solidFill>
                <a:srgbClr val="666666"/>
              </a:solidFill>
            </a:endParaRPr>
          </a:p>
          <a:p>
            <a:pPr indent="0" lvl="0" marL="0" rtl="0" algn="ctr">
              <a:spcBef>
                <a:spcPts val="0"/>
              </a:spcBef>
              <a:spcAft>
                <a:spcPts val="0"/>
              </a:spcAft>
              <a:buNone/>
            </a:pPr>
            <a:r>
              <a:rPr lang="en-GB">
                <a:solidFill>
                  <a:srgbClr val="666666"/>
                </a:solidFill>
              </a:rPr>
              <a:t>C ⊑ D, trong đó C và D là các khái niệm</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là viết tắt của C ⊑ D và D ⊑ C</a:t>
            </a:r>
            <a:endParaRPr>
              <a:solidFill>
                <a:srgbClr val="666666"/>
              </a:solidFill>
            </a:endParaRPr>
          </a:p>
        </p:txBody>
      </p:sp>
      <p:sp>
        <p:nvSpPr>
          <p:cNvPr id="303" name="Google Shape;303;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Mệnh đề bao gồm vai trò</a:t>
            </a:r>
            <a:endParaRPr/>
          </a:p>
        </p:txBody>
      </p:sp>
      <p:sp>
        <p:nvSpPr>
          <p:cNvPr id="309" name="Google Shape;309;p4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Một vai trò có thể là</a:t>
            </a:r>
            <a:endParaRPr/>
          </a:p>
          <a:p>
            <a:pPr indent="-368300" lvl="1" marL="914400" rtl="0" algn="l">
              <a:spcBef>
                <a:spcPts val="0"/>
              </a:spcBef>
              <a:spcAft>
                <a:spcPts val="0"/>
              </a:spcAft>
              <a:buSzPts val="2200"/>
              <a:buChar char="○"/>
            </a:pPr>
            <a:r>
              <a:rPr lang="en-GB"/>
              <a:t>Một tên vai trò r hoặc</a:t>
            </a:r>
            <a:endParaRPr/>
          </a:p>
          <a:p>
            <a:pPr indent="-368300" lvl="1" marL="914400" rtl="0" algn="l">
              <a:spcBef>
                <a:spcPts val="0"/>
              </a:spcBef>
              <a:spcAft>
                <a:spcPts val="0"/>
              </a:spcAft>
              <a:buSzPts val="2200"/>
              <a:buChar char="○"/>
            </a:pPr>
            <a:r>
              <a:rPr lang="en-GB"/>
              <a:t>Tên vai trò đảo r</a:t>
            </a:r>
            <a:r>
              <a:rPr baseline="30000" lang="en-GB"/>
              <a:t>−</a:t>
            </a:r>
            <a:r>
              <a:rPr lang="en-GB"/>
              <a:t>, hoặc</a:t>
            </a:r>
            <a:endParaRPr/>
          </a:p>
          <a:p>
            <a:pPr indent="-368300" lvl="1" marL="914400" rtl="0" algn="l">
              <a:spcBef>
                <a:spcPts val="0"/>
              </a:spcBef>
              <a:spcAft>
                <a:spcPts val="0"/>
              </a:spcAft>
              <a:buSzPts val="2200"/>
              <a:buChar char="○"/>
            </a:pPr>
            <a:r>
              <a:rPr lang="en-GB"/>
              <a:t>vai trò toàn thể </a:t>
            </a:r>
            <a:r>
              <a:rPr b="1" lang="en-GB"/>
              <a:t>u</a:t>
            </a:r>
            <a:endParaRPr b="1"/>
          </a:p>
          <a:p>
            <a:pPr indent="-381000" lvl="0" marL="457200" rtl="0" algn="l">
              <a:spcBef>
                <a:spcPts val="0"/>
              </a:spcBef>
              <a:spcAft>
                <a:spcPts val="0"/>
              </a:spcAft>
              <a:buSzPts val="2400"/>
              <a:buChar char="●"/>
            </a:pPr>
            <a:r>
              <a:rPr lang="en-GB"/>
              <a:t>Chuỗi</a:t>
            </a:r>
            <a:r>
              <a:rPr lang="en-GB"/>
              <a:t> vai trò </a:t>
            </a:r>
            <a:r>
              <a:rPr lang="en-GB"/>
              <a:t>có dạng: </a:t>
            </a:r>
            <a:endParaRPr/>
          </a:p>
          <a:p>
            <a:pPr indent="-368300" lvl="1" marL="914400" rtl="0" algn="l">
              <a:spcBef>
                <a:spcPts val="0"/>
              </a:spcBef>
              <a:spcAft>
                <a:spcPts val="0"/>
              </a:spcAft>
              <a:buSzPts val="2200"/>
              <a:buChar char="○"/>
            </a:pPr>
            <a:r>
              <a:rPr lang="en-GB"/>
              <a:t>r</a:t>
            </a:r>
            <a:r>
              <a:rPr baseline="-25000" lang="en-GB"/>
              <a:t>1</a:t>
            </a:r>
            <a:r>
              <a:rPr lang="en-GB"/>
              <a:t>◦ ...◦ r</a:t>
            </a:r>
            <a:r>
              <a:rPr baseline="-25000" lang="en-GB"/>
              <a:t>n</a:t>
            </a:r>
            <a:r>
              <a:rPr lang="en-GB"/>
              <a:t> ⊑ r, trong đó r</a:t>
            </a:r>
            <a:r>
              <a:rPr baseline="-25000" lang="en-GB"/>
              <a:t>1</a:t>
            </a:r>
            <a:r>
              <a:rPr lang="en-GB"/>
              <a:t>, ..., r</a:t>
            </a:r>
            <a:r>
              <a:rPr baseline="-25000" lang="en-GB"/>
              <a:t>n</a:t>
            </a:r>
            <a:r>
              <a:rPr lang="en-GB"/>
              <a:t>, r là các vai trò</a:t>
            </a:r>
            <a:endParaRPr/>
          </a:p>
          <a:p>
            <a:pPr indent="-381000" lvl="0" marL="457200" rtl="0" algn="l">
              <a:spcBef>
                <a:spcPts val="0"/>
              </a:spcBef>
              <a:spcAft>
                <a:spcPts val="0"/>
              </a:spcAft>
              <a:buClr>
                <a:srgbClr val="666666"/>
              </a:buClr>
              <a:buSzPts val="2400"/>
              <a:buChar char="●"/>
            </a:pPr>
            <a:r>
              <a:rPr lang="en-GB">
                <a:solidFill>
                  <a:srgbClr val="666666"/>
                </a:solidFill>
              </a:rPr>
              <a:t>r ≡ s là viết tắt của r ⊑ s và s ⊑ r</a:t>
            </a:r>
            <a:endParaRPr/>
          </a:p>
        </p:txBody>
      </p:sp>
      <p:sp>
        <p:nvSpPr>
          <p:cNvPr id="310" name="Google Shape;310;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6.1. Biểu thức khái niệm</a:t>
            </a:r>
            <a:endParaRPr/>
          </a:p>
        </p:txBody>
      </p:sp>
      <p:sp>
        <p:nvSpPr>
          <p:cNvPr id="316" name="Google Shape;316;p48"/>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i="1" lang="en-GB">
                <a:solidFill>
                  <a:srgbClr val="666666"/>
                </a:solidFill>
              </a:rPr>
              <a:t>Singer ⊓ Actor - </a:t>
            </a:r>
            <a:r>
              <a:rPr i="1" lang="en-GB">
                <a:solidFill>
                  <a:srgbClr val="666666"/>
                </a:solidFill>
              </a:rPr>
              <a:t>Những ca sĩ kiêm diễn viên</a:t>
            </a:r>
            <a:endParaRPr i="1">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Doctor ⊔ Lawyer - </a:t>
            </a:r>
            <a:r>
              <a:rPr i="1" lang="en-GB">
                <a:solidFill>
                  <a:srgbClr val="666666"/>
                </a:solidFill>
              </a:rPr>
              <a:t>Bác sĩ và luật sư</a:t>
            </a:r>
            <a:endParaRPr i="1">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∀hasChild.Doctor - </a:t>
            </a:r>
            <a:r>
              <a:rPr i="1" lang="en-GB">
                <a:solidFill>
                  <a:srgbClr val="666666"/>
                </a:solidFill>
              </a:rPr>
              <a:t>Người có tất cả con đều là bác sĩ</a:t>
            </a:r>
            <a:endParaRPr>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∃hasChild.Doctor - </a:t>
            </a:r>
            <a:r>
              <a:rPr i="1" lang="en-GB">
                <a:solidFill>
                  <a:srgbClr val="666666"/>
                </a:solidFill>
              </a:rPr>
              <a:t>Người có con là bác sĩ</a:t>
            </a:r>
            <a:endParaRPr>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¬(Doctor ⊔ Lawyer) - </a:t>
            </a:r>
            <a:r>
              <a:rPr i="1" lang="en-GB">
                <a:solidFill>
                  <a:srgbClr val="666666"/>
                </a:solidFill>
              </a:rPr>
              <a:t>Người không phải bác sĩ hay luật sư</a:t>
            </a:r>
            <a:endParaRPr>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 2 hasChild) ⊓ (≤ 1 sibling) - </a:t>
            </a:r>
            <a:r>
              <a:rPr i="1" lang="en-GB">
                <a:solidFill>
                  <a:srgbClr val="666666"/>
                </a:solidFill>
              </a:rPr>
              <a:t>Người có từ 2 con trở lên và 1 anh em.</a:t>
            </a:r>
            <a:endParaRPr>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 2 hasChild.Doctor) - </a:t>
            </a:r>
            <a:r>
              <a:rPr i="1" lang="en-GB">
                <a:solidFill>
                  <a:srgbClr val="666666"/>
                </a:solidFill>
              </a:rPr>
              <a:t>Người có từ 2 con là bác sĩ trở lên</a:t>
            </a:r>
            <a:endParaRPr>
              <a:solidFill>
                <a:srgbClr val="666666"/>
              </a:solidFill>
            </a:endParaRPr>
          </a:p>
          <a:p>
            <a:pPr indent="-381000" lvl="0" marL="457200" rtl="0" algn="l">
              <a:spcBef>
                <a:spcPts val="0"/>
              </a:spcBef>
              <a:spcAft>
                <a:spcPts val="0"/>
              </a:spcAft>
              <a:buClr>
                <a:srgbClr val="666666"/>
              </a:buClr>
              <a:buSzPts val="2400"/>
              <a:buChar char="●"/>
            </a:pPr>
            <a:r>
              <a:rPr i="1" lang="en-GB">
                <a:solidFill>
                  <a:srgbClr val="666666"/>
                </a:solidFill>
              </a:rPr>
              <a:t>∀hasChild</a:t>
            </a:r>
            <a:r>
              <a:rPr b="1" baseline="30000" i="1" lang="en-GB">
                <a:solidFill>
                  <a:srgbClr val="666666"/>
                </a:solidFill>
              </a:rPr>
              <a:t>−</a:t>
            </a:r>
            <a:r>
              <a:rPr i="1" lang="en-GB">
                <a:solidFill>
                  <a:srgbClr val="666666"/>
                </a:solidFill>
              </a:rPr>
              <a:t>.Doctor - </a:t>
            </a:r>
            <a:r>
              <a:rPr i="1" lang="en-GB">
                <a:solidFill>
                  <a:srgbClr val="666666"/>
                </a:solidFill>
              </a:rPr>
              <a:t>Người có song thân đều là bác sĩ</a:t>
            </a:r>
            <a:endParaRPr>
              <a:solidFill>
                <a:srgbClr val="666666"/>
              </a:solidFill>
            </a:endParaRPr>
          </a:p>
        </p:txBody>
      </p:sp>
      <p:sp>
        <p:nvSpPr>
          <p:cNvPr id="317" name="Google Shape;317;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đơn của vai trò</a:t>
            </a:r>
            <a:endParaRPr/>
          </a:p>
        </p:txBody>
      </p:sp>
      <p:sp>
        <p:nvSpPr>
          <p:cNvPr id="323" name="Google Shape;323;p4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Dựa trên</a:t>
            </a:r>
            <a:r>
              <a:rPr lang="en-GB"/>
              <a:t> các RIAs các vai trò được chia thành đơn và phức</a:t>
            </a:r>
            <a:endParaRPr/>
          </a:p>
          <a:p>
            <a:pPr indent="-381000" lvl="0" marL="457200" rtl="0" algn="l">
              <a:spcBef>
                <a:spcPts val="0"/>
              </a:spcBef>
              <a:spcAft>
                <a:spcPts val="0"/>
              </a:spcAft>
              <a:buSzPts val="2400"/>
              <a:buChar char="●"/>
            </a:pPr>
            <a:r>
              <a:rPr lang="en-GB"/>
              <a:t>Một </a:t>
            </a:r>
            <a:r>
              <a:rPr lang="en-GB"/>
              <a:t>vai trò là </a:t>
            </a:r>
            <a:r>
              <a:rPr lang="en-GB"/>
              <a:t>vai trò </a:t>
            </a:r>
            <a:r>
              <a:rPr lang="en-GB"/>
              <a:t>phức nếu nó xuất hiện trong vế phải (</a:t>
            </a:r>
            <a:r>
              <a:rPr lang="en-GB"/>
              <a:t>rhs)</a:t>
            </a:r>
            <a:r>
              <a:rPr lang="en-GB"/>
              <a:t> của 1 RIA phức</a:t>
            </a:r>
            <a:endParaRPr/>
          </a:p>
          <a:p>
            <a:pPr indent="-381000" lvl="0" marL="457200" rtl="0" algn="l">
              <a:spcBef>
                <a:spcPts val="0"/>
              </a:spcBef>
              <a:spcAft>
                <a:spcPts val="0"/>
              </a:spcAft>
              <a:buSzPts val="2400"/>
              <a:buChar char="●"/>
            </a:pPr>
            <a:r>
              <a:rPr lang="en-GB"/>
              <a:t>Cụ thể:</a:t>
            </a:r>
            <a:endParaRPr/>
          </a:p>
          <a:p>
            <a:pPr indent="-368300" lvl="1" marL="914400" rtl="0" algn="l">
              <a:spcBef>
                <a:spcPts val="0"/>
              </a:spcBef>
              <a:spcAft>
                <a:spcPts val="0"/>
              </a:spcAft>
              <a:buSzPts val="2200"/>
              <a:buChar char="○"/>
            </a:pPr>
            <a:r>
              <a:rPr lang="en-GB"/>
              <a:t>Với </a:t>
            </a:r>
            <a:r>
              <a:rPr lang="en-GB"/>
              <a:t>1 </a:t>
            </a:r>
            <a:r>
              <a:rPr lang="en-GB"/>
              <a:t>RIA </a:t>
            </a:r>
            <a:r>
              <a:rPr lang="en-GB"/>
              <a:t>bất kỳ </a:t>
            </a:r>
            <a:r>
              <a:rPr lang="en-GB"/>
              <a:t>r</a:t>
            </a:r>
            <a:r>
              <a:rPr baseline="-25000" lang="en-GB"/>
              <a:t>1</a:t>
            </a:r>
            <a:r>
              <a:rPr lang="en-GB"/>
              <a:t> ◦ r</a:t>
            </a:r>
            <a:r>
              <a:rPr baseline="-25000" lang="en-GB"/>
              <a:t>2</a:t>
            </a:r>
            <a:r>
              <a:rPr lang="en-GB"/>
              <a:t> ◦ . . . ◦ r</a:t>
            </a:r>
            <a:r>
              <a:rPr baseline="-25000" lang="en-GB"/>
              <a:t>n</a:t>
            </a:r>
            <a:r>
              <a:rPr lang="en-GB"/>
              <a:t> ⊑ r với n &gt; 1, r là </a:t>
            </a:r>
            <a:r>
              <a:rPr lang="en-GB"/>
              <a:t>1 vai trò </a:t>
            </a:r>
            <a:r>
              <a:rPr lang="en-GB"/>
              <a:t>phức </a:t>
            </a:r>
            <a:endParaRPr/>
          </a:p>
          <a:p>
            <a:pPr indent="-368300" lvl="1" marL="914400" rtl="0" algn="l">
              <a:spcBef>
                <a:spcPts val="0"/>
              </a:spcBef>
              <a:spcAft>
                <a:spcPts val="0"/>
              </a:spcAft>
              <a:buSzPts val="2200"/>
              <a:buChar char="○"/>
            </a:pPr>
            <a:r>
              <a:rPr lang="en-GB"/>
              <a:t>Với </a:t>
            </a:r>
            <a:r>
              <a:rPr lang="en-GB"/>
              <a:t>1 </a:t>
            </a:r>
            <a:r>
              <a:rPr lang="en-GB"/>
              <a:t>RIA </a:t>
            </a:r>
            <a:r>
              <a:rPr lang="en-GB"/>
              <a:t>bất kỳ </a:t>
            </a:r>
            <a:r>
              <a:rPr lang="en-GB"/>
              <a:t>s ⊑ r với s </a:t>
            </a:r>
            <a:r>
              <a:rPr lang="en-GB"/>
              <a:t>là 1 vai trò </a:t>
            </a:r>
            <a:r>
              <a:rPr lang="en-GB"/>
              <a:t>phức, thì r </a:t>
            </a:r>
            <a:r>
              <a:rPr lang="en-GB"/>
              <a:t>là 1 vai trò </a:t>
            </a:r>
            <a:r>
              <a:rPr lang="en-GB"/>
              <a:t>phức và </a:t>
            </a:r>
            <a:endParaRPr/>
          </a:p>
          <a:p>
            <a:pPr indent="-368300" lvl="1" marL="914400" rtl="0" algn="l">
              <a:spcBef>
                <a:spcPts val="0"/>
              </a:spcBef>
              <a:spcAft>
                <a:spcPts val="0"/>
              </a:spcAft>
              <a:buSzPts val="2200"/>
              <a:buChar char="○"/>
            </a:pPr>
            <a:r>
              <a:rPr lang="en-GB"/>
              <a:t>Tất cả các </a:t>
            </a:r>
            <a:r>
              <a:rPr lang="en-GB"/>
              <a:t>vai trò</a:t>
            </a:r>
            <a:r>
              <a:rPr lang="en-GB"/>
              <a:t> còn lại là </a:t>
            </a:r>
            <a:r>
              <a:rPr lang="en-GB"/>
              <a:t>các vai trò </a:t>
            </a:r>
            <a:r>
              <a:rPr lang="en-GB"/>
              <a:t>đơn</a:t>
            </a:r>
            <a:endParaRPr/>
          </a:p>
        </p:txBody>
      </p:sp>
      <p:sp>
        <p:nvSpPr>
          <p:cNvPr id="324" name="Google Shape;324;p49"/>
          <p:cNvSpPr txBox="1"/>
          <p:nvPr/>
        </p:nvSpPr>
        <p:spPr>
          <a:xfrm>
            <a:off x="408675" y="5139525"/>
            <a:ext cx="8271300" cy="1108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2400">
                <a:solidFill>
                  <a:srgbClr val="666666"/>
                </a:solidFill>
              </a:rPr>
              <a:t>Ví dụ: p ◦ q ⊑ r     r ⊑ s      p ⊑ r      q ⊑ s</a:t>
            </a:r>
            <a:endParaRPr sz="2400">
              <a:solidFill>
                <a:srgbClr val="666666"/>
              </a:solidFill>
            </a:endParaRPr>
          </a:p>
          <a:p>
            <a:pPr indent="0" lvl="0" marL="0" rtl="0" algn="ctr">
              <a:lnSpc>
                <a:spcPct val="150000"/>
              </a:lnSpc>
              <a:spcBef>
                <a:spcPts val="0"/>
              </a:spcBef>
              <a:spcAft>
                <a:spcPts val="0"/>
              </a:spcAft>
              <a:buNone/>
            </a:pPr>
            <a:r>
              <a:rPr i="1" lang="en-GB" sz="2400">
                <a:solidFill>
                  <a:srgbClr val="666666"/>
                </a:solidFill>
              </a:rPr>
              <a:t>    </a:t>
            </a:r>
            <a:r>
              <a:rPr i="1" lang="en-GB" sz="2400">
                <a:solidFill>
                  <a:srgbClr val="1155CC"/>
                </a:solidFill>
              </a:rPr>
              <a:t>Thử: phân biệt các vai trò phức và vai trò đơn?</a:t>
            </a:r>
            <a:endParaRPr i="1" sz="2400">
              <a:solidFill>
                <a:srgbClr val="1155CC"/>
              </a:solidFill>
            </a:endParaRPr>
          </a:p>
        </p:txBody>
      </p:sp>
      <p:sp>
        <p:nvSpPr>
          <p:cNvPr id="325" name="Google Shape;325;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50"/>
          <p:cNvPicPr preferRelativeResize="0"/>
          <p:nvPr/>
        </p:nvPicPr>
        <p:blipFill>
          <a:blip r:embed="rId3">
            <a:alphaModFix/>
          </a:blip>
          <a:stretch>
            <a:fillRect/>
          </a:stretch>
        </p:blipFill>
        <p:spPr>
          <a:xfrm>
            <a:off x="4168000" y="4722851"/>
            <a:ext cx="4670237" cy="1866274"/>
          </a:xfrm>
          <a:prstGeom prst="rect">
            <a:avLst/>
          </a:prstGeom>
          <a:noFill/>
          <a:ln>
            <a:noFill/>
          </a:ln>
        </p:spPr>
      </p:pic>
      <p:sp>
        <p:nvSpPr>
          <p:cNvPr id="331" name="Google Shape;331;p50"/>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Cách khác để phân biệt vai trò đơn và phức:</a:t>
            </a:r>
            <a:endParaRPr i="1"/>
          </a:p>
          <a:p>
            <a:pPr indent="-381000" lvl="0" marL="457200" rtl="0" algn="l">
              <a:spcBef>
                <a:spcPts val="0"/>
              </a:spcBef>
              <a:spcAft>
                <a:spcPts val="0"/>
              </a:spcAft>
              <a:buClr>
                <a:srgbClr val="666666"/>
              </a:buClr>
              <a:buSzPts val="2400"/>
              <a:buChar char="●"/>
            </a:pPr>
            <a:r>
              <a:rPr lang="en-GB"/>
              <a:t>Các vai trò sau là vai trò phức:</a:t>
            </a:r>
            <a:endParaRPr/>
          </a:p>
          <a:p>
            <a:pPr indent="-368300" lvl="1" marL="914400" rtl="0" algn="l">
              <a:spcBef>
                <a:spcPts val="0"/>
              </a:spcBef>
              <a:spcAft>
                <a:spcPts val="0"/>
              </a:spcAft>
              <a:buSzPts val="2200"/>
              <a:buChar char="○"/>
            </a:pPr>
            <a:r>
              <a:rPr lang="en-GB"/>
              <a:t>Vai trò có tính chất bắc cầu Trans(s).</a:t>
            </a:r>
            <a:endParaRPr/>
          </a:p>
          <a:p>
            <a:pPr indent="-368300" lvl="1" marL="914400" rtl="0" algn="l">
              <a:spcBef>
                <a:spcPts val="0"/>
              </a:spcBef>
              <a:spcAft>
                <a:spcPts val="0"/>
              </a:spcAft>
              <a:buSzPts val="2200"/>
              <a:buChar char="○"/>
            </a:pPr>
            <a:r>
              <a:rPr lang="en-GB"/>
              <a:t>Vai trò có vai trò ngược có tính bắc cầu Trans(s</a:t>
            </a:r>
            <a:r>
              <a:rPr baseline="30000" lang="en-GB"/>
              <a:t> ̶</a:t>
            </a:r>
            <a:r>
              <a:rPr lang="en-GB"/>
              <a:t>)</a:t>
            </a:r>
            <a:endParaRPr/>
          </a:p>
          <a:p>
            <a:pPr indent="-368300" lvl="1" marL="914400" rtl="0" algn="l">
              <a:spcBef>
                <a:spcPts val="0"/>
              </a:spcBef>
              <a:spcAft>
                <a:spcPts val="0"/>
              </a:spcAft>
              <a:buSzPts val="2200"/>
              <a:buChar char="○"/>
            </a:pPr>
            <a:r>
              <a:rPr lang="en-GB"/>
              <a:t>Vai trò bao hàm 1 vai trò có tính bắc cầu </a:t>
            </a:r>
            <a:r>
              <a:rPr lang="en-GB" sz="2400">
                <a:solidFill>
                  <a:srgbClr val="666666"/>
                </a:solidFill>
              </a:rPr>
              <a:t>t ⊑ s và Trans(t)</a:t>
            </a:r>
            <a:endParaRPr sz="2400">
              <a:solidFill>
                <a:srgbClr val="666666"/>
              </a:solidFill>
            </a:endParaRPr>
          </a:p>
          <a:p>
            <a:pPr indent="-381000" lvl="1" marL="914400" rtl="0" algn="l">
              <a:spcBef>
                <a:spcPts val="0"/>
              </a:spcBef>
              <a:spcAft>
                <a:spcPts val="0"/>
              </a:spcAft>
              <a:buClr>
                <a:srgbClr val="666666"/>
              </a:buClr>
              <a:buSzPts val="2400"/>
              <a:buChar char="○"/>
            </a:pPr>
            <a:r>
              <a:rPr lang="en-GB" sz="2400">
                <a:solidFill>
                  <a:srgbClr val="666666"/>
                </a:solidFill>
              </a:rPr>
              <a:t>Vai trò có vai trò ngược bao hàm 1 vai trò có tính chất bắc cầu t ⊑  s</a:t>
            </a:r>
            <a:r>
              <a:rPr baseline="30000" lang="en-GB" sz="2400">
                <a:solidFill>
                  <a:srgbClr val="666666"/>
                </a:solidFill>
              </a:rPr>
              <a:t> ̶</a:t>
            </a:r>
            <a:r>
              <a:rPr lang="en-GB" sz="2400">
                <a:solidFill>
                  <a:srgbClr val="666666"/>
                </a:solidFill>
              </a:rPr>
              <a:t> và Trans(t)</a:t>
            </a:r>
            <a:endParaRPr sz="2400">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Tất cả các vai trò khác là </a:t>
            </a:r>
            <a:r>
              <a:rPr lang="en-GB">
                <a:solidFill>
                  <a:srgbClr val="666666"/>
                </a:solidFill>
              </a:rPr>
              <a:t>các vai trò </a:t>
            </a:r>
            <a:r>
              <a:rPr lang="en-GB">
                <a:solidFill>
                  <a:srgbClr val="666666"/>
                </a:solidFill>
              </a:rPr>
              <a:t>đơn.</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Ví dụ: 𝓡 = {u ⊑ t, t ⊑ s, s ⊑ r, q ⊑ r, Trans(t)}</a:t>
            </a:r>
            <a:endParaRPr>
              <a:solidFill>
                <a:srgbClr val="666666"/>
              </a:solidFill>
            </a:endParaRPr>
          </a:p>
        </p:txBody>
      </p:sp>
      <p:sp>
        <p:nvSpPr>
          <p:cNvPr id="332" name="Google Shape;332;p5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đơn của vai trò</a:t>
            </a:r>
            <a:r>
              <a:rPr baseline="-25000" lang="en-GB"/>
              <a:t>(2)</a:t>
            </a:r>
            <a:endParaRPr baseline="-25000"/>
          </a:p>
        </p:txBody>
      </p:sp>
      <p:sp>
        <p:nvSpPr>
          <p:cNvPr id="333" name="Google Shape;333;p50"/>
          <p:cNvSpPr txBox="1"/>
          <p:nvPr/>
        </p:nvSpPr>
        <p:spPr>
          <a:xfrm>
            <a:off x="787425" y="5290875"/>
            <a:ext cx="46701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400">
                <a:solidFill>
                  <a:srgbClr val="1155CC"/>
                </a:solidFill>
              </a:rPr>
              <a:t>Phức: t, s, r</a:t>
            </a:r>
            <a:endParaRPr sz="2400">
              <a:solidFill>
                <a:srgbClr val="1155CC"/>
              </a:solidFill>
            </a:endParaRPr>
          </a:p>
          <a:p>
            <a:pPr indent="0" lvl="0" marL="0" rtl="0" algn="l">
              <a:lnSpc>
                <a:spcPct val="115000"/>
              </a:lnSpc>
              <a:spcBef>
                <a:spcPts val="0"/>
              </a:spcBef>
              <a:spcAft>
                <a:spcPts val="0"/>
              </a:spcAft>
              <a:buNone/>
            </a:pPr>
            <a:r>
              <a:rPr lang="en-GB" sz="2400">
                <a:solidFill>
                  <a:srgbClr val="1155CC"/>
                </a:solidFill>
              </a:rPr>
              <a:t>Đơn: q, u</a:t>
            </a:r>
            <a:endParaRPr sz="2400">
              <a:solidFill>
                <a:srgbClr val="1155CC"/>
              </a:solidFill>
            </a:endParaRPr>
          </a:p>
        </p:txBody>
      </p:sp>
      <p:sp>
        <p:nvSpPr>
          <p:cNvPr id="334" name="Google Shape;33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6.2. CSTT </a:t>
            </a:r>
            <a:r>
              <a:rPr lang="en-GB"/>
              <a:t>DL</a:t>
            </a:r>
            <a:endParaRPr/>
          </a:p>
        </p:txBody>
      </p:sp>
      <p:sp>
        <p:nvSpPr>
          <p:cNvPr id="340" name="Google Shape;340;p51"/>
          <p:cNvSpPr/>
          <p:nvPr/>
        </p:nvSpPr>
        <p:spPr>
          <a:xfrm>
            <a:off x="460075" y="954650"/>
            <a:ext cx="8281500" cy="1420200"/>
          </a:xfrm>
          <a:prstGeom prst="rect">
            <a:avLst/>
          </a:prstGeom>
          <a:solidFill>
            <a:srgbClr val="B6D7A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200"/>
              <a:t>RBox 𝓡</a:t>
            </a:r>
            <a:endParaRPr sz="2200"/>
          </a:p>
          <a:p>
            <a:pPr indent="457200" lvl="0" marL="457200" rtl="0" algn="l">
              <a:spcBef>
                <a:spcPts val="0"/>
              </a:spcBef>
              <a:spcAft>
                <a:spcPts val="0"/>
              </a:spcAft>
              <a:buNone/>
            </a:pPr>
            <a:r>
              <a:rPr lang="en-GB" sz="2200"/>
              <a:t>own ⊑ careFor</a:t>
            </a:r>
            <a:endParaRPr sz="2200"/>
          </a:p>
          <a:p>
            <a:pPr indent="0" lvl="0" marL="0" rtl="0" algn="l">
              <a:spcBef>
                <a:spcPts val="0"/>
              </a:spcBef>
              <a:spcAft>
                <a:spcPts val="0"/>
              </a:spcAft>
              <a:buClr>
                <a:schemeClr val="dk1"/>
              </a:buClr>
              <a:buSzPts val="1100"/>
              <a:buFont typeface="Arial"/>
              <a:buNone/>
            </a:pPr>
            <a:r>
              <a:rPr i="1" lang="en-GB" sz="2200"/>
              <a:t>"Nếu ai đó sở hữu cái gì thì họ quan tâm về nó"</a:t>
            </a:r>
            <a:endParaRPr i="1" sz="2200"/>
          </a:p>
        </p:txBody>
      </p:sp>
      <p:sp>
        <p:nvSpPr>
          <p:cNvPr id="341" name="Google Shape;341;p51"/>
          <p:cNvSpPr/>
          <p:nvPr/>
        </p:nvSpPr>
        <p:spPr>
          <a:xfrm>
            <a:off x="460075" y="2374850"/>
            <a:ext cx="8281500" cy="2579700"/>
          </a:xfrm>
          <a:prstGeom prst="rect">
            <a:avLst/>
          </a:prstGeom>
          <a:solidFill>
            <a:srgbClr val="B4A7D6"/>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200"/>
              <a:t>TBox 𝓣</a:t>
            </a:r>
            <a:endParaRPr sz="2200"/>
          </a:p>
          <a:p>
            <a:pPr indent="457200" lvl="0" marL="457200" rtl="0" algn="l">
              <a:spcBef>
                <a:spcPts val="0"/>
              </a:spcBef>
              <a:spcAft>
                <a:spcPts val="0"/>
              </a:spcAft>
              <a:buNone/>
            </a:pPr>
            <a:r>
              <a:rPr lang="en-GB" sz="2200"/>
              <a:t>Healthy 		⊑ ¬Dead</a:t>
            </a:r>
            <a:endParaRPr sz="2200"/>
          </a:p>
          <a:p>
            <a:pPr indent="457200" lvl="0" marL="457200" rtl="0" algn="l">
              <a:spcBef>
                <a:spcPts val="0"/>
              </a:spcBef>
              <a:spcAft>
                <a:spcPts val="0"/>
              </a:spcAft>
              <a:buNone/>
            </a:pPr>
            <a:r>
              <a:rPr lang="en-GB" sz="2200"/>
              <a:t>Cat 			⊑ Dead ⨆  Alive</a:t>
            </a:r>
            <a:endParaRPr sz="2200"/>
          </a:p>
          <a:p>
            <a:pPr indent="0" lvl="0" marL="0" rtl="0" algn="l">
              <a:spcBef>
                <a:spcPts val="0"/>
              </a:spcBef>
              <a:spcAft>
                <a:spcPts val="0"/>
              </a:spcAft>
              <a:buNone/>
            </a:pPr>
            <a:r>
              <a:rPr lang="en-GB" sz="2200"/>
              <a:t>HappyCatOwner	⊑ ∃owns.Cat ⨅ ∀caresFor.Healthy</a:t>
            </a:r>
            <a:endParaRPr sz="2200"/>
          </a:p>
          <a:p>
            <a:pPr indent="0" lvl="0" marL="0" rtl="0" algn="l">
              <a:spcBef>
                <a:spcPts val="0"/>
              </a:spcBef>
              <a:spcAft>
                <a:spcPts val="0"/>
              </a:spcAft>
              <a:buNone/>
            </a:pPr>
            <a:r>
              <a:rPr i="1" lang="en-GB" sz="2200"/>
              <a:t>"Sống khỏe mạnh là không chết"; " Mèo có thể </a:t>
            </a:r>
            <a:r>
              <a:rPr i="1" lang="en-GB" sz="2200"/>
              <a:t>đã</a:t>
            </a:r>
            <a:r>
              <a:rPr i="1" lang="en-GB" sz="2200"/>
              <a:t> chết hoặc </a:t>
            </a:r>
            <a:r>
              <a:rPr i="1" lang="en-GB" sz="2200"/>
              <a:t>còn </a:t>
            </a:r>
            <a:r>
              <a:rPr i="1" lang="en-GB" sz="2200"/>
              <a:t>sống"; "Chủ nhân hạnh phúc của mèo là người sở hữu mèo và </a:t>
            </a:r>
            <a:r>
              <a:rPr i="1" lang="en-GB" sz="2200"/>
              <a:t>tất cả mèo mà người đó quan tâm đều </a:t>
            </a:r>
            <a:r>
              <a:rPr i="1" lang="en-GB" sz="2200"/>
              <a:t>khỏe mạnh."</a:t>
            </a:r>
            <a:endParaRPr i="1" sz="2200"/>
          </a:p>
        </p:txBody>
      </p:sp>
      <p:sp>
        <p:nvSpPr>
          <p:cNvPr id="342" name="Google Shape;342;p51"/>
          <p:cNvSpPr/>
          <p:nvPr/>
        </p:nvSpPr>
        <p:spPr>
          <a:xfrm>
            <a:off x="460075" y="4940050"/>
            <a:ext cx="8281500" cy="12222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200"/>
              <a:t>ABox 𝓐</a:t>
            </a:r>
            <a:endParaRPr sz="2200"/>
          </a:p>
          <a:p>
            <a:pPr indent="457200" lvl="0" marL="457200" rtl="0" algn="l">
              <a:spcBef>
                <a:spcPts val="0"/>
              </a:spcBef>
              <a:spcAft>
                <a:spcPts val="0"/>
              </a:spcAft>
              <a:buNone/>
            </a:pPr>
            <a:r>
              <a:rPr lang="en-GB" sz="2200"/>
              <a:t>HappyCatOwner(NVA)</a:t>
            </a:r>
            <a:endParaRPr sz="2200"/>
          </a:p>
          <a:p>
            <a:pPr indent="0" lvl="0" marL="0" rtl="0" algn="l">
              <a:spcBef>
                <a:spcPts val="0"/>
              </a:spcBef>
              <a:spcAft>
                <a:spcPts val="0"/>
              </a:spcAft>
              <a:buNone/>
            </a:pPr>
            <a:r>
              <a:rPr i="1" lang="en-GB" sz="2200"/>
              <a:t>"NVA là người sở hữu mèo hạnh phúc."</a:t>
            </a:r>
            <a:endParaRPr i="1" sz="2200"/>
          </a:p>
        </p:txBody>
      </p:sp>
      <p:sp>
        <p:nvSpPr>
          <p:cNvPr id="343" name="Google Shape;343;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Ngữ nghĩa hình thức của DL</a:t>
            </a:r>
            <a:endParaRPr/>
          </a:p>
        </p:txBody>
      </p:sp>
      <p:sp>
        <p:nvSpPr>
          <p:cNvPr id="349" name="Google Shape;349;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3"/>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just">
              <a:lnSpc>
                <a:spcPct val="115000"/>
              </a:lnSpc>
              <a:spcBef>
                <a:spcPts val="0"/>
              </a:spcBef>
              <a:spcAft>
                <a:spcPts val="0"/>
              </a:spcAft>
              <a:buSzPts val="2400"/>
              <a:buChar char="●"/>
            </a:pPr>
            <a:r>
              <a:rPr lang="en-GB"/>
              <a:t>Ngữ nghĩa hình thức của DLs được </a:t>
            </a:r>
            <a:r>
              <a:rPr lang="en-GB"/>
              <a:t>xây dựng</a:t>
            </a:r>
            <a:r>
              <a:rPr lang="en-GB"/>
              <a:t> theo mô hình-lý thuyết dựa trên các không gian trừu tượng, được gọi là các biểu diễn.</a:t>
            </a:r>
            <a:endParaRPr/>
          </a:p>
        </p:txBody>
      </p:sp>
      <p:sp>
        <p:nvSpPr>
          <p:cNvPr id="355" name="Google Shape;355;p5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biểu diễn</a:t>
            </a:r>
            <a:endParaRPr/>
          </a:p>
        </p:txBody>
      </p:sp>
      <p:sp>
        <p:nvSpPr>
          <p:cNvPr id="356" name="Google Shape;356;p53"/>
          <p:cNvSpPr/>
          <p:nvPr/>
        </p:nvSpPr>
        <p:spPr>
          <a:xfrm>
            <a:off x="257800" y="2759875"/>
            <a:ext cx="8574600" cy="286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400">
                <a:solidFill>
                  <a:srgbClr val="666666"/>
                </a:solidFill>
              </a:rPr>
              <a:t>Định nghĩa: Một biểu diễn 𝓘 = (∆</a:t>
            </a:r>
            <a:r>
              <a:rPr baseline="30000" lang="en-GB" sz="2400">
                <a:solidFill>
                  <a:srgbClr val="666666"/>
                </a:solidFill>
              </a:rPr>
              <a:t>𝓘</a:t>
            </a:r>
            <a:r>
              <a:rPr lang="en-GB" sz="2400">
                <a:solidFill>
                  <a:srgbClr val="666666"/>
                </a:solidFill>
              </a:rPr>
              <a:t>, .</a:t>
            </a:r>
            <a:r>
              <a:rPr baseline="30000" lang="en-GB" sz="2400">
                <a:solidFill>
                  <a:srgbClr val="666666"/>
                </a:solidFill>
              </a:rPr>
              <a:t>𝓘</a:t>
            </a:r>
            <a:r>
              <a:rPr lang="en-GB" sz="2400">
                <a:solidFill>
                  <a:srgbClr val="666666"/>
                </a:solidFill>
              </a:rPr>
              <a:t>) bao gồ</a:t>
            </a:r>
            <a:r>
              <a:rPr lang="en-GB" sz="2400">
                <a:solidFill>
                  <a:schemeClr val="dk2"/>
                </a:solidFill>
              </a:rPr>
              <a:t>m:</a:t>
            </a:r>
            <a:endParaRPr sz="2400">
              <a:solidFill>
                <a:schemeClr val="dk2"/>
              </a:solidFill>
            </a:endParaRPr>
          </a:p>
          <a:p>
            <a:pPr indent="-381000" lvl="0" marL="457200" rtl="0" algn="l">
              <a:lnSpc>
                <a:spcPct val="115000"/>
              </a:lnSpc>
              <a:spcBef>
                <a:spcPts val="0"/>
              </a:spcBef>
              <a:spcAft>
                <a:spcPts val="0"/>
              </a:spcAft>
              <a:buClr>
                <a:schemeClr val="dk2"/>
              </a:buClr>
              <a:buSzPts val="2400"/>
              <a:buChar char="●"/>
            </a:pPr>
            <a:r>
              <a:rPr lang="en-GB" sz="2400">
                <a:solidFill>
                  <a:schemeClr val="dk2"/>
                </a:solidFill>
              </a:rPr>
              <a:t>Một tập không rỗng ∆</a:t>
            </a:r>
            <a:r>
              <a:rPr baseline="30000" lang="en-GB" sz="2400">
                <a:solidFill>
                  <a:schemeClr val="dk2"/>
                </a:solidFill>
              </a:rPr>
              <a:t>𝓘</a:t>
            </a:r>
            <a:r>
              <a:rPr lang="en-GB" sz="2400">
                <a:solidFill>
                  <a:schemeClr val="dk2"/>
                </a:solidFill>
              </a:rPr>
              <a:t>, được gọi là miền biểu diễn </a:t>
            </a:r>
            <a:endParaRPr sz="2400">
              <a:solidFill>
                <a:schemeClr val="dk2"/>
              </a:solidFill>
            </a:endParaRPr>
          </a:p>
          <a:p>
            <a:pPr indent="-381000" lvl="0" marL="457200" rtl="0" algn="l">
              <a:lnSpc>
                <a:spcPct val="115000"/>
              </a:lnSpc>
              <a:spcBef>
                <a:spcPts val="0"/>
              </a:spcBef>
              <a:spcAft>
                <a:spcPts val="0"/>
              </a:spcAft>
              <a:buClr>
                <a:schemeClr val="dk2"/>
              </a:buClr>
              <a:buSzPts val="2400"/>
              <a:buChar char="●"/>
            </a:pPr>
            <a:r>
              <a:rPr lang="en-GB" sz="2400">
                <a:solidFill>
                  <a:schemeClr val="dk2"/>
                </a:solidFill>
              </a:rPr>
              <a:t>và hàm .</a:t>
            </a:r>
            <a:r>
              <a:rPr baseline="30000" lang="en-GB" sz="2400">
                <a:solidFill>
                  <a:schemeClr val="dk2"/>
                </a:solidFill>
              </a:rPr>
              <a:t>𝓘</a:t>
            </a:r>
            <a:r>
              <a:rPr lang="en-GB" sz="2400">
                <a:solidFill>
                  <a:schemeClr val="dk2"/>
                </a:solidFill>
              </a:rPr>
              <a:t> </a:t>
            </a:r>
            <a:r>
              <a:rPr lang="en-GB" sz="2400">
                <a:solidFill>
                  <a:schemeClr val="dk2"/>
                </a:solidFill>
              </a:rPr>
              <a:t>ánh xạ</a:t>
            </a:r>
            <a:endParaRPr sz="2400">
              <a:solidFill>
                <a:schemeClr val="dk2"/>
              </a:solidFill>
            </a:endParaRPr>
          </a:p>
          <a:p>
            <a:pPr indent="-368300" lvl="1" marL="914400" rtl="0" algn="l">
              <a:lnSpc>
                <a:spcPct val="115000"/>
              </a:lnSpc>
              <a:spcBef>
                <a:spcPts val="0"/>
              </a:spcBef>
              <a:spcAft>
                <a:spcPts val="0"/>
              </a:spcAft>
              <a:buClr>
                <a:schemeClr val="dk2"/>
              </a:buClr>
              <a:buSzPts val="2200"/>
              <a:buChar char="○"/>
            </a:pPr>
            <a:r>
              <a:rPr lang="en-GB" sz="2200">
                <a:solidFill>
                  <a:schemeClr val="dk2"/>
                </a:solidFill>
              </a:rPr>
              <a:t>các tên riêng α tới các phần tử lĩnh vực α</a:t>
            </a:r>
            <a:r>
              <a:rPr baseline="30000" lang="en-GB" sz="2200">
                <a:solidFill>
                  <a:schemeClr val="dk2"/>
                </a:solidFill>
              </a:rPr>
              <a:t>𝓘</a:t>
            </a:r>
            <a:r>
              <a:rPr lang="en-GB" sz="2200">
                <a:solidFill>
                  <a:schemeClr val="dk2"/>
                </a:solidFill>
              </a:rPr>
              <a:t> ∈ ∆</a:t>
            </a:r>
            <a:r>
              <a:rPr baseline="30000" lang="en-GB" sz="2200">
                <a:solidFill>
                  <a:schemeClr val="dk2"/>
                </a:solidFill>
              </a:rPr>
              <a:t>𝓘</a:t>
            </a:r>
            <a:endParaRPr baseline="30000" sz="2200">
              <a:solidFill>
                <a:schemeClr val="dk2"/>
              </a:solidFill>
            </a:endParaRPr>
          </a:p>
          <a:p>
            <a:pPr indent="-368300" lvl="1" marL="914400" rtl="0" algn="l">
              <a:lnSpc>
                <a:spcPct val="115000"/>
              </a:lnSpc>
              <a:spcBef>
                <a:spcPts val="0"/>
              </a:spcBef>
              <a:spcAft>
                <a:spcPts val="0"/>
              </a:spcAft>
              <a:buClr>
                <a:schemeClr val="dk2"/>
              </a:buClr>
              <a:buSzPts val="2200"/>
              <a:buChar char="○"/>
            </a:pPr>
            <a:r>
              <a:rPr lang="en-GB" sz="2200">
                <a:solidFill>
                  <a:schemeClr val="dk2"/>
                </a:solidFill>
              </a:rPr>
              <a:t>tên khái niệm C tới tập con C</a:t>
            </a:r>
            <a:r>
              <a:rPr baseline="30000" lang="en-GB" sz="2200">
                <a:solidFill>
                  <a:schemeClr val="dk2"/>
                </a:solidFill>
              </a:rPr>
              <a:t>𝓘 </a:t>
            </a:r>
            <a:r>
              <a:rPr lang="en-GB" sz="2200">
                <a:solidFill>
                  <a:schemeClr val="dk2"/>
                </a:solidFill>
              </a:rPr>
              <a:t>⊆ ∆</a:t>
            </a:r>
            <a:r>
              <a:rPr baseline="30000" lang="en-GB" sz="2200">
                <a:solidFill>
                  <a:schemeClr val="dk2"/>
                </a:solidFill>
              </a:rPr>
              <a:t>𝓘</a:t>
            </a:r>
            <a:endParaRPr sz="2200">
              <a:solidFill>
                <a:schemeClr val="dk2"/>
              </a:solidFill>
            </a:endParaRPr>
          </a:p>
          <a:p>
            <a:pPr indent="-368300" lvl="1" marL="914400" rtl="0" algn="l">
              <a:lnSpc>
                <a:spcPct val="115000"/>
              </a:lnSpc>
              <a:spcBef>
                <a:spcPts val="0"/>
              </a:spcBef>
              <a:spcAft>
                <a:spcPts val="0"/>
              </a:spcAft>
              <a:buClr>
                <a:schemeClr val="dk2"/>
              </a:buClr>
              <a:buSzPts val="2200"/>
              <a:buChar char="○"/>
            </a:pPr>
            <a:r>
              <a:rPr lang="en-GB" sz="2200">
                <a:solidFill>
                  <a:schemeClr val="dk2"/>
                </a:solidFill>
              </a:rPr>
              <a:t>tên vai trò r tới các tập con r</a:t>
            </a:r>
            <a:r>
              <a:rPr baseline="30000" lang="en-GB" sz="2200">
                <a:solidFill>
                  <a:schemeClr val="dk2"/>
                </a:solidFill>
              </a:rPr>
              <a:t>𝓘</a:t>
            </a:r>
            <a:r>
              <a:rPr lang="en-GB" sz="2200">
                <a:solidFill>
                  <a:schemeClr val="dk2"/>
                </a:solidFill>
              </a:rPr>
              <a:t> ⊆ ∆</a:t>
            </a:r>
            <a:r>
              <a:rPr baseline="30000" lang="en-GB" sz="2200">
                <a:solidFill>
                  <a:schemeClr val="dk2"/>
                </a:solidFill>
              </a:rPr>
              <a:t>𝓘</a:t>
            </a:r>
            <a:r>
              <a:rPr lang="en-GB" sz="2200">
                <a:solidFill>
                  <a:schemeClr val="dk2"/>
                </a:solidFill>
              </a:rPr>
              <a:t> x ∆</a:t>
            </a:r>
            <a:r>
              <a:rPr baseline="30000" lang="en-GB" sz="2200">
                <a:solidFill>
                  <a:schemeClr val="dk2"/>
                </a:solidFill>
              </a:rPr>
              <a:t>𝓘</a:t>
            </a:r>
            <a:endParaRPr sz="2200"/>
          </a:p>
        </p:txBody>
      </p:sp>
      <p:sp>
        <p:nvSpPr>
          <p:cNvPr id="357" name="Google Shape;357;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của 1 biểu diễn</a:t>
            </a:r>
            <a:endParaRPr/>
          </a:p>
        </p:txBody>
      </p:sp>
      <p:sp>
        <p:nvSpPr>
          <p:cNvPr id="363" name="Google Shape;363;p54"/>
          <p:cNvSpPr/>
          <p:nvPr/>
        </p:nvSpPr>
        <p:spPr>
          <a:xfrm>
            <a:off x="5880350" y="1639025"/>
            <a:ext cx="2631000" cy="963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400">
                <a:solidFill>
                  <a:srgbClr val="666666"/>
                </a:solidFill>
              </a:rPr>
              <a:t>Tên các vai trò</a:t>
            </a:r>
            <a:endParaRPr sz="2400">
              <a:solidFill>
                <a:srgbClr val="666666"/>
              </a:solidFill>
            </a:endParaRPr>
          </a:p>
          <a:p>
            <a:pPr indent="0" lvl="0" marL="0" rtl="0" algn="ctr">
              <a:lnSpc>
                <a:spcPct val="115000"/>
              </a:lnSpc>
              <a:spcBef>
                <a:spcPts val="0"/>
              </a:spcBef>
              <a:spcAft>
                <a:spcPts val="0"/>
              </a:spcAft>
              <a:buNone/>
            </a:pPr>
            <a:r>
              <a:rPr lang="en-GB" sz="2400">
                <a:solidFill>
                  <a:srgbClr val="666666"/>
                </a:solidFill>
              </a:rPr>
              <a:t>....r.....</a:t>
            </a:r>
            <a:endParaRPr sz="2400">
              <a:solidFill>
                <a:srgbClr val="666666"/>
              </a:solidFill>
            </a:endParaRPr>
          </a:p>
        </p:txBody>
      </p:sp>
      <p:sp>
        <p:nvSpPr>
          <p:cNvPr id="364" name="Google Shape;364;p54"/>
          <p:cNvSpPr/>
          <p:nvPr/>
        </p:nvSpPr>
        <p:spPr>
          <a:xfrm>
            <a:off x="1428075" y="2637800"/>
            <a:ext cx="5550000" cy="1212900"/>
          </a:xfrm>
          <a:prstGeom prst="downArrow">
            <a:avLst>
              <a:gd fmla="val 50000" name="adj1"/>
              <a:gd fmla="val 50000" name="adj2"/>
            </a:avLst>
          </a:prstGeom>
          <a:solidFill>
            <a:srgbClr val="99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400">
                <a:latin typeface="Caveat"/>
                <a:ea typeface="Caveat"/>
                <a:cs typeface="Caveat"/>
                <a:sym typeface="Caveat"/>
              </a:rPr>
              <a:t>.</a:t>
            </a:r>
            <a:r>
              <a:rPr lang="en-GB" sz="2400">
                <a:latin typeface="Caveat"/>
                <a:ea typeface="Caveat"/>
                <a:cs typeface="Caveat"/>
                <a:sym typeface="Caveat"/>
              </a:rPr>
              <a:t>𝓘</a:t>
            </a:r>
            <a:endParaRPr sz="2400">
              <a:latin typeface="Caveat"/>
              <a:ea typeface="Caveat"/>
              <a:cs typeface="Caveat"/>
              <a:sym typeface="Caveat"/>
            </a:endParaRPr>
          </a:p>
        </p:txBody>
      </p:sp>
      <p:cxnSp>
        <p:nvCxnSpPr>
          <p:cNvPr id="365" name="Google Shape;365;p54"/>
          <p:cNvCxnSpPr/>
          <p:nvPr/>
        </p:nvCxnSpPr>
        <p:spPr>
          <a:xfrm>
            <a:off x="1186975" y="2773140"/>
            <a:ext cx="5913900" cy="0"/>
          </a:xfrm>
          <a:prstGeom prst="straightConnector1">
            <a:avLst/>
          </a:prstGeom>
          <a:noFill/>
          <a:ln cap="flat" cmpd="sng" w="9525">
            <a:solidFill>
              <a:srgbClr val="595959"/>
            </a:solidFill>
            <a:prstDash val="solid"/>
            <a:round/>
            <a:headEnd len="med" w="med" type="none"/>
            <a:tailEnd len="med" w="med" type="none"/>
          </a:ln>
        </p:spPr>
      </p:cxnSp>
      <p:sp>
        <p:nvSpPr>
          <p:cNvPr id="366" name="Google Shape;366;p54"/>
          <p:cNvSpPr/>
          <p:nvPr/>
        </p:nvSpPr>
        <p:spPr>
          <a:xfrm>
            <a:off x="1581500" y="3471075"/>
            <a:ext cx="4431300" cy="16833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600"/>
          </a:p>
        </p:txBody>
      </p:sp>
      <p:sp>
        <p:nvSpPr>
          <p:cNvPr id="367" name="Google Shape;367;p54"/>
          <p:cNvSpPr/>
          <p:nvPr/>
        </p:nvSpPr>
        <p:spPr>
          <a:xfrm>
            <a:off x="3532125" y="3850950"/>
            <a:ext cx="1380000" cy="834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solidFill>
                  <a:srgbClr val="666666"/>
                </a:solidFill>
              </a:rPr>
              <a:t>С</a:t>
            </a:r>
            <a:r>
              <a:rPr baseline="30000" lang="en-GB" sz="2400">
                <a:solidFill>
                  <a:srgbClr val="666666"/>
                </a:solidFill>
              </a:rPr>
              <a:t>𝓘</a:t>
            </a:r>
            <a:endParaRPr baseline="30000" sz="2400">
              <a:solidFill>
                <a:srgbClr val="666666"/>
              </a:solidFill>
            </a:endParaRPr>
          </a:p>
        </p:txBody>
      </p:sp>
      <p:sp>
        <p:nvSpPr>
          <p:cNvPr id="368" name="Google Shape;368;p54"/>
          <p:cNvSpPr/>
          <p:nvPr/>
        </p:nvSpPr>
        <p:spPr>
          <a:xfrm>
            <a:off x="3424425" y="48177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4"/>
          <p:cNvSpPr/>
          <p:nvPr/>
        </p:nvSpPr>
        <p:spPr>
          <a:xfrm>
            <a:off x="3805425" y="48177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4"/>
          <p:cNvSpPr/>
          <p:nvPr/>
        </p:nvSpPr>
        <p:spPr>
          <a:xfrm>
            <a:off x="4262625" y="48177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4"/>
          <p:cNvSpPr/>
          <p:nvPr/>
        </p:nvSpPr>
        <p:spPr>
          <a:xfrm>
            <a:off x="4796025" y="47415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4"/>
          <p:cNvSpPr/>
          <p:nvPr/>
        </p:nvSpPr>
        <p:spPr>
          <a:xfrm>
            <a:off x="5253225" y="46653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 name="Google Shape;373;p54"/>
          <p:cNvCxnSpPr>
            <a:stCxn id="368" idx="4"/>
            <a:endCxn id="369" idx="3"/>
          </p:cNvCxnSpPr>
          <p:nvPr/>
        </p:nvCxnSpPr>
        <p:spPr>
          <a:xfrm rot="-5400000">
            <a:off x="3660825" y="4830175"/>
            <a:ext cx="27000" cy="315900"/>
          </a:xfrm>
          <a:prstGeom prst="curvedConnector3">
            <a:avLst>
              <a:gd fmla="val -881944" name="adj1"/>
            </a:avLst>
          </a:prstGeom>
          <a:noFill/>
          <a:ln cap="flat" cmpd="sng" w="9525">
            <a:solidFill>
              <a:srgbClr val="595959"/>
            </a:solidFill>
            <a:prstDash val="solid"/>
            <a:round/>
            <a:headEnd len="med" w="med" type="none"/>
            <a:tailEnd len="med" w="med" type="none"/>
          </a:ln>
        </p:spPr>
      </p:cxnSp>
      <p:cxnSp>
        <p:nvCxnSpPr>
          <p:cNvPr id="374" name="Google Shape;374;p54"/>
          <p:cNvCxnSpPr>
            <a:stCxn id="370" idx="4"/>
            <a:endCxn id="372" idx="4"/>
          </p:cNvCxnSpPr>
          <p:nvPr/>
        </p:nvCxnSpPr>
        <p:spPr>
          <a:xfrm rot="-5400000">
            <a:off x="4773675" y="4430125"/>
            <a:ext cx="152400" cy="990600"/>
          </a:xfrm>
          <a:prstGeom prst="curvedConnector3">
            <a:avLst>
              <a:gd fmla="val -156250" name="adj1"/>
            </a:avLst>
          </a:prstGeom>
          <a:noFill/>
          <a:ln cap="flat" cmpd="sng" w="9525">
            <a:solidFill>
              <a:srgbClr val="595959"/>
            </a:solidFill>
            <a:prstDash val="solid"/>
            <a:round/>
            <a:headEnd len="med" w="med" type="none"/>
            <a:tailEnd len="med" w="med" type="none"/>
          </a:ln>
        </p:spPr>
      </p:cxnSp>
      <p:cxnSp>
        <p:nvCxnSpPr>
          <p:cNvPr id="375" name="Google Shape;375;p54"/>
          <p:cNvCxnSpPr>
            <a:stCxn id="368" idx="4"/>
            <a:endCxn id="371" idx="3"/>
          </p:cNvCxnSpPr>
          <p:nvPr/>
        </p:nvCxnSpPr>
        <p:spPr>
          <a:xfrm rot="-5400000">
            <a:off x="4118025" y="4296775"/>
            <a:ext cx="103200" cy="1306500"/>
          </a:xfrm>
          <a:prstGeom prst="curvedConnector3">
            <a:avLst>
              <a:gd fmla="val -230741" name="adj1"/>
            </a:avLst>
          </a:prstGeom>
          <a:noFill/>
          <a:ln cap="flat" cmpd="sng" w="9525">
            <a:solidFill>
              <a:srgbClr val="595959"/>
            </a:solidFill>
            <a:prstDash val="solid"/>
            <a:round/>
            <a:headEnd len="med" w="med" type="none"/>
            <a:tailEnd len="med" w="med" type="none"/>
          </a:ln>
        </p:spPr>
      </p:cxnSp>
      <p:sp>
        <p:nvSpPr>
          <p:cNvPr id="376" name="Google Shape;376;p54"/>
          <p:cNvSpPr/>
          <p:nvPr/>
        </p:nvSpPr>
        <p:spPr>
          <a:xfrm>
            <a:off x="1879125" y="2458525"/>
            <a:ext cx="503100" cy="1739700"/>
          </a:xfrm>
          <a:prstGeom prst="downArrow">
            <a:avLst>
              <a:gd fmla="val 50000" name="adj1"/>
              <a:gd fmla="val 50000" name="adj2"/>
            </a:avLst>
          </a:prstGeom>
          <a:solidFill>
            <a:srgbClr val="D9D9D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4"/>
          <p:cNvSpPr/>
          <p:nvPr/>
        </p:nvSpPr>
        <p:spPr>
          <a:xfrm>
            <a:off x="546350" y="1639025"/>
            <a:ext cx="2631000" cy="963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400">
                <a:solidFill>
                  <a:srgbClr val="666666"/>
                </a:solidFill>
              </a:rPr>
              <a:t>Tên các phần tử</a:t>
            </a:r>
            <a:endParaRPr sz="2400">
              <a:solidFill>
                <a:srgbClr val="666666"/>
              </a:solidFill>
            </a:endParaRPr>
          </a:p>
          <a:p>
            <a:pPr indent="0" lvl="0" marL="0" rtl="0" algn="ctr">
              <a:lnSpc>
                <a:spcPct val="115000"/>
              </a:lnSpc>
              <a:spcBef>
                <a:spcPts val="0"/>
              </a:spcBef>
              <a:spcAft>
                <a:spcPts val="0"/>
              </a:spcAft>
              <a:buNone/>
            </a:pPr>
            <a:r>
              <a:rPr lang="en-GB" sz="2400">
                <a:solidFill>
                  <a:srgbClr val="666666"/>
                </a:solidFill>
              </a:rPr>
              <a:t>....a.....</a:t>
            </a:r>
            <a:endParaRPr sz="2400">
              <a:solidFill>
                <a:srgbClr val="666666"/>
              </a:solidFill>
            </a:endParaRPr>
          </a:p>
        </p:txBody>
      </p:sp>
      <p:sp>
        <p:nvSpPr>
          <p:cNvPr id="378" name="Google Shape;378;p54"/>
          <p:cNvSpPr/>
          <p:nvPr/>
        </p:nvSpPr>
        <p:spPr>
          <a:xfrm>
            <a:off x="3860325" y="2514925"/>
            <a:ext cx="503100" cy="1335900"/>
          </a:xfrm>
          <a:prstGeom prst="downArrow">
            <a:avLst>
              <a:gd fmla="val 50000" name="adj1"/>
              <a:gd fmla="val 50000" name="adj2"/>
            </a:avLst>
          </a:prstGeom>
          <a:solidFill>
            <a:srgbClr val="D9D9D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4"/>
          <p:cNvSpPr/>
          <p:nvPr/>
        </p:nvSpPr>
        <p:spPr>
          <a:xfrm>
            <a:off x="3213350" y="1639025"/>
            <a:ext cx="2631000" cy="963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54000" wrap="square" tIns="91425">
            <a:noAutofit/>
          </a:bodyPr>
          <a:lstStyle/>
          <a:p>
            <a:pPr indent="0" lvl="0" marL="0" rtl="0" algn="ctr">
              <a:lnSpc>
                <a:spcPct val="115000"/>
              </a:lnSpc>
              <a:spcBef>
                <a:spcPts val="0"/>
              </a:spcBef>
              <a:spcAft>
                <a:spcPts val="0"/>
              </a:spcAft>
              <a:buNone/>
            </a:pPr>
            <a:r>
              <a:rPr lang="en-GB" sz="2400">
                <a:solidFill>
                  <a:srgbClr val="666666"/>
                </a:solidFill>
              </a:rPr>
              <a:t>Tên các khái niệm</a:t>
            </a:r>
            <a:endParaRPr sz="2400">
              <a:solidFill>
                <a:srgbClr val="666666"/>
              </a:solidFill>
            </a:endParaRPr>
          </a:p>
          <a:p>
            <a:pPr indent="0" lvl="0" marL="0" rtl="0" algn="ctr">
              <a:lnSpc>
                <a:spcPct val="115000"/>
              </a:lnSpc>
              <a:spcBef>
                <a:spcPts val="0"/>
              </a:spcBef>
              <a:spcAft>
                <a:spcPts val="0"/>
              </a:spcAft>
              <a:buNone/>
            </a:pPr>
            <a:r>
              <a:rPr lang="en-GB" sz="2400">
                <a:solidFill>
                  <a:srgbClr val="666666"/>
                </a:solidFill>
              </a:rPr>
              <a:t>....C.....</a:t>
            </a:r>
            <a:endParaRPr sz="2400">
              <a:solidFill>
                <a:srgbClr val="666666"/>
              </a:solidFill>
            </a:endParaRPr>
          </a:p>
        </p:txBody>
      </p:sp>
      <p:sp>
        <p:nvSpPr>
          <p:cNvPr id="380" name="Google Shape;380;p54"/>
          <p:cNvSpPr/>
          <p:nvPr/>
        </p:nvSpPr>
        <p:spPr>
          <a:xfrm>
            <a:off x="3119625" y="48177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4"/>
          <p:cNvSpPr/>
          <p:nvPr/>
        </p:nvSpPr>
        <p:spPr>
          <a:xfrm>
            <a:off x="3220525" y="4845175"/>
            <a:ext cx="2185350" cy="718875"/>
          </a:xfrm>
          <a:custGeom>
            <a:rect b="b" l="l" r="r" t="t"/>
            <a:pathLst>
              <a:path extrusionOk="0" h="28755" w="87414">
                <a:moveTo>
                  <a:pt x="0" y="6901"/>
                </a:moveTo>
                <a:lnTo>
                  <a:pt x="5751" y="18403"/>
                </a:lnTo>
                <a:lnTo>
                  <a:pt x="14377" y="24154"/>
                </a:lnTo>
                <a:lnTo>
                  <a:pt x="35656" y="28755"/>
                </a:lnTo>
                <a:lnTo>
                  <a:pt x="74187" y="25879"/>
                </a:lnTo>
                <a:lnTo>
                  <a:pt x="87414" y="12077"/>
                </a:lnTo>
                <a:lnTo>
                  <a:pt x="86839" y="0"/>
                </a:lnTo>
              </a:path>
            </a:pathLst>
          </a:custGeom>
          <a:noFill/>
          <a:ln cap="flat" cmpd="sng" w="9525">
            <a:solidFill>
              <a:schemeClr val="dk2"/>
            </a:solidFill>
            <a:prstDash val="solid"/>
            <a:round/>
            <a:headEnd len="med" w="med" type="none"/>
            <a:tailEnd len="med" w="med" type="none"/>
          </a:ln>
        </p:spPr>
      </p:sp>
      <p:sp>
        <p:nvSpPr>
          <p:cNvPr id="382" name="Google Shape;382;p54"/>
          <p:cNvSpPr/>
          <p:nvPr/>
        </p:nvSpPr>
        <p:spPr>
          <a:xfrm flipH="1" rot="-5400000">
            <a:off x="5452975" y="3150475"/>
            <a:ext cx="2099100" cy="9726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4"/>
          <p:cNvSpPr/>
          <p:nvPr/>
        </p:nvSpPr>
        <p:spPr>
          <a:xfrm>
            <a:off x="2052825" y="4208125"/>
            <a:ext cx="183900" cy="183900"/>
          </a:xfrm>
          <a:prstGeom prst="ellipse">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4"/>
          <p:cNvSpPr txBox="1"/>
          <p:nvPr/>
        </p:nvSpPr>
        <p:spPr>
          <a:xfrm>
            <a:off x="2306025" y="3920700"/>
            <a:ext cx="579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2"/>
                </a:solidFill>
              </a:rPr>
              <a:t>α</a:t>
            </a:r>
            <a:r>
              <a:rPr baseline="30000" lang="en-GB" sz="2600">
                <a:solidFill>
                  <a:schemeClr val="dk2"/>
                </a:solidFill>
              </a:rPr>
              <a:t>𝓘</a:t>
            </a:r>
            <a:endParaRPr/>
          </a:p>
        </p:txBody>
      </p:sp>
      <p:sp>
        <p:nvSpPr>
          <p:cNvPr id="385" name="Google Shape;385;p54"/>
          <p:cNvSpPr txBox="1"/>
          <p:nvPr/>
        </p:nvSpPr>
        <p:spPr>
          <a:xfrm>
            <a:off x="2915625" y="3463500"/>
            <a:ext cx="579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600">
                <a:solidFill>
                  <a:schemeClr val="dk2"/>
                </a:solidFill>
              </a:rPr>
              <a:t>∆</a:t>
            </a:r>
            <a:r>
              <a:rPr baseline="30000" lang="en-GB" sz="2600">
                <a:solidFill>
                  <a:schemeClr val="dk2"/>
                </a:solidFill>
              </a:rPr>
              <a:t>𝓘</a:t>
            </a:r>
            <a:endParaRPr/>
          </a:p>
        </p:txBody>
      </p:sp>
      <p:sp>
        <p:nvSpPr>
          <p:cNvPr id="386" name="Google Shape;386;p54"/>
          <p:cNvSpPr txBox="1"/>
          <p:nvPr/>
        </p:nvSpPr>
        <p:spPr>
          <a:xfrm>
            <a:off x="4225402" y="5106832"/>
            <a:ext cx="579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2"/>
                </a:solidFill>
              </a:rPr>
              <a:t>r</a:t>
            </a:r>
            <a:r>
              <a:rPr baseline="30000" lang="en-GB" sz="2600">
                <a:solidFill>
                  <a:schemeClr val="dk2"/>
                </a:solidFill>
              </a:rPr>
              <a:t>𝓘</a:t>
            </a:r>
            <a:endParaRPr/>
          </a:p>
        </p:txBody>
      </p:sp>
      <p:sp>
        <p:nvSpPr>
          <p:cNvPr id="387" name="Google Shape;387;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6.3. Các biểu diễn</a:t>
            </a:r>
            <a:endParaRPr/>
          </a:p>
        </p:txBody>
      </p:sp>
      <p:sp>
        <p:nvSpPr>
          <p:cNvPr id="393" name="Google Shape;393;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4" name="Google Shape;394;p55"/>
          <p:cNvSpPr txBox="1"/>
          <p:nvPr/>
        </p:nvSpPr>
        <p:spPr>
          <a:xfrm>
            <a:off x="291350" y="1397950"/>
            <a:ext cx="4887300" cy="10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S</a:t>
            </a:r>
            <a:r>
              <a:rPr baseline="-25000" lang="en-GB" sz="1600">
                <a:solidFill>
                  <a:srgbClr val="434343"/>
                </a:solidFill>
              </a:rPr>
              <a:t>I</a:t>
            </a:r>
            <a:r>
              <a:rPr lang="en-GB" sz="1600">
                <a:solidFill>
                  <a:srgbClr val="434343"/>
                </a:solidFill>
              </a:rPr>
              <a:t> = {sun, moring_star, evening_star, moon, home}.</a:t>
            </a:r>
            <a:endParaRPr sz="1600">
              <a:solidFill>
                <a:srgbClr val="434343"/>
              </a:solidFill>
            </a:endParaRPr>
          </a:p>
          <a:p>
            <a:pPr indent="0" lvl="0" marL="0" rtl="0" algn="l">
              <a:spcBef>
                <a:spcPts val="0"/>
              </a:spcBef>
              <a:spcAft>
                <a:spcPts val="0"/>
              </a:spcAft>
              <a:buNone/>
            </a:pPr>
            <a:r>
              <a:rPr lang="en-GB" sz="1600">
                <a:solidFill>
                  <a:srgbClr val="434343"/>
                </a:solidFill>
              </a:rPr>
              <a:t>S</a:t>
            </a:r>
            <a:r>
              <a:rPr baseline="-25000" lang="en-GB" sz="1600">
                <a:solidFill>
                  <a:srgbClr val="434343"/>
                </a:solidFill>
              </a:rPr>
              <a:t>C</a:t>
            </a:r>
            <a:r>
              <a:rPr lang="en-GB" sz="1600">
                <a:solidFill>
                  <a:srgbClr val="434343"/>
                </a:solidFill>
              </a:rPr>
              <a:t> = {Planet, Star}</a:t>
            </a:r>
            <a:endParaRPr sz="1600">
              <a:solidFill>
                <a:srgbClr val="434343"/>
              </a:solidFill>
            </a:endParaRPr>
          </a:p>
          <a:p>
            <a:pPr indent="0" lvl="0" marL="0" rtl="0" algn="l">
              <a:spcBef>
                <a:spcPts val="0"/>
              </a:spcBef>
              <a:spcAft>
                <a:spcPts val="0"/>
              </a:spcAft>
              <a:buNone/>
            </a:pPr>
            <a:r>
              <a:rPr lang="en-GB" sz="1600">
                <a:solidFill>
                  <a:srgbClr val="434343"/>
                </a:solidFill>
              </a:rPr>
              <a:t>S</a:t>
            </a:r>
            <a:r>
              <a:rPr baseline="-25000" lang="en-GB" sz="1600">
                <a:solidFill>
                  <a:srgbClr val="434343"/>
                </a:solidFill>
              </a:rPr>
              <a:t>R</a:t>
            </a:r>
            <a:r>
              <a:rPr lang="en-GB" sz="1600">
                <a:solidFill>
                  <a:srgbClr val="434343"/>
                </a:solidFill>
              </a:rPr>
              <a:t> = {orbitAround, shinesOn}</a:t>
            </a:r>
            <a:endParaRPr sz="1600">
              <a:solidFill>
                <a:srgbClr val="434343"/>
              </a:solidFill>
            </a:endParaRPr>
          </a:p>
        </p:txBody>
      </p:sp>
      <p:sp>
        <p:nvSpPr>
          <p:cNvPr id="395" name="Google Shape;395;p55"/>
          <p:cNvSpPr txBox="1"/>
          <p:nvPr/>
        </p:nvSpPr>
        <p:spPr>
          <a:xfrm>
            <a:off x="311700" y="2454925"/>
            <a:ext cx="5454300" cy="36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𝜟</a:t>
            </a:r>
            <a:r>
              <a:rPr baseline="30000" lang="en-GB" sz="1600">
                <a:solidFill>
                  <a:srgbClr val="434343"/>
                </a:solidFill>
              </a:rPr>
              <a:t>𝓘</a:t>
            </a:r>
            <a:r>
              <a:rPr lang="en-GB" sz="1600">
                <a:solidFill>
                  <a:srgbClr val="434343"/>
                </a:solidFill>
              </a:rPr>
              <a:t> = {☉, ☿, ♀,♁, ☾, ♂, ♃, ♄, ⛢, ♆}</a:t>
            </a:r>
            <a:endParaRPr sz="1600">
              <a:solidFill>
                <a:srgbClr val="434343"/>
              </a:solidFill>
            </a:endParaRPr>
          </a:p>
          <a:p>
            <a:pPr indent="0" lvl="0" marL="0" rtl="0" algn="l">
              <a:spcBef>
                <a:spcPts val="0"/>
              </a:spcBef>
              <a:spcAft>
                <a:spcPts val="0"/>
              </a:spcAft>
              <a:buNone/>
            </a:pPr>
            <a:r>
              <a:t/>
            </a:r>
            <a:endParaRPr sz="1600">
              <a:solidFill>
                <a:srgbClr val="434343"/>
              </a:solidFill>
            </a:endParaRPr>
          </a:p>
          <a:p>
            <a:pPr indent="0" lvl="0" marL="0" rtl="0" algn="l">
              <a:spcBef>
                <a:spcPts val="0"/>
              </a:spcBef>
              <a:spcAft>
                <a:spcPts val="0"/>
              </a:spcAft>
              <a:buNone/>
            </a:pPr>
            <a:r>
              <a:rPr lang="en-GB" sz="1600">
                <a:solidFill>
                  <a:srgbClr val="434343"/>
                </a:solidFill>
              </a:rPr>
              <a:t>sun</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rPr lang="en-GB" sz="1600">
                <a:solidFill>
                  <a:srgbClr val="434343"/>
                </a:solidFill>
              </a:rPr>
              <a:t>morning_star</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rPr lang="en-GB" sz="1600">
                <a:solidFill>
                  <a:srgbClr val="434343"/>
                </a:solidFill>
              </a:rPr>
              <a:t>evening_star</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rPr lang="en-GB" sz="1600">
                <a:solidFill>
                  <a:srgbClr val="434343"/>
                </a:solidFill>
              </a:rPr>
              <a:t>moon</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rPr lang="en-GB" sz="1600">
                <a:solidFill>
                  <a:srgbClr val="434343"/>
                </a:solidFill>
              </a:rPr>
              <a:t>home</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t/>
            </a:r>
            <a:endParaRPr sz="1600">
              <a:solidFill>
                <a:srgbClr val="434343"/>
              </a:solidFill>
            </a:endParaRPr>
          </a:p>
          <a:p>
            <a:pPr indent="0" lvl="0" marL="0" rtl="0" algn="l">
              <a:spcBef>
                <a:spcPts val="0"/>
              </a:spcBef>
              <a:spcAft>
                <a:spcPts val="0"/>
              </a:spcAft>
              <a:buNone/>
            </a:pPr>
            <a:r>
              <a:rPr lang="en-GB" sz="1600">
                <a:solidFill>
                  <a:srgbClr val="434343"/>
                </a:solidFill>
              </a:rPr>
              <a:t>Planet</a:t>
            </a:r>
            <a:r>
              <a:rPr baseline="30000" lang="en-GB" sz="1600">
                <a:solidFill>
                  <a:srgbClr val="434343"/>
                </a:solidFill>
              </a:rPr>
              <a:t>𝓘</a:t>
            </a:r>
            <a:r>
              <a:rPr lang="en-GB" sz="1600">
                <a:solidFill>
                  <a:srgbClr val="434343"/>
                </a:solidFill>
              </a:rPr>
              <a:t> = {☿, ♀,♁, ♂, ♃, ♄, ⛢, ♆}</a:t>
            </a:r>
            <a:endParaRPr sz="1600">
              <a:solidFill>
                <a:srgbClr val="434343"/>
              </a:solidFill>
            </a:endParaRPr>
          </a:p>
          <a:p>
            <a:pPr indent="0" lvl="0" marL="0" rtl="0" algn="l">
              <a:spcBef>
                <a:spcPts val="0"/>
              </a:spcBef>
              <a:spcAft>
                <a:spcPts val="0"/>
              </a:spcAft>
              <a:buNone/>
            </a:pPr>
            <a:r>
              <a:rPr lang="en-GB" sz="1600">
                <a:solidFill>
                  <a:srgbClr val="434343"/>
                </a:solidFill>
              </a:rPr>
              <a:t>Star</a:t>
            </a:r>
            <a:r>
              <a:rPr baseline="30000" lang="en-GB" sz="1600">
                <a:solidFill>
                  <a:srgbClr val="434343"/>
                </a:solidFill>
              </a:rPr>
              <a:t>𝓘</a:t>
            </a:r>
            <a:r>
              <a:rPr lang="en-GB" sz="1600">
                <a:solidFill>
                  <a:srgbClr val="434343"/>
                </a:solidFill>
              </a:rPr>
              <a:t> = {☉}</a:t>
            </a:r>
            <a:endParaRPr sz="1600">
              <a:solidFill>
                <a:srgbClr val="434343"/>
              </a:solidFill>
            </a:endParaRPr>
          </a:p>
          <a:p>
            <a:pPr indent="0" lvl="0" marL="0" rtl="0" algn="l">
              <a:spcBef>
                <a:spcPts val="0"/>
              </a:spcBef>
              <a:spcAft>
                <a:spcPts val="0"/>
              </a:spcAft>
              <a:buNone/>
            </a:pPr>
            <a:r>
              <a:rPr lang="en-GB" sz="1600">
                <a:solidFill>
                  <a:srgbClr val="434343"/>
                </a:solidFill>
              </a:rPr>
              <a:t>orbitsAround</a:t>
            </a:r>
            <a:r>
              <a:rPr baseline="30000" lang="en-GB" sz="1600">
                <a:solidFill>
                  <a:srgbClr val="434343"/>
                </a:solidFill>
              </a:rPr>
              <a:t>𝓘</a:t>
            </a:r>
            <a:r>
              <a:rPr lang="en-GB" sz="1600">
                <a:solidFill>
                  <a:srgbClr val="434343"/>
                </a:solidFill>
              </a:rPr>
              <a:t> = {&lt;☿, ☉&gt;, &lt;♀, ☉&gt;,&lt;♁, ☉&gt;, &lt;♂, ☉&gt;, </a:t>
            </a:r>
            <a:endParaRPr sz="1600">
              <a:solidFill>
                <a:srgbClr val="434343"/>
              </a:solidFill>
            </a:endParaRPr>
          </a:p>
          <a:p>
            <a:pPr indent="0" lvl="0" marL="0" rtl="0" algn="l">
              <a:spcBef>
                <a:spcPts val="0"/>
              </a:spcBef>
              <a:spcAft>
                <a:spcPts val="0"/>
              </a:spcAft>
              <a:buNone/>
            </a:pPr>
            <a:r>
              <a:rPr lang="en-GB" sz="1600">
                <a:solidFill>
                  <a:srgbClr val="434343"/>
                </a:solidFill>
              </a:rPr>
              <a:t>&lt;♃, ☉&gt;, &lt;♄, ☉&gt;, &lt;⛢, ☉&gt;, &lt;♆, ☉&gt;, &lt;☾, ♁&gt;}</a:t>
            </a:r>
            <a:endParaRPr sz="1600">
              <a:solidFill>
                <a:srgbClr val="434343"/>
              </a:solidFill>
            </a:endParaRPr>
          </a:p>
          <a:p>
            <a:pPr indent="0" lvl="0" marL="0" rtl="0" algn="l">
              <a:spcBef>
                <a:spcPts val="0"/>
              </a:spcBef>
              <a:spcAft>
                <a:spcPts val="0"/>
              </a:spcAft>
              <a:buNone/>
            </a:pPr>
            <a:r>
              <a:rPr lang="en-GB" sz="1600">
                <a:solidFill>
                  <a:srgbClr val="434343"/>
                </a:solidFill>
              </a:rPr>
              <a:t>shinesOn</a:t>
            </a:r>
            <a:r>
              <a:rPr baseline="30000" lang="en-GB" sz="1600">
                <a:solidFill>
                  <a:srgbClr val="434343"/>
                </a:solidFill>
              </a:rPr>
              <a:t>𝓘</a:t>
            </a:r>
            <a:r>
              <a:rPr lang="en-GB" sz="1600">
                <a:solidFill>
                  <a:srgbClr val="434343"/>
                </a:solidFill>
              </a:rPr>
              <a:t> = {&lt;☉, ☿&gt;, &lt;☉, ♀&gt;,&lt;☉, ♁&gt;, &lt;☉, ♂&gt;, </a:t>
            </a:r>
            <a:endParaRPr sz="1600">
              <a:solidFill>
                <a:srgbClr val="434343"/>
              </a:solidFill>
            </a:endParaRPr>
          </a:p>
          <a:p>
            <a:pPr indent="0" lvl="0" marL="0" rtl="0" algn="l">
              <a:spcBef>
                <a:spcPts val="0"/>
              </a:spcBef>
              <a:spcAft>
                <a:spcPts val="0"/>
              </a:spcAft>
              <a:buClr>
                <a:schemeClr val="dk1"/>
              </a:buClr>
              <a:buSzPts val="1100"/>
              <a:buFont typeface="Arial"/>
              <a:buNone/>
            </a:pPr>
            <a:r>
              <a:rPr lang="en-GB" sz="1600">
                <a:solidFill>
                  <a:srgbClr val="434343"/>
                </a:solidFill>
              </a:rPr>
              <a:t>  &lt;☉, ♃&gt;, &lt;☉, ♄&gt;, &lt;☉, ⛢&gt;, &lt;☉, ♆&gt;,&lt;☉, ☾&gt;, &lt;☉, ♁&gt; }</a:t>
            </a:r>
            <a:endParaRPr sz="1600">
              <a:solidFill>
                <a:srgbClr val="434343"/>
              </a:solidFill>
            </a:endParaRPr>
          </a:p>
        </p:txBody>
      </p:sp>
      <p:sp>
        <p:nvSpPr>
          <p:cNvPr id="396" name="Google Shape;396;p55"/>
          <p:cNvSpPr txBox="1"/>
          <p:nvPr/>
        </p:nvSpPr>
        <p:spPr>
          <a:xfrm>
            <a:off x="4731975" y="1862475"/>
            <a:ext cx="149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morning_star</a:t>
            </a:r>
            <a:endParaRPr/>
          </a:p>
          <a:p>
            <a:pPr indent="0" lvl="0" marL="0" rtl="0" algn="l">
              <a:spcBef>
                <a:spcPts val="0"/>
              </a:spcBef>
              <a:spcAft>
                <a:spcPts val="0"/>
              </a:spcAft>
              <a:buNone/>
            </a:pPr>
            <a:r>
              <a:rPr lang="en-GB"/>
              <a:t>evening_star</a:t>
            </a:r>
            <a:endParaRPr/>
          </a:p>
        </p:txBody>
      </p:sp>
      <p:sp>
        <p:nvSpPr>
          <p:cNvPr id="397" name="Google Shape;397;p55"/>
          <p:cNvSpPr/>
          <p:nvPr/>
        </p:nvSpPr>
        <p:spPr>
          <a:xfrm>
            <a:off x="5686425" y="2372775"/>
            <a:ext cx="384300" cy="351000"/>
          </a:xfrm>
          <a:prstGeom prst="ellipse">
            <a:avLst/>
          </a:prstGeom>
          <a:noFill/>
          <a:ln>
            <a:noFill/>
          </a:ln>
        </p:spPr>
        <p:txBody>
          <a:bodyPr anchorCtr="0" anchor="ctr" bIns="18000" lIns="18000" spcFirstLastPara="1" rIns="18000" wrap="square" tIns="18000">
            <a:noAutofit/>
          </a:bodyPr>
          <a:lstStyle/>
          <a:p>
            <a:pPr indent="0" lvl="0" marL="0" rtl="0" algn="ctr">
              <a:spcBef>
                <a:spcPts val="0"/>
              </a:spcBef>
              <a:spcAft>
                <a:spcPts val="0"/>
              </a:spcAft>
              <a:buClr>
                <a:schemeClr val="dk1"/>
              </a:buClr>
              <a:buSzPts val="1100"/>
              <a:buFont typeface="Arial"/>
              <a:buNone/>
            </a:pPr>
            <a:r>
              <a:rPr lang="en-GB" sz="2400">
                <a:solidFill>
                  <a:srgbClr val="434343"/>
                </a:solidFill>
              </a:rPr>
              <a:t>♀</a:t>
            </a:r>
            <a:endParaRPr sz="2400"/>
          </a:p>
        </p:txBody>
      </p:sp>
      <p:sp>
        <p:nvSpPr>
          <p:cNvPr id="398" name="Google Shape;398;p55"/>
          <p:cNvSpPr/>
          <p:nvPr/>
        </p:nvSpPr>
        <p:spPr>
          <a:xfrm>
            <a:off x="6391932" y="3810722"/>
            <a:ext cx="384300" cy="351000"/>
          </a:xfrm>
          <a:prstGeom prst="ellipse">
            <a:avLst/>
          </a:prstGeom>
          <a:no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2400">
                <a:solidFill>
                  <a:srgbClr val="434343"/>
                </a:solidFill>
              </a:rPr>
              <a:t>☉</a:t>
            </a:r>
            <a:endParaRPr sz="2400"/>
          </a:p>
        </p:txBody>
      </p:sp>
      <p:sp>
        <p:nvSpPr>
          <p:cNvPr id="399" name="Google Shape;399;p55"/>
          <p:cNvSpPr/>
          <p:nvPr/>
        </p:nvSpPr>
        <p:spPr>
          <a:xfrm>
            <a:off x="7611132" y="3810722"/>
            <a:ext cx="384300" cy="351000"/>
          </a:xfrm>
          <a:prstGeom prst="ellipse">
            <a:avLst/>
          </a:prstGeom>
          <a:no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2400">
                <a:solidFill>
                  <a:srgbClr val="434343"/>
                </a:solidFill>
              </a:rPr>
              <a:t>♁</a:t>
            </a:r>
            <a:endParaRPr sz="2400"/>
          </a:p>
        </p:txBody>
      </p:sp>
      <p:sp>
        <p:nvSpPr>
          <p:cNvPr id="400" name="Google Shape;400;p55"/>
          <p:cNvSpPr/>
          <p:nvPr/>
        </p:nvSpPr>
        <p:spPr>
          <a:xfrm>
            <a:off x="8144532" y="4267922"/>
            <a:ext cx="384300" cy="351000"/>
          </a:xfrm>
          <a:prstGeom prst="ellipse">
            <a:avLst/>
          </a:prstGeom>
          <a:no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2400">
                <a:solidFill>
                  <a:srgbClr val="434343"/>
                </a:solidFill>
              </a:rPr>
              <a:t>☾</a:t>
            </a:r>
            <a:endParaRPr sz="2400"/>
          </a:p>
        </p:txBody>
      </p:sp>
      <p:sp>
        <p:nvSpPr>
          <p:cNvPr id="401" name="Google Shape;401;p55"/>
          <p:cNvSpPr txBox="1"/>
          <p:nvPr/>
        </p:nvSpPr>
        <p:spPr>
          <a:xfrm>
            <a:off x="7546775" y="3311500"/>
            <a:ext cx="7212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home</a:t>
            </a:r>
            <a:endParaRPr/>
          </a:p>
        </p:txBody>
      </p:sp>
      <p:sp>
        <p:nvSpPr>
          <p:cNvPr id="402" name="Google Shape;402;p55"/>
          <p:cNvSpPr txBox="1"/>
          <p:nvPr/>
        </p:nvSpPr>
        <p:spPr>
          <a:xfrm>
            <a:off x="8232575" y="4606900"/>
            <a:ext cx="7212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moon</a:t>
            </a:r>
            <a:endParaRPr/>
          </a:p>
        </p:txBody>
      </p:sp>
      <p:cxnSp>
        <p:nvCxnSpPr>
          <p:cNvPr id="403" name="Google Shape;403;p55"/>
          <p:cNvCxnSpPr>
            <a:stCxn id="398" idx="2"/>
            <a:endCxn id="397" idx="3"/>
          </p:cNvCxnSpPr>
          <p:nvPr/>
        </p:nvCxnSpPr>
        <p:spPr>
          <a:xfrm rot="10800000">
            <a:off x="5742732" y="2672522"/>
            <a:ext cx="649200" cy="1313700"/>
          </a:xfrm>
          <a:prstGeom prst="curvedConnector2">
            <a:avLst/>
          </a:prstGeom>
          <a:noFill/>
          <a:ln cap="flat" cmpd="sng" w="9525">
            <a:solidFill>
              <a:schemeClr val="dk2"/>
            </a:solidFill>
            <a:prstDash val="solid"/>
            <a:round/>
            <a:headEnd len="med" w="med" type="none"/>
            <a:tailEnd len="med" w="med" type="triangle"/>
          </a:ln>
        </p:spPr>
      </p:cxnSp>
      <p:cxnSp>
        <p:nvCxnSpPr>
          <p:cNvPr id="404" name="Google Shape;404;p55"/>
          <p:cNvCxnSpPr>
            <a:stCxn id="397" idx="6"/>
            <a:endCxn id="398" idx="0"/>
          </p:cNvCxnSpPr>
          <p:nvPr/>
        </p:nvCxnSpPr>
        <p:spPr>
          <a:xfrm>
            <a:off x="6070725" y="2548275"/>
            <a:ext cx="513300" cy="1262400"/>
          </a:xfrm>
          <a:prstGeom prst="curvedConnector2">
            <a:avLst/>
          </a:prstGeom>
          <a:noFill/>
          <a:ln cap="flat" cmpd="sng" w="9525">
            <a:solidFill>
              <a:schemeClr val="dk2"/>
            </a:solidFill>
            <a:prstDash val="solid"/>
            <a:round/>
            <a:headEnd len="med" w="med" type="none"/>
            <a:tailEnd len="med" w="med" type="stealth"/>
          </a:ln>
        </p:spPr>
      </p:cxnSp>
      <p:cxnSp>
        <p:nvCxnSpPr>
          <p:cNvPr id="405" name="Google Shape;405;p55"/>
          <p:cNvCxnSpPr>
            <a:stCxn id="398" idx="5"/>
            <a:endCxn id="399" idx="4"/>
          </p:cNvCxnSpPr>
          <p:nvPr/>
        </p:nvCxnSpPr>
        <p:spPr>
          <a:xfrm flipH="1" rot="-5400000">
            <a:off x="7235952" y="3594319"/>
            <a:ext cx="51300" cy="1083300"/>
          </a:xfrm>
          <a:prstGeom prst="curvedConnector3">
            <a:avLst>
              <a:gd fmla="val 564382" name="adj1"/>
            </a:avLst>
          </a:prstGeom>
          <a:noFill/>
          <a:ln cap="flat" cmpd="sng" w="9525">
            <a:solidFill>
              <a:schemeClr val="dk2"/>
            </a:solidFill>
            <a:prstDash val="solid"/>
            <a:round/>
            <a:headEnd len="med" w="med" type="none"/>
            <a:tailEnd len="med" w="med" type="triangle"/>
          </a:ln>
        </p:spPr>
      </p:cxnSp>
      <p:cxnSp>
        <p:nvCxnSpPr>
          <p:cNvPr id="406" name="Google Shape;406;p55"/>
          <p:cNvCxnSpPr>
            <a:stCxn id="398" idx="4"/>
            <a:endCxn id="400" idx="3"/>
          </p:cNvCxnSpPr>
          <p:nvPr/>
        </p:nvCxnSpPr>
        <p:spPr>
          <a:xfrm flipH="1" rot="-5400000">
            <a:off x="7189482" y="3556322"/>
            <a:ext cx="405900" cy="1616700"/>
          </a:xfrm>
          <a:prstGeom prst="curvedConnector3">
            <a:avLst>
              <a:gd fmla="val 171305" name="adj1"/>
            </a:avLst>
          </a:prstGeom>
          <a:noFill/>
          <a:ln cap="flat" cmpd="sng" w="9525">
            <a:solidFill>
              <a:schemeClr val="dk2"/>
            </a:solidFill>
            <a:prstDash val="solid"/>
            <a:round/>
            <a:headEnd len="med" w="med" type="none"/>
            <a:tailEnd len="med" w="med" type="triangle"/>
          </a:ln>
        </p:spPr>
      </p:cxnSp>
      <p:cxnSp>
        <p:nvCxnSpPr>
          <p:cNvPr id="407" name="Google Shape;407;p55"/>
          <p:cNvCxnSpPr>
            <a:stCxn id="399" idx="0"/>
            <a:endCxn id="398" idx="7"/>
          </p:cNvCxnSpPr>
          <p:nvPr/>
        </p:nvCxnSpPr>
        <p:spPr>
          <a:xfrm rot="5400000">
            <a:off x="7235982" y="3294722"/>
            <a:ext cx="51300" cy="1083300"/>
          </a:xfrm>
          <a:prstGeom prst="curvedConnector3">
            <a:avLst>
              <a:gd fmla="val -464181" name="adj1"/>
            </a:avLst>
          </a:prstGeom>
          <a:noFill/>
          <a:ln cap="flat" cmpd="sng" w="9525">
            <a:solidFill>
              <a:schemeClr val="dk2"/>
            </a:solidFill>
            <a:prstDash val="solid"/>
            <a:round/>
            <a:headEnd len="med" w="med" type="none"/>
            <a:tailEnd len="med" w="med" type="triangle"/>
          </a:ln>
        </p:spPr>
      </p:cxnSp>
      <p:cxnSp>
        <p:nvCxnSpPr>
          <p:cNvPr id="408" name="Google Shape;408;p55"/>
          <p:cNvCxnSpPr>
            <a:stCxn id="400" idx="0"/>
            <a:endCxn id="399" idx="6"/>
          </p:cNvCxnSpPr>
          <p:nvPr/>
        </p:nvCxnSpPr>
        <p:spPr>
          <a:xfrm flipH="1" rot="5400000">
            <a:off x="8025282" y="3956522"/>
            <a:ext cx="281700" cy="341100"/>
          </a:xfrm>
          <a:prstGeom prst="curvedConnector2">
            <a:avLst/>
          </a:prstGeom>
          <a:noFill/>
          <a:ln cap="flat" cmpd="sng" w="9525">
            <a:solidFill>
              <a:schemeClr val="dk2"/>
            </a:solidFill>
            <a:prstDash val="solid"/>
            <a:round/>
            <a:headEnd len="med" w="med" type="none"/>
            <a:tailEnd len="med" w="med" type="triangle"/>
          </a:ln>
        </p:spPr>
      </p:cxnSp>
      <p:sp>
        <p:nvSpPr>
          <p:cNvPr id="409" name="Google Shape;409;p55"/>
          <p:cNvSpPr txBox="1"/>
          <p:nvPr/>
        </p:nvSpPr>
        <p:spPr>
          <a:xfrm>
            <a:off x="5302125" y="4373025"/>
            <a:ext cx="5487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Star</a:t>
            </a:r>
            <a:endParaRPr/>
          </a:p>
        </p:txBody>
      </p:sp>
      <p:sp>
        <p:nvSpPr>
          <p:cNvPr id="410" name="Google Shape;410;p55"/>
          <p:cNvSpPr txBox="1"/>
          <p:nvPr/>
        </p:nvSpPr>
        <p:spPr>
          <a:xfrm>
            <a:off x="7359525" y="2696625"/>
            <a:ext cx="7851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Planet</a:t>
            </a:r>
            <a:endParaRPr/>
          </a:p>
        </p:txBody>
      </p:sp>
      <p:cxnSp>
        <p:nvCxnSpPr>
          <p:cNvPr id="411" name="Google Shape;411;p55"/>
          <p:cNvCxnSpPr>
            <a:stCxn id="397" idx="7"/>
            <a:endCxn id="410" idx="0"/>
          </p:cNvCxnSpPr>
          <p:nvPr/>
        </p:nvCxnSpPr>
        <p:spPr>
          <a:xfrm flipH="1" rot="-5400000">
            <a:off x="6747046" y="1691578"/>
            <a:ext cx="272400" cy="1737600"/>
          </a:xfrm>
          <a:prstGeom prst="curvedConnector3">
            <a:avLst>
              <a:gd fmla="val -106288" name="adj1"/>
            </a:avLst>
          </a:prstGeom>
          <a:noFill/>
          <a:ln cap="flat" cmpd="sng" w="9525">
            <a:solidFill>
              <a:schemeClr val="dk2"/>
            </a:solidFill>
            <a:prstDash val="solid"/>
            <a:round/>
            <a:headEnd len="med" w="med" type="none"/>
            <a:tailEnd len="med" w="med" type="stealth"/>
          </a:ln>
        </p:spPr>
      </p:cxnSp>
      <p:cxnSp>
        <p:nvCxnSpPr>
          <p:cNvPr id="412" name="Google Shape;412;p55"/>
          <p:cNvCxnSpPr>
            <a:stCxn id="399" idx="6"/>
            <a:endCxn id="410" idx="3"/>
          </p:cNvCxnSpPr>
          <p:nvPr/>
        </p:nvCxnSpPr>
        <p:spPr>
          <a:xfrm flipH="1" rot="10800000">
            <a:off x="7995432" y="2872022"/>
            <a:ext cx="149100" cy="1114200"/>
          </a:xfrm>
          <a:prstGeom prst="curvedConnector3">
            <a:avLst>
              <a:gd fmla="val 259771" name="adj1"/>
            </a:avLst>
          </a:prstGeom>
          <a:noFill/>
          <a:ln cap="flat" cmpd="sng" w="9525">
            <a:solidFill>
              <a:schemeClr val="dk2"/>
            </a:solidFill>
            <a:prstDash val="solid"/>
            <a:round/>
            <a:headEnd len="med" w="med" type="none"/>
            <a:tailEnd len="med" w="med" type="stealth"/>
          </a:ln>
        </p:spPr>
      </p:cxnSp>
      <p:cxnSp>
        <p:nvCxnSpPr>
          <p:cNvPr id="413" name="Google Shape;413;p55"/>
          <p:cNvCxnSpPr>
            <a:stCxn id="398" idx="3"/>
            <a:endCxn id="409" idx="3"/>
          </p:cNvCxnSpPr>
          <p:nvPr/>
        </p:nvCxnSpPr>
        <p:spPr>
          <a:xfrm rot="5400000">
            <a:off x="5930411" y="4030819"/>
            <a:ext cx="438300" cy="597300"/>
          </a:xfrm>
          <a:prstGeom prst="curvedConnector2">
            <a:avLst/>
          </a:prstGeom>
          <a:noFill/>
          <a:ln cap="flat" cmpd="sng" w="9525">
            <a:solidFill>
              <a:schemeClr val="dk2"/>
            </a:solidFill>
            <a:prstDash val="solid"/>
            <a:round/>
            <a:headEnd len="med" w="med" type="none"/>
            <a:tailEnd len="med" w="med" type="stealth"/>
          </a:ln>
        </p:spPr>
      </p:cxnSp>
      <p:sp>
        <p:nvSpPr>
          <p:cNvPr id="414" name="Google Shape;414;p55"/>
          <p:cNvSpPr txBox="1"/>
          <p:nvPr/>
        </p:nvSpPr>
        <p:spPr>
          <a:xfrm>
            <a:off x="7151804" y="47593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a:t>
            </a:r>
            <a:endParaRPr/>
          </a:p>
        </p:txBody>
      </p:sp>
      <p:sp>
        <p:nvSpPr>
          <p:cNvPr id="415" name="Google Shape;415;p55"/>
          <p:cNvSpPr txBox="1"/>
          <p:nvPr/>
        </p:nvSpPr>
        <p:spPr>
          <a:xfrm>
            <a:off x="7084494" y="40735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a:t>
            </a:r>
            <a:endParaRPr/>
          </a:p>
        </p:txBody>
      </p:sp>
      <p:sp>
        <p:nvSpPr>
          <p:cNvPr id="416" name="Google Shape;416;p55"/>
          <p:cNvSpPr txBox="1"/>
          <p:nvPr/>
        </p:nvSpPr>
        <p:spPr>
          <a:xfrm>
            <a:off x="5870375" y="31591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a:t>
            </a:r>
            <a:endParaRPr/>
          </a:p>
        </p:txBody>
      </p:sp>
      <p:sp>
        <p:nvSpPr>
          <p:cNvPr id="417" name="Google Shape;417;p55"/>
          <p:cNvSpPr txBox="1"/>
          <p:nvPr/>
        </p:nvSpPr>
        <p:spPr>
          <a:xfrm>
            <a:off x="6479975" y="29305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a:t>
            </a:r>
            <a:endParaRPr/>
          </a:p>
        </p:txBody>
      </p:sp>
      <p:sp>
        <p:nvSpPr>
          <p:cNvPr id="418" name="Google Shape;418;p55"/>
          <p:cNvSpPr txBox="1"/>
          <p:nvPr/>
        </p:nvSpPr>
        <p:spPr>
          <a:xfrm>
            <a:off x="7089575" y="32353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a:t>
            </a:r>
            <a:endParaRPr/>
          </a:p>
        </p:txBody>
      </p:sp>
      <p:sp>
        <p:nvSpPr>
          <p:cNvPr id="419" name="Google Shape;419;p55"/>
          <p:cNvSpPr txBox="1"/>
          <p:nvPr/>
        </p:nvSpPr>
        <p:spPr>
          <a:xfrm>
            <a:off x="8232575" y="38449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a:t>
            </a:r>
            <a:endParaRPr/>
          </a:p>
        </p:txBody>
      </p:sp>
      <p:sp>
        <p:nvSpPr>
          <p:cNvPr id="420" name="Google Shape;420;p55"/>
          <p:cNvSpPr txBox="1"/>
          <p:nvPr/>
        </p:nvSpPr>
        <p:spPr>
          <a:xfrm>
            <a:off x="8308775" y="32353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a:t>
            </a:r>
            <a:endParaRPr/>
          </a:p>
        </p:txBody>
      </p:sp>
      <p:sp>
        <p:nvSpPr>
          <p:cNvPr id="421" name="Google Shape;421;p55"/>
          <p:cNvSpPr txBox="1"/>
          <p:nvPr/>
        </p:nvSpPr>
        <p:spPr>
          <a:xfrm>
            <a:off x="6860975" y="17875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a:t>
            </a:r>
            <a:endParaRPr/>
          </a:p>
        </p:txBody>
      </p:sp>
      <p:sp>
        <p:nvSpPr>
          <p:cNvPr id="422" name="Google Shape;422;p55"/>
          <p:cNvSpPr txBox="1"/>
          <p:nvPr/>
        </p:nvSpPr>
        <p:spPr>
          <a:xfrm>
            <a:off x="6098975" y="4073500"/>
            <a:ext cx="4026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các ph</a:t>
            </a:r>
            <a:r>
              <a:rPr lang="en-GB"/>
              <a:t>ần tử</a:t>
            </a:r>
            <a:endParaRPr/>
          </a:p>
        </p:txBody>
      </p:sp>
      <p:sp>
        <p:nvSpPr>
          <p:cNvPr id="428" name="Google Shape;428;p56"/>
          <p:cNvSpPr/>
          <p:nvPr/>
        </p:nvSpPr>
        <p:spPr>
          <a:xfrm>
            <a:off x="192900" y="1061125"/>
            <a:ext cx="8835300" cy="1107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Giả thuyết tên duy nhất (UNA-Unique Name Assumption)</a:t>
            </a:r>
            <a:endParaRPr sz="2400">
              <a:solidFill>
                <a:srgbClr val="1155CC"/>
              </a:solidFill>
            </a:endParaRPr>
          </a:p>
          <a:p>
            <a:pPr indent="0" lvl="0" marL="0" rtl="0" algn="l">
              <a:spcBef>
                <a:spcPts val="0"/>
              </a:spcBef>
              <a:spcAft>
                <a:spcPts val="0"/>
              </a:spcAft>
              <a:buNone/>
            </a:pPr>
            <a:r>
              <a:rPr lang="en-GB" sz="2400">
                <a:solidFill>
                  <a:srgbClr val="666666"/>
                </a:solidFill>
              </a:rPr>
              <a:t>Với các định danh</a:t>
            </a:r>
            <a:r>
              <a:rPr lang="en-GB" sz="2400">
                <a:solidFill>
                  <a:srgbClr val="666666"/>
                </a:solidFill>
              </a:rPr>
              <a:t> c</a:t>
            </a:r>
            <a:r>
              <a:rPr baseline="-25000" lang="en-GB" sz="2400">
                <a:solidFill>
                  <a:srgbClr val="666666"/>
                </a:solidFill>
              </a:rPr>
              <a:t>1</a:t>
            </a:r>
            <a:r>
              <a:rPr lang="en-GB" sz="2400">
                <a:solidFill>
                  <a:srgbClr val="666666"/>
                </a:solidFill>
              </a:rPr>
              <a:t> ≠ c</a:t>
            </a:r>
            <a:r>
              <a:rPr baseline="-25000" lang="en-GB" sz="2400">
                <a:solidFill>
                  <a:srgbClr val="666666"/>
                </a:solidFill>
              </a:rPr>
              <a:t>2</a:t>
            </a:r>
            <a:r>
              <a:rPr lang="en-GB" sz="2400">
                <a:solidFill>
                  <a:srgbClr val="666666"/>
                </a:solidFill>
              </a:rPr>
              <a:t>, thì c</a:t>
            </a:r>
            <a:r>
              <a:rPr baseline="30000" lang="en-GB" sz="2400">
                <a:solidFill>
                  <a:srgbClr val="666666"/>
                </a:solidFill>
              </a:rPr>
              <a:t>𝓘</a:t>
            </a:r>
            <a:r>
              <a:rPr baseline="-25000" lang="en-GB" sz="2400">
                <a:solidFill>
                  <a:srgbClr val="666666"/>
                </a:solidFill>
              </a:rPr>
              <a:t>1</a:t>
            </a:r>
            <a:r>
              <a:rPr lang="en-GB" sz="2400">
                <a:solidFill>
                  <a:srgbClr val="666666"/>
                </a:solidFill>
              </a:rPr>
              <a:t> ≠ c</a:t>
            </a:r>
            <a:r>
              <a:rPr baseline="30000" lang="en-GB" sz="2400">
                <a:solidFill>
                  <a:srgbClr val="666666"/>
                </a:solidFill>
              </a:rPr>
              <a:t>𝓘</a:t>
            </a:r>
            <a:r>
              <a:rPr baseline="-25000" lang="en-GB" sz="2400">
                <a:solidFill>
                  <a:srgbClr val="666666"/>
                </a:solidFill>
              </a:rPr>
              <a:t>2</a:t>
            </a:r>
            <a:endParaRPr sz="2400">
              <a:solidFill>
                <a:srgbClr val="666666"/>
              </a:solidFill>
            </a:endParaRPr>
          </a:p>
        </p:txBody>
      </p:sp>
      <p:sp>
        <p:nvSpPr>
          <p:cNvPr id="429" name="Google Shape;429;p56"/>
          <p:cNvSpPr txBox="1"/>
          <p:nvPr/>
        </p:nvSpPr>
        <p:spPr>
          <a:xfrm>
            <a:off x="348775" y="2166950"/>
            <a:ext cx="8520600" cy="1403700"/>
          </a:xfrm>
          <a:prstGeom prst="rect">
            <a:avLst/>
          </a:prstGeom>
          <a:noFill/>
          <a:ln>
            <a:noFill/>
          </a:ln>
        </p:spPr>
        <p:txBody>
          <a:bodyPr anchorCtr="0" anchor="t" bIns="91425" lIns="18000" spcFirstLastPara="1" rIns="18000" wrap="square" tIns="91425">
            <a:spAutoFit/>
          </a:bodyPr>
          <a:lstStyle/>
          <a:p>
            <a:pPr indent="0" lvl="0" marL="0" rtl="0" algn="just">
              <a:lnSpc>
                <a:spcPct val="115000"/>
              </a:lnSpc>
              <a:spcBef>
                <a:spcPts val="0"/>
              </a:spcBef>
              <a:spcAft>
                <a:spcPts val="0"/>
              </a:spcAft>
              <a:buNone/>
            </a:pPr>
            <a:r>
              <a:rPr i="1" lang="en-GB" sz="2400">
                <a:solidFill>
                  <a:srgbClr val="434343"/>
                </a:solidFill>
              </a:rPr>
              <a:t>*L</a:t>
            </a:r>
            <a:r>
              <a:rPr i="1" lang="en-GB" sz="2400">
                <a:solidFill>
                  <a:srgbClr val="434343"/>
                </a:solidFill>
              </a:rPr>
              <a:t>ưu ý</a:t>
            </a:r>
            <a:r>
              <a:rPr i="1" lang="en-GB" sz="2400">
                <a:solidFill>
                  <a:srgbClr val="434343"/>
                </a:solidFill>
              </a:rPr>
              <a:t>:</a:t>
            </a:r>
            <a:r>
              <a:rPr lang="en-GB" sz="2400">
                <a:solidFill>
                  <a:srgbClr val="434343"/>
                </a:solidFill>
              </a:rPr>
              <a:t> N</a:t>
            </a:r>
            <a:r>
              <a:rPr lang="en-GB" sz="2400">
                <a:solidFill>
                  <a:srgbClr val="434343"/>
                </a:solidFill>
              </a:rPr>
              <a:t>ếu</a:t>
            </a:r>
            <a:r>
              <a:rPr lang="en-GB" sz="2400">
                <a:solidFill>
                  <a:srgbClr val="434343"/>
                </a:solidFill>
              </a:rPr>
              <a:t> UNA đúng thì các kiểm tra tương đương và khác biệt kh</a:t>
            </a:r>
            <a:r>
              <a:rPr lang="en-GB" sz="2400">
                <a:solidFill>
                  <a:srgbClr val="434343"/>
                </a:solidFill>
              </a:rPr>
              <a:t>ông còn cần thiết</a:t>
            </a:r>
            <a:r>
              <a:rPr lang="en-GB" sz="2400">
                <a:solidFill>
                  <a:srgbClr val="434343"/>
                </a:solidFill>
              </a:rPr>
              <a:t>. Giả thuyết UNA có thể bị </a:t>
            </a:r>
            <a:r>
              <a:rPr lang="en-GB" sz="2400">
                <a:solidFill>
                  <a:srgbClr val="434343"/>
                </a:solidFill>
              </a:rPr>
              <a:t>bác</a:t>
            </a:r>
            <a:r>
              <a:rPr lang="en-GB" sz="2400">
                <a:solidFill>
                  <a:srgbClr val="434343"/>
                </a:solidFill>
              </a:rPr>
              <a:t> bỏ trong DLs.</a:t>
            </a:r>
            <a:endParaRPr sz="2400">
              <a:solidFill>
                <a:srgbClr val="434343"/>
              </a:solidFill>
            </a:endParaRPr>
          </a:p>
        </p:txBody>
      </p:sp>
      <p:sp>
        <p:nvSpPr>
          <p:cNvPr id="430" name="Google Shape;430;p56"/>
          <p:cNvSpPr/>
          <p:nvPr/>
        </p:nvSpPr>
        <p:spPr>
          <a:xfrm>
            <a:off x="192750" y="3570650"/>
            <a:ext cx="8835300" cy="275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18000" spcFirstLastPara="1" rIns="18000" wrap="square" tIns="91425">
            <a:noAutofit/>
          </a:bodyPr>
          <a:lstStyle/>
          <a:p>
            <a:pPr indent="0" lvl="0" marL="0" rtl="0" algn="l">
              <a:lnSpc>
                <a:spcPct val="115000"/>
              </a:lnSpc>
              <a:spcBef>
                <a:spcPts val="0"/>
              </a:spcBef>
              <a:spcAft>
                <a:spcPts val="0"/>
              </a:spcAft>
              <a:buNone/>
            </a:pPr>
            <a:r>
              <a:rPr lang="en-GB" sz="2400">
                <a:solidFill>
                  <a:srgbClr val="1155CC"/>
                </a:solidFill>
              </a:rPr>
              <a:t>Giả thuyết tên tiêu chuẩn (SNA-Standard Name Assumption)</a:t>
            </a:r>
            <a:endParaRPr sz="2400">
              <a:solidFill>
                <a:srgbClr val="1155CC"/>
              </a:solidFill>
            </a:endParaRPr>
          </a:p>
          <a:p>
            <a:pPr indent="0" lvl="0" marL="0" rtl="0" algn="l">
              <a:lnSpc>
                <a:spcPct val="115000"/>
              </a:lnSpc>
              <a:spcBef>
                <a:spcPts val="0"/>
              </a:spcBef>
              <a:spcAft>
                <a:spcPts val="0"/>
              </a:spcAft>
              <a:buNone/>
            </a:pPr>
            <a:r>
              <a:rPr lang="en-GB" sz="2400">
                <a:solidFill>
                  <a:srgbClr val="434343"/>
                </a:solidFill>
              </a:rPr>
              <a:t>Giả thuyết UNA đúng, và hơn nữa các phần tử được biểu diễn theo 1 cách trong tất cả các biểu diễn. Như vậy, chúng ta có thể giả sử ∆</a:t>
            </a:r>
            <a:r>
              <a:rPr baseline="30000" lang="en-GB" sz="2400">
                <a:solidFill>
                  <a:srgbClr val="434343"/>
                </a:solidFill>
              </a:rPr>
              <a:t>𝓘 </a:t>
            </a:r>
            <a:r>
              <a:rPr lang="en-GB" sz="2400">
                <a:solidFill>
                  <a:srgbClr val="434343"/>
                </a:solidFill>
              </a:rPr>
              <a:t>chứa một tập các phần tử, và với mỗi biểu diễn 𝓘, chúng ta có c</a:t>
            </a:r>
            <a:r>
              <a:rPr baseline="30000" lang="en-GB" sz="2400">
                <a:solidFill>
                  <a:srgbClr val="434343"/>
                </a:solidFill>
              </a:rPr>
              <a:t>𝓘</a:t>
            </a:r>
            <a:r>
              <a:rPr lang="en-GB" sz="2400">
                <a:solidFill>
                  <a:srgbClr val="434343"/>
                </a:solidFill>
              </a:rPr>
              <a:t> = c (</a:t>
            </a:r>
            <a:r>
              <a:rPr lang="en-GB" sz="2400">
                <a:solidFill>
                  <a:srgbClr val="434343"/>
                </a:solidFill>
              </a:rPr>
              <a:t>khi đó </a:t>
            </a:r>
            <a:r>
              <a:rPr lang="en-GB" sz="2400">
                <a:solidFill>
                  <a:srgbClr val="434343"/>
                </a:solidFill>
              </a:rPr>
              <a:t>c được gọi là tên tiêu chuẩn).</a:t>
            </a:r>
            <a:endParaRPr sz="2400">
              <a:solidFill>
                <a:srgbClr val="434343"/>
              </a:solidFill>
            </a:endParaRPr>
          </a:p>
        </p:txBody>
      </p:sp>
      <p:sp>
        <p:nvSpPr>
          <p:cNvPr id="431" name="Google Shape;431;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c</a:t>
            </a:r>
            <a:r>
              <a:rPr lang="en-GB"/>
              <a:t>ác biểu thức khái niệm </a:t>
            </a:r>
            <a:endParaRPr/>
          </a:p>
        </p:txBody>
      </p:sp>
      <p:graphicFrame>
        <p:nvGraphicFramePr>
          <p:cNvPr id="437" name="Google Shape;437;p57"/>
          <p:cNvGraphicFramePr/>
          <p:nvPr/>
        </p:nvGraphicFramePr>
        <p:xfrm>
          <a:off x="387900" y="1158848"/>
          <a:ext cx="3000000" cy="3000000"/>
        </p:xfrm>
        <a:graphic>
          <a:graphicData uri="http://schemas.openxmlformats.org/drawingml/2006/table">
            <a:tbl>
              <a:tblPr>
                <a:noFill/>
                <a:tableStyleId>{301B1D0D-D2F0-4FFE-8277-CC19B5FD8E5E}</a:tableStyleId>
              </a:tblPr>
              <a:tblGrid>
                <a:gridCol w="2953950"/>
                <a:gridCol w="1365775"/>
                <a:gridCol w="4278800"/>
              </a:tblGrid>
              <a:tr h="310575">
                <a:tc>
                  <a:txBody>
                    <a:bodyPr/>
                    <a:lstStyle/>
                    <a:p>
                      <a:pPr indent="0" lvl="0" marL="0" rtl="0" algn="l">
                        <a:spcBef>
                          <a:spcPts val="0"/>
                        </a:spcBef>
                        <a:spcAft>
                          <a:spcPts val="0"/>
                        </a:spcAft>
                        <a:buNone/>
                      </a:pPr>
                      <a:r>
                        <a:rPr b="1" lang="en-GB" sz="2200">
                          <a:solidFill>
                            <a:srgbClr val="434343"/>
                          </a:solidFill>
                        </a:rPr>
                        <a:t>Tên</a:t>
                      </a:r>
                      <a:endParaRPr b="1" sz="2200">
                        <a:solidFill>
                          <a:srgbClr val="434343"/>
                        </a:solidFill>
                      </a:endParaRPr>
                    </a:p>
                  </a:txBody>
                  <a:tcPr marT="18000" marB="18000" marR="18000" marL="18000"/>
                </a:tc>
                <a:tc>
                  <a:txBody>
                    <a:bodyPr/>
                    <a:lstStyle/>
                    <a:p>
                      <a:pPr indent="0" lvl="0" marL="0" rtl="0" algn="l">
                        <a:spcBef>
                          <a:spcPts val="0"/>
                        </a:spcBef>
                        <a:spcAft>
                          <a:spcPts val="0"/>
                        </a:spcAft>
                        <a:buNone/>
                      </a:pPr>
                      <a:r>
                        <a:rPr b="1" lang="en-GB" sz="2200">
                          <a:solidFill>
                            <a:srgbClr val="434343"/>
                          </a:solidFill>
                        </a:rPr>
                        <a:t>Cú pháp</a:t>
                      </a:r>
                      <a:endParaRPr b="1" sz="2200">
                        <a:solidFill>
                          <a:srgbClr val="434343"/>
                        </a:solidFill>
                      </a:endParaRPr>
                    </a:p>
                  </a:txBody>
                  <a:tcPr marT="18000" marB="18000" marR="18000" marL="18000"/>
                </a:tc>
                <a:tc>
                  <a:txBody>
                    <a:bodyPr/>
                    <a:lstStyle/>
                    <a:p>
                      <a:pPr indent="0" lvl="0" marL="0" rtl="0" algn="l">
                        <a:spcBef>
                          <a:spcPts val="0"/>
                        </a:spcBef>
                        <a:spcAft>
                          <a:spcPts val="0"/>
                        </a:spcAft>
                        <a:buNone/>
                      </a:pPr>
                      <a:r>
                        <a:rPr b="1" lang="en-GB" sz="2200">
                          <a:solidFill>
                            <a:srgbClr val="434343"/>
                          </a:solidFill>
                        </a:rPr>
                        <a:t>Ngữ nghĩa</a:t>
                      </a:r>
                      <a:endParaRPr b="1" sz="2200">
                        <a:solidFill>
                          <a:srgbClr val="434343"/>
                        </a:solidFill>
                      </a:endParaRPr>
                    </a:p>
                  </a:txBody>
                  <a:tcPr marT="18000" marB="18000" marR="18000" marL="18000"/>
                </a:tc>
              </a:tr>
              <a:tr h="310575">
                <a:tc>
                  <a:txBody>
                    <a:bodyPr/>
                    <a:lstStyle/>
                    <a:p>
                      <a:pPr indent="0" lvl="0" marL="0" rtl="0" algn="l">
                        <a:spcBef>
                          <a:spcPts val="0"/>
                        </a:spcBef>
                        <a:spcAft>
                          <a:spcPts val="0"/>
                        </a:spcAft>
                        <a:buNone/>
                      </a:pPr>
                      <a:r>
                        <a:rPr lang="en-GB" sz="2200">
                          <a:solidFill>
                            <a:srgbClr val="434343"/>
                          </a:solidFill>
                        </a:rPr>
                        <a:t>đỉnh - top</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1600"/>
                        </a:spcAft>
                        <a:buNone/>
                      </a:pPr>
                      <a:r>
                        <a:rPr lang="en-GB" sz="2200">
                          <a:solidFill>
                            <a:srgbClr val="434343"/>
                          </a:solidFill>
                        </a:rPr>
                        <a:t>⊤</a:t>
                      </a:r>
                      <a:endParaRPr sz="2200">
                        <a:solidFill>
                          <a:srgbClr val="434343"/>
                        </a:solidFill>
                      </a:endParaRPr>
                    </a:p>
                  </a:txBody>
                  <a:tcPr marT="18000" marB="18000" marR="18000" marL="18000"/>
                </a:tc>
                <a:tc>
                  <a:txBody>
                    <a:bodyPr/>
                    <a:lstStyle/>
                    <a:p>
                      <a:pPr indent="0" lvl="0" marL="0" rtl="0" algn="l">
                        <a:spcBef>
                          <a:spcPts val="0"/>
                        </a:spcBef>
                        <a:spcAft>
                          <a:spcPts val="0"/>
                        </a:spcAft>
                        <a:buClr>
                          <a:schemeClr val="dk1"/>
                        </a:buClr>
                        <a:buSzPts val="1100"/>
                        <a:buFont typeface="Arial"/>
                        <a:buNone/>
                      </a:pPr>
                      <a:r>
                        <a:rPr lang="en-GB" sz="2200">
                          <a:solidFill>
                            <a:srgbClr val="434343"/>
                          </a:solidFill>
                        </a:rPr>
                        <a:t>∆</a:t>
                      </a:r>
                      <a:r>
                        <a:rPr baseline="30000" lang="en-GB" sz="2200">
                          <a:solidFill>
                            <a:srgbClr val="434343"/>
                          </a:solidFill>
                        </a:rPr>
                        <a:t>𝓘</a:t>
                      </a:r>
                      <a:endParaRPr sz="2200">
                        <a:solidFill>
                          <a:srgbClr val="434343"/>
                        </a:solidFill>
                      </a:endParaRPr>
                    </a:p>
                  </a:txBody>
                  <a:tcPr marT="18000" marB="18000" marR="18000" marL="18000"/>
                </a:tc>
              </a:tr>
              <a:tr h="310575">
                <a:tc>
                  <a:txBody>
                    <a:bodyPr/>
                    <a:lstStyle/>
                    <a:p>
                      <a:pPr indent="0" lvl="0" marL="0" rtl="0" algn="l">
                        <a:spcBef>
                          <a:spcPts val="0"/>
                        </a:spcBef>
                        <a:spcAft>
                          <a:spcPts val="0"/>
                        </a:spcAft>
                        <a:buNone/>
                      </a:pPr>
                      <a:r>
                        <a:rPr lang="en-GB" sz="2200">
                          <a:solidFill>
                            <a:srgbClr val="434343"/>
                          </a:solidFill>
                        </a:rPr>
                        <a:t>đáy - bottom</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1600"/>
                        </a:spcAft>
                        <a:buClr>
                          <a:schemeClr val="dk1"/>
                        </a:buClr>
                        <a:buSzPts val="1100"/>
                        <a:buFont typeface="Arial"/>
                        <a:buNone/>
                      </a:pPr>
                      <a:r>
                        <a:rPr lang="en-GB" sz="2200">
                          <a:solidFill>
                            <a:srgbClr val="434343"/>
                          </a:solidFill>
                        </a:rPr>
                        <a:t>⊥</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a:t>
                      </a:r>
                      <a:endParaRPr sz="2200">
                        <a:solidFill>
                          <a:srgbClr val="434343"/>
                        </a:solidFill>
                      </a:endParaRPr>
                    </a:p>
                  </a:txBody>
                  <a:tcPr marT="18000" marB="18000" marR="18000" marL="18000"/>
                </a:tc>
              </a:tr>
              <a:tr h="310575">
                <a:tc>
                  <a:txBody>
                    <a:bodyPr/>
                    <a:lstStyle/>
                    <a:p>
                      <a:pPr indent="0" lvl="0" marL="0" rtl="0" algn="l">
                        <a:spcBef>
                          <a:spcPts val="0"/>
                        </a:spcBef>
                        <a:spcAft>
                          <a:spcPts val="0"/>
                        </a:spcAft>
                        <a:buNone/>
                      </a:pPr>
                      <a:r>
                        <a:rPr lang="en-GB" sz="2200">
                          <a:solidFill>
                            <a:srgbClr val="434343"/>
                          </a:solidFill>
                        </a:rPr>
                        <a:t>phần bù - negation</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¬C</a:t>
                      </a:r>
                      <a:endParaRPr sz="2200">
                        <a:solidFill>
                          <a:srgbClr val="434343"/>
                        </a:solidFill>
                      </a:endParaRPr>
                    </a:p>
                  </a:txBody>
                  <a:tcPr marT="18000" marB="18000" marR="18000" marL="18000"/>
                </a:tc>
                <a:tc>
                  <a:txBody>
                    <a:bodyPr/>
                    <a:lstStyle/>
                    <a:p>
                      <a:pPr indent="0" lvl="0" marL="0" rtl="0" algn="l">
                        <a:spcBef>
                          <a:spcPts val="0"/>
                        </a:spcBef>
                        <a:spcAft>
                          <a:spcPts val="0"/>
                        </a:spcAft>
                        <a:buClr>
                          <a:schemeClr val="dk1"/>
                        </a:buClr>
                        <a:buSzPts val="1100"/>
                        <a:buFont typeface="Arial"/>
                        <a:buNone/>
                      </a:pPr>
                      <a:r>
                        <a:rPr lang="en-GB" sz="2200">
                          <a:solidFill>
                            <a:srgbClr val="434343"/>
                          </a:solidFill>
                        </a:rPr>
                        <a:t>∆</a:t>
                      </a:r>
                      <a:r>
                        <a:rPr baseline="30000" lang="en-GB" sz="2200">
                          <a:solidFill>
                            <a:srgbClr val="434343"/>
                          </a:solidFill>
                        </a:rPr>
                        <a:t>𝓘</a:t>
                      </a:r>
                      <a:r>
                        <a:rPr lang="en-GB" sz="2200">
                          <a:solidFill>
                            <a:srgbClr val="434343"/>
                          </a:solidFill>
                        </a:rPr>
                        <a:t>\C</a:t>
                      </a:r>
                      <a:r>
                        <a:rPr baseline="30000" lang="en-GB" sz="2200">
                          <a:solidFill>
                            <a:srgbClr val="434343"/>
                          </a:solidFill>
                        </a:rPr>
                        <a:t>𝓘</a:t>
                      </a:r>
                      <a:endParaRPr sz="2200">
                        <a:solidFill>
                          <a:srgbClr val="434343"/>
                        </a:solidFill>
                      </a:endParaRPr>
                    </a:p>
                  </a:txBody>
                  <a:tcPr marT="18000" marB="18000" marR="18000" marL="18000"/>
                </a:tc>
              </a:tr>
              <a:tr h="310575">
                <a:tc>
                  <a:txBody>
                    <a:bodyPr/>
                    <a:lstStyle/>
                    <a:p>
                      <a:pPr indent="0" lvl="0" marL="0" rtl="0" algn="l">
                        <a:spcBef>
                          <a:spcPts val="0"/>
                        </a:spcBef>
                        <a:spcAft>
                          <a:spcPts val="0"/>
                        </a:spcAft>
                        <a:buNone/>
                      </a:pPr>
                      <a:r>
                        <a:rPr lang="en-GB" sz="2200">
                          <a:solidFill>
                            <a:srgbClr val="434343"/>
                          </a:solidFill>
                        </a:rPr>
                        <a:t>giao - conjunction</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C ⨅ D</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C</a:t>
                      </a:r>
                      <a:r>
                        <a:rPr baseline="30000" lang="en-GB" sz="2200">
                          <a:solidFill>
                            <a:srgbClr val="434343"/>
                          </a:solidFill>
                        </a:rPr>
                        <a:t>𝓘</a:t>
                      </a:r>
                      <a:r>
                        <a:rPr lang="en-GB" sz="2200">
                          <a:solidFill>
                            <a:srgbClr val="434343"/>
                          </a:solidFill>
                        </a:rPr>
                        <a:t> ∩D</a:t>
                      </a:r>
                      <a:r>
                        <a:rPr baseline="30000" lang="en-GB" sz="2200">
                          <a:solidFill>
                            <a:srgbClr val="434343"/>
                          </a:solidFill>
                        </a:rPr>
                        <a:t>𝓘</a:t>
                      </a:r>
                      <a:endParaRPr sz="2200">
                        <a:solidFill>
                          <a:srgbClr val="434343"/>
                        </a:solidFill>
                      </a:endParaRPr>
                    </a:p>
                  </a:txBody>
                  <a:tcPr marT="18000" marB="18000" marR="18000" marL="18000"/>
                </a:tc>
              </a:tr>
              <a:tr h="310575">
                <a:tc>
                  <a:txBody>
                    <a:bodyPr/>
                    <a:lstStyle/>
                    <a:p>
                      <a:pPr indent="0" lvl="0" marL="0" rtl="0" algn="l">
                        <a:spcBef>
                          <a:spcPts val="0"/>
                        </a:spcBef>
                        <a:spcAft>
                          <a:spcPts val="0"/>
                        </a:spcAft>
                        <a:buNone/>
                      </a:pPr>
                      <a:r>
                        <a:rPr lang="en-GB" sz="2200">
                          <a:solidFill>
                            <a:srgbClr val="434343"/>
                          </a:solidFill>
                        </a:rPr>
                        <a:t>hợp - disjunction</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C ⨆ D</a:t>
                      </a:r>
                      <a:endParaRPr sz="2200">
                        <a:solidFill>
                          <a:srgbClr val="434343"/>
                        </a:solidFill>
                      </a:endParaRPr>
                    </a:p>
                  </a:txBody>
                  <a:tcPr marT="18000" marB="18000" marR="18000" marL="18000"/>
                </a:tc>
                <a:tc>
                  <a:txBody>
                    <a:bodyPr/>
                    <a:lstStyle/>
                    <a:p>
                      <a:pPr indent="0" lvl="0" marL="0" rtl="0" algn="l">
                        <a:spcBef>
                          <a:spcPts val="0"/>
                        </a:spcBef>
                        <a:spcAft>
                          <a:spcPts val="0"/>
                        </a:spcAft>
                        <a:buNone/>
                      </a:pPr>
                      <a:r>
                        <a:rPr lang="en-GB" sz="2200">
                          <a:solidFill>
                            <a:srgbClr val="434343"/>
                          </a:solidFill>
                        </a:rPr>
                        <a:t>C</a:t>
                      </a:r>
                      <a:r>
                        <a:rPr baseline="30000" lang="en-GB" sz="2200">
                          <a:solidFill>
                            <a:srgbClr val="434343"/>
                          </a:solidFill>
                        </a:rPr>
                        <a:t>𝓘</a:t>
                      </a:r>
                      <a:r>
                        <a:rPr lang="en-GB" sz="2200">
                          <a:solidFill>
                            <a:srgbClr val="434343"/>
                          </a:solidFill>
                        </a:rPr>
                        <a:t> ∪ D</a:t>
                      </a:r>
                      <a:r>
                        <a:rPr baseline="30000" lang="en-GB" sz="2200">
                          <a:solidFill>
                            <a:srgbClr val="434343"/>
                          </a:solidFill>
                        </a:rPr>
                        <a:t>𝓘</a:t>
                      </a:r>
                      <a:endParaRPr sz="2200">
                        <a:solidFill>
                          <a:srgbClr val="434343"/>
                        </a:solidFill>
                      </a:endParaRPr>
                    </a:p>
                  </a:txBody>
                  <a:tcPr marT="18000" marB="18000" marR="18000" marL="18000"/>
                </a:tc>
              </a:tr>
              <a:tr h="511550">
                <a:tc>
                  <a:txBody>
                    <a:bodyPr/>
                    <a:lstStyle/>
                    <a:p>
                      <a:pPr indent="0" lvl="0" marL="0" rtl="0" algn="l">
                        <a:lnSpc>
                          <a:spcPct val="115000"/>
                        </a:lnSpc>
                        <a:spcBef>
                          <a:spcPts val="0"/>
                        </a:spcBef>
                        <a:spcAft>
                          <a:spcPts val="0"/>
                        </a:spcAft>
                        <a:buNone/>
                      </a:pPr>
                      <a:r>
                        <a:rPr lang="en-GB" sz="2200">
                          <a:solidFill>
                            <a:srgbClr val="434343"/>
                          </a:solidFill>
                        </a:rPr>
                        <a:t>định lượng </a:t>
                      </a:r>
                      <a:r>
                        <a:rPr lang="en-GB" sz="2200">
                          <a:solidFill>
                            <a:srgbClr val="434343"/>
                          </a:solidFill>
                        </a:rPr>
                        <a:t>tất cả</a:t>
                      </a:r>
                      <a:r>
                        <a:rPr lang="en-GB" sz="2200">
                          <a:solidFill>
                            <a:srgbClr val="434343"/>
                          </a:solidFill>
                        </a:rPr>
                        <a:t> - universal quantifier</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434343"/>
                          </a:solidFill>
                        </a:rPr>
                        <a:t>∀r.C</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434343"/>
                          </a:solidFill>
                        </a:rPr>
                        <a:t>{x ∈ ∆</a:t>
                      </a:r>
                      <a:r>
                        <a:rPr baseline="30000" lang="en-GB" sz="2200">
                          <a:solidFill>
                            <a:srgbClr val="434343"/>
                          </a:solidFill>
                        </a:rPr>
                        <a:t>𝓘</a:t>
                      </a:r>
                      <a:r>
                        <a:rPr lang="en-GB" sz="2200">
                          <a:solidFill>
                            <a:srgbClr val="434343"/>
                          </a:solidFill>
                        </a:rPr>
                        <a:t> | (x, y) ∈ r</a:t>
                      </a:r>
                      <a:r>
                        <a:rPr baseline="30000" lang="en-GB" sz="2200">
                          <a:solidFill>
                            <a:srgbClr val="434343"/>
                          </a:solidFill>
                        </a:rPr>
                        <a:t>𝓘</a:t>
                      </a:r>
                      <a:r>
                        <a:rPr lang="en-GB" sz="2200">
                          <a:solidFill>
                            <a:srgbClr val="434343"/>
                          </a:solidFill>
                        </a:rPr>
                        <a:t> và y ∈ C</a:t>
                      </a:r>
                      <a:r>
                        <a:rPr baseline="30000" lang="en-GB" sz="2200">
                          <a:solidFill>
                            <a:srgbClr val="434343"/>
                          </a:solidFill>
                        </a:rPr>
                        <a:t>𝓘</a:t>
                      </a:r>
                      <a:r>
                        <a:rPr lang="en-GB" sz="2200">
                          <a:solidFill>
                            <a:srgbClr val="434343"/>
                          </a:solidFill>
                        </a:rPr>
                        <a:t>}</a:t>
                      </a:r>
                      <a:endParaRPr sz="2200">
                        <a:solidFill>
                          <a:srgbClr val="434343"/>
                        </a:solidFill>
                      </a:endParaRPr>
                    </a:p>
                  </a:txBody>
                  <a:tcPr marT="18000" marB="18000" marR="18000" marL="18000"/>
                </a:tc>
              </a:tr>
              <a:tr h="440875">
                <a:tc>
                  <a:txBody>
                    <a:bodyPr/>
                    <a:lstStyle/>
                    <a:p>
                      <a:pPr indent="0" lvl="0" marL="0" rtl="0" algn="l">
                        <a:lnSpc>
                          <a:spcPct val="115000"/>
                        </a:lnSpc>
                        <a:spcBef>
                          <a:spcPts val="0"/>
                        </a:spcBef>
                        <a:spcAft>
                          <a:spcPts val="0"/>
                        </a:spcAft>
                        <a:buNone/>
                      </a:pPr>
                      <a:r>
                        <a:rPr lang="en-GB" sz="2200">
                          <a:solidFill>
                            <a:srgbClr val="434343"/>
                          </a:solidFill>
                        </a:rPr>
                        <a:t>định lượng tồn tại - existential quantifier</a:t>
                      </a:r>
                      <a:endParaRPr sz="2200">
                        <a:solidFill>
                          <a:srgbClr val="434343"/>
                        </a:solidFill>
                      </a:endParaRPr>
                    </a:p>
                  </a:txBody>
                  <a:tcPr marT="18000" marB="18000" marR="18000" marL="18000"/>
                </a:tc>
                <a:tc>
                  <a:txBody>
                    <a:bodyPr/>
                    <a:lstStyle/>
                    <a:p>
                      <a:pPr indent="0" lvl="0" marL="0" rtl="0" algn="l">
                        <a:lnSpc>
                          <a:spcPct val="115000"/>
                        </a:lnSpc>
                        <a:spcBef>
                          <a:spcPts val="0"/>
                        </a:spcBef>
                        <a:spcAft>
                          <a:spcPts val="0"/>
                        </a:spcAft>
                        <a:buNone/>
                      </a:pPr>
                      <a:r>
                        <a:rPr lang="en-GB" sz="2200">
                          <a:solidFill>
                            <a:srgbClr val="434343"/>
                          </a:solidFill>
                        </a:rPr>
                        <a:t>∃r.C</a:t>
                      </a:r>
                      <a:endParaRPr sz="2200">
                        <a:solidFill>
                          <a:srgbClr val="434343"/>
                        </a:solidFill>
                      </a:endParaRPr>
                    </a:p>
                  </a:txBody>
                  <a:tcPr marT="18000" marB="18000" marR="18000" marL="18000">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GB" sz="2200">
                          <a:solidFill>
                            <a:srgbClr val="434343"/>
                          </a:solidFill>
                        </a:rPr>
                        <a:t>{x ∈ ∆</a:t>
                      </a:r>
                      <a:r>
                        <a:rPr baseline="30000" lang="en-GB" sz="2200">
                          <a:solidFill>
                            <a:srgbClr val="434343"/>
                          </a:solidFill>
                        </a:rPr>
                        <a:t>𝓘</a:t>
                      </a:r>
                      <a:r>
                        <a:rPr lang="en-GB" sz="2200">
                          <a:solidFill>
                            <a:srgbClr val="434343"/>
                          </a:solidFill>
                        </a:rPr>
                        <a:t> | có y ∈ ∆</a:t>
                      </a:r>
                      <a:r>
                        <a:rPr baseline="30000" lang="en-GB" sz="2200">
                          <a:solidFill>
                            <a:srgbClr val="434343"/>
                          </a:solidFill>
                        </a:rPr>
                        <a:t>𝓘</a:t>
                      </a:r>
                      <a:r>
                        <a:rPr lang="en-GB" sz="2200">
                          <a:solidFill>
                            <a:srgbClr val="434343"/>
                          </a:solidFill>
                        </a:rPr>
                        <a:t> thỏa mãn</a:t>
                      </a:r>
                      <a:r>
                        <a:rPr lang="en-GB" sz="2200">
                          <a:solidFill>
                            <a:srgbClr val="434343"/>
                          </a:solidFill>
                        </a:rPr>
                        <a:t> (x, y) ∈ r</a:t>
                      </a:r>
                      <a:r>
                        <a:rPr baseline="30000" lang="en-GB" sz="2200">
                          <a:solidFill>
                            <a:srgbClr val="434343"/>
                          </a:solidFill>
                        </a:rPr>
                        <a:t>𝓘</a:t>
                      </a:r>
                      <a:r>
                        <a:rPr lang="en-GB" sz="2200">
                          <a:solidFill>
                            <a:srgbClr val="434343"/>
                          </a:solidFill>
                        </a:rPr>
                        <a:t> và y  ∈ C</a:t>
                      </a:r>
                      <a:r>
                        <a:rPr baseline="30000" lang="en-GB" sz="2200">
                          <a:solidFill>
                            <a:srgbClr val="434343"/>
                          </a:solidFill>
                        </a:rPr>
                        <a:t>𝓘</a:t>
                      </a:r>
                      <a:r>
                        <a:rPr lang="en-GB" sz="2200">
                          <a:solidFill>
                            <a:srgbClr val="434343"/>
                          </a:solidFill>
                        </a:rPr>
                        <a:t>}</a:t>
                      </a:r>
                      <a:endParaRPr sz="2200">
                        <a:solidFill>
                          <a:srgbClr val="434343"/>
                        </a:solidFill>
                      </a:endParaRPr>
                    </a:p>
                  </a:txBody>
                  <a:tcPr marT="18000" marB="18000" marR="18000" marL="18000">
                    <a:lnB cap="flat" cmpd="sng" w="9525">
                      <a:solidFill>
                        <a:srgbClr val="9E9E9E"/>
                      </a:solidFill>
                      <a:prstDash val="solid"/>
                      <a:round/>
                      <a:headEnd len="sm" w="sm" type="none"/>
                      <a:tailEnd len="sm" w="sm" type="none"/>
                    </a:lnB>
                  </a:tcPr>
                </a:tc>
              </a:tr>
              <a:tr h="440875">
                <a:tc>
                  <a:txBody>
                    <a:bodyPr/>
                    <a:lstStyle/>
                    <a:p>
                      <a:pPr indent="0" lvl="0" marL="0" rtl="0" algn="l">
                        <a:spcBef>
                          <a:spcPts val="0"/>
                        </a:spcBef>
                        <a:spcAft>
                          <a:spcPts val="0"/>
                        </a:spcAft>
                        <a:buClr>
                          <a:schemeClr val="dk1"/>
                        </a:buClr>
                        <a:buSzPts val="1100"/>
                        <a:buFont typeface="Arial"/>
                        <a:buNone/>
                      </a:pPr>
                      <a:r>
                        <a:rPr lang="en-GB" sz="2200">
                          <a:solidFill>
                            <a:srgbClr val="434343"/>
                          </a:solidFill>
                        </a:rPr>
                        <a:t>Giới hạn số lượng</a:t>
                      </a:r>
                      <a:endParaRPr sz="2200">
                        <a:solidFill>
                          <a:srgbClr val="434343"/>
                        </a:solidFill>
                      </a:endParaRPr>
                    </a:p>
                  </a:txBody>
                  <a:tcPr marT="18000" marB="18000" marR="18000" marL="18000">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GB" sz="2200">
                          <a:solidFill>
                            <a:srgbClr val="434343"/>
                          </a:solidFill>
                        </a:rPr>
                        <a:t>(≥ k r)</a:t>
                      </a:r>
                      <a:endParaRPr sz="2200">
                        <a:solidFill>
                          <a:srgbClr val="434343"/>
                        </a:solidFill>
                      </a:endParaRPr>
                    </a:p>
                    <a:p>
                      <a:pPr indent="0" lvl="0" marL="0" rtl="0" algn="l">
                        <a:spcBef>
                          <a:spcPts val="0"/>
                        </a:spcBef>
                        <a:spcAft>
                          <a:spcPts val="0"/>
                        </a:spcAft>
                        <a:buNone/>
                      </a:pPr>
                      <a:r>
                        <a:rPr lang="en-GB" sz="2200">
                          <a:solidFill>
                            <a:srgbClr val="434343"/>
                          </a:solidFill>
                        </a:rPr>
                        <a:t>(≤ k r)</a:t>
                      </a:r>
                      <a:endParaRPr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200">
                          <a:solidFill>
                            <a:srgbClr val="434343"/>
                          </a:solidFill>
                        </a:rPr>
                        <a:t>{o | #{o'| (o, o') ∈ r</a:t>
                      </a:r>
                      <a:r>
                        <a:rPr baseline="30000" lang="en-GB" sz="2200">
                          <a:solidFill>
                            <a:srgbClr val="434343"/>
                          </a:solidFill>
                        </a:rPr>
                        <a:t>𝓘</a:t>
                      </a:r>
                      <a:r>
                        <a:rPr lang="en-GB" sz="2200">
                          <a:solidFill>
                            <a:srgbClr val="434343"/>
                          </a:solidFill>
                        </a:rPr>
                        <a:t>} ≥ k</a:t>
                      </a:r>
                      <a:endParaRPr sz="2200">
                        <a:solidFill>
                          <a:srgbClr val="434343"/>
                        </a:solidFill>
                      </a:endParaRPr>
                    </a:p>
                    <a:p>
                      <a:pPr indent="0" lvl="0" marL="0" rtl="0" algn="l">
                        <a:spcBef>
                          <a:spcPts val="0"/>
                        </a:spcBef>
                        <a:spcAft>
                          <a:spcPts val="0"/>
                        </a:spcAft>
                        <a:buNone/>
                      </a:pPr>
                      <a:r>
                        <a:rPr lang="en-GB" sz="2200">
                          <a:solidFill>
                            <a:srgbClr val="434343"/>
                          </a:solidFill>
                        </a:rPr>
                        <a:t>{o | #{o'| (o, o') ∈ r</a:t>
                      </a:r>
                      <a:r>
                        <a:rPr baseline="30000" lang="en-GB" sz="2200">
                          <a:solidFill>
                            <a:srgbClr val="434343"/>
                          </a:solidFill>
                        </a:rPr>
                        <a:t>𝓘</a:t>
                      </a:r>
                      <a:r>
                        <a:rPr lang="en-GB" sz="2200">
                          <a:solidFill>
                            <a:srgbClr val="434343"/>
                          </a:solidFill>
                        </a:rPr>
                        <a:t>} ≤ k</a:t>
                      </a:r>
                      <a:endParaRPr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0875">
                <a:tc>
                  <a:txBody>
                    <a:bodyPr/>
                    <a:lstStyle/>
                    <a:p>
                      <a:pPr indent="0" lvl="0" marL="0" rtl="0" algn="l">
                        <a:spcBef>
                          <a:spcPts val="0"/>
                        </a:spcBef>
                        <a:spcAft>
                          <a:spcPts val="0"/>
                        </a:spcAft>
                        <a:buClr>
                          <a:schemeClr val="dk1"/>
                        </a:buClr>
                        <a:buSzPts val="1100"/>
                        <a:buFont typeface="Arial"/>
                        <a:buNone/>
                      </a:pPr>
                      <a:r>
                        <a:rPr lang="en-GB" sz="2200">
                          <a:solidFill>
                            <a:srgbClr val="434343"/>
                          </a:solidFill>
                        </a:rPr>
                        <a:t>Giới hạn số lượng có điều kiện</a:t>
                      </a:r>
                      <a:endParaRPr sz="2200">
                        <a:solidFill>
                          <a:srgbClr val="434343"/>
                        </a:solidFill>
                      </a:endParaRPr>
                    </a:p>
                  </a:txBody>
                  <a:tcPr marT="18000" marB="18000" marR="18000" marL="18000">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GB" sz="2200">
                          <a:solidFill>
                            <a:srgbClr val="434343"/>
                          </a:solidFill>
                        </a:rPr>
                        <a:t>(≥ k r.C)</a:t>
                      </a:r>
                      <a:endParaRPr sz="2200">
                        <a:solidFill>
                          <a:srgbClr val="434343"/>
                        </a:solidFill>
                      </a:endParaRPr>
                    </a:p>
                    <a:p>
                      <a:pPr indent="0" lvl="0" marL="0" rtl="0" algn="l">
                        <a:spcBef>
                          <a:spcPts val="0"/>
                        </a:spcBef>
                        <a:spcAft>
                          <a:spcPts val="0"/>
                        </a:spcAft>
                        <a:buNone/>
                      </a:pPr>
                      <a:r>
                        <a:rPr lang="en-GB" sz="2200">
                          <a:solidFill>
                            <a:srgbClr val="434343"/>
                          </a:solidFill>
                        </a:rPr>
                        <a:t>(≤ k r.C)</a:t>
                      </a:r>
                      <a:endParaRPr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200">
                          <a:solidFill>
                            <a:srgbClr val="434343"/>
                          </a:solidFill>
                        </a:rPr>
                        <a:t>{o |#{o'| (o, o') ∈ r</a:t>
                      </a:r>
                      <a:r>
                        <a:rPr baseline="30000" lang="en-GB" sz="2200">
                          <a:solidFill>
                            <a:srgbClr val="434343"/>
                          </a:solidFill>
                        </a:rPr>
                        <a:t>𝓘</a:t>
                      </a:r>
                      <a:r>
                        <a:rPr lang="en-GB" sz="2200">
                          <a:solidFill>
                            <a:srgbClr val="434343"/>
                          </a:solidFill>
                        </a:rPr>
                        <a:t>∧o' ∈ C</a:t>
                      </a:r>
                      <a:r>
                        <a:rPr baseline="30000" lang="en-GB" sz="2200">
                          <a:solidFill>
                            <a:srgbClr val="434343"/>
                          </a:solidFill>
                        </a:rPr>
                        <a:t>𝓘</a:t>
                      </a:r>
                      <a:r>
                        <a:rPr lang="en-GB" sz="2200">
                          <a:solidFill>
                            <a:srgbClr val="434343"/>
                          </a:solidFill>
                        </a:rPr>
                        <a:t>} ≥ k</a:t>
                      </a:r>
                      <a:endParaRPr sz="2200">
                        <a:solidFill>
                          <a:srgbClr val="434343"/>
                        </a:solidFill>
                      </a:endParaRPr>
                    </a:p>
                    <a:p>
                      <a:pPr indent="0" lvl="0" marL="0" rtl="0" algn="l">
                        <a:spcBef>
                          <a:spcPts val="0"/>
                        </a:spcBef>
                        <a:spcAft>
                          <a:spcPts val="0"/>
                        </a:spcAft>
                        <a:buNone/>
                      </a:pPr>
                      <a:r>
                        <a:rPr lang="en-GB" sz="2200">
                          <a:solidFill>
                            <a:srgbClr val="434343"/>
                          </a:solidFill>
                        </a:rPr>
                        <a:t>{o |#{o'| (o, o') ∈ r</a:t>
                      </a:r>
                      <a:r>
                        <a:rPr baseline="30000" lang="en-GB" sz="2200">
                          <a:solidFill>
                            <a:srgbClr val="434343"/>
                          </a:solidFill>
                        </a:rPr>
                        <a:t>𝓘</a:t>
                      </a:r>
                      <a:r>
                        <a:rPr lang="en-GB" sz="2200">
                          <a:solidFill>
                            <a:srgbClr val="434343"/>
                          </a:solidFill>
                        </a:rPr>
                        <a:t>∧o' ∈ C</a:t>
                      </a:r>
                      <a:r>
                        <a:rPr baseline="30000" lang="en-GB" sz="2200">
                          <a:solidFill>
                            <a:srgbClr val="434343"/>
                          </a:solidFill>
                        </a:rPr>
                        <a:t>𝓘</a:t>
                      </a:r>
                      <a:r>
                        <a:rPr lang="en-GB" sz="2200">
                          <a:solidFill>
                            <a:srgbClr val="434343"/>
                          </a:solidFill>
                        </a:rPr>
                        <a:t> } ≤ k</a:t>
                      </a:r>
                      <a:endParaRPr sz="2200">
                        <a:solidFill>
                          <a:srgbClr val="434343"/>
                        </a:solidFill>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38" name="Google Shape;438;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các biểu thức vai trò</a:t>
            </a:r>
            <a:endParaRPr/>
          </a:p>
        </p:txBody>
      </p:sp>
      <p:graphicFrame>
        <p:nvGraphicFramePr>
          <p:cNvPr id="444" name="Google Shape;444;p58"/>
          <p:cNvGraphicFramePr/>
          <p:nvPr/>
        </p:nvGraphicFramePr>
        <p:xfrm>
          <a:off x="311700" y="1528750"/>
          <a:ext cx="3000000" cy="3000000"/>
        </p:xfrm>
        <a:graphic>
          <a:graphicData uri="http://schemas.openxmlformats.org/drawingml/2006/table">
            <a:tbl>
              <a:tblPr>
                <a:noFill/>
                <a:tableStyleId>{301B1D0D-D2F0-4FFE-8277-CC19B5FD8E5E}</a:tableStyleId>
              </a:tblPr>
              <a:tblGrid>
                <a:gridCol w="2197675"/>
                <a:gridCol w="1213450"/>
                <a:gridCol w="1887525"/>
                <a:gridCol w="3221950"/>
              </a:tblGrid>
              <a:tr h="566000">
                <a:tc>
                  <a:txBody>
                    <a:bodyPr/>
                    <a:lstStyle/>
                    <a:p>
                      <a:pPr indent="0" lvl="0" marL="0" rtl="0" algn="l">
                        <a:spcBef>
                          <a:spcPts val="0"/>
                        </a:spcBef>
                        <a:spcAft>
                          <a:spcPts val="0"/>
                        </a:spcAft>
                        <a:buNone/>
                      </a:pPr>
                      <a:r>
                        <a:rPr b="1" lang="en-GB" sz="2400">
                          <a:solidFill>
                            <a:srgbClr val="434343"/>
                          </a:solidFill>
                        </a:rPr>
                        <a:t>Tên</a:t>
                      </a:r>
                      <a:endParaRPr b="1" sz="2400">
                        <a:solidFill>
                          <a:srgbClr val="434343"/>
                        </a:solidFill>
                      </a:endParaRPr>
                    </a:p>
                  </a:txBody>
                  <a:tcPr marT="18000" marB="18000" marR="18000" marL="18000"/>
                </a:tc>
                <a:tc>
                  <a:txBody>
                    <a:bodyPr/>
                    <a:lstStyle/>
                    <a:p>
                      <a:pPr indent="0" lvl="0" marL="0" rtl="0" algn="l">
                        <a:spcBef>
                          <a:spcPts val="0"/>
                        </a:spcBef>
                        <a:spcAft>
                          <a:spcPts val="0"/>
                        </a:spcAft>
                        <a:buNone/>
                      </a:pPr>
                      <a:r>
                        <a:rPr b="1" lang="en-GB" sz="2400">
                          <a:solidFill>
                            <a:srgbClr val="434343"/>
                          </a:solidFill>
                        </a:rPr>
                        <a:t>Cú pháp</a:t>
                      </a:r>
                      <a:endParaRPr b="1" sz="2400">
                        <a:solidFill>
                          <a:srgbClr val="434343"/>
                        </a:solidFill>
                      </a:endParaRPr>
                    </a:p>
                  </a:txBody>
                  <a:tcPr marT="18000" marB="18000" marR="18000" marL="18000"/>
                </a:tc>
                <a:tc>
                  <a:txBody>
                    <a:bodyPr/>
                    <a:lstStyle/>
                    <a:p>
                      <a:pPr indent="0" lvl="0" marL="0" rtl="0" algn="l">
                        <a:spcBef>
                          <a:spcPts val="0"/>
                        </a:spcBef>
                        <a:spcAft>
                          <a:spcPts val="0"/>
                        </a:spcAft>
                        <a:buNone/>
                      </a:pPr>
                      <a:r>
                        <a:rPr b="1" lang="en-GB" sz="2400">
                          <a:solidFill>
                            <a:srgbClr val="434343"/>
                          </a:solidFill>
                        </a:rPr>
                        <a:t>Ví dụ </a:t>
                      </a:r>
                      <a:endParaRPr b="1" sz="2400">
                        <a:solidFill>
                          <a:srgbClr val="434343"/>
                        </a:solidFill>
                      </a:endParaRPr>
                    </a:p>
                  </a:txBody>
                  <a:tcPr marT="18000" marB="18000" marR="18000" marL="18000"/>
                </a:tc>
                <a:tc>
                  <a:txBody>
                    <a:bodyPr/>
                    <a:lstStyle/>
                    <a:p>
                      <a:pPr indent="0" lvl="0" marL="0" rtl="0" algn="l">
                        <a:spcBef>
                          <a:spcPts val="0"/>
                        </a:spcBef>
                        <a:spcAft>
                          <a:spcPts val="0"/>
                        </a:spcAft>
                        <a:buNone/>
                      </a:pPr>
                      <a:r>
                        <a:rPr b="1" lang="en-GB" sz="2400">
                          <a:solidFill>
                            <a:srgbClr val="434343"/>
                          </a:solidFill>
                        </a:rPr>
                        <a:t>Ngữ nghĩa</a:t>
                      </a:r>
                      <a:endParaRPr b="1" sz="2400">
                        <a:solidFill>
                          <a:srgbClr val="434343"/>
                        </a:solidFill>
                      </a:endParaRPr>
                    </a:p>
                  </a:txBody>
                  <a:tcPr marT="18000" marB="18000" marR="18000" marL="18000"/>
                </a:tc>
              </a:tr>
              <a:tr h="566000">
                <a:tc>
                  <a:txBody>
                    <a:bodyPr/>
                    <a:lstStyle/>
                    <a:p>
                      <a:pPr indent="0" lvl="0" marL="0" rtl="0" algn="l">
                        <a:spcBef>
                          <a:spcPts val="0"/>
                        </a:spcBef>
                        <a:spcAft>
                          <a:spcPts val="0"/>
                        </a:spcAft>
                        <a:buNone/>
                      </a:pPr>
                      <a:r>
                        <a:rPr lang="en-GB" sz="2400">
                          <a:solidFill>
                            <a:srgbClr val="434343"/>
                          </a:solidFill>
                        </a:rPr>
                        <a:t>Vai trò hạt nhân</a:t>
                      </a:r>
                      <a:endParaRPr sz="2400">
                        <a:solidFill>
                          <a:srgbClr val="434343"/>
                        </a:solidFill>
                      </a:endParaRPr>
                    </a:p>
                  </a:txBody>
                  <a:tcPr marT="18000" marB="18000" marR="18000" marL="18000"/>
                </a:tc>
                <a:tc>
                  <a:txBody>
                    <a:bodyPr/>
                    <a:lstStyle/>
                    <a:p>
                      <a:pPr indent="0" lvl="0" marL="0" rtl="0" algn="ctr">
                        <a:spcBef>
                          <a:spcPts val="0"/>
                        </a:spcBef>
                        <a:spcAft>
                          <a:spcPts val="0"/>
                        </a:spcAft>
                        <a:buNone/>
                      </a:pPr>
                      <a:r>
                        <a:rPr lang="en-GB" sz="2400">
                          <a:solidFill>
                            <a:srgbClr val="434343"/>
                          </a:solidFill>
                        </a:rPr>
                        <a:t>r</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hasChild</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r</a:t>
                      </a:r>
                      <a:r>
                        <a:rPr baseline="30000" lang="en-GB" sz="2400">
                          <a:solidFill>
                            <a:srgbClr val="434343"/>
                          </a:solidFill>
                        </a:rPr>
                        <a:t>𝓘</a:t>
                      </a:r>
                      <a:r>
                        <a:rPr lang="en-GB" sz="2400">
                          <a:solidFill>
                            <a:srgbClr val="434343"/>
                          </a:solidFill>
                        </a:rPr>
                        <a:t> ⊆ ∆</a:t>
                      </a:r>
                      <a:r>
                        <a:rPr baseline="30000" lang="en-GB" sz="2400">
                          <a:solidFill>
                            <a:srgbClr val="434343"/>
                          </a:solidFill>
                        </a:rPr>
                        <a:t>𝓘</a:t>
                      </a:r>
                      <a:r>
                        <a:rPr lang="en-GB" sz="2400">
                          <a:solidFill>
                            <a:srgbClr val="434343"/>
                          </a:solidFill>
                        </a:rPr>
                        <a:t> × ∆</a:t>
                      </a:r>
                      <a:r>
                        <a:rPr baseline="30000" lang="en-GB" sz="2400">
                          <a:solidFill>
                            <a:srgbClr val="434343"/>
                          </a:solidFill>
                        </a:rPr>
                        <a:t>𝓘</a:t>
                      </a:r>
                      <a:endParaRPr sz="2400">
                        <a:solidFill>
                          <a:srgbClr val="434343"/>
                        </a:solidFill>
                      </a:endParaRPr>
                    </a:p>
                  </a:txBody>
                  <a:tcPr marT="18000" marB="18000" marR="18000" marL="18000"/>
                </a:tc>
              </a:tr>
              <a:tr h="566000">
                <a:tc>
                  <a:txBody>
                    <a:bodyPr/>
                    <a:lstStyle/>
                    <a:p>
                      <a:pPr indent="0" lvl="0" marL="0" rtl="0" algn="l">
                        <a:spcBef>
                          <a:spcPts val="0"/>
                        </a:spcBef>
                        <a:spcAft>
                          <a:spcPts val="0"/>
                        </a:spcAft>
                        <a:buNone/>
                      </a:pPr>
                      <a:r>
                        <a:rPr lang="en-GB" sz="2400">
                          <a:solidFill>
                            <a:srgbClr val="434343"/>
                          </a:solidFill>
                        </a:rPr>
                        <a:t>Phần bù vai trò</a:t>
                      </a:r>
                      <a:endParaRPr sz="2400">
                        <a:solidFill>
                          <a:srgbClr val="434343"/>
                        </a:solidFill>
                      </a:endParaRPr>
                    </a:p>
                  </a:txBody>
                  <a:tcPr marT="18000" marB="18000" marR="18000" marL="18000"/>
                </a:tc>
                <a:tc>
                  <a:txBody>
                    <a:bodyPr/>
                    <a:lstStyle/>
                    <a:p>
                      <a:pPr indent="0" lvl="0" marL="0" rtl="0" algn="ctr">
                        <a:spcBef>
                          <a:spcPts val="0"/>
                        </a:spcBef>
                        <a:spcAft>
                          <a:spcPts val="0"/>
                        </a:spcAft>
                        <a:buNone/>
                      </a:pPr>
                      <a:r>
                        <a:rPr lang="en-GB" sz="2400">
                          <a:solidFill>
                            <a:srgbClr val="434343"/>
                          </a:solidFill>
                        </a:rPr>
                        <a:t>¬r</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¬hasSister</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a:t>
                      </a:r>
                      <a:r>
                        <a:rPr baseline="30000" lang="en-GB" sz="2400">
                          <a:solidFill>
                            <a:srgbClr val="434343"/>
                          </a:solidFill>
                        </a:rPr>
                        <a:t>𝓘</a:t>
                      </a:r>
                      <a:r>
                        <a:rPr lang="en-GB" sz="2400">
                          <a:solidFill>
                            <a:srgbClr val="434343"/>
                          </a:solidFill>
                        </a:rPr>
                        <a:t> × ∆</a:t>
                      </a:r>
                      <a:r>
                        <a:rPr baseline="30000" lang="en-GB" sz="2400">
                          <a:solidFill>
                            <a:srgbClr val="434343"/>
                          </a:solidFill>
                        </a:rPr>
                        <a:t>𝓘</a:t>
                      </a:r>
                      <a:r>
                        <a:rPr lang="en-GB" sz="2400">
                          <a:solidFill>
                            <a:srgbClr val="434343"/>
                          </a:solidFill>
                        </a:rPr>
                        <a:t> \{(o, o') ∈ r</a:t>
                      </a:r>
                      <a:r>
                        <a:rPr baseline="30000" lang="en-GB" sz="2400">
                          <a:solidFill>
                            <a:srgbClr val="434343"/>
                          </a:solidFill>
                        </a:rPr>
                        <a:t>𝓘</a:t>
                      </a:r>
                      <a:r>
                        <a:rPr lang="en-GB" sz="2400">
                          <a:solidFill>
                            <a:srgbClr val="434343"/>
                          </a:solidFill>
                        </a:rPr>
                        <a:t>}</a:t>
                      </a:r>
                      <a:endParaRPr sz="2400">
                        <a:solidFill>
                          <a:srgbClr val="434343"/>
                        </a:solidFill>
                      </a:endParaRPr>
                    </a:p>
                  </a:txBody>
                  <a:tcPr marT="18000" marB="18000" marR="18000" marL="18000"/>
                </a:tc>
              </a:tr>
              <a:tr h="566000">
                <a:tc>
                  <a:txBody>
                    <a:bodyPr/>
                    <a:lstStyle/>
                    <a:p>
                      <a:pPr indent="0" lvl="0" marL="0" rtl="0" algn="l">
                        <a:spcBef>
                          <a:spcPts val="0"/>
                        </a:spcBef>
                        <a:spcAft>
                          <a:spcPts val="0"/>
                        </a:spcAft>
                        <a:buNone/>
                      </a:pPr>
                      <a:r>
                        <a:rPr lang="en-GB" sz="2400">
                          <a:solidFill>
                            <a:srgbClr val="434343"/>
                          </a:solidFill>
                        </a:rPr>
                        <a:t>Vai trò ngược</a:t>
                      </a:r>
                      <a:endParaRPr sz="2400">
                        <a:solidFill>
                          <a:srgbClr val="434343"/>
                        </a:solidFill>
                      </a:endParaRPr>
                    </a:p>
                  </a:txBody>
                  <a:tcPr marT="18000" marB="18000" marR="18000" marL="18000"/>
                </a:tc>
                <a:tc>
                  <a:txBody>
                    <a:bodyPr/>
                    <a:lstStyle/>
                    <a:p>
                      <a:pPr indent="0" lvl="0" marL="0" rtl="0" algn="ctr">
                        <a:spcBef>
                          <a:spcPts val="0"/>
                        </a:spcBef>
                        <a:spcAft>
                          <a:spcPts val="0"/>
                        </a:spcAft>
                        <a:buNone/>
                      </a:pPr>
                      <a:r>
                        <a:rPr lang="en-GB" sz="2400">
                          <a:solidFill>
                            <a:srgbClr val="434343"/>
                          </a:solidFill>
                        </a:rPr>
                        <a:t>r</a:t>
                      </a:r>
                      <a:r>
                        <a:rPr baseline="30000" lang="en-GB" sz="2400">
                          <a:solidFill>
                            <a:srgbClr val="434343"/>
                          </a:solidFill>
                        </a:rPr>
                        <a:t>−</a:t>
                      </a:r>
                      <a:endParaRPr baseline="30000"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hasParent</a:t>
                      </a:r>
                      <a:r>
                        <a:rPr baseline="30000" lang="en-GB" sz="2400">
                          <a:solidFill>
                            <a:srgbClr val="434343"/>
                          </a:solidFill>
                        </a:rPr>
                        <a:t>−</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{(o, o') | (o', o) ∈ r</a:t>
                      </a:r>
                      <a:r>
                        <a:rPr baseline="30000" lang="en-GB" sz="2400">
                          <a:solidFill>
                            <a:srgbClr val="434343"/>
                          </a:solidFill>
                        </a:rPr>
                        <a:t>𝓘</a:t>
                      </a:r>
                      <a:r>
                        <a:rPr lang="en-GB" sz="2400">
                          <a:solidFill>
                            <a:srgbClr val="434343"/>
                          </a:solidFill>
                        </a:rPr>
                        <a:t> }</a:t>
                      </a:r>
                      <a:endParaRPr sz="2400">
                        <a:solidFill>
                          <a:srgbClr val="434343"/>
                        </a:solidFill>
                      </a:endParaRPr>
                    </a:p>
                  </a:txBody>
                  <a:tcPr marT="18000" marB="18000" marR="18000" marL="18000"/>
                </a:tc>
              </a:tr>
              <a:tr h="566000">
                <a:tc>
                  <a:txBody>
                    <a:bodyPr/>
                    <a:lstStyle/>
                    <a:p>
                      <a:pPr indent="0" lvl="0" marL="0" rtl="0" algn="l">
                        <a:spcBef>
                          <a:spcPts val="0"/>
                        </a:spcBef>
                        <a:spcAft>
                          <a:spcPts val="0"/>
                        </a:spcAft>
                        <a:buNone/>
                      </a:pPr>
                      <a:r>
                        <a:rPr lang="en-GB" sz="2400">
                          <a:solidFill>
                            <a:srgbClr val="434343"/>
                          </a:solidFill>
                        </a:rPr>
                        <a:t>Chuỗi vai trò</a:t>
                      </a:r>
                      <a:endParaRPr sz="2400">
                        <a:solidFill>
                          <a:srgbClr val="434343"/>
                        </a:solidFill>
                      </a:endParaRPr>
                    </a:p>
                  </a:txBody>
                  <a:tcPr marT="18000" marB="18000" marR="18000" marL="18000"/>
                </a:tc>
                <a:tc>
                  <a:txBody>
                    <a:bodyPr/>
                    <a:lstStyle/>
                    <a:p>
                      <a:pPr indent="0" lvl="0" marL="0" rtl="0" algn="ctr">
                        <a:spcBef>
                          <a:spcPts val="0"/>
                        </a:spcBef>
                        <a:spcAft>
                          <a:spcPts val="0"/>
                        </a:spcAft>
                        <a:buNone/>
                      </a:pPr>
                      <a:r>
                        <a:rPr lang="en-GB" sz="2400">
                          <a:solidFill>
                            <a:srgbClr val="434343"/>
                          </a:solidFill>
                        </a:rPr>
                        <a:t>r ◦ r'</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hasChild ◦ hasParent</a:t>
                      </a:r>
                      <a:endParaRPr sz="2400">
                        <a:solidFill>
                          <a:srgbClr val="434343"/>
                        </a:solidFill>
                      </a:endParaRPr>
                    </a:p>
                  </a:txBody>
                  <a:tcPr marT="18000" marB="18000" marR="18000" marL="18000"/>
                </a:tc>
                <a:tc>
                  <a:txBody>
                    <a:bodyPr/>
                    <a:lstStyle/>
                    <a:p>
                      <a:pPr indent="0" lvl="0" marL="0" rtl="0" algn="l">
                        <a:spcBef>
                          <a:spcPts val="0"/>
                        </a:spcBef>
                        <a:spcAft>
                          <a:spcPts val="0"/>
                        </a:spcAft>
                        <a:buNone/>
                      </a:pPr>
                      <a:r>
                        <a:rPr lang="en-GB" sz="2400">
                          <a:solidFill>
                            <a:srgbClr val="434343"/>
                          </a:solidFill>
                        </a:rPr>
                        <a:t>{(o, o') | (o, o'') </a:t>
                      </a:r>
                      <a:endParaRPr sz="2400">
                        <a:solidFill>
                          <a:srgbClr val="434343"/>
                        </a:solidFill>
                      </a:endParaRPr>
                    </a:p>
                    <a:p>
                      <a:pPr indent="0" lvl="0" marL="0" rtl="0" algn="l">
                        <a:spcBef>
                          <a:spcPts val="0"/>
                        </a:spcBef>
                        <a:spcAft>
                          <a:spcPts val="0"/>
                        </a:spcAft>
                        <a:buNone/>
                      </a:pPr>
                      <a:r>
                        <a:rPr lang="en-GB" sz="2400">
                          <a:solidFill>
                            <a:srgbClr val="434343"/>
                          </a:solidFill>
                        </a:rPr>
                        <a:t>   ∈ r</a:t>
                      </a:r>
                      <a:r>
                        <a:rPr baseline="30000" lang="en-GB" sz="2400">
                          <a:solidFill>
                            <a:srgbClr val="434343"/>
                          </a:solidFill>
                        </a:rPr>
                        <a:t>𝓘</a:t>
                      </a:r>
                      <a:r>
                        <a:rPr lang="en-GB" sz="2400">
                          <a:solidFill>
                            <a:srgbClr val="434343"/>
                          </a:solidFill>
                        </a:rPr>
                        <a:t>, (o'', o') ∈ r'</a:t>
                      </a:r>
                      <a:r>
                        <a:rPr baseline="30000" lang="en-GB" sz="2400">
                          <a:solidFill>
                            <a:srgbClr val="434343"/>
                          </a:solidFill>
                        </a:rPr>
                        <a:t>𝓘</a:t>
                      </a:r>
                      <a:r>
                        <a:rPr lang="en-GB" sz="2400">
                          <a:solidFill>
                            <a:srgbClr val="434343"/>
                          </a:solidFill>
                        </a:rPr>
                        <a:t>}</a:t>
                      </a:r>
                      <a:endParaRPr sz="2400">
                        <a:solidFill>
                          <a:srgbClr val="434343"/>
                        </a:solidFill>
                      </a:endParaRPr>
                    </a:p>
                  </a:txBody>
                  <a:tcPr marT="18000" marB="18000" marR="18000" marL="18000"/>
                </a:tc>
              </a:tr>
            </a:tbl>
          </a:graphicData>
        </a:graphic>
      </p:graphicFrame>
      <p:sp>
        <p:nvSpPr>
          <p:cNvPr id="445" name="Google Shape;445;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a:t>
            </a:r>
            <a:r>
              <a:rPr lang="en-GB"/>
              <a:t> các mệnh đề</a:t>
            </a:r>
            <a:endParaRPr/>
          </a:p>
        </p:txBody>
      </p:sp>
      <p:sp>
        <p:nvSpPr>
          <p:cNvPr id="451" name="Google Shape;451;p59"/>
          <p:cNvSpPr txBox="1"/>
          <p:nvPr>
            <p:ph idx="4294967295" type="body"/>
          </p:nvPr>
        </p:nvSpPr>
        <p:spPr>
          <a:xfrm>
            <a:off x="311700" y="1287400"/>
            <a:ext cx="8677800" cy="103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rPr>
              <a:t>K</a:t>
            </a:r>
            <a:r>
              <a:rPr lang="en-GB" sz="2400">
                <a:solidFill>
                  <a:srgbClr val="434343"/>
                </a:solidFill>
              </a:rPr>
              <a:t>iểm tra biểu diễn 𝓘 c</a:t>
            </a:r>
            <a:r>
              <a:rPr lang="en-GB" sz="2400">
                <a:solidFill>
                  <a:srgbClr val="434343"/>
                </a:solidFill>
              </a:rPr>
              <a:t>ó </a:t>
            </a:r>
            <a:r>
              <a:rPr lang="en-GB">
                <a:solidFill>
                  <a:srgbClr val="434343"/>
                </a:solidFill>
              </a:rPr>
              <a:t>phải là mô hình của</a:t>
            </a:r>
            <a:r>
              <a:rPr lang="en-GB" sz="2400">
                <a:solidFill>
                  <a:srgbClr val="434343"/>
                </a:solidFill>
              </a:rPr>
              <a:t> </a:t>
            </a:r>
            <a:r>
              <a:rPr lang="en-GB">
                <a:solidFill>
                  <a:srgbClr val="434343"/>
                </a:solidFill>
              </a:rPr>
              <a:t>mệnh đề </a:t>
            </a:r>
            <a:r>
              <a:rPr lang="en-GB" sz="2400">
                <a:solidFill>
                  <a:srgbClr val="434343"/>
                </a:solidFill>
              </a:rPr>
              <a:t>α h</a:t>
            </a:r>
            <a:r>
              <a:rPr lang="en-GB" sz="2400">
                <a:solidFill>
                  <a:srgbClr val="434343"/>
                </a:solidFill>
              </a:rPr>
              <a:t>ay không </a:t>
            </a:r>
            <a:r>
              <a:rPr lang="en-GB" sz="2400">
                <a:solidFill>
                  <a:srgbClr val="434343"/>
                </a:solidFill>
              </a:rPr>
              <a:t>(</a:t>
            </a:r>
            <a:r>
              <a:rPr lang="en-GB">
                <a:solidFill>
                  <a:srgbClr val="434343"/>
                </a:solidFill>
              </a:rPr>
              <a:t>ký hiệu</a:t>
            </a:r>
            <a:r>
              <a:rPr lang="en-GB" sz="2400">
                <a:solidFill>
                  <a:srgbClr val="434343"/>
                </a:solidFill>
              </a:rPr>
              <a:t> là: 𝓘 ⊨ α)</a:t>
            </a:r>
            <a:endParaRPr sz="2400">
              <a:solidFill>
                <a:srgbClr val="434343"/>
              </a:solidFill>
            </a:endParaRPr>
          </a:p>
        </p:txBody>
      </p:sp>
      <p:graphicFrame>
        <p:nvGraphicFramePr>
          <p:cNvPr id="452" name="Google Shape;452;p59"/>
          <p:cNvGraphicFramePr/>
          <p:nvPr/>
        </p:nvGraphicFramePr>
        <p:xfrm>
          <a:off x="312075" y="2476500"/>
          <a:ext cx="3000000" cy="3000000"/>
        </p:xfrm>
        <a:graphic>
          <a:graphicData uri="http://schemas.openxmlformats.org/drawingml/2006/table">
            <a:tbl>
              <a:tblPr>
                <a:noFill/>
                <a:tableStyleId>{301B1D0D-D2F0-4FFE-8277-CC19B5FD8E5E}</a:tableStyleId>
              </a:tblPr>
              <a:tblGrid>
                <a:gridCol w="2610100"/>
                <a:gridCol w="1903925"/>
                <a:gridCol w="3454325"/>
              </a:tblGrid>
              <a:tr h="517550">
                <a:tc>
                  <a:txBody>
                    <a:bodyPr/>
                    <a:lstStyle/>
                    <a:p>
                      <a:pPr indent="0" lvl="0" marL="0" rtl="0" algn="l">
                        <a:spcBef>
                          <a:spcPts val="0"/>
                        </a:spcBef>
                        <a:spcAft>
                          <a:spcPts val="0"/>
                        </a:spcAft>
                        <a:buNone/>
                      </a:pPr>
                      <a:r>
                        <a:rPr b="1" lang="en-GB" sz="2200">
                          <a:solidFill>
                            <a:srgbClr val="434343"/>
                          </a:solidFill>
                        </a:rPr>
                        <a:t>Tên</a:t>
                      </a:r>
                      <a:endParaRPr b="1" sz="2200">
                        <a:solidFill>
                          <a:srgbClr val="434343"/>
                        </a:solidFill>
                      </a:endParaRPr>
                    </a:p>
                  </a:txBody>
                  <a:tcPr marT="0" marB="0" marR="0" marL="72000"/>
                </a:tc>
                <a:tc>
                  <a:txBody>
                    <a:bodyPr/>
                    <a:lstStyle/>
                    <a:p>
                      <a:pPr indent="0" lvl="0" marL="0" rtl="0" algn="l">
                        <a:spcBef>
                          <a:spcPts val="0"/>
                        </a:spcBef>
                        <a:spcAft>
                          <a:spcPts val="0"/>
                        </a:spcAft>
                        <a:buNone/>
                      </a:pPr>
                      <a:r>
                        <a:rPr b="1" lang="en-GB" sz="2200">
                          <a:solidFill>
                            <a:srgbClr val="434343"/>
                          </a:solidFill>
                        </a:rPr>
                        <a:t>Cú pháp</a:t>
                      </a:r>
                      <a:endParaRPr b="1" sz="2200">
                        <a:solidFill>
                          <a:srgbClr val="434343"/>
                        </a:solidFill>
                      </a:endParaRPr>
                    </a:p>
                  </a:txBody>
                  <a:tcPr marT="0" marB="0" marR="0" marL="72000"/>
                </a:tc>
                <a:tc>
                  <a:txBody>
                    <a:bodyPr/>
                    <a:lstStyle/>
                    <a:p>
                      <a:pPr indent="0" lvl="0" marL="0" rtl="0" algn="l">
                        <a:spcBef>
                          <a:spcPts val="0"/>
                        </a:spcBef>
                        <a:spcAft>
                          <a:spcPts val="0"/>
                        </a:spcAft>
                        <a:buNone/>
                      </a:pPr>
                      <a:r>
                        <a:rPr b="1" lang="en-GB" sz="2200">
                          <a:solidFill>
                            <a:srgbClr val="434343"/>
                          </a:solidFill>
                        </a:rPr>
                        <a:t>Ngữ nghĩa</a:t>
                      </a:r>
                      <a:endParaRPr b="1" sz="2200">
                        <a:solidFill>
                          <a:srgbClr val="434343"/>
                        </a:solidFill>
                      </a:endParaRPr>
                    </a:p>
                  </a:txBody>
                  <a:tcPr marT="0" marB="0" marR="0" marL="72000"/>
                </a:tc>
              </a:tr>
              <a:tr h="471575">
                <a:tc>
                  <a:txBody>
                    <a:bodyPr/>
                    <a:lstStyle/>
                    <a:p>
                      <a:pPr indent="0" lvl="0" marL="0" rtl="0" algn="l">
                        <a:spcBef>
                          <a:spcPts val="0"/>
                        </a:spcBef>
                        <a:spcAft>
                          <a:spcPts val="0"/>
                        </a:spcAft>
                        <a:buNone/>
                      </a:pPr>
                      <a:r>
                        <a:rPr lang="en-GB" sz="2200">
                          <a:solidFill>
                            <a:srgbClr val="434343"/>
                          </a:solidFill>
                        </a:rPr>
                        <a:t>bao gồm</a:t>
                      </a:r>
                      <a:endParaRPr sz="2200">
                        <a:solidFill>
                          <a:srgbClr val="434343"/>
                        </a:solidFill>
                      </a:endParaRPr>
                    </a:p>
                  </a:txBody>
                  <a:tcPr marT="0" marB="0" marR="0" marL="72000"/>
                </a:tc>
                <a:tc>
                  <a:txBody>
                    <a:bodyPr/>
                    <a:lstStyle/>
                    <a:p>
                      <a:pPr indent="0" lvl="0" marL="0" rtl="0" algn="ctr">
                        <a:lnSpc>
                          <a:spcPct val="115000"/>
                        </a:lnSpc>
                        <a:spcBef>
                          <a:spcPts val="0"/>
                        </a:spcBef>
                        <a:spcAft>
                          <a:spcPts val="1600"/>
                        </a:spcAft>
                        <a:buClr>
                          <a:schemeClr val="dk1"/>
                        </a:buClr>
                        <a:buSzPts val="1100"/>
                        <a:buFont typeface="Arial"/>
                        <a:buNone/>
                      </a:pPr>
                      <a:r>
                        <a:rPr lang="en-GB" sz="2200">
                          <a:solidFill>
                            <a:srgbClr val="434343"/>
                          </a:solidFill>
                        </a:rPr>
                        <a:t>C </a:t>
                      </a:r>
                      <a:r>
                        <a:rPr lang="en-GB" sz="2200">
                          <a:solidFill>
                            <a:srgbClr val="434343"/>
                          </a:solidFill>
                        </a:rPr>
                        <a:t>⊑ </a:t>
                      </a:r>
                      <a:r>
                        <a:rPr lang="en-GB" sz="2200">
                          <a:solidFill>
                            <a:srgbClr val="434343"/>
                          </a:solidFill>
                        </a:rPr>
                        <a:t>D</a:t>
                      </a:r>
                      <a:endParaRPr sz="2200">
                        <a:solidFill>
                          <a:srgbClr val="434343"/>
                        </a:solidFill>
                      </a:endParaRPr>
                    </a:p>
                  </a:txBody>
                  <a:tcPr marT="0" marB="0" marR="0" marL="72000"/>
                </a:tc>
                <a:tc>
                  <a:txBody>
                    <a:bodyPr/>
                    <a:lstStyle/>
                    <a:p>
                      <a:pPr indent="0" lvl="0" marL="0" rtl="0" algn="l">
                        <a:spcBef>
                          <a:spcPts val="0"/>
                        </a:spcBef>
                        <a:spcAft>
                          <a:spcPts val="0"/>
                        </a:spcAft>
                        <a:buNone/>
                      </a:pPr>
                      <a:r>
                        <a:rPr lang="en-GB" sz="2200">
                          <a:solidFill>
                            <a:srgbClr val="434343"/>
                          </a:solidFill>
                        </a:rPr>
                        <a:t>đúng nếu C</a:t>
                      </a:r>
                      <a:r>
                        <a:rPr baseline="30000" lang="en-GB" sz="2200">
                          <a:solidFill>
                            <a:srgbClr val="434343"/>
                          </a:solidFill>
                        </a:rPr>
                        <a:t>𝓘</a:t>
                      </a:r>
                      <a:r>
                        <a:rPr lang="en-GB" sz="2200">
                          <a:solidFill>
                            <a:srgbClr val="434343"/>
                          </a:solidFill>
                        </a:rPr>
                        <a:t> ⊆ D</a:t>
                      </a:r>
                      <a:r>
                        <a:rPr baseline="30000" lang="en-GB" sz="2200">
                          <a:solidFill>
                            <a:srgbClr val="434343"/>
                          </a:solidFill>
                        </a:rPr>
                        <a:t>𝓘</a:t>
                      </a:r>
                      <a:r>
                        <a:rPr lang="en-GB" sz="2200">
                          <a:solidFill>
                            <a:srgbClr val="434343"/>
                          </a:solidFill>
                        </a:rPr>
                        <a:t> </a:t>
                      </a:r>
                      <a:endParaRPr sz="2200">
                        <a:solidFill>
                          <a:srgbClr val="434343"/>
                        </a:solidFill>
                      </a:endParaRPr>
                    </a:p>
                  </a:txBody>
                  <a:tcPr marT="0" marB="0" marR="0" marL="72000"/>
                </a:tc>
              </a:tr>
              <a:tr h="374925">
                <a:tc>
                  <a:txBody>
                    <a:bodyPr/>
                    <a:lstStyle/>
                    <a:p>
                      <a:pPr indent="0" lvl="0" marL="0" rtl="0" algn="l">
                        <a:spcBef>
                          <a:spcPts val="0"/>
                        </a:spcBef>
                        <a:spcAft>
                          <a:spcPts val="0"/>
                        </a:spcAft>
                        <a:buNone/>
                      </a:pPr>
                      <a:r>
                        <a:rPr lang="en-GB" sz="2200">
                          <a:solidFill>
                            <a:srgbClr val="434343"/>
                          </a:solidFill>
                        </a:rPr>
                        <a:t>tương đương</a:t>
                      </a:r>
                      <a:endParaRPr sz="2200">
                        <a:solidFill>
                          <a:srgbClr val="434343"/>
                        </a:solidFill>
                      </a:endParaRPr>
                    </a:p>
                  </a:txBody>
                  <a:tcPr marT="0" marB="0" marR="0" marL="72000"/>
                </a:tc>
                <a:tc>
                  <a:txBody>
                    <a:bodyPr/>
                    <a:lstStyle/>
                    <a:p>
                      <a:pPr indent="0" lvl="0" marL="0" rtl="0" algn="ctr">
                        <a:lnSpc>
                          <a:spcPct val="115000"/>
                        </a:lnSpc>
                        <a:spcBef>
                          <a:spcPts val="0"/>
                        </a:spcBef>
                        <a:spcAft>
                          <a:spcPts val="1600"/>
                        </a:spcAft>
                        <a:buNone/>
                      </a:pPr>
                      <a:r>
                        <a:rPr lang="en-GB" sz="2200">
                          <a:solidFill>
                            <a:srgbClr val="434343"/>
                          </a:solidFill>
                        </a:rPr>
                        <a:t>C ≡ D</a:t>
                      </a:r>
                      <a:endParaRPr sz="2200">
                        <a:solidFill>
                          <a:srgbClr val="434343"/>
                        </a:solidFill>
                      </a:endParaRPr>
                    </a:p>
                  </a:txBody>
                  <a:tcPr marT="0" marB="0" marR="0" marL="72000"/>
                </a:tc>
                <a:tc>
                  <a:txBody>
                    <a:bodyPr/>
                    <a:lstStyle/>
                    <a:p>
                      <a:pPr indent="0" lvl="0" marL="0" rtl="0" algn="l">
                        <a:spcBef>
                          <a:spcPts val="0"/>
                        </a:spcBef>
                        <a:spcAft>
                          <a:spcPts val="0"/>
                        </a:spcAft>
                        <a:buNone/>
                      </a:pPr>
                      <a:r>
                        <a:rPr lang="en-GB" sz="2200">
                          <a:solidFill>
                            <a:srgbClr val="434343"/>
                          </a:solidFill>
                        </a:rPr>
                        <a:t>đúng nếu C</a:t>
                      </a:r>
                      <a:r>
                        <a:rPr baseline="30000" lang="en-GB" sz="2200">
                          <a:solidFill>
                            <a:srgbClr val="434343"/>
                          </a:solidFill>
                        </a:rPr>
                        <a:t>𝓘</a:t>
                      </a:r>
                      <a:r>
                        <a:rPr lang="en-GB" sz="2200">
                          <a:solidFill>
                            <a:srgbClr val="434343"/>
                          </a:solidFill>
                        </a:rPr>
                        <a:t> = D</a:t>
                      </a:r>
                      <a:r>
                        <a:rPr baseline="30000" lang="en-GB" sz="2200">
                          <a:solidFill>
                            <a:srgbClr val="434343"/>
                          </a:solidFill>
                        </a:rPr>
                        <a:t>𝓘</a:t>
                      </a:r>
                      <a:r>
                        <a:rPr lang="en-GB" sz="2200">
                          <a:solidFill>
                            <a:srgbClr val="434343"/>
                          </a:solidFill>
                        </a:rPr>
                        <a:t> </a:t>
                      </a:r>
                      <a:endParaRPr sz="2200">
                        <a:solidFill>
                          <a:srgbClr val="434343"/>
                        </a:solidFill>
                      </a:endParaRPr>
                    </a:p>
                  </a:txBody>
                  <a:tcPr marT="0" marB="0" marR="0" marL="72000"/>
                </a:tc>
              </a:tr>
              <a:tr h="374925">
                <a:tc>
                  <a:txBody>
                    <a:bodyPr/>
                    <a:lstStyle/>
                    <a:p>
                      <a:pPr indent="0" lvl="0" marL="0" rtl="0" algn="l">
                        <a:spcBef>
                          <a:spcPts val="0"/>
                        </a:spcBef>
                        <a:spcAft>
                          <a:spcPts val="0"/>
                        </a:spcAft>
                        <a:buNone/>
                      </a:pPr>
                      <a:r>
                        <a:rPr lang="en-GB" sz="2200">
                          <a:solidFill>
                            <a:srgbClr val="434343"/>
                          </a:solidFill>
                        </a:rPr>
                        <a:t>kiểm tra khái niệm</a:t>
                      </a:r>
                      <a:endParaRPr sz="2200">
                        <a:solidFill>
                          <a:srgbClr val="434343"/>
                        </a:solidFill>
                      </a:endParaRPr>
                    </a:p>
                  </a:txBody>
                  <a:tcPr marT="0" marB="0" marR="0" marL="72000"/>
                </a:tc>
                <a:tc>
                  <a:txBody>
                    <a:bodyPr/>
                    <a:lstStyle/>
                    <a:p>
                      <a:pPr indent="0" lvl="0" marL="0" rtl="0" algn="ctr">
                        <a:spcBef>
                          <a:spcPts val="0"/>
                        </a:spcBef>
                        <a:spcAft>
                          <a:spcPts val="0"/>
                        </a:spcAft>
                        <a:buNone/>
                      </a:pPr>
                      <a:r>
                        <a:rPr lang="en-GB" sz="2200">
                          <a:solidFill>
                            <a:srgbClr val="434343"/>
                          </a:solidFill>
                        </a:rPr>
                        <a:t>C(a)</a:t>
                      </a:r>
                      <a:endParaRPr sz="2200">
                        <a:solidFill>
                          <a:srgbClr val="434343"/>
                        </a:solidFill>
                      </a:endParaRPr>
                    </a:p>
                  </a:txBody>
                  <a:tcPr marT="0" marB="0" marR="0" marL="72000"/>
                </a:tc>
                <a:tc>
                  <a:txBody>
                    <a:bodyPr/>
                    <a:lstStyle/>
                    <a:p>
                      <a:pPr indent="0" lvl="0" marL="0" rtl="0" algn="l">
                        <a:spcBef>
                          <a:spcPts val="0"/>
                        </a:spcBef>
                        <a:spcAft>
                          <a:spcPts val="0"/>
                        </a:spcAft>
                        <a:buNone/>
                      </a:pPr>
                      <a:r>
                        <a:rPr lang="en-GB" sz="2200">
                          <a:solidFill>
                            <a:srgbClr val="434343"/>
                          </a:solidFill>
                        </a:rPr>
                        <a:t>đúng nếu a</a:t>
                      </a:r>
                      <a:r>
                        <a:rPr baseline="30000" lang="en-GB" sz="2200">
                          <a:solidFill>
                            <a:srgbClr val="434343"/>
                          </a:solidFill>
                        </a:rPr>
                        <a:t>𝓘</a:t>
                      </a:r>
                      <a:r>
                        <a:rPr lang="en-GB" sz="2200">
                          <a:solidFill>
                            <a:srgbClr val="434343"/>
                          </a:solidFill>
                        </a:rPr>
                        <a:t> ∈ C</a:t>
                      </a:r>
                      <a:r>
                        <a:rPr baseline="30000" lang="en-GB" sz="2200">
                          <a:solidFill>
                            <a:srgbClr val="434343"/>
                          </a:solidFill>
                        </a:rPr>
                        <a:t>𝓘</a:t>
                      </a:r>
                      <a:endParaRPr sz="2200">
                        <a:solidFill>
                          <a:srgbClr val="434343"/>
                        </a:solidFill>
                      </a:endParaRPr>
                    </a:p>
                  </a:txBody>
                  <a:tcPr marT="0" marB="0" marR="0" marL="72000"/>
                </a:tc>
              </a:tr>
              <a:tr h="522050">
                <a:tc>
                  <a:txBody>
                    <a:bodyPr/>
                    <a:lstStyle/>
                    <a:p>
                      <a:pPr indent="0" lvl="0" marL="0" rtl="0" algn="l">
                        <a:spcBef>
                          <a:spcPts val="0"/>
                        </a:spcBef>
                        <a:spcAft>
                          <a:spcPts val="0"/>
                        </a:spcAft>
                        <a:buNone/>
                      </a:pPr>
                      <a:r>
                        <a:rPr lang="en-GB" sz="2200">
                          <a:solidFill>
                            <a:srgbClr val="434343"/>
                          </a:solidFill>
                        </a:rPr>
                        <a:t>khẳng định</a:t>
                      </a:r>
                      <a:r>
                        <a:rPr lang="en-GB" sz="2200">
                          <a:solidFill>
                            <a:srgbClr val="434343"/>
                          </a:solidFill>
                        </a:rPr>
                        <a:t> vai trò</a:t>
                      </a:r>
                      <a:endParaRPr sz="2200">
                        <a:solidFill>
                          <a:srgbClr val="434343"/>
                        </a:solidFill>
                      </a:endParaRPr>
                    </a:p>
                  </a:txBody>
                  <a:tcPr marT="0" marB="0" marR="0" marL="72000"/>
                </a:tc>
                <a:tc>
                  <a:txBody>
                    <a:bodyPr/>
                    <a:lstStyle/>
                    <a:p>
                      <a:pPr indent="0" lvl="0" marL="0" rtl="0" algn="ctr">
                        <a:spcBef>
                          <a:spcPts val="0"/>
                        </a:spcBef>
                        <a:spcAft>
                          <a:spcPts val="0"/>
                        </a:spcAft>
                        <a:buNone/>
                      </a:pPr>
                      <a:r>
                        <a:rPr lang="en-GB" sz="2200">
                          <a:solidFill>
                            <a:srgbClr val="434343"/>
                          </a:solidFill>
                        </a:rPr>
                        <a:t>r(a, b)</a:t>
                      </a:r>
                      <a:endParaRPr sz="2200">
                        <a:solidFill>
                          <a:srgbClr val="434343"/>
                        </a:solidFill>
                      </a:endParaRPr>
                    </a:p>
                  </a:txBody>
                  <a:tcPr marT="0" marB="0" marR="0" marL="72000"/>
                </a:tc>
                <a:tc>
                  <a:txBody>
                    <a:bodyPr/>
                    <a:lstStyle/>
                    <a:p>
                      <a:pPr indent="0" lvl="0" marL="0" rtl="0" algn="l">
                        <a:spcBef>
                          <a:spcPts val="0"/>
                        </a:spcBef>
                        <a:spcAft>
                          <a:spcPts val="0"/>
                        </a:spcAft>
                        <a:buNone/>
                      </a:pPr>
                      <a:r>
                        <a:rPr lang="en-GB" sz="2200">
                          <a:solidFill>
                            <a:srgbClr val="434343"/>
                          </a:solidFill>
                        </a:rPr>
                        <a:t>đúng nếu (a</a:t>
                      </a:r>
                      <a:r>
                        <a:rPr baseline="30000" lang="en-GB" sz="2200">
                          <a:solidFill>
                            <a:srgbClr val="434343"/>
                          </a:solidFill>
                        </a:rPr>
                        <a:t>𝓘</a:t>
                      </a:r>
                      <a:r>
                        <a:rPr lang="en-GB" sz="2200">
                          <a:solidFill>
                            <a:srgbClr val="434343"/>
                          </a:solidFill>
                        </a:rPr>
                        <a:t>, b</a:t>
                      </a:r>
                      <a:r>
                        <a:rPr baseline="30000" lang="en-GB" sz="2200">
                          <a:solidFill>
                            <a:srgbClr val="434343"/>
                          </a:solidFill>
                        </a:rPr>
                        <a:t>𝓘</a:t>
                      </a:r>
                      <a:r>
                        <a:rPr lang="en-GB" sz="2200">
                          <a:solidFill>
                            <a:srgbClr val="434343"/>
                          </a:solidFill>
                        </a:rPr>
                        <a:t>) ∈ r</a:t>
                      </a:r>
                      <a:r>
                        <a:rPr baseline="30000" lang="en-GB" sz="2200">
                          <a:solidFill>
                            <a:srgbClr val="434343"/>
                          </a:solidFill>
                        </a:rPr>
                        <a:t>𝓘</a:t>
                      </a:r>
                      <a:endParaRPr sz="2200">
                        <a:solidFill>
                          <a:srgbClr val="434343"/>
                        </a:solidFill>
                      </a:endParaRPr>
                    </a:p>
                  </a:txBody>
                  <a:tcPr marT="0" marB="0" marR="0" marL="72000"/>
                </a:tc>
              </a:tr>
              <a:tr h="624875">
                <a:tc>
                  <a:txBody>
                    <a:bodyPr/>
                    <a:lstStyle/>
                    <a:p>
                      <a:pPr indent="0" lvl="0" marL="0" rtl="0" algn="l">
                        <a:spcBef>
                          <a:spcPts val="0"/>
                        </a:spcBef>
                        <a:spcAft>
                          <a:spcPts val="0"/>
                        </a:spcAft>
                        <a:buNone/>
                      </a:pPr>
                      <a:r>
                        <a:rPr lang="en-GB" sz="2200">
                          <a:solidFill>
                            <a:srgbClr val="434343"/>
                          </a:solidFill>
                        </a:rPr>
                        <a:t>phủ định vai trò</a:t>
                      </a:r>
                      <a:endParaRPr sz="2200">
                        <a:solidFill>
                          <a:srgbClr val="434343"/>
                        </a:solidFill>
                      </a:endParaRPr>
                    </a:p>
                  </a:txBody>
                  <a:tcPr marT="0" marB="0" marR="0" marL="72000"/>
                </a:tc>
                <a:tc>
                  <a:txBody>
                    <a:bodyPr/>
                    <a:lstStyle/>
                    <a:p>
                      <a:pPr indent="0" lvl="0" marL="0" rtl="0" algn="ctr">
                        <a:spcBef>
                          <a:spcPts val="0"/>
                        </a:spcBef>
                        <a:spcAft>
                          <a:spcPts val="0"/>
                        </a:spcAft>
                        <a:buNone/>
                      </a:pPr>
                      <a:r>
                        <a:rPr lang="en-GB" sz="2200">
                          <a:solidFill>
                            <a:srgbClr val="434343"/>
                          </a:solidFill>
                        </a:rPr>
                        <a:t>¬r(a, b)</a:t>
                      </a:r>
                      <a:endParaRPr sz="2200">
                        <a:solidFill>
                          <a:srgbClr val="434343"/>
                        </a:solidFill>
                      </a:endParaRPr>
                    </a:p>
                  </a:txBody>
                  <a:tcPr marT="0" marB="0" marR="0" marL="72000"/>
                </a:tc>
                <a:tc>
                  <a:txBody>
                    <a:bodyPr/>
                    <a:lstStyle/>
                    <a:p>
                      <a:pPr indent="0" lvl="0" marL="0" rtl="0" algn="l">
                        <a:spcBef>
                          <a:spcPts val="0"/>
                        </a:spcBef>
                        <a:spcAft>
                          <a:spcPts val="0"/>
                        </a:spcAft>
                        <a:buNone/>
                      </a:pPr>
                      <a:r>
                        <a:rPr lang="en-GB" sz="2200">
                          <a:solidFill>
                            <a:srgbClr val="434343"/>
                          </a:solidFill>
                        </a:rPr>
                        <a:t>đúng nếu (a</a:t>
                      </a:r>
                      <a:r>
                        <a:rPr baseline="30000" lang="en-GB" sz="2200">
                          <a:solidFill>
                            <a:srgbClr val="434343"/>
                          </a:solidFill>
                        </a:rPr>
                        <a:t>𝓘</a:t>
                      </a:r>
                      <a:r>
                        <a:rPr lang="en-GB" sz="2200">
                          <a:solidFill>
                            <a:srgbClr val="434343"/>
                          </a:solidFill>
                        </a:rPr>
                        <a:t>, b</a:t>
                      </a:r>
                      <a:r>
                        <a:rPr baseline="30000" lang="en-GB" sz="2200">
                          <a:solidFill>
                            <a:srgbClr val="434343"/>
                          </a:solidFill>
                        </a:rPr>
                        <a:t>𝓘</a:t>
                      </a:r>
                      <a:r>
                        <a:rPr lang="en-GB" sz="2200">
                          <a:solidFill>
                            <a:srgbClr val="434343"/>
                          </a:solidFill>
                        </a:rPr>
                        <a:t>) ∈ r</a:t>
                      </a:r>
                      <a:r>
                        <a:rPr baseline="30000" lang="en-GB" sz="2200">
                          <a:solidFill>
                            <a:srgbClr val="434343"/>
                          </a:solidFill>
                        </a:rPr>
                        <a:t>𝓘</a:t>
                      </a:r>
                      <a:endParaRPr sz="2200">
                        <a:solidFill>
                          <a:srgbClr val="434343"/>
                        </a:solidFill>
                      </a:endParaRPr>
                    </a:p>
                  </a:txBody>
                  <a:tcPr marT="0" marB="0" marR="0" marL="72000"/>
                </a:tc>
              </a:tr>
            </a:tbl>
          </a:graphicData>
        </a:graphic>
      </p:graphicFrame>
      <p:sp>
        <p:nvSpPr>
          <p:cNvPr id="453" name="Google Shape;453;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a:t>
            </a:r>
            <a:r>
              <a:rPr lang="en-GB"/>
              <a:t>dựa trên</a:t>
            </a:r>
            <a:r>
              <a:rPr lang="en-GB"/>
              <a:t> FOL</a:t>
            </a:r>
            <a:endParaRPr baseline="-25000"/>
          </a:p>
        </p:txBody>
      </p:sp>
      <p:sp>
        <p:nvSpPr>
          <p:cNvPr id="459" name="Google Shape;459;p60"/>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rgbClr val="434343"/>
                </a:solidFill>
              </a:rPr>
              <a:t>N</a:t>
            </a:r>
            <a:r>
              <a:rPr i="1" lang="en-GB" sz="2400">
                <a:solidFill>
                  <a:srgbClr val="434343"/>
                </a:solidFill>
              </a:rPr>
              <a:t>gữ nghĩa của biểu thức DL có thể được xác định dựa trên </a:t>
            </a:r>
            <a:r>
              <a:rPr i="1" lang="en-GB">
                <a:solidFill>
                  <a:srgbClr val="434343"/>
                </a:solidFill>
              </a:rPr>
              <a:t>biểu thức</a:t>
            </a:r>
            <a:r>
              <a:rPr i="1" lang="en-GB" sz="2400">
                <a:solidFill>
                  <a:srgbClr val="434343"/>
                </a:solidFill>
              </a:rPr>
              <a:t> tương ứng </a:t>
            </a:r>
            <a:r>
              <a:rPr i="1" lang="en-GB">
                <a:solidFill>
                  <a:srgbClr val="434343"/>
                </a:solidFill>
              </a:rPr>
              <a:t>trong</a:t>
            </a:r>
            <a:r>
              <a:rPr i="1" lang="en-GB" sz="2400">
                <a:solidFill>
                  <a:srgbClr val="434343"/>
                </a:solidFill>
              </a:rPr>
              <a:t> FOL.</a:t>
            </a:r>
            <a:endParaRPr i="1" sz="2400">
              <a:solidFill>
                <a:srgbClr val="434343"/>
              </a:solidFill>
            </a:endParaRPr>
          </a:p>
        </p:txBody>
      </p:sp>
      <p:sp>
        <p:nvSpPr>
          <p:cNvPr id="460" name="Google Shape;460;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đổi DL về FOL: Các mô tả tài nguyên</a:t>
            </a:r>
            <a:endParaRPr/>
          </a:p>
        </p:txBody>
      </p:sp>
      <p:sp>
        <p:nvSpPr>
          <p:cNvPr id="466" name="Google Shape;466;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67" name="Google Shape;467;p61"/>
          <p:cNvGraphicFramePr/>
          <p:nvPr/>
        </p:nvGraphicFramePr>
        <p:xfrm>
          <a:off x="439675" y="1128275"/>
          <a:ext cx="3000000" cy="3000000"/>
        </p:xfrm>
        <a:graphic>
          <a:graphicData uri="http://schemas.openxmlformats.org/drawingml/2006/table">
            <a:tbl>
              <a:tblPr>
                <a:noFill/>
                <a:tableStyleId>{301B1D0D-D2F0-4FFE-8277-CC19B5FD8E5E}</a:tableStyleId>
              </a:tblPr>
              <a:tblGrid>
                <a:gridCol w="2625675"/>
                <a:gridCol w="4674450"/>
              </a:tblGrid>
              <a:tr h="421600">
                <a:tc>
                  <a:txBody>
                    <a:bodyPr/>
                    <a:lstStyle/>
                    <a:p>
                      <a:pPr indent="0" lvl="0" marL="0" rtl="0" algn="ctr">
                        <a:spcBef>
                          <a:spcPts val="0"/>
                        </a:spcBef>
                        <a:spcAft>
                          <a:spcPts val="0"/>
                        </a:spcAft>
                        <a:buNone/>
                      </a:pPr>
                      <a:r>
                        <a:rPr b="1" lang="en-GB" sz="2200">
                          <a:solidFill>
                            <a:srgbClr val="666666"/>
                          </a:solidFill>
                        </a:rPr>
                        <a:t>Biểu thức DL</a:t>
                      </a:r>
                      <a:endParaRPr b="1" sz="2200">
                        <a:solidFill>
                          <a:srgbClr val="666666"/>
                        </a:solidFill>
                      </a:endParaRPr>
                    </a:p>
                  </a:txBody>
                  <a:tcPr marT="18000" marB="18000" marR="91425" marL="91425" anchor="ctr"/>
                </a:tc>
                <a:tc>
                  <a:txBody>
                    <a:bodyPr/>
                    <a:lstStyle/>
                    <a:p>
                      <a:pPr indent="0" lvl="0" marL="0" rtl="0" algn="ctr">
                        <a:spcBef>
                          <a:spcPts val="0"/>
                        </a:spcBef>
                        <a:spcAft>
                          <a:spcPts val="0"/>
                        </a:spcAft>
                        <a:buNone/>
                      </a:pPr>
                      <a:r>
                        <a:rPr b="1" lang="en-GB" sz="2200">
                          <a:solidFill>
                            <a:srgbClr val="666666"/>
                          </a:solidFill>
                        </a:rPr>
                        <a:t>Biểu thức FOL</a:t>
                      </a:r>
                      <a:endParaRPr b="1" sz="2200">
                        <a:solidFill>
                          <a:srgbClr val="666666"/>
                        </a:solidFill>
                      </a:endParaRPr>
                    </a:p>
                  </a:txBody>
                  <a:tcPr marT="18000" marB="18000" marR="91425" marL="91425" anchor="ctr"/>
                </a:tc>
              </a:tr>
              <a:tr h="421600">
                <a:tc>
                  <a:txBody>
                    <a:bodyPr/>
                    <a:lstStyle/>
                    <a:p>
                      <a:pPr indent="0" lvl="0" marL="0" rtl="0" algn="ctr">
                        <a:spcBef>
                          <a:spcPts val="0"/>
                        </a:spcBef>
                        <a:spcAft>
                          <a:spcPts val="0"/>
                        </a:spcAft>
                        <a:buNone/>
                      </a:pPr>
                      <a:r>
                        <a:rPr lang="en-GB" sz="2200">
                          <a:solidFill>
                            <a:srgbClr val="666666"/>
                          </a:solidFill>
                        </a:rPr>
                        <a:t>C(a)</a:t>
                      </a:r>
                      <a:endParaRPr sz="2200">
                        <a:solidFill>
                          <a:srgbClr val="666666"/>
                        </a:solidFill>
                      </a:endParaRPr>
                    </a:p>
                  </a:txBody>
                  <a:tcPr marT="18000" marB="18000" marR="91425" marL="91425" anchor="ctr"/>
                </a:tc>
                <a:tc>
                  <a:txBody>
                    <a:bodyPr/>
                    <a:lstStyle/>
                    <a:p>
                      <a:pPr indent="0" lvl="0" marL="0" rtl="0" algn="ctr">
                        <a:spcBef>
                          <a:spcPts val="0"/>
                        </a:spcBef>
                        <a:spcAft>
                          <a:spcPts val="0"/>
                        </a:spcAft>
                        <a:buClr>
                          <a:schemeClr val="dk1"/>
                        </a:buClr>
                        <a:buSzPts val="1100"/>
                        <a:buFont typeface="Arial"/>
                        <a:buNone/>
                      </a:pPr>
                      <a:r>
                        <a:rPr lang="en-GB" sz="2200">
                          <a:solidFill>
                            <a:srgbClr val="666666"/>
                          </a:solidFill>
                        </a:rPr>
                        <a:t>C(a)</a:t>
                      </a:r>
                      <a:endParaRPr sz="2400">
                        <a:solidFill>
                          <a:srgbClr val="666666"/>
                        </a:solidFill>
                      </a:endParaRPr>
                    </a:p>
                  </a:txBody>
                  <a:tcPr marT="18000" marB="18000" marR="91425" marL="91425" anchor="ctr"/>
                </a:tc>
              </a:tr>
              <a:tr h="421600">
                <a:tc>
                  <a:txBody>
                    <a:bodyPr/>
                    <a:lstStyle/>
                    <a:p>
                      <a:pPr indent="0" lvl="0" marL="0" rtl="0" algn="ctr">
                        <a:spcBef>
                          <a:spcPts val="0"/>
                        </a:spcBef>
                        <a:spcAft>
                          <a:spcPts val="0"/>
                        </a:spcAft>
                        <a:buClr>
                          <a:schemeClr val="dk1"/>
                        </a:buClr>
                        <a:buSzPts val="1100"/>
                        <a:buFont typeface="Arial"/>
                        <a:buNone/>
                      </a:pPr>
                      <a:r>
                        <a:rPr lang="en-GB" sz="2200">
                          <a:solidFill>
                            <a:srgbClr val="666666"/>
                          </a:solidFill>
                        </a:rPr>
                        <a:t>r(a, b)</a:t>
                      </a:r>
                      <a:endParaRPr sz="2200">
                        <a:solidFill>
                          <a:srgbClr val="666666"/>
                        </a:solidFill>
                      </a:endParaRPr>
                    </a:p>
                  </a:txBody>
                  <a:tcPr marT="18000" marB="18000" marR="91425" marL="91425" anchor="ctr"/>
                </a:tc>
                <a:tc>
                  <a:txBody>
                    <a:bodyPr/>
                    <a:lstStyle/>
                    <a:p>
                      <a:pPr indent="0" lvl="0" marL="0" rtl="0" algn="ctr">
                        <a:spcBef>
                          <a:spcPts val="0"/>
                        </a:spcBef>
                        <a:spcAft>
                          <a:spcPts val="0"/>
                        </a:spcAft>
                        <a:buNone/>
                      </a:pPr>
                      <a:r>
                        <a:rPr lang="en-GB" sz="2200">
                          <a:solidFill>
                            <a:srgbClr val="666666"/>
                          </a:solidFill>
                        </a:rPr>
                        <a:t>r(a, b)</a:t>
                      </a:r>
                      <a:endParaRPr sz="2200">
                        <a:solidFill>
                          <a:srgbClr val="666666"/>
                        </a:solidFill>
                      </a:endParaRPr>
                    </a:p>
                  </a:txBody>
                  <a:tcPr marT="18000" marB="18000" marR="91425" marL="91425" anchor="ctr"/>
                </a:tc>
              </a:tr>
              <a:tr h="421600">
                <a:tc>
                  <a:txBody>
                    <a:bodyPr/>
                    <a:lstStyle/>
                    <a:p>
                      <a:pPr indent="0" lvl="0" marL="0" rtl="0" algn="ctr">
                        <a:spcBef>
                          <a:spcPts val="0"/>
                        </a:spcBef>
                        <a:spcAft>
                          <a:spcPts val="0"/>
                        </a:spcAft>
                        <a:buClr>
                          <a:schemeClr val="dk1"/>
                        </a:buClr>
                        <a:buSzPts val="1100"/>
                        <a:buFont typeface="Arial"/>
                        <a:buNone/>
                      </a:pPr>
                      <a:r>
                        <a:rPr lang="en-GB" sz="2200">
                          <a:solidFill>
                            <a:srgbClr val="666666"/>
                          </a:solidFill>
                        </a:rPr>
                        <a:t>¬r(a, b)</a:t>
                      </a:r>
                      <a:endParaRPr sz="2200">
                        <a:solidFill>
                          <a:srgbClr val="666666"/>
                        </a:solidFill>
                      </a:endParaRPr>
                    </a:p>
                  </a:txBody>
                  <a:tcPr marT="18000" marB="18000" marR="91425" marL="91425" anchor="ctr"/>
                </a:tc>
                <a:tc>
                  <a:txBody>
                    <a:bodyPr/>
                    <a:lstStyle/>
                    <a:p>
                      <a:pPr indent="0" lvl="0" marL="0" rtl="0" algn="ctr">
                        <a:spcBef>
                          <a:spcPts val="0"/>
                        </a:spcBef>
                        <a:spcAft>
                          <a:spcPts val="0"/>
                        </a:spcAft>
                        <a:buClr>
                          <a:schemeClr val="dk1"/>
                        </a:buClr>
                        <a:buSzPts val="1100"/>
                        <a:buFont typeface="Arial"/>
                        <a:buNone/>
                      </a:pPr>
                      <a:r>
                        <a:rPr lang="en-GB" sz="2200">
                          <a:solidFill>
                            <a:srgbClr val="666666"/>
                          </a:solidFill>
                        </a:rPr>
                        <a:t>¬r(a, b)</a:t>
                      </a:r>
                      <a:endParaRPr sz="2200">
                        <a:solidFill>
                          <a:srgbClr val="666666"/>
                        </a:solidFill>
                      </a:endParaRPr>
                    </a:p>
                  </a:txBody>
                  <a:tcPr marT="18000" marB="18000" marR="91425" marL="91425" anchor="ct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đổi DL về FO</a:t>
            </a:r>
            <a:r>
              <a:rPr lang="en-GB"/>
              <a:t>L: Các biểu thức khái niệm</a:t>
            </a:r>
            <a:endParaRPr baseline="-25000"/>
          </a:p>
        </p:txBody>
      </p:sp>
      <p:sp>
        <p:nvSpPr>
          <p:cNvPr id="473" name="Google Shape;473;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74" name="Google Shape;474;p62"/>
          <p:cNvGraphicFramePr/>
          <p:nvPr/>
        </p:nvGraphicFramePr>
        <p:xfrm>
          <a:off x="515875" y="1128275"/>
          <a:ext cx="3000000" cy="3000000"/>
        </p:xfrm>
        <a:graphic>
          <a:graphicData uri="http://schemas.openxmlformats.org/drawingml/2006/table">
            <a:tbl>
              <a:tblPr>
                <a:noFill/>
                <a:tableStyleId>{301B1D0D-D2F0-4FFE-8277-CC19B5FD8E5E}</a:tableStyleId>
              </a:tblPr>
              <a:tblGrid>
                <a:gridCol w="1613350"/>
                <a:gridCol w="6614200"/>
              </a:tblGrid>
              <a:tr h="446500">
                <a:tc>
                  <a:txBody>
                    <a:bodyPr/>
                    <a:lstStyle/>
                    <a:p>
                      <a:pPr indent="0" lvl="0" marL="0" rtl="0" algn="ctr">
                        <a:spcBef>
                          <a:spcPts val="0"/>
                        </a:spcBef>
                        <a:spcAft>
                          <a:spcPts val="0"/>
                        </a:spcAft>
                        <a:buNone/>
                      </a:pPr>
                      <a:r>
                        <a:rPr b="1" lang="en-GB" sz="2200">
                          <a:solidFill>
                            <a:srgbClr val="666666"/>
                          </a:solidFill>
                        </a:rPr>
                        <a:t>DL</a:t>
                      </a:r>
                      <a:endParaRPr b="1" sz="2200">
                        <a:solidFill>
                          <a:srgbClr val="666666"/>
                        </a:solidFill>
                      </a:endParaRPr>
                    </a:p>
                  </a:txBody>
                  <a:tcPr marT="18000" marB="18000" marR="91425" marL="91425" anchor="ctr"/>
                </a:tc>
                <a:tc>
                  <a:txBody>
                    <a:bodyPr/>
                    <a:lstStyle/>
                    <a:p>
                      <a:pPr indent="0" lvl="0" marL="0" rtl="0" algn="ctr">
                        <a:spcBef>
                          <a:spcPts val="0"/>
                        </a:spcBef>
                        <a:spcAft>
                          <a:spcPts val="0"/>
                        </a:spcAft>
                        <a:buNone/>
                      </a:pPr>
                      <a:r>
                        <a:rPr b="1" lang="en-GB" sz="2200">
                          <a:solidFill>
                            <a:srgbClr val="666666"/>
                          </a:solidFill>
                        </a:rPr>
                        <a:t>FOL</a:t>
                      </a:r>
                      <a:endParaRPr b="1"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C</a:t>
                      </a:r>
                      <a:endParaRPr sz="2200">
                        <a:solidFill>
                          <a:srgbClr val="666666"/>
                        </a:solidFill>
                      </a:endParaRPr>
                    </a:p>
                  </a:txBody>
                  <a:tcPr marT="18000" marB="18000" marR="91425" marL="91425" anchor="ctr"/>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(∀x)C(x)</a:t>
                      </a:r>
                      <a:endParaRPr sz="2400">
                        <a:solidFill>
                          <a:srgbClr val="666666"/>
                        </a:solidFill>
                      </a:endParaRPr>
                    </a:p>
                  </a:txBody>
                  <a:tcPr marT="18000" marB="18000" marR="91425" marL="91425" anchor="ctr"/>
                </a:tc>
              </a:tr>
              <a:tr h="446500">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¬C</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a:t>
                      </a:r>
                      <a:r>
                        <a:rPr lang="en-GB" sz="2200">
                          <a:solidFill>
                            <a:srgbClr val="666666"/>
                          </a:solidFill>
                        </a:rPr>
                        <a:t>¬C(x))</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C ⨅ D</a:t>
                      </a:r>
                      <a:endParaRPr sz="2200">
                        <a:solidFill>
                          <a:srgbClr val="666666"/>
                        </a:solidFill>
                      </a:endParaRPr>
                    </a:p>
                  </a:txBody>
                  <a:tcPr marT="18000" marB="18000" marR="91425" marL="91425" anchor="ctr"/>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(∀x)(C(x) ∧ D(x))</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C ⨆ D</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a:t>
                      </a:r>
                      <a:r>
                        <a:rPr lang="en-GB" sz="2200">
                          <a:solidFill>
                            <a:srgbClr val="666666"/>
                          </a:solidFill>
                        </a:rPr>
                        <a:t>C(x) ∨ D(x))</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∀r.C</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(∀x)((∀y)(</a:t>
                      </a:r>
                      <a:r>
                        <a:rPr lang="en-GB" sz="2200">
                          <a:solidFill>
                            <a:srgbClr val="666666"/>
                          </a:solidFill>
                        </a:rPr>
                        <a:t>r(x, y) → C(y))))</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∃r.C</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a:t>
                      </a:r>
                      <a:r>
                        <a:rPr lang="en-GB" sz="2200">
                          <a:solidFill>
                            <a:srgbClr val="666666"/>
                          </a:solidFill>
                        </a:rPr>
                        <a:t>(∃y)(r(x, y) ∧ C(y))))</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{a}</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 = a</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∃s.Self</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s(x, x)</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 n s.C</a:t>
                      </a:r>
                      <a:endParaRPr sz="2200">
                        <a:solidFill>
                          <a:srgbClr val="666666"/>
                        </a:solidFill>
                      </a:endParaRPr>
                    </a:p>
                  </a:txBody>
                  <a:tcPr marT="18000" marB="18000" marR="91425" marL="91425" anchor="ctr"/>
                </a:tc>
                <a:tc>
                  <a:txBody>
                    <a:bodyPr/>
                    <a:lstStyle/>
                    <a:p>
                      <a:pPr indent="0" lvl="0" marL="0" rtl="0" algn="l">
                        <a:lnSpc>
                          <a:spcPct val="115000"/>
                        </a:lnSpc>
                        <a:spcBef>
                          <a:spcPts val="0"/>
                        </a:spcBef>
                        <a:spcAft>
                          <a:spcPts val="1000"/>
                        </a:spcAft>
                        <a:buNone/>
                      </a:pPr>
                      <a:r>
                        <a:rPr lang="en-GB" sz="2200">
                          <a:solidFill>
                            <a:srgbClr val="666666"/>
                          </a:solidFill>
                        </a:rPr>
                        <a:t>(∀x)(</a:t>
                      </a:r>
                      <a:r>
                        <a:rPr lang="en-GB" sz="2200">
                          <a:solidFill>
                            <a:srgbClr val="666666"/>
                          </a:solidFill>
                        </a:rPr>
                        <a:t>∃x</a:t>
                      </a:r>
                      <a:r>
                        <a:rPr baseline="-25000" lang="en-GB" sz="2200">
                          <a:solidFill>
                            <a:srgbClr val="666666"/>
                          </a:solidFill>
                        </a:rPr>
                        <a:t>1</a:t>
                      </a:r>
                      <a:r>
                        <a:rPr lang="en-GB" sz="2200">
                          <a:solidFill>
                            <a:srgbClr val="666666"/>
                          </a:solidFill>
                        </a:rPr>
                        <a:t> . . . ∃x</a:t>
                      </a:r>
                      <a:r>
                        <a:rPr baseline="-25000" lang="en-GB" sz="2200">
                          <a:solidFill>
                            <a:srgbClr val="666666"/>
                          </a:solidFill>
                        </a:rPr>
                        <a:t>n</a:t>
                      </a:r>
                      <a:r>
                        <a:rPr lang="en-GB" sz="2200">
                          <a:solidFill>
                            <a:srgbClr val="666666"/>
                          </a:solidFill>
                        </a:rPr>
                        <a:t>(⋀</a:t>
                      </a:r>
                      <a:r>
                        <a:rPr baseline="-25000" lang="en-GB" sz="2200">
                          <a:solidFill>
                            <a:srgbClr val="666666"/>
                          </a:solidFill>
                        </a:rPr>
                        <a:t>i≠j</a:t>
                      </a:r>
                      <a:r>
                        <a:rPr lang="en-GB" sz="2200">
                          <a:solidFill>
                            <a:srgbClr val="666666"/>
                          </a:solidFill>
                        </a:rPr>
                        <a:t>(x</a:t>
                      </a:r>
                      <a:r>
                        <a:rPr baseline="-25000" lang="en-GB" sz="2200">
                          <a:solidFill>
                            <a:srgbClr val="666666"/>
                          </a:solidFill>
                        </a:rPr>
                        <a:t>i</a:t>
                      </a:r>
                      <a:r>
                        <a:rPr lang="en-GB" sz="2200">
                          <a:solidFill>
                            <a:srgbClr val="666666"/>
                          </a:solidFill>
                        </a:rPr>
                        <a:t> ≠ x</a:t>
                      </a:r>
                      <a:r>
                        <a:rPr baseline="-25000" lang="en-GB" sz="2200">
                          <a:solidFill>
                            <a:srgbClr val="666666"/>
                          </a:solidFill>
                        </a:rPr>
                        <a:t>j</a:t>
                      </a:r>
                      <a:r>
                        <a:rPr lang="en-GB" sz="2200">
                          <a:solidFill>
                            <a:srgbClr val="666666"/>
                          </a:solidFill>
                        </a:rPr>
                        <a:t>) ∧ ⋀</a:t>
                      </a:r>
                      <a:r>
                        <a:rPr baseline="-25000" lang="en-GB" sz="2200">
                          <a:solidFill>
                            <a:srgbClr val="666666"/>
                          </a:solidFill>
                        </a:rPr>
                        <a:t>i</a:t>
                      </a:r>
                      <a:r>
                        <a:rPr lang="en-GB" sz="2200">
                          <a:solidFill>
                            <a:srgbClr val="666666"/>
                          </a:solidFill>
                        </a:rPr>
                        <a:t>(s(x, x</a:t>
                      </a:r>
                      <a:r>
                        <a:rPr baseline="-25000" lang="en-GB" sz="2200">
                          <a:solidFill>
                            <a:srgbClr val="666666"/>
                          </a:solidFill>
                        </a:rPr>
                        <a:t>i</a:t>
                      </a:r>
                      <a:r>
                        <a:rPr lang="en-GB" sz="2200">
                          <a:solidFill>
                            <a:srgbClr val="666666"/>
                          </a:solidFill>
                        </a:rPr>
                        <a:t>) ∧ C(x</a:t>
                      </a:r>
                      <a:r>
                        <a:rPr baseline="-25000" lang="en-GB" sz="2200">
                          <a:solidFill>
                            <a:srgbClr val="666666"/>
                          </a:solidFill>
                        </a:rPr>
                        <a:t>i</a:t>
                      </a:r>
                      <a:r>
                        <a:rPr lang="en-GB" sz="2200">
                          <a:solidFill>
                            <a:srgbClr val="666666"/>
                          </a:solidFill>
                        </a:rPr>
                        <a:t>))))</a:t>
                      </a:r>
                      <a:endParaRPr sz="2200">
                        <a:solidFill>
                          <a:srgbClr val="666666"/>
                        </a:solidFill>
                      </a:endParaRPr>
                    </a:p>
                  </a:txBody>
                  <a:tcPr marT="18000" marB="18000" marR="91425" marL="91425" anchor="ctr"/>
                </a:tc>
              </a:tr>
              <a:tr h="446500">
                <a:tc>
                  <a:txBody>
                    <a:bodyPr/>
                    <a:lstStyle/>
                    <a:p>
                      <a:pPr indent="0" lvl="0" marL="0" rtl="0" algn="l">
                        <a:spcBef>
                          <a:spcPts val="0"/>
                        </a:spcBef>
                        <a:spcAft>
                          <a:spcPts val="0"/>
                        </a:spcAft>
                        <a:buNone/>
                      </a:pPr>
                      <a:r>
                        <a:rPr lang="en-GB" sz="2200">
                          <a:solidFill>
                            <a:srgbClr val="666666"/>
                          </a:solidFill>
                        </a:rPr>
                        <a:t>&lt; n s.C</a:t>
                      </a:r>
                      <a:endParaRPr sz="2200">
                        <a:solidFill>
                          <a:srgbClr val="666666"/>
                        </a:solidFill>
                      </a:endParaRPr>
                    </a:p>
                  </a:txBody>
                  <a:tcPr marT="18000" marB="18000" marR="91425" marL="91425" anchor="ctr"/>
                </a:tc>
                <a:tc>
                  <a:txBody>
                    <a:bodyPr/>
                    <a:lstStyle/>
                    <a:p>
                      <a:pPr indent="0" lvl="0" marL="0" rtl="0" algn="l">
                        <a:lnSpc>
                          <a:spcPct val="150000"/>
                        </a:lnSpc>
                        <a:spcBef>
                          <a:spcPts val="0"/>
                        </a:spcBef>
                        <a:spcAft>
                          <a:spcPts val="0"/>
                        </a:spcAft>
                        <a:buClr>
                          <a:schemeClr val="dk1"/>
                        </a:buClr>
                        <a:buSzPts val="1100"/>
                        <a:buFont typeface="Arial"/>
                        <a:buNone/>
                      </a:pPr>
                      <a:r>
                        <a:rPr lang="en-GB" sz="2200">
                          <a:solidFill>
                            <a:srgbClr val="666666"/>
                          </a:solidFill>
                        </a:rPr>
                        <a:t>(∀x)(</a:t>
                      </a:r>
                      <a:r>
                        <a:rPr lang="en-GB" sz="2200">
                          <a:solidFill>
                            <a:srgbClr val="666666"/>
                          </a:solidFill>
                        </a:rPr>
                        <a:t>¬(</a:t>
                      </a:r>
                      <a:r>
                        <a:rPr lang="en-GB" sz="2200">
                          <a:solidFill>
                            <a:srgbClr val="666666"/>
                          </a:solidFill>
                        </a:rPr>
                        <a:t>∃x</a:t>
                      </a:r>
                      <a:r>
                        <a:rPr baseline="-25000" lang="en-GB" sz="2200">
                          <a:solidFill>
                            <a:srgbClr val="666666"/>
                          </a:solidFill>
                        </a:rPr>
                        <a:t>1</a:t>
                      </a:r>
                      <a:r>
                        <a:rPr lang="en-GB" sz="2200">
                          <a:solidFill>
                            <a:srgbClr val="666666"/>
                          </a:solidFill>
                        </a:rPr>
                        <a:t>. . . ∃x</a:t>
                      </a:r>
                      <a:r>
                        <a:rPr baseline="-25000" lang="en-GB" sz="2200">
                          <a:solidFill>
                            <a:srgbClr val="666666"/>
                          </a:solidFill>
                        </a:rPr>
                        <a:t>n</a:t>
                      </a:r>
                      <a:r>
                        <a:rPr lang="en-GB" sz="2200">
                          <a:solidFill>
                            <a:srgbClr val="666666"/>
                          </a:solidFill>
                        </a:rPr>
                        <a:t>(⋀</a:t>
                      </a:r>
                      <a:r>
                        <a:rPr baseline="-25000" lang="en-GB" sz="2200">
                          <a:solidFill>
                            <a:srgbClr val="666666"/>
                          </a:solidFill>
                        </a:rPr>
                        <a:t>i≠j</a:t>
                      </a:r>
                      <a:r>
                        <a:rPr lang="en-GB" sz="2200">
                          <a:solidFill>
                            <a:srgbClr val="666666"/>
                          </a:solidFill>
                        </a:rPr>
                        <a:t>(x</a:t>
                      </a:r>
                      <a:r>
                        <a:rPr baseline="-25000" lang="en-GB" sz="2200">
                          <a:solidFill>
                            <a:srgbClr val="666666"/>
                          </a:solidFill>
                        </a:rPr>
                        <a:t>i</a:t>
                      </a:r>
                      <a:r>
                        <a:rPr lang="en-GB" sz="2200">
                          <a:solidFill>
                            <a:srgbClr val="666666"/>
                          </a:solidFill>
                        </a:rPr>
                        <a:t> ≠ x</a:t>
                      </a:r>
                      <a:r>
                        <a:rPr baseline="-25000" lang="en-GB" sz="2200">
                          <a:solidFill>
                            <a:srgbClr val="666666"/>
                          </a:solidFill>
                        </a:rPr>
                        <a:t>j</a:t>
                      </a:r>
                      <a:r>
                        <a:rPr lang="en-GB" sz="2200">
                          <a:solidFill>
                            <a:srgbClr val="666666"/>
                          </a:solidFill>
                        </a:rPr>
                        <a:t>) ∧ ⋀</a:t>
                      </a:r>
                      <a:r>
                        <a:rPr baseline="-25000" lang="en-GB" sz="2200">
                          <a:solidFill>
                            <a:srgbClr val="666666"/>
                          </a:solidFill>
                        </a:rPr>
                        <a:t>i</a:t>
                      </a:r>
                      <a:r>
                        <a:rPr lang="en-GB" sz="2200">
                          <a:solidFill>
                            <a:srgbClr val="666666"/>
                          </a:solidFill>
                        </a:rPr>
                        <a:t>(s(x, x</a:t>
                      </a:r>
                      <a:r>
                        <a:rPr baseline="-25000" lang="en-GB" sz="2200">
                          <a:solidFill>
                            <a:srgbClr val="666666"/>
                          </a:solidFill>
                        </a:rPr>
                        <a:t>i</a:t>
                      </a:r>
                      <a:r>
                        <a:rPr lang="en-GB" sz="2200">
                          <a:solidFill>
                            <a:srgbClr val="666666"/>
                          </a:solidFill>
                        </a:rPr>
                        <a:t>) ∧ C(x</a:t>
                      </a:r>
                      <a:r>
                        <a:rPr baseline="-25000" lang="en-GB" sz="2200">
                          <a:solidFill>
                            <a:srgbClr val="666666"/>
                          </a:solidFill>
                        </a:rPr>
                        <a:t>i</a:t>
                      </a:r>
                      <a:r>
                        <a:rPr lang="en-GB" sz="2200">
                          <a:solidFill>
                            <a:srgbClr val="666666"/>
                          </a:solidFill>
                        </a:rPr>
                        <a:t>))))</a:t>
                      </a:r>
                      <a:endParaRPr sz="2200">
                        <a:solidFill>
                          <a:srgbClr val="666666"/>
                        </a:solidFill>
                      </a:endParaRPr>
                    </a:p>
                  </a:txBody>
                  <a:tcPr marT="18000" marB="18000" marR="91425" marL="91425" anchor="ct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đổi DL về FOL: Các </a:t>
            </a:r>
            <a:r>
              <a:rPr lang="en-GB"/>
              <a:t>mệnh đề</a:t>
            </a:r>
            <a:r>
              <a:rPr lang="en-GB"/>
              <a:t> vai trò</a:t>
            </a:r>
            <a:endParaRPr baseline="-25000"/>
          </a:p>
        </p:txBody>
      </p:sp>
      <p:sp>
        <p:nvSpPr>
          <p:cNvPr id="480" name="Google Shape;480;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81" name="Google Shape;481;p63"/>
          <p:cNvGraphicFramePr/>
          <p:nvPr/>
        </p:nvGraphicFramePr>
        <p:xfrm>
          <a:off x="311700" y="1128275"/>
          <a:ext cx="3000000" cy="3000000"/>
        </p:xfrm>
        <a:graphic>
          <a:graphicData uri="http://schemas.openxmlformats.org/drawingml/2006/table">
            <a:tbl>
              <a:tblPr>
                <a:noFill/>
                <a:tableStyleId>{301B1D0D-D2F0-4FFE-8277-CC19B5FD8E5E}</a:tableStyleId>
              </a:tblPr>
              <a:tblGrid>
                <a:gridCol w="1604575"/>
                <a:gridCol w="6976875"/>
              </a:tblGrid>
              <a:tr h="421600">
                <a:tc>
                  <a:txBody>
                    <a:bodyPr/>
                    <a:lstStyle/>
                    <a:p>
                      <a:pPr indent="0" lvl="0" marL="0" rtl="0" algn="ctr">
                        <a:spcBef>
                          <a:spcPts val="0"/>
                        </a:spcBef>
                        <a:spcAft>
                          <a:spcPts val="0"/>
                        </a:spcAft>
                        <a:buNone/>
                      </a:pPr>
                      <a:r>
                        <a:rPr b="1" lang="en-GB" sz="2200">
                          <a:solidFill>
                            <a:srgbClr val="666666"/>
                          </a:solidFill>
                        </a:rPr>
                        <a:t>DL</a:t>
                      </a:r>
                      <a:endParaRPr b="1" sz="2200">
                        <a:solidFill>
                          <a:srgbClr val="666666"/>
                        </a:solidFill>
                      </a:endParaRPr>
                    </a:p>
                  </a:txBody>
                  <a:tcPr marT="18000" marB="18000" marR="91425" marL="91425" anchor="ctr"/>
                </a:tc>
                <a:tc>
                  <a:txBody>
                    <a:bodyPr/>
                    <a:lstStyle/>
                    <a:p>
                      <a:pPr indent="0" lvl="0" marL="0" rtl="0" algn="ctr">
                        <a:spcBef>
                          <a:spcPts val="0"/>
                        </a:spcBef>
                        <a:spcAft>
                          <a:spcPts val="0"/>
                        </a:spcAft>
                        <a:buNone/>
                      </a:pPr>
                      <a:r>
                        <a:rPr b="1" lang="en-GB" sz="2200">
                          <a:solidFill>
                            <a:srgbClr val="666666"/>
                          </a:solidFill>
                        </a:rPr>
                        <a:t>FOL</a:t>
                      </a:r>
                      <a:endParaRPr b="1" sz="2200">
                        <a:solidFill>
                          <a:srgbClr val="666666"/>
                        </a:solidFill>
                      </a:endParaRPr>
                    </a:p>
                  </a:txBody>
                  <a:tcPr marT="18000" marB="18000" marR="91425" marL="91425" anchor="ctr"/>
                </a:tc>
              </a:tr>
              <a:tr h="421600">
                <a:tc>
                  <a:txBody>
                    <a:bodyPr/>
                    <a:lstStyle/>
                    <a:p>
                      <a:pPr indent="0" lvl="0" marL="0" rtl="0" algn="l">
                        <a:spcBef>
                          <a:spcPts val="0"/>
                        </a:spcBef>
                        <a:spcAft>
                          <a:spcPts val="0"/>
                        </a:spcAft>
                        <a:buNone/>
                      </a:pPr>
                      <a:r>
                        <a:rPr lang="en-GB" sz="2200">
                          <a:solidFill>
                            <a:srgbClr val="666666"/>
                          </a:solidFill>
                        </a:rPr>
                        <a:t>s = </a:t>
                      </a:r>
                      <a:r>
                        <a:rPr lang="en-GB" sz="2200">
                          <a:solidFill>
                            <a:srgbClr val="666666"/>
                          </a:solidFill>
                        </a:rPr>
                        <a:t>r</a:t>
                      </a:r>
                      <a:r>
                        <a:rPr baseline="30000" lang="en-GB" sz="2200">
                          <a:solidFill>
                            <a:srgbClr val="666666"/>
                          </a:solidFill>
                        </a:rPr>
                        <a:t>−</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(∀x)(∀y)(r(x, y) → s(y, x))</a:t>
                      </a:r>
                      <a:endParaRPr sz="2200">
                        <a:solidFill>
                          <a:srgbClr val="666666"/>
                        </a:solidFill>
                      </a:endParaRPr>
                    </a:p>
                  </a:txBody>
                  <a:tcPr marT="18000" marB="18000" marR="91425" marL="91425" anchor="ctr"/>
                </a:tc>
              </a:tr>
              <a:tr h="421600">
                <a:tc>
                  <a:txBody>
                    <a:bodyPr/>
                    <a:lstStyle/>
                    <a:p>
                      <a:pPr indent="0" lvl="0" marL="0" rtl="0" algn="l">
                        <a:spcBef>
                          <a:spcPts val="0"/>
                        </a:spcBef>
                        <a:spcAft>
                          <a:spcPts val="0"/>
                        </a:spcAft>
                        <a:buNone/>
                      </a:pPr>
                      <a:r>
                        <a:rPr lang="en-GB" sz="2200">
                          <a:solidFill>
                            <a:srgbClr val="666666"/>
                          </a:solidFill>
                        </a:rPr>
                        <a:t>r ⊑ s</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(∀x)(∀y)(r(x, y) → s(x, y))</a:t>
                      </a:r>
                      <a:endParaRPr sz="2200">
                        <a:solidFill>
                          <a:srgbClr val="666666"/>
                        </a:solidFill>
                      </a:endParaRPr>
                    </a:p>
                  </a:txBody>
                  <a:tcPr marT="18000" marB="18000" marR="91425" marL="91425" anchor="ctr"/>
                </a:tc>
              </a:tr>
              <a:tr h="421600">
                <a:tc>
                  <a:txBody>
                    <a:bodyPr/>
                    <a:lstStyle/>
                    <a:p>
                      <a:pPr indent="0" lvl="0" marL="0" rtl="0" algn="l">
                        <a:spcBef>
                          <a:spcPts val="0"/>
                        </a:spcBef>
                        <a:spcAft>
                          <a:spcPts val="0"/>
                        </a:spcAft>
                        <a:buNone/>
                      </a:pPr>
                      <a:r>
                        <a:rPr lang="en-GB" sz="2200">
                          <a:solidFill>
                            <a:srgbClr val="666666"/>
                          </a:solidFill>
                        </a:rPr>
                        <a:t>Ref(r)</a:t>
                      </a:r>
                      <a:endParaRPr sz="2200">
                        <a:solidFill>
                          <a:srgbClr val="666666"/>
                        </a:solidFill>
                      </a:endParaRPr>
                    </a:p>
                  </a:txBody>
                  <a:tcPr marT="18000" marB="18000" marR="91425" marL="91425" anchor="ctr"/>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(∀x)(r(x, x))</a:t>
                      </a:r>
                      <a:endParaRPr sz="2200">
                        <a:solidFill>
                          <a:srgbClr val="666666"/>
                        </a:solidFill>
                      </a:endParaRPr>
                    </a:p>
                  </a:txBody>
                  <a:tcPr marT="18000" marB="18000" marR="91425" marL="91425" anchor="ctr"/>
                </a:tc>
              </a:tr>
              <a:tr h="421600">
                <a:tc>
                  <a:txBody>
                    <a:bodyPr/>
                    <a:lstStyle/>
                    <a:p>
                      <a:pPr indent="0" lvl="0" marL="0" rtl="0" algn="l">
                        <a:spcBef>
                          <a:spcPts val="0"/>
                        </a:spcBef>
                        <a:spcAft>
                          <a:spcPts val="0"/>
                        </a:spcAft>
                        <a:buNone/>
                      </a:pPr>
                      <a:r>
                        <a:rPr lang="en-GB" sz="2200">
                          <a:solidFill>
                            <a:srgbClr val="666666"/>
                          </a:solidFill>
                        </a:rPr>
                        <a:t>Asy(r)</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(∀x)(∀y)(r(x, y) </a:t>
                      </a:r>
                      <a:r>
                        <a:rPr lang="en-GB" sz="2200">
                          <a:solidFill>
                            <a:srgbClr val="666666"/>
                          </a:solidFill>
                        </a:rPr>
                        <a:t>→ ¬r(y, x))</a:t>
                      </a:r>
                      <a:endParaRPr sz="2200">
                        <a:solidFill>
                          <a:srgbClr val="666666"/>
                        </a:solidFill>
                      </a:endParaRPr>
                    </a:p>
                  </a:txBody>
                  <a:tcPr marT="18000" marB="18000" marR="91425" marL="91425" anchor="ctr"/>
                </a:tc>
              </a:tr>
              <a:tr h="421600">
                <a:tc>
                  <a:txBody>
                    <a:bodyPr/>
                    <a:lstStyle/>
                    <a:p>
                      <a:pPr indent="0" lvl="0" marL="0" rtl="0" algn="l">
                        <a:spcBef>
                          <a:spcPts val="0"/>
                        </a:spcBef>
                        <a:spcAft>
                          <a:spcPts val="0"/>
                        </a:spcAft>
                        <a:buNone/>
                      </a:pPr>
                      <a:r>
                        <a:rPr lang="en-GB" sz="2200">
                          <a:solidFill>
                            <a:srgbClr val="666666"/>
                          </a:solidFill>
                        </a:rPr>
                        <a:t>Dis(r, s)</a:t>
                      </a:r>
                      <a:endParaRPr sz="2200">
                        <a:solidFill>
                          <a:srgbClr val="666666"/>
                        </a:solidFill>
                      </a:endParaRPr>
                    </a:p>
                  </a:txBody>
                  <a:tcPr marT="18000" marB="18000" marR="91425" marL="91425" anchor="ctr"/>
                </a:tc>
                <a:tc>
                  <a:txBody>
                    <a:bodyPr/>
                    <a:lstStyle/>
                    <a:p>
                      <a:pPr indent="0" lvl="0" marL="0" rtl="0" algn="l">
                        <a:spcBef>
                          <a:spcPts val="0"/>
                        </a:spcBef>
                        <a:spcAft>
                          <a:spcPts val="0"/>
                        </a:spcAft>
                        <a:buNone/>
                      </a:pPr>
                      <a:r>
                        <a:rPr lang="en-GB" sz="2200">
                          <a:solidFill>
                            <a:srgbClr val="666666"/>
                          </a:solidFill>
                        </a:rPr>
                        <a:t>¬(∃x)(∃y)(r(x, y) ∧ r(y, x))</a:t>
                      </a:r>
                      <a:endParaRPr sz="2200">
                        <a:solidFill>
                          <a:srgbClr val="666666"/>
                        </a:solidFill>
                      </a:endParaRPr>
                    </a:p>
                  </a:txBody>
                  <a:tcPr marT="18000" marB="18000" marR="91425" marL="91425" anchor="ctr"/>
                </a:tc>
              </a:tr>
              <a:tr h="421600">
                <a:tc>
                  <a:txBody>
                    <a:bodyPr/>
                    <a:lstStyle/>
                    <a:p>
                      <a:pPr indent="0" lvl="0" marL="0" rtl="0" algn="l">
                        <a:lnSpc>
                          <a:spcPct val="150000"/>
                        </a:lnSpc>
                        <a:spcBef>
                          <a:spcPts val="0"/>
                        </a:spcBef>
                        <a:spcAft>
                          <a:spcPts val="0"/>
                        </a:spcAft>
                        <a:buClr>
                          <a:schemeClr val="dk1"/>
                        </a:buClr>
                        <a:buSzPts val="1100"/>
                        <a:buFont typeface="Arial"/>
                        <a:buNone/>
                      </a:pPr>
                      <a:r>
                        <a:rPr lang="en-GB" sz="2200">
                          <a:solidFill>
                            <a:srgbClr val="666666"/>
                          </a:solidFill>
                        </a:rPr>
                        <a:t>r</a:t>
                      </a:r>
                      <a:r>
                        <a:rPr baseline="-25000" lang="en-GB" sz="2200">
                          <a:solidFill>
                            <a:srgbClr val="666666"/>
                          </a:solidFill>
                        </a:rPr>
                        <a:t>1</a:t>
                      </a:r>
                      <a:r>
                        <a:rPr lang="en-GB" sz="2200">
                          <a:solidFill>
                            <a:srgbClr val="666666"/>
                          </a:solidFill>
                        </a:rPr>
                        <a:t>◦···◦r</a:t>
                      </a:r>
                      <a:r>
                        <a:rPr baseline="-25000" lang="en-GB" sz="2200">
                          <a:solidFill>
                            <a:srgbClr val="666666"/>
                          </a:solidFill>
                        </a:rPr>
                        <a:t>n</a:t>
                      </a:r>
                      <a:r>
                        <a:rPr lang="en-GB" sz="2200">
                          <a:solidFill>
                            <a:srgbClr val="666666"/>
                          </a:solidFill>
                        </a:rPr>
                        <a:t> ⊑ s</a:t>
                      </a:r>
                      <a:endParaRPr sz="2200">
                        <a:solidFill>
                          <a:srgbClr val="666666"/>
                        </a:solidFill>
                      </a:endParaRPr>
                    </a:p>
                  </a:txBody>
                  <a:tcPr marT="18000" marB="18000" marR="91425" marL="91425" anchor="ctr"/>
                </a:tc>
                <a:tc>
                  <a:txBody>
                    <a:bodyPr/>
                    <a:lstStyle/>
                    <a:p>
                      <a:pPr indent="0" lvl="0" marL="0" rtl="0" algn="l">
                        <a:lnSpc>
                          <a:spcPct val="150000"/>
                        </a:lnSpc>
                        <a:spcBef>
                          <a:spcPts val="0"/>
                        </a:spcBef>
                        <a:spcAft>
                          <a:spcPts val="0"/>
                        </a:spcAft>
                        <a:buClr>
                          <a:schemeClr val="dk1"/>
                        </a:buClr>
                        <a:buSzPts val="1100"/>
                        <a:buFont typeface="Arial"/>
                        <a:buNone/>
                      </a:pPr>
                      <a:r>
                        <a:rPr lang="en-GB" sz="2200">
                          <a:solidFill>
                            <a:srgbClr val="666666"/>
                          </a:solidFill>
                        </a:rPr>
                        <a:t>(∀x)(∀y)(∃x</a:t>
                      </a:r>
                      <a:r>
                        <a:rPr baseline="-25000" lang="en-GB" sz="2200">
                          <a:solidFill>
                            <a:srgbClr val="666666"/>
                          </a:solidFill>
                        </a:rPr>
                        <a:t>1</a:t>
                      </a:r>
                      <a:r>
                        <a:rPr lang="en-GB" sz="2200">
                          <a:solidFill>
                            <a:srgbClr val="666666"/>
                          </a:solidFill>
                        </a:rPr>
                        <a:t>). . .(∃x</a:t>
                      </a:r>
                      <a:r>
                        <a:rPr baseline="-25000" lang="en-GB" sz="2200">
                          <a:solidFill>
                            <a:srgbClr val="666666"/>
                          </a:solidFill>
                        </a:rPr>
                        <a:t>n−1</a:t>
                      </a:r>
                      <a:r>
                        <a:rPr lang="en-GB" sz="2200">
                          <a:solidFill>
                            <a:srgbClr val="666666"/>
                          </a:solidFill>
                        </a:rPr>
                        <a:t>)(r</a:t>
                      </a:r>
                      <a:r>
                        <a:rPr baseline="-25000" lang="en-GB" sz="2200">
                          <a:solidFill>
                            <a:srgbClr val="666666"/>
                          </a:solidFill>
                        </a:rPr>
                        <a:t>1</a:t>
                      </a:r>
                      <a:r>
                        <a:rPr lang="en-GB" sz="2200">
                          <a:solidFill>
                            <a:srgbClr val="666666"/>
                          </a:solidFill>
                        </a:rPr>
                        <a:t>(x, x</a:t>
                      </a:r>
                      <a:r>
                        <a:rPr baseline="-25000" lang="en-GB" sz="2200">
                          <a:solidFill>
                            <a:srgbClr val="666666"/>
                          </a:solidFill>
                        </a:rPr>
                        <a:t>1</a:t>
                      </a:r>
                      <a:r>
                        <a:rPr lang="en-GB" sz="2200">
                          <a:solidFill>
                            <a:srgbClr val="666666"/>
                          </a:solidFill>
                        </a:rPr>
                        <a:t>)∧…∧r</a:t>
                      </a:r>
                      <a:r>
                        <a:rPr baseline="-25000" lang="en-GB" sz="2200">
                          <a:solidFill>
                            <a:srgbClr val="666666"/>
                          </a:solidFill>
                        </a:rPr>
                        <a:t>n</a:t>
                      </a:r>
                      <a:r>
                        <a:rPr lang="en-GB" sz="2200">
                          <a:solidFill>
                            <a:srgbClr val="666666"/>
                          </a:solidFill>
                        </a:rPr>
                        <a:t>(x</a:t>
                      </a:r>
                      <a:r>
                        <a:rPr baseline="-25000" lang="en-GB" sz="2200">
                          <a:solidFill>
                            <a:srgbClr val="666666"/>
                          </a:solidFill>
                        </a:rPr>
                        <a:t>n</a:t>
                      </a:r>
                      <a:r>
                        <a:rPr lang="en-GB" sz="2200">
                          <a:solidFill>
                            <a:srgbClr val="666666"/>
                          </a:solidFill>
                        </a:rPr>
                        <a:t>,y) → s(x, y))</a:t>
                      </a:r>
                      <a:endParaRPr sz="2200">
                        <a:solidFill>
                          <a:srgbClr val="666666"/>
                        </a:solidFill>
                      </a:endParaRPr>
                    </a:p>
                  </a:txBody>
                  <a:tcPr marT="18000" marB="18000" marR="91425" marL="91425" anchor="ct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khái niệm tương đương</a:t>
            </a:r>
            <a:endParaRPr/>
          </a:p>
        </p:txBody>
      </p:sp>
      <p:sp>
        <p:nvSpPr>
          <p:cNvPr id="487" name="Google Shape;487;p64"/>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434343"/>
                </a:solidFill>
              </a:rPr>
              <a:t>C ≡ D, </a:t>
            </a:r>
            <a:r>
              <a:rPr lang="en-GB">
                <a:solidFill>
                  <a:srgbClr val="434343"/>
                </a:solidFill>
              </a:rPr>
              <a:t>các</a:t>
            </a:r>
            <a:r>
              <a:rPr lang="en-GB" sz="2400">
                <a:solidFill>
                  <a:srgbClr val="434343"/>
                </a:solidFill>
              </a:rPr>
              <a:t> biểu thức khái niệm C và D là tương đương nếu với tất cả </a:t>
            </a:r>
            <a:r>
              <a:rPr lang="en-GB">
                <a:solidFill>
                  <a:srgbClr val="434343"/>
                </a:solidFill>
              </a:rPr>
              <a:t>các </a:t>
            </a:r>
            <a:r>
              <a:rPr lang="en-GB" sz="2400">
                <a:solidFill>
                  <a:srgbClr val="434343"/>
                </a:solidFill>
              </a:rPr>
              <a:t>biểu diễn 𝓘 thì C</a:t>
            </a:r>
            <a:r>
              <a:rPr baseline="30000" lang="en-GB" sz="2400">
                <a:solidFill>
                  <a:srgbClr val="434343"/>
                </a:solidFill>
              </a:rPr>
              <a:t>𝓘</a:t>
            </a:r>
            <a:r>
              <a:rPr lang="en-GB" sz="2400">
                <a:solidFill>
                  <a:srgbClr val="434343"/>
                </a:solidFill>
              </a:rPr>
              <a:t> = D</a:t>
            </a:r>
            <a:r>
              <a:rPr baseline="30000" lang="en-GB" sz="2400">
                <a:solidFill>
                  <a:srgbClr val="434343"/>
                </a:solidFill>
              </a:rPr>
              <a:t>𝓘</a:t>
            </a:r>
            <a:r>
              <a:rPr lang="en-GB" sz="2400">
                <a:solidFill>
                  <a:srgbClr val="434343"/>
                </a:solidFill>
              </a:rPr>
              <a:t>.</a:t>
            </a:r>
            <a:endParaRPr sz="2400">
              <a:solidFill>
                <a:srgbClr val="434343"/>
              </a:solidFill>
            </a:endParaRPr>
          </a:p>
          <a:p>
            <a:pPr indent="-381000" lvl="0" marL="457200" rtl="0" algn="l">
              <a:spcBef>
                <a:spcPts val="0"/>
              </a:spcBef>
              <a:spcAft>
                <a:spcPts val="0"/>
              </a:spcAft>
              <a:buClr>
                <a:srgbClr val="434343"/>
              </a:buClr>
              <a:buSzPts val="2400"/>
              <a:buChar char="●"/>
            </a:pPr>
            <a:r>
              <a:rPr lang="en-GB">
                <a:solidFill>
                  <a:srgbClr val="434343"/>
                </a:solidFill>
              </a:rPr>
              <a:t>Các tính chất giao hoán, kết hợp, lũy đẳng</a:t>
            </a:r>
            <a:endParaRPr>
              <a:solidFill>
                <a:srgbClr val="434343"/>
              </a:solidFill>
            </a:endParaRPr>
          </a:p>
          <a:p>
            <a:pPr indent="0" lvl="0" marL="457200" rtl="0" algn="l">
              <a:spcBef>
                <a:spcPts val="0"/>
              </a:spcBef>
              <a:spcAft>
                <a:spcPts val="0"/>
              </a:spcAft>
              <a:buNone/>
            </a:pPr>
            <a:r>
              <a:rPr lang="en-GB">
                <a:solidFill>
                  <a:srgbClr val="434343"/>
                </a:solidFill>
              </a:rPr>
              <a:t>C ⨅ D ≡ D ⨅ C                		C </a:t>
            </a:r>
            <a:r>
              <a:rPr lang="en-GB" sz="2200">
                <a:solidFill>
                  <a:srgbClr val="666666"/>
                </a:solidFill>
              </a:rPr>
              <a:t>⨆ D </a:t>
            </a:r>
            <a:r>
              <a:rPr lang="en-GB">
                <a:solidFill>
                  <a:srgbClr val="434343"/>
                </a:solidFill>
              </a:rPr>
              <a:t>≡ D </a:t>
            </a:r>
            <a:r>
              <a:rPr lang="en-GB" sz="2200">
                <a:solidFill>
                  <a:srgbClr val="666666"/>
                </a:solidFill>
              </a:rPr>
              <a:t>⨆ C</a:t>
            </a:r>
            <a:endParaRPr sz="2200">
              <a:solidFill>
                <a:srgbClr val="666666"/>
              </a:solidFill>
            </a:endParaRPr>
          </a:p>
          <a:p>
            <a:pPr indent="0" lvl="0" marL="457200" rtl="0" algn="l">
              <a:spcBef>
                <a:spcPts val="0"/>
              </a:spcBef>
              <a:spcAft>
                <a:spcPts val="0"/>
              </a:spcAft>
              <a:buNone/>
            </a:pPr>
            <a:r>
              <a:rPr lang="en-GB" sz="2200">
                <a:solidFill>
                  <a:srgbClr val="666666"/>
                </a:solidFill>
              </a:rPr>
              <a:t>(C </a:t>
            </a:r>
            <a:r>
              <a:rPr lang="en-GB">
                <a:solidFill>
                  <a:srgbClr val="434343"/>
                </a:solidFill>
              </a:rPr>
              <a:t>⨅ D) ⨅ E ≡ C ⨅ (D ⨅  E)		</a:t>
            </a:r>
            <a:r>
              <a:rPr lang="en-GB" sz="2200">
                <a:solidFill>
                  <a:srgbClr val="666666"/>
                </a:solidFill>
              </a:rPr>
              <a:t>(C ⨆</a:t>
            </a:r>
            <a:r>
              <a:rPr lang="en-GB">
                <a:solidFill>
                  <a:srgbClr val="434343"/>
                </a:solidFill>
              </a:rPr>
              <a:t> D) </a:t>
            </a:r>
            <a:r>
              <a:rPr lang="en-GB" sz="2200">
                <a:solidFill>
                  <a:srgbClr val="666666"/>
                </a:solidFill>
              </a:rPr>
              <a:t>⨆</a:t>
            </a:r>
            <a:r>
              <a:rPr lang="en-GB">
                <a:solidFill>
                  <a:srgbClr val="434343"/>
                </a:solidFill>
              </a:rPr>
              <a:t> E ≡ C </a:t>
            </a:r>
            <a:r>
              <a:rPr lang="en-GB" sz="2200">
                <a:solidFill>
                  <a:srgbClr val="666666"/>
                </a:solidFill>
              </a:rPr>
              <a:t>⨆</a:t>
            </a:r>
            <a:r>
              <a:rPr lang="en-GB">
                <a:solidFill>
                  <a:srgbClr val="434343"/>
                </a:solidFill>
              </a:rPr>
              <a:t> (D </a:t>
            </a:r>
            <a:r>
              <a:rPr lang="en-GB" sz="2200">
                <a:solidFill>
                  <a:srgbClr val="666666"/>
                </a:solidFill>
              </a:rPr>
              <a:t>⨆</a:t>
            </a:r>
            <a:r>
              <a:rPr lang="en-GB">
                <a:solidFill>
                  <a:srgbClr val="434343"/>
                </a:solidFill>
              </a:rPr>
              <a:t>  E)</a:t>
            </a:r>
            <a:endParaRPr>
              <a:solidFill>
                <a:srgbClr val="434343"/>
              </a:solidFill>
            </a:endParaRPr>
          </a:p>
          <a:p>
            <a:pPr indent="0" lvl="0" marL="457200" rtl="0" algn="l">
              <a:spcBef>
                <a:spcPts val="0"/>
              </a:spcBef>
              <a:spcAft>
                <a:spcPts val="0"/>
              </a:spcAft>
              <a:buNone/>
            </a:pPr>
            <a:r>
              <a:rPr lang="en-GB">
                <a:solidFill>
                  <a:srgbClr val="434343"/>
                </a:solidFill>
              </a:rPr>
              <a:t>C ⨅ C ≡ C							C </a:t>
            </a:r>
            <a:r>
              <a:rPr lang="en-GB" sz="2200">
                <a:solidFill>
                  <a:srgbClr val="666666"/>
                </a:solidFill>
              </a:rPr>
              <a:t>⨆</a:t>
            </a:r>
            <a:r>
              <a:rPr lang="en-GB">
                <a:solidFill>
                  <a:srgbClr val="434343"/>
                </a:solidFill>
              </a:rPr>
              <a:t> C ≡ C</a:t>
            </a:r>
            <a:endParaRPr>
              <a:solidFill>
                <a:srgbClr val="434343"/>
              </a:solidFill>
            </a:endParaRPr>
          </a:p>
          <a:p>
            <a:pPr indent="-381000" lvl="0" marL="457200" rtl="0" algn="l">
              <a:spcBef>
                <a:spcPts val="0"/>
              </a:spcBef>
              <a:spcAft>
                <a:spcPts val="0"/>
              </a:spcAft>
              <a:buClr>
                <a:srgbClr val="434343"/>
              </a:buClr>
              <a:buSzPts val="2400"/>
              <a:buChar char="●"/>
            </a:pPr>
            <a:r>
              <a:rPr lang="en-GB">
                <a:solidFill>
                  <a:srgbClr val="434343"/>
                </a:solidFill>
              </a:rPr>
              <a:t>Phủ định kép</a:t>
            </a:r>
            <a:endParaRPr>
              <a:solidFill>
                <a:srgbClr val="434343"/>
              </a:solidFill>
            </a:endParaRPr>
          </a:p>
          <a:p>
            <a:pPr indent="0" lvl="0" marL="457200" rtl="0" algn="l">
              <a:spcBef>
                <a:spcPts val="0"/>
              </a:spcBef>
              <a:spcAft>
                <a:spcPts val="0"/>
              </a:spcAft>
              <a:buNone/>
            </a:pPr>
            <a:r>
              <a:rPr lang="en-GB">
                <a:solidFill>
                  <a:srgbClr val="434343"/>
                </a:solidFill>
              </a:rPr>
              <a:t>¬¬C ≡ C</a:t>
            </a:r>
            <a:endParaRPr>
              <a:solidFill>
                <a:srgbClr val="434343"/>
              </a:solidFill>
            </a:endParaRPr>
          </a:p>
          <a:p>
            <a:pPr indent="-381000" lvl="0" marL="457200" rtl="0" algn="l">
              <a:spcBef>
                <a:spcPts val="0"/>
              </a:spcBef>
              <a:spcAft>
                <a:spcPts val="0"/>
              </a:spcAft>
              <a:buClr>
                <a:srgbClr val="434343"/>
              </a:buClr>
              <a:buSzPts val="2400"/>
              <a:buChar char="●"/>
            </a:pPr>
            <a:r>
              <a:rPr lang="en-GB">
                <a:solidFill>
                  <a:srgbClr val="434343"/>
                </a:solidFill>
              </a:rPr>
              <a:t>Phần bù và luật De Morgan</a:t>
            </a:r>
            <a:endParaRPr>
              <a:solidFill>
                <a:srgbClr val="434343"/>
              </a:solidFill>
            </a:endParaRPr>
          </a:p>
          <a:p>
            <a:pPr indent="0" lvl="0" marL="457200" rtl="0" algn="l">
              <a:spcBef>
                <a:spcPts val="0"/>
              </a:spcBef>
              <a:spcAft>
                <a:spcPts val="0"/>
              </a:spcAft>
              <a:buNone/>
            </a:pPr>
            <a:r>
              <a:rPr lang="en-GB">
                <a:solidFill>
                  <a:srgbClr val="434343"/>
                </a:solidFill>
              </a:rPr>
              <a:t>¬⊤ ≡ ⊥							¬⊥ ≡ ⊤</a:t>
            </a:r>
            <a:endParaRPr>
              <a:solidFill>
                <a:srgbClr val="434343"/>
              </a:solidFill>
            </a:endParaRPr>
          </a:p>
          <a:p>
            <a:pPr indent="0" lvl="0" marL="457200" rtl="0" algn="l">
              <a:spcBef>
                <a:spcPts val="0"/>
              </a:spcBef>
              <a:spcAft>
                <a:spcPts val="0"/>
              </a:spcAft>
              <a:buNone/>
            </a:pPr>
            <a:r>
              <a:rPr lang="en-GB">
                <a:solidFill>
                  <a:srgbClr val="434343"/>
                </a:solidFill>
              </a:rPr>
              <a:t>C ⨅ ¬C ≡ ⊥						C </a:t>
            </a:r>
            <a:r>
              <a:rPr lang="en-GB" sz="2200">
                <a:solidFill>
                  <a:srgbClr val="666666"/>
                </a:solidFill>
              </a:rPr>
              <a:t>⨆</a:t>
            </a:r>
            <a:r>
              <a:rPr lang="en-GB">
                <a:solidFill>
                  <a:srgbClr val="434343"/>
                </a:solidFill>
              </a:rPr>
              <a:t> ¬C ≡ ⊤</a:t>
            </a:r>
            <a:endParaRPr>
              <a:solidFill>
                <a:srgbClr val="434343"/>
              </a:solidFill>
            </a:endParaRPr>
          </a:p>
          <a:p>
            <a:pPr indent="0" lvl="0" marL="457200" rtl="0" algn="l">
              <a:spcBef>
                <a:spcPts val="0"/>
              </a:spcBef>
              <a:spcAft>
                <a:spcPts val="0"/>
              </a:spcAft>
              <a:buClr>
                <a:schemeClr val="dk1"/>
              </a:buClr>
              <a:buSzPts val="1100"/>
              <a:buFont typeface="Arial"/>
              <a:buNone/>
            </a:pPr>
            <a:r>
              <a:rPr lang="en-GB">
                <a:solidFill>
                  <a:srgbClr val="434343"/>
                </a:solidFill>
              </a:rPr>
              <a:t>¬(C ⨅ D) ≡ ¬C </a:t>
            </a:r>
            <a:r>
              <a:rPr lang="en-GB" sz="2200">
                <a:solidFill>
                  <a:srgbClr val="666666"/>
                </a:solidFill>
              </a:rPr>
              <a:t>⨆</a:t>
            </a:r>
            <a:r>
              <a:rPr lang="en-GB">
                <a:solidFill>
                  <a:srgbClr val="434343"/>
                </a:solidFill>
              </a:rPr>
              <a:t> ¬D				¬(C </a:t>
            </a:r>
            <a:r>
              <a:rPr lang="en-GB" sz="2200">
                <a:solidFill>
                  <a:srgbClr val="666666"/>
                </a:solidFill>
              </a:rPr>
              <a:t>⨆</a:t>
            </a:r>
            <a:r>
              <a:rPr lang="en-GB">
                <a:solidFill>
                  <a:srgbClr val="434343"/>
                </a:solidFill>
              </a:rPr>
              <a:t> D) ≡ ¬C ⨅ ¬D</a:t>
            </a:r>
            <a:endParaRPr>
              <a:solidFill>
                <a:srgbClr val="434343"/>
              </a:solidFill>
            </a:endParaRPr>
          </a:p>
        </p:txBody>
      </p:sp>
      <p:sp>
        <p:nvSpPr>
          <p:cNvPr id="488" name="Google Shape;488;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khái niệm tương đương</a:t>
            </a:r>
            <a:r>
              <a:rPr baseline="-25000" lang="en-GB"/>
              <a:t>(</a:t>
            </a:r>
            <a:r>
              <a:rPr baseline="-25000" lang="en-GB"/>
              <a:t>2)</a:t>
            </a:r>
            <a:endParaRPr baseline="-25000"/>
          </a:p>
        </p:txBody>
      </p:sp>
      <p:sp>
        <p:nvSpPr>
          <p:cNvPr id="494" name="Google Shape;494;p65"/>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434343"/>
              </a:buClr>
              <a:buSzPts val="2400"/>
              <a:buChar char="●"/>
            </a:pPr>
            <a:r>
              <a:rPr lang="en-GB">
                <a:solidFill>
                  <a:srgbClr val="434343"/>
                </a:solidFill>
              </a:rPr>
              <a:t>Phân phối, sát nhập</a:t>
            </a:r>
            <a:endParaRPr>
              <a:solidFill>
                <a:srgbClr val="434343"/>
              </a:solidFill>
            </a:endParaRPr>
          </a:p>
          <a:p>
            <a:pPr indent="0" lvl="0" marL="457200" rtl="0" algn="l">
              <a:spcBef>
                <a:spcPts val="0"/>
              </a:spcBef>
              <a:spcAft>
                <a:spcPts val="0"/>
              </a:spcAft>
              <a:buNone/>
            </a:pPr>
            <a:r>
              <a:rPr lang="en-GB">
                <a:solidFill>
                  <a:srgbClr val="434343"/>
                </a:solidFill>
              </a:rPr>
              <a:t>(C </a:t>
            </a:r>
            <a:r>
              <a:rPr lang="en-GB">
                <a:solidFill>
                  <a:srgbClr val="434343"/>
                </a:solidFill>
              </a:rPr>
              <a:t>⨆ </a:t>
            </a:r>
            <a:r>
              <a:rPr lang="en-GB">
                <a:solidFill>
                  <a:srgbClr val="434343"/>
                </a:solidFill>
              </a:rPr>
              <a:t>D) ⨅ E ≡ (C ⨅ E) </a:t>
            </a:r>
            <a:r>
              <a:rPr lang="en-GB">
                <a:solidFill>
                  <a:srgbClr val="434343"/>
                </a:solidFill>
              </a:rPr>
              <a:t>⨆ (D ⨅ E)</a:t>
            </a:r>
            <a:r>
              <a:rPr lang="en-GB">
                <a:solidFill>
                  <a:srgbClr val="434343"/>
                </a:solidFill>
              </a:rPr>
              <a:t>       	(C ⨆ D) </a:t>
            </a:r>
            <a:r>
              <a:rPr lang="en-GB">
                <a:solidFill>
                  <a:srgbClr val="434343"/>
                </a:solidFill>
              </a:rPr>
              <a:t>⨅</a:t>
            </a:r>
            <a:r>
              <a:rPr lang="en-GB">
                <a:solidFill>
                  <a:srgbClr val="434343"/>
                </a:solidFill>
              </a:rPr>
              <a:t> C ≡ C</a:t>
            </a:r>
            <a:endParaRPr>
              <a:solidFill>
                <a:srgbClr val="434343"/>
              </a:solidFill>
            </a:endParaRPr>
          </a:p>
          <a:p>
            <a:pPr indent="0" lvl="0" marL="457200" rtl="0" algn="l">
              <a:spcBef>
                <a:spcPts val="0"/>
              </a:spcBef>
              <a:spcAft>
                <a:spcPts val="0"/>
              </a:spcAft>
              <a:buNone/>
            </a:pPr>
            <a:r>
              <a:rPr lang="en-GB">
                <a:solidFill>
                  <a:srgbClr val="434343"/>
                </a:solidFill>
              </a:rPr>
              <a:t>(C ⨅ D) </a:t>
            </a:r>
            <a:r>
              <a:rPr lang="en-GB">
                <a:solidFill>
                  <a:srgbClr val="434343"/>
                </a:solidFill>
              </a:rPr>
              <a:t>⨆</a:t>
            </a:r>
            <a:r>
              <a:rPr lang="en-GB">
                <a:solidFill>
                  <a:srgbClr val="434343"/>
                </a:solidFill>
              </a:rPr>
              <a:t> E ≡ </a:t>
            </a:r>
            <a:r>
              <a:rPr lang="en-GB">
                <a:solidFill>
                  <a:srgbClr val="434343"/>
                </a:solidFill>
              </a:rPr>
              <a:t>(C ⨆ E) ⨅ (D ⨆ E)		</a:t>
            </a:r>
            <a:r>
              <a:rPr lang="en-GB">
                <a:solidFill>
                  <a:srgbClr val="434343"/>
                </a:solidFill>
              </a:rPr>
              <a:t>(C </a:t>
            </a:r>
            <a:r>
              <a:rPr lang="en-GB">
                <a:solidFill>
                  <a:srgbClr val="434343"/>
                </a:solidFill>
              </a:rPr>
              <a:t>⨅</a:t>
            </a:r>
            <a:r>
              <a:rPr lang="en-GB">
                <a:solidFill>
                  <a:srgbClr val="434343"/>
                </a:solidFill>
              </a:rPr>
              <a:t> D) ⨆ C ≡ C</a:t>
            </a:r>
            <a:endParaRPr>
              <a:solidFill>
                <a:srgbClr val="434343"/>
              </a:solidFill>
            </a:endParaRPr>
          </a:p>
          <a:p>
            <a:pPr indent="-381000" lvl="0" marL="457200" rtl="0" algn="l">
              <a:spcBef>
                <a:spcPts val="0"/>
              </a:spcBef>
              <a:spcAft>
                <a:spcPts val="0"/>
              </a:spcAft>
              <a:buClr>
                <a:srgbClr val="434343"/>
              </a:buClr>
              <a:buSzPts val="2400"/>
              <a:buChar char="●"/>
            </a:pPr>
            <a:r>
              <a:rPr lang="en-GB">
                <a:solidFill>
                  <a:srgbClr val="434343"/>
                </a:solidFill>
              </a:rPr>
              <a:t>Định lượng và cơ số, với n &gt; 0: </a:t>
            </a:r>
            <a:endParaRPr>
              <a:solidFill>
                <a:srgbClr val="434343"/>
              </a:solidFill>
            </a:endParaRPr>
          </a:p>
          <a:p>
            <a:pPr indent="0" lvl="0" marL="457200" marR="0" rtl="0" algn="l">
              <a:lnSpc>
                <a:spcPct val="115000"/>
              </a:lnSpc>
              <a:spcBef>
                <a:spcPts val="0"/>
              </a:spcBef>
              <a:spcAft>
                <a:spcPts val="0"/>
              </a:spcAft>
              <a:buNone/>
            </a:pPr>
            <a:r>
              <a:rPr lang="en-GB">
                <a:solidFill>
                  <a:srgbClr val="434343"/>
                </a:solidFill>
              </a:rPr>
              <a:t>¬(≤ n s) ≡ &gt; n s 			¬(≥ 0 s) ≡ ⊥</a:t>
            </a:r>
            <a:endParaRPr>
              <a:solidFill>
                <a:srgbClr val="434343"/>
              </a:solidFill>
            </a:endParaRPr>
          </a:p>
          <a:p>
            <a:pPr indent="0" lvl="0" marL="457200" marR="0" rtl="0" algn="l">
              <a:lnSpc>
                <a:spcPct val="115000"/>
              </a:lnSpc>
              <a:spcBef>
                <a:spcPts val="0"/>
              </a:spcBef>
              <a:spcAft>
                <a:spcPts val="0"/>
              </a:spcAft>
              <a:buNone/>
            </a:pPr>
            <a:r>
              <a:rPr lang="en-GB">
                <a:solidFill>
                  <a:srgbClr val="434343"/>
                </a:solidFill>
              </a:rPr>
              <a:t>¬(&gt; n s) ≡ ≤ n s			≥ 1 s ≡ ∃s.⊤</a:t>
            </a:r>
            <a:endParaRPr>
              <a:solidFill>
                <a:srgbClr val="434343"/>
              </a:solidFill>
            </a:endParaRPr>
          </a:p>
          <a:p>
            <a:pPr indent="0" lvl="0" marL="457200" rtl="0" algn="l">
              <a:spcBef>
                <a:spcPts val="0"/>
              </a:spcBef>
              <a:spcAft>
                <a:spcPts val="0"/>
              </a:spcAft>
              <a:buClr>
                <a:schemeClr val="dk1"/>
              </a:buClr>
              <a:buSzPts val="1100"/>
              <a:buFont typeface="Arial"/>
              <a:buNone/>
            </a:pPr>
            <a:r>
              <a:rPr lang="en-GB">
                <a:solidFill>
                  <a:srgbClr val="434343"/>
                </a:solidFill>
              </a:rPr>
              <a:t>≤ 0 s ≡ ∀s.⊥</a:t>
            </a:r>
            <a:endParaRPr>
              <a:solidFill>
                <a:srgbClr val="434343"/>
              </a:solidFill>
            </a:endParaRPr>
          </a:p>
          <a:p>
            <a:pPr indent="0" lvl="0" marL="457200" marR="0" rtl="0" algn="l">
              <a:lnSpc>
                <a:spcPct val="115000"/>
              </a:lnSpc>
              <a:spcBef>
                <a:spcPts val="0"/>
              </a:spcBef>
              <a:spcAft>
                <a:spcPts val="0"/>
              </a:spcAft>
              <a:buNone/>
            </a:pPr>
            <a:r>
              <a:rPr lang="en-GB">
                <a:solidFill>
                  <a:srgbClr val="434343"/>
                </a:solidFill>
              </a:rPr>
              <a:t>⊤ ⊑ ≤ 1s đồng nghĩa với Func(s)</a:t>
            </a:r>
            <a:endParaRPr>
              <a:solidFill>
                <a:srgbClr val="434343"/>
              </a:solidFill>
            </a:endParaRPr>
          </a:p>
          <a:p>
            <a:pPr indent="0" lvl="0" marL="457200" rtl="0" algn="l">
              <a:spcBef>
                <a:spcPts val="0"/>
              </a:spcBef>
              <a:spcAft>
                <a:spcPts val="0"/>
              </a:spcAft>
              <a:buNone/>
            </a:pPr>
            <a:r>
              <a:rPr lang="en-GB">
                <a:solidFill>
                  <a:srgbClr val="434343"/>
                </a:solidFill>
              </a:rPr>
              <a:t>¬∃r.C ≡ ∀r.¬C					≥0 r.C ≡ ⊤</a:t>
            </a:r>
            <a:endParaRPr>
              <a:solidFill>
                <a:srgbClr val="434343"/>
              </a:solidFill>
            </a:endParaRPr>
          </a:p>
          <a:p>
            <a:pPr indent="0" lvl="0" marL="457200" rtl="0" algn="l">
              <a:spcBef>
                <a:spcPts val="0"/>
              </a:spcBef>
              <a:spcAft>
                <a:spcPts val="0"/>
              </a:spcAft>
              <a:buNone/>
            </a:pPr>
            <a:r>
              <a:rPr lang="en-GB">
                <a:solidFill>
                  <a:srgbClr val="434343"/>
                </a:solidFill>
              </a:rPr>
              <a:t>¬∀r.C ≡ ∃r.¬C					≥1 r.C ≡ ∃r.C</a:t>
            </a:r>
            <a:endParaRPr>
              <a:solidFill>
                <a:srgbClr val="434343"/>
              </a:solidFill>
            </a:endParaRPr>
          </a:p>
          <a:p>
            <a:pPr indent="0" lvl="0" marL="457200" rtl="0" algn="l">
              <a:spcBef>
                <a:spcPts val="0"/>
              </a:spcBef>
              <a:spcAft>
                <a:spcPts val="0"/>
              </a:spcAft>
              <a:buClr>
                <a:schemeClr val="dk1"/>
              </a:buClr>
              <a:buSzPts val="1100"/>
              <a:buFont typeface="Arial"/>
              <a:buNone/>
            </a:pPr>
            <a:r>
              <a:rPr lang="en-GB">
                <a:solidFill>
                  <a:srgbClr val="434343"/>
                </a:solidFill>
              </a:rPr>
              <a:t>≤0 r.C ≡ ∀r.¬C</a:t>
            </a:r>
            <a:endParaRPr>
              <a:solidFill>
                <a:srgbClr val="434343"/>
              </a:solidFill>
            </a:endParaRPr>
          </a:p>
          <a:p>
            <a:pPr indent="0" lvl="0" marL="457200" rtl="0" algn="l">
              <a:spcBef>
                <a:spcPts val="0"/>
              </a:spcBef>
              <a:spcAft>
                <a:spcPts val="0"/>
              </a:spcAft>
              <a:buNone/>
            </a:pPr>
            <a:r>
              <a:rPr lang="en-GB">
                <a:solidFill>
                  <a:srgbClr val="434343"/>
                </a:solidFill>
              </a:rPr>
              <a:t>¬≤n r.C ≡ &gt; n r.C					&lt;n r.C ≡ ¬≥ n r.C</a:t>
            </a:r>
            <a:endParaRPr>
              <a:solidFill>
                <a:srgbClr val="434343"/>
              </a:solidFill>
            </a:endParaRPr>
          </a:p>
          <a:p>
            <a:pPr indent="0" lvl="0" marL="457200" rtl="0" algn="l">
              <a:spcBef>
                <a:spcPts val="0"/>
              </a:spcBef>
              <a:spcAft>
                <a:spcPts val="0"/>
              </a:spcAft>
              <a:buClr>
                <a:schemeClr val="dk1"/>
              </a:buClr>
              <a:buSzPts val="1100"/>
              <a:buFont typeface="Arial"/>
              <a:buNone/>
            </a:pPr>
            <a:r>
              <a:t/>
            </a:r>
            <a:endParaRPr>
              <a:solidFill>
                <a:srgbClr val="434343"/>
              </a:solidFill>
            </a:endParaRPr>
          </a:p>
        </p:txBody>
      </p:sp>
      <p:sp>
        <p:nvSpPr>
          <p:cNvPr id="495" name="Google Shape;495;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Tương đương mệnh đề và CSTT</a:t>
            </a:r>
            <a:endParaRPr/>
          </a:p>
        </p:txBody>
      </p:sp>
      <p:sp>
        <p:nvSpPr>
          <p:cNvPr id="501" name="Google Shape;501;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02" name="Google Shape;502;p6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434343"/>
              </a:buClr>
              <a:buSzPts val="2400"/>
              <a:buChar char="●"/>
            </a:pPr>
            <a:r>
              <a:rPr lang="en-GB">
                <a:solidFill>
                  <a:srgbClr val="434343"/>
                </a:solidFill>
              </a:rPr>
              <a:t>Biến đổi Lloyd-Topor</a:t>
            </a:r>
            <a:endParaRPr>
              <a:solidFill>
                <a:srgbClr val="434343"/>
              </a:solidFill>
            </a:endParaRPr>
          </a:p>
          <a:p>
            <a:pPr indent="0" lvl="0" marL="457200" rtl="0" algn="l">
              <a:spcBef>
                <a:spcPts val="0"/>
              </a:spcBef>
              <a:spcAft>
                <a:spcPts val="0"/>
              </a:spcAft>
              <a:buNone/>
            </a:pPr>
            <a:r>
              <a:rPr lang="en-GB">
                <a:solidFill>
                  <a:srgbClr val="434343"/>
                </a:solidFill>
              </a:rPr>
              <a:t>A</a:t>
            </a:r>
            <a:r>
              <a:rPr lang="en-GB">
                <a:solidFill>
                  <a:srgbClr val="434343"/>
                </a:solidFill>
              </a:rPr>
              <a:t> ⨆ B ⊑ C ⟺ {A ⊑ C, B ⊑ C}</a:t>
            </a:r>
            <a:endParaRPr>
              <a:solidFill>
                <a:srgbClr val="434343"/>
              </a:solidFill>
            </a:endParaRPr>
          </a:p>
          <a:p>
            <a:pPr indent="0" lvl="0" marL="457200" rtl="0" algn="l">
              <a:spcBef>
                <a:spcPts val="0"/>
              </a:spcBef>
              <a:spcAft>
                <a:spcPts val="0"/>
              </a:spcAft>
              <a:buNone/>
            </a:pPr>
            <a:r>
              <a:rPr lang="en-GB">
                <a:solidFill>
                  <a:srgbClr val="434343"/>
                </a:solidFill>
              </a:rPr>
              <a:t>A ⊑ B ⨅ C ⟺ {A ⊑ B, A ⊑ C}</a:t>
            </a:r>
            <a:endParaRPr>
              <a:solidFill>
                <a:srgbClr val="434343"/>
              </a:solidFill>
            </a:endParaRPr>
          </a:p>
          <a:p>
            <a:pPr indent="-381000" lvl="0" marL="457200" rtl="0" algn="l">
              <a:spcBef>
                <a:spcPts val="0"/>
              </a:spcBef>
              <a:spcAft>
                <a:spcPts val="0"/>
              </a:spcAft>
              <a:buClr>
                <a:srgbClr val="434343"/>
              </a:buClr>
              <a:buSzPts val="2400"/>
              <a:buChar char="●"/>
            </a:pPr>
            <a:r>
              <a:rPr lang="en-GB">
                <a:solidFill>
                  <a:srgbClr val="434343"/>
                </a:solidFill>
              </a:rPr>
              <a:t>Hộp dữ kiện (ABox) và Hộp từ vựng</a:t>
            </a:r>
            <a:endParaRPr>
              <a:solidFill>
                <a:srgbClr val="434343"/>
              </a:solidFill>
            </a:endParaRPr>
          </a:p>
          <a:p>
            <a:pPr indent="0" lvl="0" marL="457200" rtl="0" algn="l">
              <a:spcBef>
                <a:spcPts val="0"/>
              </a:spcBef>
              <a:spcAft>
                <a:spcPts val="0"/>
              </a:spcAft>
              <a:buNone/>
            </a:pPr>
            <a:r>
              <a:rPr lang="en-GB">
                <a:solidFill>
                  <a:srgbClr val="434343"/>
                </a:solidFill>
              </a:rPr>
              <a:t>C(a) ⟺ {a} ⊑ C</a:t>
            </a:r>
            <a:endParaRPr>
              <a:solidFill>
                <a:srgbClr val="434343"/>
              </a:solidFill>
            </a:endParaRPr>
          </a:p>
          <a:p>
            <a:pPr indent="0" lvl="0" marL="457200" rtl="0" algn="l">
              <a:spcBef>
                <a:spcPts val="0"/>
              </a:spcBef>
              <a:spcAft>
                <a:spcPts val="0"/>
              </a:spcAft>
              <a:buNone/>
            </a:pPr>
            <a:r>
              <a:rPr lang="en-GB">
                <a:solidFill>
                  <a:srgbClr val="434343"/>
                </a:solidFill>
              </a:rPr>
              <a:t>r(a, b) ⟺ {a} ⊑ ∃ r.{b}</a:t>
            </a:r>
            <a:endParaRPr>
              <a:solidFill>
                <a:srgbClr val="434343"/>
              </a:solidFill>
            </a:endParaRPr>
          </a:p>
          <a:p>
            <a:pPr indent="0" lvl="0" marL="457200" rtl="0" algn="l">
              <a:spcBef>
                <a:spcPts val="0"/>
              </a:spcBef>
              <a:spcAft>
                <a:spcPts val="0"/>
              </a:spcAft>
              <a:buNone/>
            </a:pPr>
            <a:r>
              <a:rPr lang="en-GB">
                <a:solidFill>
                  <a:srgbClr val="434343"/>
                </a:solidFill>
              </a:rPr>
              <a:t>¬r(a, b) ⟺ {a} ⊑ ¬∃ r.{b}</a:t>
            </a:r>
            <a:endParaRPr>
              <a:solidFill>
                <a:srgbClr val="434343"/>
              </a:solidFill>
            </a:endParaRPr>
          </a:p>
          <a:p>
            <a:pPr indent="0" lvl="0" marL="457200" rtl="0" algn="l">
              <a:spcBef>
                <a:spcPts val="0"/>
              </a:spcBef>
              <a:spcAft>
                <a:spcPts val="0"/>
              </a:spcAft>
              <a:buNone/>
            </a:pPr>
            <a:r>
              <a:rPr lang="en-GB">
                <a:solidFill>
                  <a:srgbClr val="434343"/>
                </a:solidFill>
              </a:rPr>
              <a:t>a = b ⟺ {a} ≡ {b}</a:t>
            </a:r>
            <a:endParaRPr>
              <a:solidFill>
                <a:srgbClr val="434343"/>
              </a:solidFill>
            </a:endParaRPr>
          </a:p>
          <a:p>
            <a:pPr indent="0" lvl="0" marL="457200" rtl="0" algn="l">
              <a:spcBef>
                <a:spcPts val="0"/>
              </a:spcBef>
              <a:spcAft>
                <a:spcPts val="0"/>
              </a:spcAft>
              <a:buClr>
                <a:schemeClr val="dk1"/>
              </a:buClr>
              <a:buSzPts val="1100"/>
              <a:buFont typeface="Arial"/>
              <a:buNone/>
            </a:pPr>
            <a:r>
              <a:rPr lang="en-GB">
                <a:solidFill>
                  <a:srgbClr val="434343"/>
                </a:solidFill>
              </a:rPr>
              <a:t>a ≠ b ⟺ {a}  ⨅ {b} ≡ ⊥</a:t>
            </a:r>
            <a:endParaRPr>
              <a:solidFill>
                <a:srgbClr val="434343"/>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Bao hàm</a:t>
            </a:r>
            <a:r>
              <a:rPr lang="en-GB"/>
              <a:t> khái niệm </a:t>
            </a:r>
            <a:r>
              <a:rPr lang="en-GB"/>
              <a:t>và các hệ quả</a:t>
            </a:r>
            <a:endParaRPr/>
          </a:p>
        </p:txBody>
      </p:sp>
      <p:sp>
        <p:nvSpPr>
          <p:cNvPr id="508" name="Google Shape;508;p6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C ⊑ D ⟺ </a:t>
            </a:r>
            <a:r>
              <a:rPr lang="en-GB">
                <a:solidFill>
                  <a:srgbClr val="434343"/>
                </a:solidFill>
              </a:rPr>
              <a:t>⊤ </a:t>
            </a:r>
            <a:r>
              <a:rPr lang="en-GB">
                <a:solidFill>
                  <a:srgbClr val="666666"/>
                </a:solidFill>
              </a:rPr>
              <a:t>≡ ¬C ⊔ D</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a:t>
            </a:r>
            <a:r>
              <a:rPr lang="en-GB">
                <a:solidFill>
                  <a:srgbClr val="666666"/>
                </a:solidFill>
              </a:rPr>
              <a:t> D ≡ C ⊔ D</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 {C ⊑ D, D ⊑ C}</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 D ⊑ E ⇒ {C ⊑ E}</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 ¬D ⊑ ¬C</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 C ⊓ E ⊑ D</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 ≡ D ⇒ C ⊓ E ≡ D ⊓ E</a:t>
            </a:r>
            <a:endParaRPr>
              <a:solidFill>
                <a:srgbClr val="666666"/>
              </a:solidFill>
            </a:endParaRPr>
          </a:p>
        </p:txBody>
      </p:sp>
      <p:sp>
        <p:nvSpPr>
          <p:cNvPr id="509" name="Google Shape;509;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6.4. CSTT</a:t>
            </a:r>
            <a:endParaRPr/>
          </a:p>
        </p:txBody>
      </p:sp>
      <p:sp>
        <p:nvSpPr>
          <p:cNvPr id="515" name="Google Shape;515;p68"/>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Man ≡ Human ⨅ Male</a:t>
            </a:r>
            <a:endParaRPr/>
          </a:p>
          <a:p>
            <a:pPr indent="0" lvl="0" marL="0" rtl="0" algn="l">
              <a:spcBef>
                <a:spcPts val="0"/>
              </a:spcBef>
              <a:spcAft>
                <a:spcPts val="0"/>
              </a:spcAft>
              <a:buClr>
                <a:schemeClr val="dk1"/>
              </a:buClr>
              <a:buSzPts val="1100"/>
              <a:buFont typeface="Arial"/>
              <a:buNone/>
            </a:pPr>
            <a:r>
              <a:rPr lang="en-GB"/>
              <a:t>Male </a:t>
            </a:r>
            <a:r>
              <a:rPr lang="en-GB">
                <a:solidFill>
                  <a:srgbClr val="666666"/>
                </a:solidFill>
              </a:rPr>
              <a:t>⊑</a:t>
            </a:r>
            <a:r>
              <a:rPr lang="en-GB"/>
              <a:t> ¬Female</a:t>
            </a:r>
            <a:endParaRPr/>
          </a:p>
          <a:p>
            <a:pPr indent="0" lvl="0" marL="0" rtl="0" algn="l">
              <a:spcBef>
                <a:spcPts val="0"/>
              </a:spcBef>
              <a:spcAft>
                <a:spcPts val="0"/>
              </a:spcAft>
              <a:buClr>
                <a:schemeClr val="dk1"/>
              </a:buClr>
              <a:buSzPts val="1100"/>
              <a:buFont typeface="Arial"/>
              <a:buNone/>
            </a:pPr>
            <a:r>
              <a:rPr lang="en-GB"/>
              <a:t>{President Obama} ≡ {Barack_Obama}</a:t>
            </a:r>
            <a:endParaRPr/>
          </a:p>
          <a:p>
            <a:pPr indent="0" lvl="0" marL="0" rtl="0" algn="l">
              <a:spcBef>
                <a:spcPts val="0"/>
              </a:spcBef>
              <a:spcAft>
                <a:spcPts val="0"/>
              </a:spcAft>
              <a:buClr>
                <a:schemeClr val="dk1"/>
              </a:buClr>
              <a:buSzPts val="1100"/>
              <a:buFont typeface="Arial"/>
              <a:buNone/>
            </a:pPr>
            <a:r>
              <a:rPr lang="en-GB"/>
              <a:t>{john} </a:t>
            </a:r>
            <a:r>
              <a:rPr lang="en-GB">
                <a:solidFill>
                  <a:srgbClr val="666666"/>
                </a:solidFill>
              </a:rPr>
              <a:t>⊑</a:t>
            </a:r>
            <a:r>
              <a:rPr lang="en-GB"/>
              <a:t> ¬{peter}</a:t>
            </a:r>
            <a:endParaRPr/>
          </a:p>
          <a:p>
            <a:pPr indent="0" lvl="0" marL="0" rtl="0" algn="l">
              <a:spcBef>
                <a:spcPts val="0"/>
              </a:spcBef>
              <a:spcAft>
                <a:spcPts val="0"/>
              </a:spcAft>
              <a:buClr>
                <a:schemeClr val="dk1"/>
              </a:buClr>
              <a:buSzPts val="1100"/>
              <a:buFont typeface="Arial"/>
              <a:buNone/>
            </a:pPr>
            <a:r>
              <a:rPr lang="en-GB"/>
              <a:t>hasDaughter </a:t>
            </a:r>
            <a:r>
              <a:rPr lang="en-GB">
                <a:solidFill>
                  <a:srgbClr val="666666"/>
                </a:solidFill>
              </a:rPr>
              <a:t>⊑</a:t>
            </a:r>
            <a:r>
              <a:rPr lang="en-GB"/>
              <a:t> hasChild</a:t>
            </a:r>
            <a:endParaRPr/>
          </a:p>
          <a:p>
            <a:pPr indent="0" lvl="0" marL="0" rtl="0" algn="l">
              <a:spcBef>
                <a:spcPts val="0"/>
              </a:spcBef>
              <a:spcAft>
                <a:spcPts val="0"/>
              </a:spcAft>
              <a:buClr>
                <a:schemeClr val="dk1"/>
              </a:buClr>
              <a:buSzPts val="1100"/>
              <a:buFont typeface="Arial"/>
              <a:buNone/>
            </a:pPr>
            <a:r>
              <a:rPr lang="en-GB"/>
              <a:t>hasChild ≡ hasParent</a:t>
            </a:r>
            <a:r>
              <a:rPr baseline="30000" lang="en-GB"/>
              <a:t>−</a:t>
            </a:r>
            <a:endParaRPr baseline="30000"/>
          </a:p>
          <a:p>
            <a:pPr indent="0" lvl="0" marL="0" rtl="0" algn="l">
              <a:spcBef>
                <a:spcPts val="0"/>
              </a:spcBef>
              <a:spcAft>
                <a:spcPts val="0"/>
              </a:spcAft>
              <a:buClr>
                <a:schemeClr val="dk1"/>
              </a:buClr>
              <a:buSzPts val="1100"/>
              <a:buFont typeface="Arial"/>
              <a:buNone/>
            </a:pPr>
            <a:r>
              <a:rPr lang="en-GB"/>
              <a:t>cost ≡ price</a:t>
            </a:r>
            <a:endParaRPr/>
          </a:p>
          <a:p>
            <a:pPr indent="0" lvl="0" marL="0" rtl="0" algn="l">
              <a:spcBef>
                <a:spcPts val="0"/>
              </a:spcBef>
              <a:spcAft>
                <a:spcPts val="0"/>
              </a:spcAft>
              <a:buClr>
                <a:schemeClr val="dk1"/>
              </a:buClr>
              <a:buSzPts val="1100"/>
              <a:buFont typeface="Arial"/>
              <a:buNone/>
            </a:pPr>
            <a:r>
              <a:rPr lang="en-GB"/>
              <a:t>Trans(ancestor)</a:t>
            </a:r>
            <a:endParaRPr/>
          </a:p>
          <a:p>
            <a:pPr indent="0" lvl="0" marL="0" rtl="0" algn="l">
              <a:spcBef>
                <a:spcPts val="0"/>
              </a:spcBef>
              <a:spcAft>
                <a:spcPts val="0"/>
              </a:spcAft>
              <a:buClr>
                <a:schemeClr val="dk1"/>
              </a:buClr>
              <a:buSzPts val="1100"/>
              <a:buFont typeface="Arial"/>
              <a:buNone/>
            </a:pPr>
            <a:r>
              <a:rPr lang="en-GB"/>
              <a:t>Func(hasMother)</a:t>
            </a:r>
            <a:endParaRPr/>
          </a:p>
          <a:p>
            <a:pPr indent="0" lvl="0" marL="0" rtl="0" algn="l">
              <a:spcBef>
                <a:spcPts val="0"/>
              </a:spcBef>
              <a:spcAft>
                <a:spcPts val="0"/>
              </a:spcAft>
              <a:buNone/>
            </a:pPr>
            <a:r>
              <a:rPr lang="en-GB"/>
              <a:t>Func(hasSSN</a:t>
            </a:r>
            <a:r>
              <a:rPr baseline="30000" lang="en-GB"/>
              <a:t>−</a:t>
            </a:r>
            <a:r>
              <a:rPr lang="en-GB"/>
              <a:t> )</a:t>
            </a:r>
            <a:endParaRPr/>
          </a:p>
        </p:txBody>
      </p:sp>
      <p:sp>
        <p:nvSpPr>
          <p:cNvPr id="516" name="Google Shape;516;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522" name="Google Shape;522;p6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p:txBody>
      </p:sp>
      <p:sp>
        <p:nvSpPr>
          <p:cNvPr id="523" name="Google Shape;523;p69"/>
          <p:cNvSpPr/>
          <p:nvPr/>
        </p:nvSpPr>
        <p:spPr>
          <a:xfrm>
            <a:off x="318450" y="2201468"/>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OWL và </a:t>
            </a:r>
            <a:r>
              <a:rPr lang="en-GB"/>
              <a:t>CSTT DL</a:t>
            </a:r>
            <a:endParaRPr/>
          </a:p>
        </p:txBody>
      </p:sp>
      <p:sp>
        <p:nvSpPr>
          <p:cNvPr id="530" name="Google Shape;530;p70"/>
          <p:cNvSpPr txBox="1"/>
          <p:nvPr>
            <p:ph idx="4294967295" type="body"/>
          </p:nvPr>
        </p:nvSpPr>
        <p:spPr>
          <a:xfrm>
            <a:off x="311700" y="1079431"/>
            <a:ext cx="8520600" cy="1174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a:t>
            </a:r>
            <a:r>
              <a:rPr lang="en-GB"/>
              <a:t>iếp nối các thành tựu trong lô-gic, OWL cung cấp thành phần mô tả ontology</a:t>
            </a:r>
            <a:endParaRPr/>
          </a:p>
        </p:txBody>
      </p:sp>
      <p:sp>
        <p:nvSpPr>
          <p:cNvPr id="531" name="Google Shape;531;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2" name="Google Shape;532;p70"/>
          <p:cNvSpPr txBox="1"/>
          <p:nvPr>
            <p:ph idx="4294967295" type="body"/>
          </p:nvPr>
        </p:nvSpPr>
        <p:spPr>
          <a:xfrm>
            <a:off x="860750" y="2070025"/>
            <a:ext cx="759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34343"/>
                </a:solidFill>
              </a:rPr>
              <a:t>OWL 					              DL</a:t>
            </a:r>
            <a:endParaRPr b="1">
              <a:solidFill>
                <a:srgbClr val="434343"/>
              </a:solidFill>
            </a:endParaRPr>
          </a:p>
          <a:p>
            <a:pPr indent="0" lvl="0" marL="0" rtl="0" algn="l">
              <a:spcBef>
                <a:spcPts val="0"/>
              </a:spcBef>
              <a:spcAft>
                <a:spcPts val="0"/>
              </a:spcAft>
              <a:buNone/>
            </a:pPr>
            <a:r>
              <a:rPr lang="en-GB">
                <a:solidFill>
                  <a:srgbClr val="434343"/>
                </a:solidFill>
              </a:rPr>
              <a:t>Lớp-class 					   khái niệm-concept</a:t>
            </a:r>
            <a:endParaRPr>
              <a:solidFill>
                <a:srgbClr val="434343"/>
              </a:solidFill>
            </a:endParaRPr>
          </a:p>
          <a:p>
            <a:pPr indent="0" lvl="0" marL="0" rtl="0" algn="l">
              <a:spcBef>
                <a:spcPts val="0"/>
              </a:spcBef>
              <a:spcAft>
                <a:spcPts val="0"/>
              </a:spcAft>
              <a:buNone/>
            </a:pPr>
            <a:r>
              <a:rPr lang="en-GB">
                <a:solidFill>
                  <a:srgbClr val="434343"/>
                </a:solidFill>
              </a:rPr>
              <a:t>thuộc tính-property		        vai trò-role</a:t>
            </a:r>
            <a:endParaRPr>
              <a:solidFill>
                <a:srgbClr val="434343"/>
              </a:solidFill>
            </a:endParaRPr>
          </a:p>
          <a:p>
            <a:pPr indent="0" lvl="0" marL="0" rtl="0" algn="l">
              <a:spcBef>
                <a:spcPts val="0"/>
              </a:spcBef>
              <a:spcAft>
                <a:spcPts val="0"/>
              </a:spcAft>
              <a:buNone/>
            </a:pPr>
            <a:r>
              <a:rPr lang="en-GB">
                <a:solidFill>
                  <a:srgbClr val="434343"/>
                </a:solidFill>
              </a:rPr>
              <a:t>thuộc tính đối tượng		        vai trò trừu tượng</a:t>
            </a:r>
            <a:endParaRPr>
              <a:solidFill>
                <a:srgbClr val="434343"/>
              </a:solidFill>
            </a:endParaRPr>
          </a:p>
          <a:p>
            <a:pPr indent="457200" lvl="0" marL="0" rtl="0" algn="l">
              <a:spcBef>
                <a:spcPts val="0"/>
              </a:spcBef>
              <a:spcAft>
                <a:spcPts val="0"/>
              </a:spcAft>
              <a:buNone/>
            </a:pPr>
            <a:r>
              <a:rPr lang="en-GB">
                <a:solidFill>
                  <a:srgbClr val="434343"/>
                </a:solidFill>
              </a:rPr>
              <a:t>object property				 abstract role</a:t>
            </a:r>
            <a:endParaRPr>
              <a:solidFill>
                <a:srgbClr val="434343"/>
              </a:solidFill>
            </a:endParaRPr>
          </a:p>
          <a:p>
            <a:pPr indent="0" lvl="0" marL="0" rtl="0" algn="l">
              <a:spcBef>
                <a:spcPts val="0"/>
              </a:spcBef>
              <a:spcAft>
                <a:spcPts val="0"/>
              </a:spcAft>
              <a:buNone/>
            </a:pPr>
            <a:r>
              <a:rPr lang="en-GB">
                <a:solidFill>
                  <a:srgbClr val="434343"/>
                </a:solidFill>
              </a:rPr>
              <a:t>thuộc tính dữ liệu 			   vai trò cụ thể</a:t>
            </a:r>
            <a:endParaRPr>
              <a:solidFill>
                <a:srgbClr val="434343"/>
              </a:solidFill>
            </a:endParaRPr>
          </a:p>
          <a:p>
            <a:pPr indent="457200" lvl="0" marL="0" rtl="0" algn="l">
              <a:spcBef>
                <a:spcPts val="0"/>
              </a:spcBef>
              <a:spcAft>
                <a:spcPts val="0"/>
              </a:spcAft>
              <a:buNone/>
            </a:pPr>
            <a:r>
              <a:rPr lang="en-GB">
                <a:solidFill>
                  <a:srgbClr val="434343"/>
                </a:solidFill>
              </a:rPr>
              <a:t>data property 				  concrete role</a:t>
            </a:r>
            <a:endParaRPr>
              <a:solidFill>
                <a:srgbClr val="434343"/>
              </a:solidFill>
            </a:endParaRPr>
          </a:p>
          <a:p>
            <a:pPr indent="0" lvl="0" marL="0" rtl="0" algn="l">
              <a:spcBef>
                <a:spcPts val="0"/>
              </a:spcBef>
              <a:spcAft>
                <a:spcPts val="0"/>
              </a:spcAft>
              <a:buNone/>
            </a:pPr>
            <a:r>
              <a:rPr lang="en-GB">
                <a:solidFill>
                  <a:srgbClr val="434343"/>
                </a:solidFill>
              </a:rPr>
              <a:t>lớp đóng-oneOf			         đơn vị-nominal</a:t>
            </a:r>
            <a:endParaRPr>
              <a:solidFill>
                <a:srgbClr val="434343"/>
              </a:solidFill>
            </a:endParaRPr>
          </a:p>
          <a:p>
            <a:pPr indent="0" lvl="0" marL="0" rtl="0" algn="l">
              <a:spcBef>
                <a:spcPts val="0"/>
              </a:spcBef>
              <a:spcAft>
                <a:spcPts val="0"/>
              </a:spcAft>
              <a:buNone/>
            </a:pPr>
            <a:r>
              <a:rPr lang="en-GB">
                <a:solidFill>
                  <a:srgbClr val="434343"/>
                </a:solidFill>
              </a:rPr>
              <a:t>CSTT(KB-Knowledge Base)</a:t>
            </a:r>
            <a:r>
              <a:rPr lang="en-GB">
                <a:solidFill>
                  <a:srgbClr val="434343"/>
                </a:solidFill>
              </a:rPr>
              <a:t>  CSTT</a:t>
            </a:r>
            <a:endParaRPr>
              <a:solidFill>
                <a:srgbClr val="434343"/>
              </a:solidFill>
            </a:endParaRPr>
          </a:p>
          <a:p>
            <a:pPr indent="0" lvl="0" marL="0" rtl="0" algn="l">
              <a:spcBef>
                <a:spcPts val="0"/>
              </a:spcBef>
              <a:spcAft>
                <a:spcPts val="0"/>
              </a:spcAft>
              <a:buNone/>
            </a:pPr>
            <a:r>
              <a:rPr lang="en-GB">
                <a:solidFill>
                  <a:srgbClr val="434343"/>
                </a:solidFill>
              </a:rPr>
              <a:t>								</a:t>
            </a:r>
            <a:endParaRPr>
              <a:solidFill>
                <a:srgbClr val="434343"/>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8" name="Google Shape;538;p7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phiên bản OWL và lô-gic mô tả</a:t>
            </a:r>
            <a:endParaRPr/>
          </a:p>
        </p:txBody>
      </p:sp>
      <p:graphicFrame>
        <p:nvGraphicFramePr>
          <p:cNvPr id="539" name="Google Shape;539;p71"/>
          <p:cNvGraphicFramePr/>
          <p:nvPr/>
        </p:nvGraphicFramePr>
        <p:xfrm>
          <a:off x="574500" y="1429375"/>
          <a:ext cx="3000000" cy="3000000"/>
        </p:xfrm>
        <a:graphic>
          <a:graphicData uri="http://schemas.openxmlformats.org/drawingml/2006/table">
            <a:tbl>
              <a:tblPr>
                <a:noFill/>
                <a:tableStyleId>{301B1D0D-D2F0-4FFE-8277-CC19B5FD8E5E}</a:tableStyleId>
              </a:tblPr>
              <a:tblGrid>
                <a:gridCol w="2113400"/>
                <a:gridCol w="5050125"/>
              </a:tblGrid>
              <a:tr h="548600">
                <a:tc>
                  <a:txBody>
                    <a:bodyPr/>
                    <a:lstStyle/>
                    <a:p>
                      <a:pPr indent="0" lvl="0" marL="0" rtl="0" algn="l">
                        <a:spcBef>
                          <a:spcPts val="0"/>
                        </a:spcBef>
                        <a:spcAft>
                          <a:spcPts val="0"/>
                        </a:spcAft>
                        <a:buNone/>
                      </a:pPr>
                      <a:r>
                        <a:rPr lang="en-GB" sz="2400">
                          <a:solidFill>
                            <a:srgbClr val="434343"/>
                          </a:solidFill>
                        </a:rPr>
                        <a:t>OWL Full</a:t>
                      </a:r>
                      <a:endParaRPr sz="2400">
                        <a:solidFill>
                          <a:srgbClr val="434343"/>
                        </a:solidFill>
                      </a:endParaRPr>
                    </a:p>
                  </a:txBody>
                  <a:tcPr marT="91425" marB="91425" marR="91425" marL="91425"/>
                </a:tc>
                <a:tc>
                  <a:txBody>
                    <a:bodyPr/>
                    <a:lstStyle/>
                    <a:p>
                      <a:pPr indent="0" lvl="0" marL="0" rtl="0" algn="l">
                        <a:spcBef>
                          <a:spcPts val="0"/>
                        </a:spcBef>
                        <a:spcAft>
                          <a:spcPts val="0"/>
                        </a:spcAft>
                        <a:buNone/>
                      </a:pPr>
                      <a:r>
                        <a:rPr lang="en-GB" sz="2400">
                          <a:solidFill>
                            <a:srgbClr val="434343"/>
                          </a:solidFill>
                        </a:rPr>
                        <a:t>Rộng hơn lô-gic mô tả</a:t>
                      </a:r>
                      <a:endParaRPr sz="2400">
                        <a:solidFill>
                          <a:srgbClr val="434343"/>
                        </a:solidFill>
                      </a:endParaRPr>
                    </a:p>
                  </a:txBody>
                  <a:tcPr marT="91425" marB="91425" marR="91425" marL="91425"/>
                </a:tc>
              </a:tr>
              <a:tr h="548600">
                <a:tc>
                  <a:txBody>
                    <a:bodyPr/>
                    <a:lstStyle/>
                    <a:p>
                      <a:pPr indent="0" lvl="0" marL="0" rtl="0" algn="l">
                        <a:spcBef>
                          <a:spcPts val="0"/>
                        </a:spcBef>
                        <a:spcAft>
                          <a:spcPts val="0"/>
                        </a:spcAft>
                        <a:buNone/>
                      </a:pPr>
                      <a:r>
                        <a:rPr lang="en-GB" sz="2400">
                          <a:solidFill>
                            <a:srgbClr val="434343"/>
                          </a:solidFill>
                        </a:rPr>
                        <a:t>OWL DL</a:t>
                      </a:r>
                      <a:endParaRPr sz="2400">
                        <a:solidFill>
                          <a:srgbClr val="434343"/>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400">
                          <a:solidFill>
                            <a:srgbClr val="434343"/>
                          </a:solidFill>
                        </a:rPr>
                        <a:t>𝓢𝓗𝓞𝓘𝓝</a:t>
                      </a:r>
                      <a:endParaRPr sz="2400">
                        <a:solidFill>
                          <a:srgbClr val="434343"/>
                        </a:solidFill>
                      </a:endParaRPr>
                    </a:p>
                  </a:txBody>
                  <a:tcPr marT="91425" marB="91425" marR="91425" marL="91425"/>
                </a:tc>
              </a:tr>
              <a:tr h="548600">
                <a:tc>
                  <a:txBody>
                    <a:bodyPr/>
                    <a:lstStyle/>
                    <a:p>
                      <a:pPr indent="0" lvl="0" marL="0" rtl="0" algn="l">
                        <a:spcBef>
                          <a:spcPts val="0"/>
                        </a:spcBef>
                        <a:spcAft>
                          <a:spcPts val="0"/>
                        </a:spcAft>
                        <a:buNone/>
                      </a:pPr>
                      <a:r>
                        <a:rPr lang="en-GB" sz="2400">
                          <a:solidFill>
                            <a:srgbClr val="434343"/>
                          </a:solidFill>
                        </a:rPr>
                        <a:t>OWL Lite</a:t>
                      </a:r>
                      <a:endParaRPr sz="2400">
                        <a:solidFill>
                          <a:srgbClr val="434343"/>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400">
                          <a:solidFill>
                            <a:srgbClr val="434343"/>
                          </a:solidFill>
                        </a:rPr>
                        <a:t>𝓢𝓗𝓘𝓕</a:t>
                      </a:r>
                      <a:endParaRPr sz="2400">
                        <a:solidFill>
                          <a:srgbClr val="434343"/>
                        </a:solidFill>
                      </a:endParaRPr>
                    </a:p>
                  </a:txBody>
                  <a:tcPr marT="91425" marB="91425" marR="91425" marL="91425"/>
                </a:tc>
              </a:tr>
              <a:tr h="548600">
                <a:tc>
                  <a:txBody>
                    <a:bodyPr/>
                    <a:lstStyle/>
                    <a:p>
                      <a:pPr indent="0" lvl="0" marL="0" rtl="0" algn="l">
                        <a:spcBef>
                          <a:spcPts val="0"/>
                        </a:spcBef>
                        <a:spcAft>
                          <a:spcPts val="0"/>
                        </a:spcAft>
                        <a:buNone/>
                      </a:pPr>
                      <a:r>
                        <a:rPr lang="en-GB" sz="2400">
                          <a:solidFill>
                            <a:srgbClr val="434343"/>
                          </a:solidFill>
                        </a:rPr>
                        <a:t>OWL 2 Full</a:t>
                      </a:r>
                      <a:endParaRPr sz="2400">
                        <a:solidFill>
                          <a:srgbClr val="434343"/>
                        </a:solidFill>
                      </a:endParaRPr>
                    </a:p>
                  </a:txBody>
                  <a:tcPr marT="91425" marB="91425" marR="91425" marL="91425"/>
                </a:tc>
                <a:tc>
                  <a:txBody>
                    <a:bodyPr/>
                    <a:lstStyle/>
                    <a:p>
                      <a:pPr indent="0" lvl="0" marL="0" rtl="0" algn="l">
                        <a:spcBef>
                          <a:spcPts val="0"/>
                        </a:spcBef>
                        <a:spcAft>
                          <a:spcPts val="0"/>
                        </a:spcAft>
                        <a:buNone/>
                      </a:pPr>
                      <a:r>
                        <a:rPr lang="en-GB" sz="2400">
                          <a:solidFill>
                            <a:srgbClr val="434343"/>
                          </a:solidFill>
                        </a:rPr>
                        <a:t>Rộng hơn lô-gic mô tả</a:t>
                      </a:r>
                      <a:endParaRPr sz="2400">
                        <a:solidFill>
                          <a:srgbClr val="434343"/>
                        </a:solidFill>
                      </a:endParaRPr>
                    </a:p>
                  </a:txBody>
                  <a:tcPr marT="91425" marB="91425" marR="91425" marL="91425"/>
                </a:tc>
              </a:tr>
              <a:tr h="548600">
                <a:tc>
                  <a:txBody>
                    <a:bodyPr/>
                    <a:lstStyle/>
                    <a:p>
                      <a:pPr indent="0" lvl="0" marL="0" rtl="0" algn="l">
                        <a:spcBef>
                          <a:spcPts val="0"/>
                        </a:spcBef>
                        <a:spcAft>
                          <a:spcPts val="0"/>
                        </a:spcAft>
                        <a:buNone/>
                      </a:pPr>
                      <a:r>
                        <a:rPr lang="en-GB" sz="2400">
                          <a:solidFill>
                            <a:srgbClr val="434343"/>
                          </a:solidFill>
                        </a:rPr>
                        <a:t>OWL 2 DL</a:t>
                      </a:r>
                      <a:endParaRPr sz="2400">
                        <a:solidFill>
                          <a:srgbClr val="434343"/>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400">
                          <a:solidFill>
                            <a:srgbClr val="434343"/>
                          </a:solidFill>
                        </a:rPr>
                        <a:t>𝓢𝓡𝓞𝓘𝓠</a:t>
                      </a:r>
                      <a:endParaRPr sz="2400">
                        <a:solidFill>
                          <a:srgbClr val="434343"/>
                        </a:solidFill>
                      </a:endParaRPr>
                    </a:p>
                  </a:txBody>
                  <a:tcPr marT="91425" marB="91425" marR="91425" marL="91425"/>
                </a:tc>
              </a:tr>
              <a:tr h="428575">
                <a:tc>
                  <a:txBody>
                    <a:bodyPr/>
                    <a:lstStyle/>
                    <a:p>
                      <a:pPr indent="0" lvl="0" marL="0" rtl="0" algn="l">
                        <a:spcBef>
                          <a:spcPts val="0"/>
                        </a:spcBef>
                        <a:spcAft>
                          <a:spcPts val="0"/>
                        </a:spcAft>
                        <a:buNone/>
                      </a:pPr>
                      <a:r>
                        <a:rPr lang="en-GB" sz="2400">
                          <a:solidFill>
                            <a:srgbClr val="434343"/>
                          </a:solidFill>
                        </a:rPr>
                        <a:t>OWL 2 EL</a:t>
                      </a:r>
                      <a:endParaRPr sz="2400">
                        <a:solidFill>
                          <a:srgbClr val="434343"/>
                        </a:solidFill>
                      </a:endParaRPr>
                    </a:p>
                  </a:txBody>
                  <a:tcPr marT="91425" marB="91425" marR="91425" marL="91425"/>
                </a:tc>
                <a:tc>
                  <a:txBody>
                    <a:bodyPr/>
                    <a:lstStyle/>
                    <a:p>
                      <a:pPr indent="0" lvl="0" marL="0" rtl="0" algn="l">
                        <a:spcBef>
                          <a:spcPts val="0"/>
                        </a:spcBef>
                        <a:spcAft>
                          <a:spcPts val="0"/>
                        </a:spcAft>
                        <a:buNone/>
                      </a:pPr>
                      <a:r>
                        <a:rPr lang="en-GB" sz="2400">
                          <a:solidFill>
                            <a:srgbClr val="434343"/>
                          </a:solidFill>
                        </a:rPr>
                        <a:t>𝓔𝓛</a:t>
                      </a:r>
                      <a:r>
                        <a:rPr baseline="30000" lang="en-GB" sz="2500">
                          <a:solidFill>
                            <a:srgbClr val="434343"/>
                          </a:solidFill>
                        </a:rPr>
                        <a:t>++</a:t>
                      </a:r>
                      <a:r>
                        <a:rPr lang="en-GB" sz="2500">
                          <a:solidFill>
                            <a:srgbClr val="434343"/>
                          </a:solidFill>
                        </a:rPr>
                        <a:t> - Lược bỏ định lượng tất cả, thay vì định lượng tồn tại</a:t>
                      </a:r>
                      <a:endParaRPr sz="2500">
                        <a:solidFill>
                          <a:srgbClr val="434343"/>
                        </a:solidFill>
                      </a:endParaRPr>
                    </a:p>
                  </a:txBody>
                  <a:tcPr marT="91425" marB="91425" marR="91425" marL="91425"/>
                </a:tc>
              </a:tr>
              <a:tr h="548600">
                <a:tc>
                  <a:txBody>
                    <a:bodyPr/>
                    <a:lstStyle/>
                    <a:p>
                      <a:pPr indent="0" lvl="0" marL="0" rtl="0" algn="l">
                        <a:spcBef>
                          <a:spcPts val="0"/>
                        </a:spcBef>
                        <a:spcAft>
                          <a:spcPts val="0"/>
                        </a:spcAft>
                        <a:buNone/>
                      </a:pPr>
                      <a:r>
                        <a:rPr lang="en-GB" sz="2400">
                          <a:solidFill>
                            <a:srgbClr val="434343"/>
                          </a:solidFill>
                        </a:rPr>
                        <a:t>OWL 2 QL</a:t>
                      </a:r>
                      <a:endParaRPr sz="2400">
                        <a:solidFill>
                          <a:srgbClr val="434343"/>
                        </a:solidFill>
                      </a:endParaRPr>
                    </a:p>
                  </a:txBody>
                  <a:tcPr marT="91425" marB="91425" marR="91425" marL="91425"/>
                </a:tc>
                <a:tc>
                  <a:txBody>
                    <a:bodyPr/>
                    <a:lstStyle/>
                    <a:p>
                      <a:pPr indent="0" lvl="0" marL="0" rtl="0" algn="l">
                        <a:spcBef>
                          <a:spcPts val="0"/>
                        </a:spcBef>
                        <a:spcAft>
                          <a:spcPts val="0"/>
                        </a:spcAft>
                        <a:buNone/>
                      </a:pPr>
                      <a:r>
                        <a:rPr lang="en-GB" sz="2400">
                          <a:solidFill>
                            <a:srgbClr val="434343"/>
                          </a:solidFill>
                        </a:rPr>
                        <a:t>DL-Lite</a:t>
                      </a:r>
                      <a:endParaRPr sz="2400">
                        <a:solidFill>
                          <a:srgbClr val="434343"/>
                        </a:solidFill>
                      </a:endParaRPr>
                    </a:p>
                  </a:txBody>
                  <a:tcPr marT="91425" marB="91425" marR="91425" marL="91425"/>
                </a:tc>
              </a:tr>
              <a:tr h="695000">
                <a:tc>
                  <a:txBody>
                    <a:bodyPr/>
                    <a:lstStyle/>
                    <a:p>
                      <a:pPr indent="0" lvl="0" marL="0" rtl="0" algn="l">
                        <a:spcBef>
                          <a:spcPts val="0"/>
                        </a:spcBef>
                        <a:spcAft>
                          <a:spcPts val="0"/>
                        </a:spcAft>
                        <a:buNone/>
                      </a:pPr>
                      <a:r>
                        <a:rPr lang="en-GB" sz="2400">
                          <a:solidFill>
                            <a:srgbClr val="434343"/>
                          </a:solidFill>
                        </a:rPr>
                        <a:t>OWL 2 RL</a:t>
                      </a:r>
                      <a:endParaRPr sz="2400">
                        <a:solidFill>
                          <a:srgbClr val="434343"/>
                        </a:solidFill>
                      </a:endParaRPr>
                    </a:p>
                  </a:txBody>
                  <a:tcPr marT="91425" marB="91425" marR="91425" marL="91425"/>
                </a:tc>
                <a:tc>
                  <a:txBody>
                    <a:bodyPr/>
                    <a:lstStyle/>
                    <a:p>
                      <a:pPr indent="0" lvl="0" marL="0" rtl="0" algn="l">
                        <a:spcBef>
                          <a:spcPts val="0"/>
                        </a:spcBef>
                        <a:spcAft>
                          <a:spcPts val="0"/>
                        </a:spcAft>
                        <a:buNone/>
                      </a:pPr>
                      <a:r>
                        <a:rPr lang="en-GB" sz="2400">
                          <a:solidFill>
                            <a:srgbClr val="434343"/>
                          </a:solidFill>
                        </a:rPr>
                        <a:t>DLP (Description Logic Program)</a:t>
                      </a:r>
                      <a:endParaRPr sz="2400">
                        <a:solidFill>
                          <a:srgbClr val="434343"/>
                        </a:solidFill>
                      </a:endParaRPr>
                    </a:p>
                  </a:txBody>
                  <a:tcPr marT="91425" marB="91425" marR="91425" marL="91425"/>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a:t>
            </a:r>
            <a:r>
              <a:rPr lang="en-GB"/>
              <a:t>biểu thức </a:t>
            </a:r>
            <a:r>
              <a:rPr lang="en-GB"/>
              <a:t>khái niệm </a:t>
            </a:r>
            <a:r>
              <a:rPr lang="en-GB"/>
              <a:t>DL </a:t>
            </a:r>
            <a:r>
              <a:rPr lang="en-GB"/>
              <a:t>vs. </a:t>
            </a:r>
            <a:r>
              <a:rPr lang="en-GB"/>
              <a:t>lớp </a:t>
            </a:r>
            <a:r>
              <a:rPr lang="en-GB"/>
              <a:t>OWL</a:t>
            </a:r>
            <a:endParaRPr/>
          </a:p>
        </p:txBody>
      </p:sp>
      <p:sp>
        <p:nvSpPr>
          <p:cNvPr id="545" name="Google Shape;545;p72"/>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 tương đương với owl:Thing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owl:Nothing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owl:intersectionOf</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owl:unionOf</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owl:complementOf</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owl:allValuesFrom</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 tương đương với owl:someValuesFrom</a:t>
            </a:r>
            <a:endParaRPr>
              <a:solidFill>
                <a:srgbClr val="666666"/>
              </a:solidFill>
            </a:endParaRPr>
          </a:p>
        </p:txBody>
      </p:sp>
      <p:sp>
        <p:nvSpPr>
          <p:cNvPr id="546" name="Google Shape;546;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graphicFrame>
        <p:nvGraphicFramePr>
          <p:cNvPr id="551" name="Google Shape;551;p73"/>
          <p:cNvGraphicFramePr/>
          <p:nvPr/>
        </p:nvGraphicFramePr>
        <p:xfrm>
          <a:off x="244900" y="1238250"/>
          <a:ext cx="3000000" cy="3000000"/>
        </p:xfrm>
        <a:graphic>
          <a:graphicData uri="http://schemas.openxmlformats.org/drawingml/2006/table">
            <a:tbl>
              <a:tblPr>
                <a:noFill/>
                <a:tableStyleId>{301B1D0D-D2F0-4FFE-8277-CC19B5FD8E5E}</a:tableStyleId>
              </a:tblPr>
              <a:tblGrid>
                <a:gridCol w="1751950"/>
                <a:gridCol w="6955225"/>
              </a:tblGrid>
              <a:tr h="325825">
                <a:tc>
                  <a:txBody>
                    <a:bodyPr/>
                    <a:lstStyle/>
                    <a:p>
                      <a:pPr indent="0" lvl="0" marL="0" rtl="0" algn="ctr">
                        <a:lnSpc>
                          <a:spcPct val="115000"/>
                        </a:lnSpc>
                        <a:spcBef>
                          <a:spcPts val="0"/>
                        </a:spcBef>
                        <a:spcAft>
                          <a:spcPts val="0"/>
                        </a:spcAft>
                        <a:buNone/>
                      </a:pPr>
                      <a:r>
                        <a:rPr b="1" lang="en-GB" sz="2000">
                          <a:solidFill>
                            <a:srgbClr val="666666"/>
                          </a:solidFill>
                        </a:rPr>
                        <a:t>DL</a:t>
                      </a:r>
                      <a:endParaRPr b="1" sz="2000">
                        <a:solidFill>
                          <a:srgbClr val="666666"/>
                        </a:solidFill>
                      </a:endParaRPr>
                    </a:p>
                  </a:txBody>
                  <a:tcPr marT="18000" marB="18000" marR="91425" marL="91425"/>
                </a:tc>
                <a:tc>
                  <a:txBody>
                    <a:bodyPr/>
                    <a:lstStyle/>
                    <a:p>
                      <a:pPr indent="0" lvl="0" marL="0" rtl="0" algn="ctr">
                        <a:lnSpc>
                          <a:spcPct val="115000"/>
                        </a:lnSpc>
                        <a:spcBef>
                          <a:spcPts val="0"/>
                        </a:spcBef>
                        <a:spcAft>
                          <a:spcPts val="0"/>
                        </a:spcAft>
                        <a:buNone/>
                      </a:pPr>
                      <a:r>
                        <a:rPr b="1" lang="en-GB" sz="2000">
                          <a:solidFill>
                            <a:srgbClr val="666666"/>
                          </a:solidFill>
                        </a:rPr>
                        <a:t>OWL</a:t>
                      </a:r>
                      <a:endParaRPr b="1" sz="2000">
                        <a:solidFill>
                          <a:srgbClr val="666666"/>
                        </a:solidFill>
                      </a:endParaRPr>
                    </a:p>
                  </a:txBody>
                  <a:tcPr marT="18000" marB="18000" marR="91425" marL="91425"/>
                </a:tc>
              </a:tr>
              <a:tr h="325825">
                <a:tc>
                  <a:txBody>
                    <a:bodyPr/>
                    <a:lstStyle/>
                    <a:p>
                      <a:pPr indent="0" lvl="0" marL="0" rtl="0" algn="l">
                        <a:lnSpc>
                          <a:spcPct val="115000"/>
                        </a:lnSpc>
                        <a:spcBef>
                          <a:spcPts val="0"/>
                        </a:spcBef>
                        <a:spcAft>
                          <a:spcPts val="0"/>
                        </a:spcAft>
                        <a:buNone/>
                      </a:pPr>
                      <a:r>
                        <a:rPr lang="en-GB" sz="2000">
                          <a:solidFill>
                            <a:srgbClr val="666666"/>
                          </a:solidFill>
                        </a:rPr>
                        <a:t>C</a:t>
                      </a:r>
                      <a:endParaRPr sz="2000">
                        <a:solidFill>
                          <a:srgbClr val="666666"/>
                        </a:solidFill>
                      </a:endParaRPr>
                    </a:p>
                  </a:txBody>
                  <a:tcPr marT="18000" marB="18000"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000">
                          <a:solidFill>
                            <a:srgbClr val="666666"/>
                          </a:solidFill>
                        </a:rPr>
                        <a:t>C rdf:type owl:Class</a:t>
                      </a:r>
                      <a:endParaRPr sz="2000">
                        <a:solidFill>
                          <a:srgbClr val="666666"/>
                        </a:solidFill>
                      </a:endParaRPr>
                    </a:p>
                  </a:txBody>
                  <a:tcPr marT="18000" marB="18000" marR="91425" marL="91425"/>
                </a:tc>
              </a:tr>
              <a:tr h="348225">
                <a:tc>
                  <a:txBody>
                    <a:bodyPr/>
                    <a:lstStyle/>
                    <a:p>
                      <a:pPr indent="0" lvl="0" marL="0" rtl="0" algn="l">
                        <a:lnSpc>
                          <a:spcPct val="115000"/>
                        </a:lnSpc>
                        <a:spcBef>
                          <a:spcPts val="0"/>
                        </a:spcBef>
                        <a:spcAft>
                          <a:spcPts val="0"/>
                        </a:spcAft>
                        <a:buNone/>
                      </a:pPr>
                      <a:r>
                        <a:rPr lang="en-GB" sz="2000">
                          <a:solidFill>
                            <a:srgbClr val="666666"/>
                          </a:solidFill>
                        </a:rPr>
                        <a:t>C ⊑ D</a:t>
                      </a:r>
                      <a:endParaRPr sz="2000">
                        <a:solidFill>
                          <a:srgbClr val="666666"/>
                        </a:solidFill>
                      </a:endParaRPr>
                    </a:p>
                  </a:txBody>
                  <a:tcPr marT="18000" marB="18000"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000">
                          <a:solidFill>
                            <a:srgbClr val="666666"/>
                          </a:solidFill>
                        </a:rPr>
                        <a:t>C rdfs:subClassOf D</a:t>
                      </a:r>
                      <a:endParaRPr sz="2000">
                        <a:solidFill>
                          <a:srgbClr val="666666"/>
                        </a:solidFill>
                      </a:endParaRPr>
                    </a:p>
                  </a:txBody>
                  <a:tcPr marT="18000" marB="18000" marR="91425" marL="91425"/>
                </a:tc>
              </a:tr>
              <a:tr h="325825">
                <a:tc>
                  <a:txBody>
                    <a:bodyPr/>
                    <a:lstStyle/>
                    <a:p>
                      <a:pPr indent="0" lvl="0" marL="0" rtl="0" algn="l">
                        <a:spcBef>
                          <a:spcPts val="0"/>
                        </a:spcBef>
                        <a:spcAft>
                          <a:spcPts val="0"/>
                        </a:spcAft>
                        <a:buNone/>
                      </a:pPr>
                      <a:r>
                        <a:rPr lang="en-GB" sz="2000">
                          <a:solidFill>
                            <a:srgbClr val="666666"/>
                          </a:solidFill>
                        </a:rPr>
                        <a:t>∃r.C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[a owl:Restriction;owl:onProperty r;owl:someValuesFrom C]</a:t>
                      </a:r>
                      <a:endParaRPr sz="2000">
                        <a:solidFill>
                          <a:srgbClr val="666666"/>
                        </a:solidFill>
                      </a:endParaRPr>
                    </a:p>
                  </a:txBody>
                  <a:tcPr marT="18000" marB="18000" marR="91425" marL="91425"/>
                </a:tc>
              </a:tr>
              <a:tr h="325825">
                <a:tc>
                  <a:txBody>
                    <a:bodyPr/>
                    <a:lstStyle/>
                    <a:p>
                      <a:pPr indent="0" lvl="0" marL="0" rtl="0" algn="l">
                        <a:spcBef>
                          <a:spcPts val="0"/>
                        </a:spcBef>
                        <a:spcAft>
                          <a:spcPts val="0"/>
                        </a:spcAft>
                        <a:buNone/>
                      </a:pPr>
                      <a:r>
                        <a:rPr lang="en-GB" sz="2000">
                          <a:solidFill>
                            <a:srgbClr val="666666"/>
                          </a:solidFill>
                        </a:rPr>
                        <a:t>∀r.C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[a owl:Restriction;owl:onProperty r; owl:allValuesFrom C]</a:t>
                      </a:r>
                      <a:endParaRPr sz="2000">
                        <a:solidFill>
                          <a:srgbClr val="666666"/>
                        </a:solidFill>
                      </a:endParaRPr>
                    </a:p>
                  </a:txBody>
                  <a:tcPr marT="18000" marB="18000" marR="91425" marL="91425"/>
                </a:tc>
              </a:tr>
              <a:tr h="572250">
                <a:tc>
                  <a:txBody>
                    <a:bodyPr/>
                    <a:lstStyle/>
                    <a:p>
                      <a:pPr indent="0" lvl="0" marL="0" rtl="0" algn="l">
                        <a:spcBef>
                          <a:spcPts val="0"/>
                        </a:spcBef>
                        <a:spcAft>
                          <a:spcPts val="0"/>
                        </a:spcAft>
                        <a:buNone/>
                      </a:pPr>
                      <a:r>
                        <a:rPr lang="en-GB" sz="2000">
                          <a:solidFill>
                            <a:srgbClr val="666666"/>
                          </a:solidFill>
                        </a:rPr>
                        <a:t>≥ n r.C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[a owl:Restriction; owl:minQualifiedCardinality n; </a:t>
                      </a:r>
                      <a:endParaRPr sz="2000">
                        <a:solidFill>
                          <a:srgbClr val="666666"/>
                        </a:solidFill>
                      </a:endParaRPr>
                    </a:p>
                    <a:p>
                      <a:pPr indent="0" lvl="0" marL="0" rtl="0" algn="l">
                        <a:spcBef>
                          <a:spcPts val="0"/>
                        </a:spcBef>
                        <a:spcAft>
                          <a:spcPts val="0"/>
                        </a:spcAft>
                        <a:buClr>
                          <a:schemeClr val="dk1"/>
                        </a:buClr>
                        <a:buSzPts val="1100"/>
                        <a:buFont typeface="Arial"/>
                        <a:buNone/>
                      </a:pPr>
                      <a:r>
                        <a:rPr lang="en-GB" sz="2000">
                          <a:solidFill>
                            <a:srgbClr val="666666"/>
                          </a:solidFill>
                        </a:rPr>
                        <a:t>                owl:onProperty r; owl:onClass C].</a:t>
                      </a:r>
                      <a:endParaRPr sz="2000">
                        <a:solidFill>
                          <a:srgbClr val="666666"/>
                        </a:solidFill>
                      </a:endParaRPr>
                    </a:p>
                  </a:txBody>
                  <a:tcPr marT="18000" marB="18000" marR="91425" marL="91425"/>
                </a:tc>
              </a:tr>
              <a:tr h="572250">
                <a:tc>
                  <a:txBody>
                    <a:bodyPr/>
                    <a:lstStyle/>
                    <a:p>
                      <a:pPr indent="0" lvl="0" marL="0" rtl="0" algn="l">
                        <a:spcBef>
                          <a:spcPts val="0"/>
                        </a:spcBef>
                        <a:spcAft>
                          <a:spcPts val="0"/>
                        </a:spcAft>
                        <a:buNone/>
                      </a:pPr>
                      <a:r>
                        <a:rPr lang="en-GB" sz="2000">
                          <a:solidFill>
                            <a:srgbClr val="666666"/>
                          </a:solidFill>
                        </a:rPr>
                        <a:t>≤ n r.C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[a owl:Restriction; owl:maxQualifiedCardinality n; </a:t>
                      </a:r>
                      <a:endParaRPr sz="2000">
                        <a:solidFill>
                          <a:srgbClr val="666666"/>
                        </a:solidFill>
                      </a:endParaRPr>
                    </a:p>
                    <a:p>
                      <a:pPr indent="0" lvl="0" marL="0" rtl="0" algn="l">
                        <a:spcBef>
                          <a:spcPts val="0"/>
                        </a:spcBef>
                        <a:spcAft>
                          <a:spcPts val="0"/>
                        </a:spcAft>
                        <a:buClr>
                          <a:schemeClr val="dk1"/>
                        </a:buClr>
                        <a:buSzPts val="1100"/>
                        <a:buFont typeface="Arial"/>
                        <a:buNone/>
                      </a:pPr>
                      <a:r>
                        <a:rPr lang="en-GB" sz="2000">
                          <a:solidFill>
                            <a:srgbClr val="666666"/>
                          </a:solidFill>
                        </a:rPr>
                        <a:t>                owl:onProperty r; owl:onClass C].</a:t>
                      </a:r>
                      <a:endParaRPr sz="2000">
                        <a:solidFill>
                          <a:srgbClr val="666666"/>
                        </a:solidFill>
                      </a:endParaRPr>
                    </a:p>
                  </a:txBody>
                  <a:tcPr marT="18000" marB="18000" marR="91425" marL="91425"/>
                </a:tc>
              </a:tr>
              <a:tr h="348225">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∃r.T ⊑ 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r rdfs:domain C.</a:t>
                      </a:r>
                      <a:endParaRPr sz="2000">
                        <a:solidFill>
                          <a:srgbClr val="666666"/>
                        </a:solidFill>
                      </a:endParaRPr>
                    </a:p>
                  </a:txBody>
                  <a:tcPr marT="18000" marB="18000" marR="91425" marL="91425"/>
                </a:tc>
              </a:tr>
              <a:tr h="348225">
                <a:tc>
                  <a:txBody>
                    <a:bodyPr/>
                    <a:lstStyle/>
                    <a:p>
                      <a:pPr indent="0" lvl="0" marL="0" rtl="0" algn="l">
                        <a:spcBef>
                          <a:spcPts val="0"/>
                        </a:spcBef>
                        <a:spcAft>
                          <a:spcPts val="0"/>
                        </a:spcAft>
                        <a:buClr>
                          <a:schemeClr val="dk1"/>
                        </a:buClr>
                        <a:buSzPts val="1100"/>
                        <a:buFont typeface="Arial"/>
                        <a:buNone/>
                      </a:pPr>
                      <a:r>
                        <a:rPr lang="en-GB" sz="2000">
                          <a:solidFill>
                            <a:srgbClr val="BF9000"/>
                          </a:solidFill>
                        </a:rPr>
                        <a:t>T ⊑ ∀r.C</a:t>
                      </a:r>
                      <a:endParaRPr sz="2000">
                        <a:solidFill>
                          <a:srgbClr val="BF9000"/>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BF9000"/>
                          </a:solidFill>
                        </a:rPr>
                        <a:t>r rdfs:range C.</a:t>
                      </a:r>
                      <a:endParaRPr sz="2000">
                        <a:solidFill>
                          <a:srgbClr val="BF9000"/>
                        </a:solidFill>
                      </a:endParaRPr>
                    </a:p>
                  </a:txBody>
                  <a:tcPr marT="18000" marB="18000" marR="91425" marL="91425"/>
                </a:tc>
              </a:tr>
              <a:tr h="325825">
                <a:tc>
                  <a:txBody>
                    <a:bodyPr/>
                    <a:lstStyle/>
                    <a:p>
                      <a:pPr indent="0" lvl="0" marL="0" rtl="0" algn="l">
                        <a:spcBef>
                          <a:spcPts val="0"/>
                        </a:spcBef>
                        <a:spcAft>
                          <a:spcPts val="0"/>
                        </a:spcAft>
                        <a:buNone/>
                      </a:pPr>
                      <a:r>
                        <a:rPr lang="en-GB" sz="2000">
                          <a:solidFill>
                            <a:srgbClr val="666666"/>
                          </a:solidFill>
                        </a:rPr>
                        <a:t>{a</a:t>
                      </a:r>
                      <a:r>
                        <a:rPr baseline="-25000" lang="en-GB" sz="2000">
                          <a:solidFill>
                            <a:srgbClr val="666666"/>
                          </a:solidFill>
                        </a:rPr>
                        <a:t>1</a:t>
                      </a:r>
                      <a:r>
                        <a:rPr lang="en-GB" sz="2000">
                          <a:solidFill>
                            <a:srgbClr val="666666"/>
                          </a:solidFill>
                        </a:rPr>
                        <a:t>, …, a</a:t>
                      </a:r>
                      <a:r>
                        <a:rPr baseline="-25000" lang="en-GB" sz="2000">
                          <a:solidFill>
                            <a:srgbClr val="666666"/>
                          </a:solidFill>
                        </a:rPr>
                        <a:t>n</a:t>
                      </a:r>
                      <a:r>
                        <a:rPr lang="en-GB" sz="2000">
                          <a:solidFill>
                            <a:srgbClr val="666666"/>
                          </a:solidFill>
                        </a:rPr>
                        <a:t>}</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[a owl:Class; owl:oneOf(a</a:t>
                      </a:r>
                      <a:r>
                        <a:rPr baseline="-25000" lang="en-GB" sz="2000">
                          <a:solidFill>
                            <a:srgbClr val="666666"/>
                          </a:solidFill>
                        </a:rPr>
                        <a:t>1</a:t>
                      </a:r>
                      <a:r>
                        <a:rPr lang="en-GB" sz="2000">
                          <a:solidFill>
                            <a:srgbClr val="666666"/>
                          </a:solidFill>
                        </a:rPr>
                        <a:t>  a</a:t>
                      </a:r>
                      <a:r>
                        <a:rPr baseline="-25000" lang="en-GB" sz="2000">
                          <a:solidFill>
                            <a:srgbClr val="666666"/>
                          </a:solidFill>
                        </a:rPr>
                        <a:t>2</a:t>
                      </a:r>
                      <a:r>
                        <a:rPr lang="en-GB" sz="2000">
                          <a:solidFill>
                            <a:srgbClr val="666666"/>
                          </a:solidFill>
                        </a:rPr>
                        <a:t>  … a</a:t>
                      </a:r>
                      <a:r>
                        <a:rPr baseline="-25000" lang="en-GB" sz="2000">
                          <a:solidFill>
                            <a:srgbClr val="666666"/>
                          </a:solidFill>
                        </a:rPr>
                        <a:t>n</a:t>
                      </a:r>
                      <a:r>
                        <a:rPr lang="en-GB" sz="2000">
                          <a:solidFill>
                            <a:srgbClr val="666666"/>
                          </a:solidFill>
                        </a:rPr>
                        <a:t>)]</a:t>
                      </a:r>
                      <a:endParaRPr sz="2000">
                        <a:solidFill>
                          <a:srgbClr val="666666"/>
                        </a:solidFill>
                      </a:endParaRPr>
                    </a:p>
                  </a:txBody>
                  <a:tcPr marT="18000" marB="18000" marR="91425" marL="91425"/>
                </a:tc>
              </a:tr>
              <a:tr h="325825">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¬C</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[owl:complementOf C].</a:t>
                      </a:r>
                      <a:endParaRPr sz="2000">
                        <a:solidFill>
                          <a:srgbClr val="666666"/>
                        </a:solidFill>
                      </a:endParaRPr>
                    </a:p>
                  </a:txBody>
                  <a:tcPr marT="18000" marB="18000" marR="91425" marL="91425"/>
                </a:tc>
              </a:tr>
              <a:tr h="325825">
                <a:tc>
                  <a:txBody>
                    <a:bodyPr/>
                    <a:lstStyle/>
                    <a:p>
                      <a:pPr indent="0" lvl="0" marL="0" rtl="0" algn="l">
                        <a:spcBef>
                          <a:spcPts val="0"/>
                        </a:spcBef>
                        <a:spcAft>
                          <a:spcPts val="0"/>
                        </a:spcAft>
                        <a:buNone/>
                      </a:pPr>
                      <a:r>
                        <a:rPr lang="en-GB" sz="2000">
                          <a:solidFill>
                            <a:srgbClr val="666666"/>
                          </a:solidFill>
                        </a:rPr>
                        <a:t>C</a:t>
                      </a:r>
                      <a:r>
                        <a:rPr baseline="-25000" lang="en-GB" sz="2000">
                          <a:solidFill>
                            <a:srgbClr val="666666"/>
                          </a:solidFill>
                        </a:rPr>
                        <a:t>1 </a:t>
                      </a:r>
                      <a:r>
                        <a:rPr lang="en-GB" sz="2000">
                          <a:solidFill>
                            <a:srgbClr val="666666"/>
                          </a:solidFill>
                        </a:rPr>
                        <a:t>⨅ …  ⨅ </a:t>
                      </a:r>
                      <a:r>
                        <a:rPr lang="en-GB" sz="2000">
                          <a:solidFill>
                            <a:srgbClr val="666666"/>
                          </a:solidFill>
                        </a:rPr>
                        <a:t>C</a:t>
                      </a:r>
                      <a:r>
                        <a:rPr baseline="-25000" lang="en-GB" sz="2000">
                          <a:solidFill>
                            <a:srgbClr val="666666"/>
                          </a:solidFill>
                        </a:rPr>
                        <a:t>n</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[owl:intersectionOf(C</a:t>
                      </a:r>
                      <a:r>
                        <a:rPr baseline="-25000" lang="en-GB" sz="2000">
                          <a:solidFill>
                            <a:srgbClr val="666666"/>
                          </a:solidFill>
                        </a:rPr>
                        <a:t>1</a:t>
                      </a:r>
                      <a:r>
                        <a:rPr lang="en-GB" sz="2000">
                          <a:solidFill>
                            <a:srgbClr val="666666"/>
                          </a:solidFill>
                        </a:rPr>
                        <a:t> … C</a:t>
                      </a:r>
                      <a:r>
                        <a:rPr baseline="-25000" lang="en-GB" sz="2000">
                          <a:solidFill>
                            <a:srgbClr val="666666"/>
                          </a:solidFill>
                        </a:rPr>
                        <a:t>n</a:t>
                      </a:r>
                      <a:r>
                        <a:rPr lang="en-GB" sz="2000">
                          <a:solidFill>
                            <a:srgbClr val="666666"/>
                          </a:solidFill>
                        </a:rPr>
                        <a:t>)]</a:t>
                      </a:r>
                      <a:endParaRPr sz="2000">
                        <a:solidFill>
                          <a:srgbClr val="666666"/>
                        </a:solidFill>
                      </a:endParaRPr>
                    </a:p>
                  </a:txBody>
                  <a:tcPr marT="18000" marB="18000" marR="91425" marL="91425"/>
                </a:tc>
              </a:tr>
              <a:tr h="325825">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C</a:t>
                      </a:r>
                      <a:r>
                        <a:rPr baseline="-25000" lang="en-GB" sz="2000">
                          <a:solidFill>
                            <a:srgbClr val="666666"/>
                          </a:solidFill>
                        </a:rPr>
                        <a:t>1 </a:t>
                      </a:r>
                      <a:r>
                        <a:rPr lang="en-GB" sz="2000">
                          <a:solidFill>
                            <a:srgbClr val="666666"/>
                          </a:solidFill>
                        </a:rPr>
                        <a:t>⨆ …  ⨆ C</a:t>
                      </a:r>
                      <a:r>
                        <a:rPr baseline="-25000" lang="en-GB" sz="2000">
                          <a:solidFill>
                            <a:srgbClr val="666666"/>
                          </a:solidFill>
                        </a:rPr>
                        <a:t>n</a:t>
                      </a:r>
                      <a:endParaRPr sz="2000">
                        <a:solidFill>
                          <a:srgbClr val="666666"/>
                        </a:solidFill>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666666"/>
                          </a:solidFill>
                        </a:rPr>
                        <a:t>[owl:unionOf(C</a:t>
                      </a:r>
                      <a:r>
                        <a:rPr baseline="-25000" lang="en-GB" sz="2000">
                          <a:solidFill>
                            <a:srgbClr val="666666"/>
                          </a:solidFill>
                        </a:rPr>
                        <a:t>1</a:t>
                      </a:r>
                      <a:r>
                        <a:rPr lang="en-GB" sz="2000">
                          <a:solidFill>
                            <a:srgbClr val="666666"/>
                          </a:solidFill>
                        </a:rPr>
                        <a:t> … C</a:t>
                      </a:r>
                      <a:r>
                        <a:rPr baseline="-25000" lang="en-GB" sz="2000">
                          <a:solidFill>
                            <a:srgbClr val="666666"/>
                          </a:solidFill>
                        </a:rPr>
                        <a:t>n</a:t>
                      </a:r>
                      <a:r>
                        <a:rPr lang="en-GB" sz="2000">
                          <a:solidFill>
                            <a:srgbClr val="666666"/>
                          </a:solidFill>
                        </a:rPr>
                        <a:t>)]</a:t>
                      </a:r>
                      <a:endParaRPr sz="2000">
                        <a:solidFill>
                          <a:srgbClr val="666666"/>
                        </a:solidFill>
                      </a:endParaRPr>
                    </a:p>
                  </a:txBody>
                  <a:tcPr marT="18000" marB="18000" marR="91425" marL="91425"/>
                </a:tc>
              </a:tr>
            </a:tbl>
          </a:graphicData>
        </a:graphic>
      </p:graphicFrame>
      <p:sp>
        <p:nvSpPr>
          <p:cNvPr id="552" name="Google Shape;552;p7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DL và OWL: </a:t>
            </a:r>
            <a:r>
              <a:rPr lang="en-GB"/>
              <a:t>K</a:t>
            </a:r>
            <a:r>
              <a:rPr lang="en-GB"/>
              <a:t>hái niệm </a:t>
            </a:r>
            <a:r>
              <a:rPr lang="en-GB"/>
              <a:t>và Lớp</a:t>
            </a:r>
            <a:endParaRPr baseline="-25000"/>
          </a:p>
        </p:txBody>
      </p:sp>
      <p:sp>
        <p:nvSpPr>
          <p:cNvPr id="553" name="Google Shape;553;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DL và OWL: Vai trò và </a:t>
            </a:r>
            <a:r>
              <a:rPr lang="en-GB"/>
              <a:t>Thuộc tính</a:t>
            </a:r>
            <a:endParaRPr baseline="-25000"/>
          </a:p>
        </p:txBody>
      </p:sp>
      <p:sp>
        <p:nvSpPr>
          <p:cNvPr id="559" name="Google Shape;559;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60" name="Google Shape;560;p74"/>
          <p:cNvGraphicFramePr/>
          <p:nvPr/>
        </p:nvGraphicFramePr>
        <p:xfrm>
          <a:off x="459825" y="1364150"/>
          <a:ext cx="3000000" cy="3000000"/>
        </p:xfrm>
        <a:graphic>
          <a:graphicData uri="http://schemas.openxmlformats.org/drawingml/2006/table">
            <a:tbl>
              <a:tblPr>
                <a:noFill/>
                <a:tableStyleId>{301B1D0D-D2F0-4FFE-8277-CC19B5FD8E5E}</a:tableStyleId>
              </a:tblPr>
              <a:tblGrid>
                <a:gridCol w="1750675"/>
                <a:gridCol w="4583450"/>
              </a:tblGrid>
              <a:tr h="211450">
                <a:tc>
                  <a:txBody>
                    <a:bodyPr/>
                    <a:lstStyle/>
                    <a:p>
                      <a:pPr indent="0" lvl="0" marL="0" rtl="0" algn="ctr">
                        <a:spcBef>
                          <a:spcPts val="0"/>
                        </a:spcBef>
                        <a:spcAft>
                          <a:spcPts val="0"/>
                        </a:spcAft>
                        <a:buNone/>
                      </a:pPr>
                      <a:r>
                        <a:rPr b="1" lang="en-GB" sz="2200">
                          <a:solidFill>
                            <a:srgbClr val="666666"/>
                          </a:solidFill>
                        </a:rPr>
                        <a:t>DL</a:t>
                      </a:r>
                      <a:endParaRPr b="1" sz="2200">
                        <a:solidFill>
                          <a:srgbClr val="666666"/>
                        </a:solidFill>
                      </a:endParaRPr>
                    </a:p>
                  </a:txBody>
                  <a:tcPr marT="54000" marB="54000" marR="91425" marL="91425"/>
                </a:tc>
                <a:tc>
                  <a:txBody>
                    <a:bodyPr/>
                    <a:lstStyle/>
                    <a:p>
                      <a:pPr indent="0" lvl="0" marL="0" rtl="0" algn="ctr">
                        <a:spcBef>
                          <a:spcPts val="0"/>
                        </a:spcBef>
                        <a:spcAft>
                          <a:spcPts val="0"/>
                        </a:spcAft>
                        <a:buNone/>
                      </a:pPr>
                      <a:r>
                        <a:rPr b="1" lang="en-GB" sz="2200">
                          <a:solidFill>
                            <a:srgbClr val="666666"/>
                          </a:solidFill>
                        </a:rPr>
                        <a:t>OWL</a:t>
                      </a:r>
                      <a:endParaRPr b="1" sz="2200">
                        <a:solidFill>
                          <a:srgbClr val="666666"/>
                        </a:solidFill>
                      </a:endParaRPr>
                    </a:p>
                  </a:txBody>
                  <a:tcPr marT="54000" marB="54000" marR="91425" marL="91425"/>
                </a:tc>
              </a:tr>
              <a:tr h="211450">
                <a:tc>
                  <a:txBody>
                    <a:bodyPr/>
                    <a:lstStyle/>
                    <a:p>
                      <a:pPr indent="0" lvl="0" marL="0" rtl="0" algn="l">
                        <a:spcBef>
                          <a:spcPts val="0"/>
                        </a:spcBef>
                        <a:spcAft>
                          <a:spcPts val="0"/>
                        </a:spcAft>
                        <a:buNone/>
                      </a:pPr>
                      <a:r>
                        <a:rPr lang="en-GB" sz="2200">
                          <a:solidFill>
                            <a:srgbClr val="666666"/>
                          </a:solidFill>
                        </a:rPr>
                        <a:t>r</a:t>
                      </a:r>
                      <a:endParaRPr sz="22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r rdf:type rdf:Property</a:t>
                      </a:r>
                      <a:endParaRPr sz="2200">
                        <a:solidFill>
                          <a:srgbClr val="666666"/>
                        </a:solidFill>
                      </a:endParaRPr>
                    </a:p>
                  </a:txBody>
                  <a:tcPr marT="54000" marB="54000" marR="91425" marL="91425"/>
                </a:tc>
              </a:tr>
              <a:tr h="211450">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r</a:t>
                      </a:r>
                      <a:r>
                        <a:rPr baseline="30000" lang="en-GB" sz="2200">
                          <a:solidFill>
                            <a:srgbClr val="666666"/>
                          </a:solidFill>
                        </a:rPr>
                        <a:t>−</a:t>
                      </a:r>
                      <a:endParaRPr sz="22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[owl:inverseOf r]</a:t>
                      </a:r>
                      <a:endParaRPr sz="2200">
                        <a:solidFill>
                          <a:srgbClr val="666666"/>
                        </a:solidFill>
                      </a:endParaRPr>
                    </a:p>
                  </a:txBody>
                  <a:tcPr marT="54000" marB="54000" marR="91425" marL="91425"/>
                </a:tc>
              </a:tr>
              <a:tr h="225975">
                <a:tc>
                  <a:txBody>
                    <a:bodyPr/>
                    <a:lstStyle/>
                    <a:p>
                      <a:pPr indent="0" lvl="0" marL="0" rtl="0" algn="l">
                        <a:spcBef>
                          <a:spcPts val="0"/>
                        </a:spcBef>
                        <a:spcAft>
                          <a:spcPts val="0"/>
                        </a:spcAft>
                        <a:buNone/>
                      </a:pPr>
                      <a:r>
                        <a:rPr lang="en-GB" sz="2200">
                          <a:solidFill>
                            <a:srgbClr val="666666"/>
                          </a:solidFill>
                        </a:rPr>
                        <a:t>u</a:t>
                      </a:r>
                      <a:endParaRPr sz="22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owl:topObjectProperty</a:t>
                      </a:r>
                      <a:endParaRPr sz="2200">
                        <a:solidFill>
                          <a:srgbClr val="666666"/>
                        </a:solidFill>
                      </a:endParaRPr>
                    </a:p>
                  </a:txBody>
                  <a:tcPr marT="54000" marB="54000" marR="91425" marL="91425"/>
                </a:tc>
              </a:tr>
              <a:tr h="217300">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s ⊑ r</a:t>
                      </a:r>
                      <a:endParaRPr sz="2200">
                        <a:solidFill>
                          <a:srgbClr val="666666"/>
                        </a:solidFill>
                      </a:endParaRPr>
                    </a:p>
                  </a:txBody>
                  <a:tcPr marT="54000" marB="54000" marR="91425" marL="91425"/>
                </a:tc>
                <a:tc>
                  <a:txBody>
                    <a:bodyPr/>
                    <a:lstStyle/>
                    <a:p>
                      <a:pPr indent="0" lvl="0" marL="0" rtl="0" algn="l">
                        <a:spcBef>
                          <a:spcPts val="0"/>
                        </a:spcBef>
                        <a:spcAft>
                          <a:spcPts val="0"/>
                        </a:spcAft>
                        <a:buNone/>
                      </a:pPr>
                      <a:r>
                        <a:rPr lang="en-GB" sz="2200">
                          <a:solidFill>
                            <a:srgbClr val="666666"/>
                          </a:solidFill>
                        </a:rPr>
                        <a:t>s rdfs:subPropertyOf r</a:t>
                      </a:r>
                      <a:endParaRPr sz="2200">
                        <a:solidFill>
                          <a:srgbClr val="666666"/>
                        </a:solidFill>
                      </a:endParaRPr>
                    </a:p>
                  </a:txBody>
                  <a:tcPr marT="54000" marB="54000" marR="91425" marL="91425"/>
                </a:tc>
              </a:tr>
              <a:tr h="411450">
                <a:tc>
                  <a:txBody>
                    <a:bodyPr/>
                    <a:lstStyle/>
                    <a:p>
                      <a:pPr indent="0" lvl="0" marL="0" rtl="0" algn="l">
                        <a:lnSpc>
                          <a:spcPct val="150000"/>
                        </a:lnSpc>
                        <a:spcBef>
                          <a:spcPts val="0"/>
                        </a:spcBef>
                        <a:spcAft>
                          <a:spcPts val="0"/>
                        </a:spcAft>
                        <a:buClr>
                          <a:schemeClr val="dk1"/>
                        </a:buClr>
                        <a:buSzPts val="1100"/>
                        <a:buFont typeface="Arial"/>
                        <a:buNone/>
                      </a:pPr>
                      <a:r>
                        <a:rPr lang="en-GB" sz="2200">
                          <a:solidFill>
                            <a:srgbClr val="666666"/>
                          </a:solidFill>
                        </a:rPr>
                        <a:t>r</a:t>
                      </a:r>
                      <a:r>
                        <a:rPr baseline="-25000" lang="en-GB" sz="2200">
                          <a:solidFill>
                            <a:srgbClr val="666666"/>
                          </a:solidFill>
                        </a:rPr>
                        <a:t>1</a:t>
                      </a:r>
                      <a:r>
                        <a:rPr lang="en-GB" sz="2200">
                          <a:solidFill>
                            <a:srgbClr val="666666"/>
                          </a:solidFill>
                        </a:rPr>
                        <a:t>◦…◦r</a:t>
                      </a:r>
                      <a:r>
                        <a:rPr baseline="-25000" lang="en-GB" sz="2200">
                          <a:solidFill>
                            <a:srgbClr val="666666"/>
                          </a:solidFill>
                        </a:rPr>
                        <a:t>n</a:t>
                      </a:r>
                      <a:r>
                        <a:rPr lang="en-GB" sz="2200">
                          <a:solidFill>
                            <a:srgbClr val="666666"/>
                          </a:solidFill>
                        </a:rPr>
                        <a:t> ⊑ r</a:t>
                      </a:r>
                      <a:endParaRPr sz="2200">
                        <a:solidFill>
                          <a:srgbClr val="666666"/>
                        </a:solidFill>
                      </a:endParaRPr>
                    </a:p>
                  </a:txBody>
                  <a:tcPr marT="54000" marB="54000" marR="91425" marL="91425"/>
                </a:tc>
                <a:tc>
                  <a:txBody>
                    <a:bodyPr/>
                    <a:lstStyle/>
                    <a:p>
                      <a:pPr indent="0" lvl="0" marL="0" rtl="0" algn="l">
                        <a:lnSpc>
                          <a:spcPct val="150000"/>
                        </a:lnSpc>
                        <a:spcBef>
                          <a:spcPts val="0"/>
                        </a:spcBef>
                        <a:spcAft>
                          <a:spcPts val="0"/>
                        </a:spcAft>
                        <a:buNone/>
                      </a:pPr>
                      <a:r>
                        <a:rPr lang="en-GB" sz="2200">
                          <a:solidFill>
                            <a:srgbClr val="666666"/>
                          </a:solidFill>
                        </a:rPr>
                        <a:t>r owl:propertyChainAxiom(r</a:t>
                      </a:r>
                      <a:r>
                        <a:rPr baseline="-25000" lang="en-GB" sz="2200">
                          <a:solidFill>
                            <a:srgbClr val="666666"/>
                          </a:solidFill>
                        </a:rPr>
                        <a:t>1</a:t>
                      </a:r>
                      <a:r>
                        <a:rPr lang="en-GB" sz="2200">
                          <a:solidFill>
                            <a:srgbClr val="666666"/>
                          </a:solidFill>
                        </a:rPr>
                        <a:t>, …, r</a:t>
                      </a:r>
                      <a:r>
                        <a:rPr baseline="-25000" lang="en-GB" sz="2200">
                          <a:solidFill>
                            <a:srgbClr val="666666"/>
                          </a:solidFill>
                        </a:rPr>
                        <a:t>n</a:t>
                      </a:r>
                      <a:r>
                        <a:rPr lang="en-GB" sz="2200">
                          <a:solidFill>
                            <a:srgbClr val="666666"/>
                          </a:solidFill>
                        </a:rPr>
                        <a:t>)</a:t>
                      </a:r>
                      <a:endParaRPr sz="2200">
                        <a:solidFill>
                          <a:srgbClr val="666666"/>
                        </a:solidFill>
                      </a:endParaRPr>
                    </a:p>
                  </a:txBody>
                  <a:tcPr marT="54000" marB="54000" marR="91425" marL="91425"/>
                </a:tc>
              </a:tr>
              <a:tr h="225975">
                <a:tc>
                  <a:txBody>
                    <a:bodyPr/>
                    <a:lstStyle/>
                    <a:p>
                      <a:pPr indent="0" lvl="0" marL="0" rtl="0" algn="l">
                        <a:lnSpc>
                          <a:spcPct val="150000"/>
                        </a:lnSpc>
                        <a:spcBef>
                          <a:spcPts val="0"/>
                        </a:spcBef>
                        <a:spcAft>
                          <a:spcPts val="0"/>
                        </a:spcAft>
                        <a:buNone/>
                      </a:pPr>
                      <a:r>
                        <a:rPr lang="en-GB" sz="2200">
                          <a:solidFill>
                            <a:srgbClr val="666666"/>
                          </a:solidFill>
                        </a:rPr>
                        <a:t>Dis(r, s)</a:t>
                      </a:r>
                      <a:endParaRPr sz="2200">
                        <a:solidFill>
                          <a:srgbClr val="666666"/>
                        </a:solidFill>
                      </a:endParaRPr>
                    </a:p>
                  </a:txBody>
                  <a:tcPr marT="54000" marB="54000" marR="91425" marL="91425"/>
                </a:tc>
                <a:tc>
                  <a:txBody>
                    <a:bodyPr/>
                    <a:lstStyle/>
                    <a:p>
                      <a:pPr indent="0" lvl="0" marL="0" rtl="0" algn="l">
                        <a:lnSpc>
                          <a:spcPct val="150000"/>
                        </a:lnSpc>
                        <a:spcBef>
                          <a:spcPts val="0"/>
                        </a:spcBef>
                        <a:spcAft>
                          <a:spcPts val="0"/>
                        </a:spcAft>
                        <a:buClr>
                          <a:schemeClr val="dk1"/>
                        </a:buClr>
                        <a:buSzPts val="1100"/>
                        <a:buFont typeface="Arial"/>
                        <a:buNone/>
                      </a:pPr>
                      <a:r>
                        <a:rPr lang="en-GB" sz="2200">
                          <a:solidFill>
                            <a:srgbClr val="666666"/>
                          </a:solidFill>
                        </a:rPr>
                        <a:t>r owl:propertyDisjointWith s.</a:t>
                      </a:r>
                      <a:endParaRPr sz="2200">
                        <a:solidFill>
                          <a:srgbClr val="666666"/>
                        </a:solidFill>
                      </a:endParaRPr>
                    </a:p>
                  </a:txBody>
                  <a:tcPr marT="54000" marB="54000" marR="91425" marL="91425"/>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DL và OWL: </a:t>
            </a:r>
            <a:r>
              <a:rPr lang="en-GB"/>
              <a:t>Các dữ kiện</a:t>
            </a:r>
            <a:endParaRPr baseline="-25000"/>
          </a:p>
        </p:txBody>
      </p:sp>
      <p:sp>
        <p:nvSpPr>
          <p:cNvPr id="566" name="Google Shape;566;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67" name="Google Shape;567;p75"/>
          <p:cNvGraphicFramePr/>
          <p:nvPr/>
        </p:nvGraphicFramePr>
        <p:xfrm>
          <a:off x="459825" y="1364150"/>
          <a:ext cx="3000000" cy="3000000"/>
        </p:xfrm>
        <a:graphic>
          <a:graphicData uri="http://schemas.openxmlformats.org/drawingml/2006/table">
            <a:tbl>
              <a:tblPr>
                <a:noFill/>
                <a:tableStyleId>{301B1D0D-D2F0-4FFE-8277-CC19B5FD8E5E}</a:tableStyleId>
              </a:tblPr>
              <a:tblGrid>
                <a:gridCol w="1171475"/>
                <a:gridCol w="3381475"/>
              </a:tblGrid>
              <a:tr h="458700">
                <a:tc>
                  <a:txBody>
                    <a:bodyPr/>
                    <a:lstStyle/>
                    <a:p>
                      <a:pPr indent="0" lvl="0" marL="0" rtl="0" algn="ctr">
                        <a:spcBef>
                          <a:spcPts val="0"/>
                        </a:spcBef>
                        <a:spcAft>
                          <a:spcPts val="0"/>
                        </a:spcAft>
                        <a:buNone/>
                      </a:pPr>
                      <a:r>
                        <a:rPr b="1" lang="en-GB" sz="2200">
                          <a:solidFill>
                            <a:srgbClr val="666666"/>
                          </a:solidFill>
                        </a:rPr>
                        <a:t>DL</a:t>
                      </a:r>
                      <a:endParaRPr b="1" sz="2200">
                        <a:solidFill>
                          <a:srgbClr val="666666"/>
                        </a:solidFill>
                      </a:endParaRPr>
                    </a:p>
                  </a:txBody>
                  <a:tcPr marT="54000" marB="54000" marR="91425" marL="91425"/>
                </a:tc>
                <a:tc>
                  <a:txBody>
                    <a:bodyPr/>
                    <a:lstStyle/>
                    <a:p>
                      <a:pPr indent="0" lvl="0" marL="0" rtl="0" algn="ctr">
                        <a:spcBef>
                          <a:spcPts val="0"/>
                        </a:spcBef>
                        <a:spcAft>
                          <a:spcPts val="0"/>
                        </a:spcAft>
                        <a:buNone/>
                      </a:pPr>
                      <a:r>
                        <a:rPr b="1" lang="en-GB" sz="2200">
                          <a:solidFill>
                            <a:srgbClr val="666666"/>
                          </a:solidFill>
                        </a:rPr>
                        <a:t>OWL</a:t>
                      </a:r>
                      <a:endParaRPr b="1" sz="2200">
                        <a:solidFill>
                          <a:srgbClr val="666666"/>
                        </a:solidFill>
                      </a:endParaRPr>
                    </a:p>
                  </a:txBody>
                  <a:tcPr marT="54000" marB="54000" marR="91425" marL="91425"/>
                </a:tc>
              </a:tr>
              <a:tr h="458700">
                <a:tc>
                  <a:txBody>
                    <a:bodyPr/>
                    <a:lstStyle/>
                    <a:p>
                      <a:pPr indent="0" lvl="0" marL="0" rtl="0" algn="l">
                        <a:spcBef>
                          <a:spcPts val="0"/>
                        </a:spcBef>
                        <a:spcAft>
                          <a:spcPts val="0"/>
                        </a:spcAft>
                        <a:buNone/>
                      </a:pPr>
                      <a:r>
                        <a:rPr lang="en-GB" sz="2200">
                          <a:solidFill>
                            <a:srgbClr val="666666"/>
                          </a:solidFill>
                        </a:rPr>
                        <a:t>C(x)</a:t>
                      </a:r>
                      <a:endParaRPr sz="22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x a C.</a:t>
                      </a:r>
                      <a:endParaRPr sz="2200">
                        <a:solidFill>
                          <a:srgbClr val="666666"/>
                        </a:solidFill>
                      </a:endParaRPr>
                    </a:p>
                  </a:txBody>
                  <a:tcPr marT="54000" marB="54000" marR="91425" marL="91425"/>
                </a:tc>
              </a:tr>
              <a:tr h="458700">
                <a:tc>
                  <a:txBody>
                    <a:bodyPr/>
                    <a:lstStyle/>
                    <a:p>
                      <a:pPr indent="0" lvl="0" marL="0" rtl="0" algn="l">
                        <a:spcBef>
                          <a:spcPts val="0"/>
                        </a:spcBef>
                        <a:spcAft>
                          <a:spcPts val="0"/>
                        </a:spcAft>
                        <a:buNone/>
                      </a:pPr>
                      <a:r>
                        <a:rPr lang="en-GB" sz="2200">
                          <a:solidFill>
                            <a:srgbClr val="666666"/>
                          </a:solidFill>
                        </a:rPr>
                        <a:t>r(a, b)</a:t>
                      </a:r>
                      <a:endParaRPr sz="24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a r b.</a:t>
                      </a:r>
                      <a:endParaRPr sz="2200">
                        <a:solidFill>
                          <a:srgbClr val="666666"/>
                        </a:solidFill>
                      </a:endParaRPr>
                    </a:p>
                  </a:txBody>
                  <a:tcPr marT="54000" marB="54000" marR="91425" marL="91425"/>
                </a:tc>
              </a:tr>
              <a:tr h="476525">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r</a:t>
                      </a:r>
                      <a:r>
                        <a:rPr baseline="30000" lang="en-GB" sz="2200">
                          <a:solidFill>
                            <a:srgbClr val="666666"/>
                          </a:solidFill>
                        </a:rPr>
                        <a:t>−</a:t>
                      </a:r>
                      <a:r>
                        <a:rPr lang="en-GB" sz="2200">
                          <a:solidFill>
                            <a:srgbClr val="666666"/>
                          </a:solidFill>
                        </a:rPr>
                        <a:t>(a, b)</a:t>
                      </a:r>
                      <a:endParaRPr sz="24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b r a.</a:t>
                      </a:r>
                      <a:endParaRPr sz="2200">
                        <a:solidFill>
                          <a:srgbClr val="666666"/>
                        </a:solidFill>
                      </a:endParaRPr>
                    </a:p>
                  </a:txBody>
                  <a:tcPr marT="54000" marB="54000" marR="91425" marL="91425"/>
                </a:tc>
              </a:tr>
              <a:tr h="490225">
                <a:tc>
                  <a:txBody>
                    <a:bodyPr/>
                    <a:lstStyle/>
                    <a:p>
                      <a:pPr indent="0" lvl="0" marL="0" rtl="0" algn="l">
                        <a:spcBef>
                          <a:spcPts val="0"/>
                        </a:spcBef>
                        <a:spcAft>
                          <a:spcPts val="0"/>
                        </a:spcAft>
                        <a:buNone/>
                      </a:pPr>
                      <a:r>
                        <a:rPr lang="en-GB" sz="2400">
                          <a:solidFill>
                            <a:srgbClr val="666666"/>
                          </a:solidFill>
                        </a:rPr>
                        <a:t>a ≈ b</a:t>
                      </a:r>
                      <a:endParaRPr sz="2400">
                        <a:solidFill>
                          <a:srgbClr val="666666"/>
                        </a:solidFill>
                      </a:endParaRPr>
                    </a:p>
                  </a:txBody>
                  <a:tcPr marT="54000" marB="54000" marR="91425" marL="91425"/>
                </a:tc>
                <a:tc>
                  <a:txBody>
                    <a:bodyPr/>
                    <a:lstStyle/>
                    <a:p>
                      <a:pPr indent="0" lvl="0" marL="0" rtl="0" algn="l">
                        <a:spcBef>
                          <a:spcPts val="0"/>
                        </a:spcBef>
                        <a:spcAft>
                          <a:spcPts val="0"/>
                        </a:spcAft>
                        <a:buClr>
                          <a:schemeClr val="dk1"/>
                        </a:buClr>
                        <a:buSzPts val="1100"/>
                        <a:buFont typeface="Arial"/>
                        <a:buNone/>
                      </a:pPr>
                      <a:r>
                        <a:rPr lang="en-GB" sz="2400">
                          <a:solidFill>
                            <a:srgbClr val="666666"/>
                          </a:solidFill>
                        </a:rPr>
                        <a:t>a owl:sameAs b.</a:t>
                      </a:r>
                      <a:endParaRPr sz="2400">
                        <a:solidFill>
                          <a:srgbClr val="666666"/>
                        </a:solidFill>
                      </a:endParaRPr>
                    </a:p>
                  </a:txBody>
                  <a:tcPr marT="54000" marB="54000" marR="91425" marL="91425"/>
                </a:tc>
              </a:tr>
              <a:tr h="490225">
                <a:tc>
                  <a:txBody>
                    <a:bodyPr/>
                    <a:lstStyle/>
                    <a:p>
                      <a:pPr indent="0" lvl="0" marL="0" rtl="0" algn="l">
                        <a:lnSpc>
                          <a:spcPct val="115000"/>
                        </a:lnSpc>
                        <a:spcBef>
                          <a:spcPts val="0"/>
                        </a:spcBef>
                        <a:spcAft>
                          <a:spcPts val="0"/>
                        </a:spcAft>
                        <a:buNone/>
                      </a:pPr>
                      <a:r>
                        <a:rPr lang="en-GB" sz="2400">
                          <a:solidFill>
                            <a:srgbClr val="666666"/>
                          </a:solidFill>
                        </a:rPr>
                        <a:t>a ≉ b</a:t>
                      </a:r>
                      <a:endParaRPr sz="2400">
                        <a:solidFill>
                          <a:srgbClr val="666666"/>
                        </a:solidFill>
                      </a:endParaRPr>
                    </a:p>
                  </a:txBody>
                  <a:tcPr marT="54000" marB="54000"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GB" sz="2400">
                          <a:solidFill>
                            <a:srgbClr val="666666"/>
                          </a:solidFill>
                        </a:rPr>
                        <a:t>a owl:differentFrom b.</a:t>
                      </a:r>
                      <a:endParaRPr sz="2400">
                        <a:solidFill>
                          <a:srgbClr val="666666"/>
                        </a:solidFill>
                      </a:endParaRPr>
                    </a:p>
                  </a:txBody>
                  <a:tcPr marT="54000" marB="54000" marR="91425" marL="91425"/>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6.5. Các giới hạn trong OWL</a:t>
            </a:r>
            <a:endParaRPr/>
          </a:p>
        </p:txBody>
      </p:sp>
      <p:sp>
        <p:nvSpPr>
          <p:cNvPr id="573" name="Google Shape;573;p7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owl:hasValue bắt buộc sử dụng 1 phần tử cụ thể</a:t>
            </a:r>
            <a:endParaRPr/>
          </a:p>
          <a:p>
            <a:pPr indent="0" lvl="0" marL="457200" rtl="0" algn="l">
              <a:spcBef>
                <a:spcPts val="0"/>
              </a:spcBef>
              <a:spcAft>
                <a:spcPts val="0"/>
              </a:spcAft>
              <a:buNone/>
            </a:pPr>
            <a:r>
              <a:rPr lang="en-GB"/>
              <a:t>:Woman owl:equivalentClass [</a:t>
            </a:r>
            <a:endParaRPr/>
          </a:p>
          <a:p>
            <a:pPr indent="0" lvl="0" marL="457200" rtl="0" algn="l">
              <a:spcBef>
                <a:spcPts val="0"/>
              </a:spcBef>
              <a:spcAft>
                <a:spcPts val="0"/>
              </a:spcAft>
              <a:buNone/>
            </a:pPr>
            <a:r>
              <a:rPr lang="en-GB"/>
              <a:t>	a owl:Restriction;</a:t>
            </a:r>
            <a:endParaRPr/>
          </a:p>
          <a:p>
            <a:pPr indent="0" lvl="0" marL="457200" rtl="0" algn="l">
              <a:spcBef>
                <a:spcPts val="0"/>
              </a:spcBef>
              <a:spcAft>
                <a:spcPts val="0"/>
              </a:spcAft>
              <a:buNone/>
            </a:pPr>
            <a:r>
              <a:rPr lang="en-GB"/>
              <a:t>	owl:onProperty :hasGender;</a:t>
            </a:r>
            <a:endParaRPr/>
          </a:p>
          <a:p>
            <a:pPr indent="0" lvl="0" marL="457200" rtl="0" algn="l">
              <a:spcBef>
                <a:spcPts val="0"/>
              </a:spcBef>
              <a:spcAft>
                <a:spcPts val="0"/>
              </a:spcAft>
              <a:buNone/>
            </a:pPr>
            <a:r>
              <a:rPr lang="en-GB"/>
              <a:t>	owl:hasValue :female</a:t>
            </a:r>
            <a:endParaRPr/>
          </a:p>
          <a:p>
            <a:pPr indent="0" lvl="0" marL="457200" rtl="0" algn="l">
              <a:spcBef>
                <a:spcPts val="0"/>
              </a:spcBef>
              <a:spcAft>
                <a:spcPts val="0"/>
              </a:spcAft>
              <a:buNone/>
            </a:pPr>
            <a:r>
              <a:rPr lang="en-GB"/>
              <a:t>] .</a:t>
            </a:r>
            <a:endParaRPr/>
          </a:p>
          <a:p>
            <a:pPr indent="-381000" lvl="0" marL="457200" rtl="0" algn="l">
              <a:spcBef>
                <a:spcPts val="0"/>
              </a:spcBef>
              <a:spcAft>
                <a:spcPts val="0"/>
              </a:spcAft>
              <a:buSzPts val="2400"/>
              <a:buChar char="●"/>
            </a:pPr>
            <a:r>
              <a:rPr lang="en-GB"/>
              <a:t>Trong lô-gic mô tả:</a:t>
            </a:r>
            <a:endParaRPr/>
          </a:p>
          <a:p>
            <a:pPr indent="457200" lvl="0" marL="1371600" rtl="0" algn="l">
              <a:spcBef>
                <a:spcPts val="0"/>
              </a:spcBef>
              <a:spcAft>
                <a:spcPts val="0"/>
              </a:spcAft>
              <a:buNone/>
            </a:pPr>
            <a:r>
              <a:rPr lang="en-GB"/>
              <a:t>Woman ≡ ∃hasGender.{female}</a:t>
            </a:r>
            <a:endParaRPr/>
          </a:p>
          <a:p>
            <a:pPr indent="0" lvl="0" marL="0" rtl="0" algn="l">
              <a:spcBef>
                <a:spcPts val="0"/>
              </a:spcBef>
              <a:spcAft>
                <a:spcPts val="0"/>
              </a:spcAft>
              <a:buNone/>
            </a:pPr>
            <a:r>
              <a:t/>
            </a:r>
            <a:endParaRPr/>
          </a:p>
        </p:txBody>
      </p:sp>
      <p:sp>
        <p:nvSpPr>
          <p:cNvPr id="574" name="Google Shape;574;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6.6. CSTT DL &amp; OWL</a:t>
            </a:r>
            <a:endParaRPr/>
          </a:p>
        </p:txBody>
      </p:sp>
      <p:sp>
        <p:nvSpPr>
          <p:cNvPr id="580" name="Google Shape;580;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81" name="Google Shape;581;p77"/>
          <p:cNvGraphicFramePr/>
          <p:nvPr/>
        </p:nvGraphicFramePr>
        <p:xfrm>
          <a:off x="428600" y="1280675"/>
          <a:ext cx="3000000" cy="3000000"/>
        </p:xfrm>
        <a:graphic>
          <a:graphicData uri="http://schemas.openxmlformats.org/drawingml/2006/table">
            <a:tbl>
              <a:tblPr>
                <a:noFill/>
                <a:tableStyleId>{301B1D0D-D2F0-4FFE-8277-CC19B5FD8E5E}</a:tableStyleId>
              </a:tblPr>
              <a:tblGrid>
                <a:gridCol w="3224225"/>
                <a:gridCol w="5167325"/>
              </a:tblGrid>
              <a:tr h="115975">
                <a:tc>
                  <a:txBody>
                    <a:bodyPr/>
                    <a:lstStyle/>
                    <a:p>
                      <a:pPr indent="0" lvl="0" marL="0" rtl="0" algn="ctr">
                        <a:spcBef>
                          <a:spcPts val="0"/>
                        </a:spcBef>
                        <a:spcAft>
                          <a:spcPts val="0"/>
                        </a:spcAft>
                        <a:buNone/>
                      </a:pPr>
                      <a:r>
                        <a:rPr b="1" lang="en-GB" sz="1600"/>
                        <a:t>DL</a:t>
                      </a:r>
                      <a:endParaRPr b="1" sz="1600"/>
                    </a:p>
                  </a:txBody>
                  <a:tcPr marT="91425" marB="91425" marR="91425" marL="91425"/>
                </a:tc>
                <a:tc>
                  <a:txBody>
                    <a:bodyPr/>
                    <a:lstStyle/>
                    <a:p>
                      <a:pPr indent="0" lvl="0" marL="0" rtl="0" algn="ctr">
                        <a:spcBef>
                          <a:spcPts val="0"/>
                        </a:spcBef>
                        <a:spcAft>
                          <a:spcPts val="0"/>
                        </a:spcAft>
                        <a:buNone/>
                      </a:pPr>
                      <a:r>
                        <a:rPr b="1" lang="en-GB" sz="1600"/>
                        <a:t>OWL</a:t>
                      </a:r>
                      <a:endParaRPr b="1" sz="1600"/>
                    </a:p>
                  </a:txBody>
                  <a:tcPr marT="91425" marB="91425" marR="91425" marL="91425"/>
                </a:tc>
              </a:tr>
              <a:tr h="112800">
                <a:tc>
                  <a:txBody>
                    <a:bodyPr/>
                    <a:lstStyle/>
                    <a:p>
                      <a:pPr indent="0" lvl="0" marL="0" rtl="0" algn="l">
                        <a:spcBef>
                          <a:spcPts val="0"/>
                        </a:spcBef>
                        <a:spcAft>
                          <a:spcPts val="0"/>
                        </a:spcAft>
                        <a:buNone/>
                      </a:pPr>
                      <a:r>
                        <a:rPr lang="en-GB" sz="1600"/>
                        <a:t>own ⊑ careFor</a:t>
                      </a:r>
                      <a:endParaRPr sz="1600"/>
                    </a:p>
                  </a:txBody>
                  <a:tcPr marT="91425" marB="91425" marR="91425" marL="91425"/>
                </a:tc>
                <a:tc>
                  <a:txBody>
                    <a:bodyPr/>
                    <a:lstStyle/>
                    <a:p>
                      <a:pPr indent="0" lvl="0" marL="0" rtl="0" algn="l">
                        <a:spcBef>
                          <a:spcPts val="0"/>
                        </a:spcBef>
                        <a:spcAft>
                          <a:spcPts val="0"/>
                        </a:spcAft>
                        <a:buNone/>
                      </a:pPr>
                      <a:r>
                        <a:rPr lang="en-GB" sz="1600"/>
                        <a:t>:owns rdfs:SubPropertyOf :caresFor .</a:t>
                      </a:r>
                      <a:endParaRPr sz="1600"/>
                    </a:p>
                  </a:txBody>
                  <a:tcPr marT="91425" marB="91425" marR="91425" marL="91425"/>
                </a:tc>
              </a:tr>
              <a:tr h="692950">
                <a:tc>
                  <a:txBody>
                    <a:bodyPr/>
                    <a:lstStyle/>
                    <a:p>
                      <a:pPr indent="0" lvl="0" marL="0" rtl="0" algn="l">
                        <a:spcBef>
                          <a:spcPts val="0"/>
                        </a:spcBef>
                        <a:spcAft>
                          <a:spcPts val="0"/>
                        </a:spcAft>
                        <a:buNone/>
                      </a:pPr>
                      <a:r>
                        <a:rPr lang="en-GB" sz="1600"/>
                        <a:t>Healthy 		⊑ ¬Dead</a:t>
                      </a:r>
                      <a:endParaRPr sz="1600"/>
                    </a:p>
                    <a:p>
                      <a:pPr indent="0" lvl="0" marL="0" rtl="0" algn="l">
                        <a:spcBef>
                          <a:spcPts val="0"/>
                        </a:spcBef>
                        <a:spcAft>
                          <a:spcPts val="0"/>
                        </a:spcAft>
                        <a:buNone/>
                      </a:pPr>
                      <a:r>
                        <a:rPr lang="en-GB" sz="1600"/>
                        <a:t>Cat 			⊑ Dead ⨆  Alive</a:t>
                      </a:r>
                      <a:endParaRPr sz="1600"/>
                    </a:p>
                    <a:p>
                      <a:pPr indent="0" lvl="0" marL="0" rtl="0" algn="l">
                        <a:spcBef>
                          <a:spcPts val="0"/>
                        </a:spcBef>
                        <a:spcAft>
                          <a:spcPts val="0"/>
                        </a:spcAft>
                        <a:buNone/>
                      </a:pPr>
                      <a:r>
                        <a:rPr lang="en-GB" sz="1600"/>
                        <a:t>HappyCatOwner ⊑ ∃owns.Cat ⨅</a:t>
                      </a:r>
                      <a:r>
                        <a:rPr lang="en-GB" sz="1600"/>
                        <a:t> </a:t>
                      </a:r>
                      <a:r>
                        <a:rPr lang="en-GB" sz="1600"/>
                        <a:t>∀caresFor.Healthy</a:t>
                      </a:r>
                      <a:endParaRPr sz="1600"/>
                    </a:p>
                  </a:txBody>
                  <a:tcPr marT="91425" marB="91425" marR="91425" marL="91425"/>
                </a:tc>
                <a:tc>
                  <a:txBody>
                    <a:bodyPr/>
                    <a:lstStyle/>
                    <a:p>
                      <a:pPr indent="0" lvl="0" marL="0" rtl="0" algn="l">
                        <a:spcBef>
                          <a:spcPts val="0"/>
                        </a:spcBef>
                        <a:spcAft>
                          <a:spcPts val="0"/>
                        </a:spcAft>
                        <a:buNone/>
                      </a:pPr>
                      <a:r>
                        <a:rPr lang="en-GB" sz="1600"/>
                        <a:t>:Healthy rdfs:subClassOf [ owl:complementOf :Dead ].</a:t>
                      </a:r>
                      <a:endParaRPr sz="1600"/>
                    </a:p>
                    <a:p>
                      <a:pPr indent="0" lvl="0" marL="0" rtl="0" algn="l">
                        <a:spcBef>
                          <a:spcPts val="0"/>
                        </a:spcBef>
                        <a:spcAft>
                          <a:spcPts val="0"/>
                        </a:spcAft>
                        <a:buNone/>
                      </a:pPr>
                      <a:r>
                        <a:rPr lang="en-GB" sz="1600"/>
                        <a:t>:Cat rdfs:subClassOf [ owl:unionOf (:Dead :Alive) ] .</a:t>
                      </a:r>
                      <a:endParaRPr sz="1600"/>
                    </a:p>
                    <a:p>
                      <a:pPr indent="0" lvl="0" marL="0" rtl="0" algn="l">
                        <a:spcBef>
                          <a:spcPts val="0"/>
                        </a:spcBef>
                        <a:spcAft>
                          <a:spcPts val="0"/>
                        </a:spcAft>
                        <a:buNone/>
                      </a:pPr>
                      <a:r>
                        <a:rPr lang="en-GB" sz="1600"/>
                        <a:t>:HappyCatOwner rdfs:subClassOf</a:t>
                      </a:r>
                      <a:endParaRPr sz="1600"/>
                    </a:p>
                    <a:p>
                      <a:pPr indent="0" lvl="0" marL="0" rtl="0" algn="l">
                        <a:spcBef>
                          <a:spcPts val="0"/>
                        </a:spcBef>
                        <a:spcAft>
                          <a:spcPts val="0"/>
                        </a:spcAft>
                        <a:buNone/>
                      </a:pPr>
                      <a:r>
                        <a:rPr lang="en-GB" sz="1600"/>
                        <a:t>           [ owl:intersectionOf</a:t>
                      </a:r>
                      <a:endParaRPr sz="1600"/>
                    </a:p>
                    <a:p>
                      <a:pPr indent="0" lvl="0" marL="0" rtl="0" algn="l">
                        <a:spcBef>
                          <a:spcPts val="0"/>
                        </a:spcBef>
                        <a:spcAft>
                          <a:spcPts val="0"/>
                        </a:spcAft>
                        <a:buNone/>
                      </a:pPr>
                      <a:r>
                        <a:rPr lang="en-GB" sz="1600"/>
                        <a:t>           ( [ rdf:type owl:restriction ;</a:t>
                      </a:r>
                      <a:endParaRPr sz="1600"/>
                    </a:p>
                    <a:p>
                      <a:pPr indent="0" lvl="0" marL="0" rtl="0" algn="l">
                        <a:spcBef>
                          <a:spcPts val="0"/>
                        </a:spcBef>
                        <a:spcAft>
                          <a:spcPts val="0"/>
                        </a:spcAft>
                        <a:buNone/>
                      </a:pPr>
                      <a:r>
                        <a:rPr lang="en-GB" sz="1600"/>
                        <a:t>                owl:onProperty :owns ; </a:t>
                      </a:r>
                      <a:endParaRPr sz="1600"/>
                    </a:p>
                    <a:p>
                      <a:pPr indent="0" lvl="0" marL="0" rtl="0" algn="l">
                        <a:spcBef>
                          <a:spcPts val="0"/>
                        </a:spcBef>
                        <a:spcAft>
                          <a:spcPts val="0"/>
                        </a:spcAft>
                        <a:buNone/>
                      </a:pPr>
                      <a:r>
                        <a:rPr lang="en-GB" sz="1600"/>
                        <a:t>                owl:someValuesFrom :Cat ]</a:t>
                      </a:r>
                      <a:endParaRPr sz="1600"/>
                    </a:p>
                    <a:p>
                      <a:pPr indent="0" lvl="0" marL="0" rtl="0" algn="l">
                        <a:spcBef>
                          <a:spcPts val="0"/>
                        </a:spcBef>
                        <a:spcAft>
                          <a:spcPts val="0"/>
                        </a:spcAft>
                        <a:buNone/>
                      </a:pPr>
                      <a:r>
                        <a:rPr lang="en-GB" sz="1600"/>
                        <a:t>             [ rdf:type owl:Restriction ;</a:t>
                      </a:r>
                      <a:endParaRPr sz="1600"/>
                    </a:p>
                    <a:p>
                      <a:pPr indent="0" lvl="0" marL="0" rtl="0" algn="l">
                        <a:spcBef>
                          <a:spcPts val="0"/>
                        </a:spcBef>
                        <a:spcAft>
                          <a:spcPts val="0"/>
                        </a:spcAft>
                        <a:buNone/>
                      </a:pPr>
                      <a:r>
                        <a:rPr lang="en-GB" sz="1600"/>
                        <a:t>                 owl:onProperty :caresFor ; </a:t>
                      </a:r>
                      <a:endParaRPr sz="1600"/>
                    </a:p>
                    <a:p>
                      <a:pPr indent="0" lvl="0" marL="0" rtl="0" algn="l">
                        <a:spcBef>
                          <a:spcPts val="0"/>
                        </a:spcBef>
                        <a:spcAft>
                          <a:spcPts val="0"/>
                        </a:spcAft>
                        <a:buNone/>
                      </a:pPr>
                      <a:r>
                        <a:rPr lang="en-GB" sz="1600"/>
                        <a:t>                 owl:allValuesFrom :Healthy ] ) ] .</a:t>
                      </a:r>
                      <a:endParaRPr sz="1600"/>
                    </a:p>
                  </a:txBody>
                  <a:tcPr marT="91425" marB="91425" marR="91425" marL="91425"/>
                </a:tc>
              </a:tr>
              <a:tr h="266050">
                <a:tc>
                  <a:txBody>
                    <a:bodyPr/>
                    <a:lstStyle/>
                    <a:p>
                      <a:pPr indent="0" lvl="0" marL="0" rtl="0" algn="l">
                        <a:spcBef>
                          <a:spcPts val="0"/>
                        </a:spcBef>
                        <a:spcAft>
                          <a:spcPts val="0"/>
                        </a:spcAft>
                        <a:buNone/>
                      </a:pPr>
                      <a:r>
                        <a:rPr lang="en-GB" sz="1600"/>
                        <a:t>HappyCatOwner(NVA)</a:t>
                      </a:r>
                      <a:endParaRPr sz="1600"/>
                    </a:p>
                  </a:txBody>
                  <a:tcPr marT="91425" marB="91425" marR="91425" marL="91425"/>
                </a:tc>
                <a:tc>
                  <a:txBody>
                    <a:bodyPr/>
                    <a:lstStyle/>
                    <a:p>
                      <a:pPr indent="0" lvl="0" marL="0" rtl="0" algn="l">
                        <a:spcBef>
                          <a:spcPts val="0"/>
                        </a:spcBef>
                        <a:spcAft>
                          <a:spcPts val="0"/>
                        </a:spcAft>
                        <a:buNone/>
                      </a:pPr>
                      <a:r>
                        <a:rPr lang="en-GB" sz="1600"/>
                        <a:t>:NVA rdf:type :HappyCatOwner .</a:t>
                      </a:r>
                      <a:endParaRPr sz="1600"/>
                    </a:p>
                  </a:txBody>
                  <a:tcPr marT="91425" marB="91425" marR="91425" marL="91425"/>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Ví dụ 6.6. CSTT DL &amp; OWL</a:t>
            </a:r>
            <a:r>
              <a:rPr baseline="-25000" lang="en-GB"/>
              <a:t>(3)</a:t>
            </a:r>
            <a:endParaRPr baseline="-25000"/>
          </a:p>
        </p:txBody>
      </p:sp>
      <p:sp>
        <p:nvSpPr>
          <p:cNvPr id="587" name="Google Shape;587;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88" name="Google Shape;588;p78"/>
          <p:cNvSpPr/>
          <p:nvPr/>
        </p:nvSpPr>
        <p:spPr>
          <a:xfrm>
            <a:off x="505750" y="1497400"/>
            <a:ext cx="2133600" cy="7635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t>
            </a:r>
            <a:r>
              <a:rPr lang="en-GB"/>
              <a:t>HappyCatOwner</a:t>
            </a:r>
            <a:endParaRPr/>
          </a:p>
        </p:txBody>
      </p:sp>
      <p:sp>
        <p:nvSpPr>
          <p:cNvPr id="589" name="Google Shape;589;p78"/>
          <p:cNvSpPr/>
          <p:nvPr/>
        </p:nvSpPr>
        <p:spPr>
          <a:xfrm>
            <a:off x="1905925" y="2221300"/>
            <a:ext cx="14574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t>
            </a:r>
            <a:r>
              <a:rPr lang="en-GB"/>
              <a:t>Cat</a:t>
            </a:r>
            <a:endParaRPr/>
          </a:p>
        </p:txBody>
      </p:sp>
      <p:sp>
        <p:nvSpPr>
          <p:cNvPr id="590" name="Google Shape;590;p78"/>
          <p:cNvSpPr/>
          <p:nvPr/>
        </p:nvSpPr>
        <p:spPr>
          <a:xfrm>
            <a:off x="1905925" y="2983300"/>
            <a:ext cx="14574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t>
            </a:r>
            <a:r>
              <a:rPr lang="en-GB"/>
              <a:t>owns</a:t>
            </a:r>
            <a:endParaRPr/>
          </a:p>
        </p:txBody>
      </p:sp>
      <p:sp>
        <p:nvSpPr>
          <p:cNvPr id="591" name="Google Shape;591;p78"/>
          <p:cNvSpPr/>
          <p:nvPr/>
        </p:nvSpPr>
        <p:spPr>
          <a:xfrm>
            <a:off x="1477300" y="3821500"/>
            <a:ext cx="18861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owl</a:t>
            </a:r>
            <a:r>
              <a:rPr lang="en-GB"/>
              <a:t>:</a:t>
            </a:r>
            <a:r>
              <a:rPr lang="en-GB"/>
              <a:t>Restriction</a:t>
            </a:r>
            <a:endParaRPr/>
          </a:p>
        </p:txBody>
      </p:sp>
      <p:sp>
        <p:nvSpPr>
          <p:cNvPr id="592" name="Google Shape;592;p78"/>
          <p:cNvSpPr/>
          <p:nvPr/>
        </p:nvSpPr>
        <p:spPr>
          <a:xfrm>
            <a:off x="1905925" y="4583500"/>
            <a:ext cx="14574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t>
            </a:r>
            <a:r>
              <a:rPr lang="en-GB"/>
              <a:t>caresFor</a:t>
            </a:r>
            <a:endParaRPr/>
          </a:p>
        </p:txBody>
      </p:sp>
      <p:sp>
        <p:nvSpPr>
          <p:cNvPr id="593" name="Google Shape;593;p78"/>
          <p:cNvSpPr/>
          <p:nvPr/>
        </p:nvSpPr>
        <p:spPr>
          <a:xfrm>
            <a:off x="1905925" y="5421700"/>
            <a:ext cx="14574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t>
            </a:r>
            <a:r>
              <a:rPr lang="en-GB"/>
              <a:t>Healthy</a:t>
            </a:r>
            <a:endParaRPr/>
          </a:p>
        </p:txBody>
      </p:sp>
      <p:sp>
        <p:nvSpPr>
          <p:cNvPr id="594" name="Google Shape;594;p78"/>
          <p:cNvSpPr/>
          <p:nvPr/>
        </p:nvSpPr>
        <p:spPr>
          <a:xfrm>
            <a:off x="4363375" y="15355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t/>
            </a:r>
            <a:endParaRPr/>
          </a:p>
        </p:txBody>
      </p:sp>
      <p:sp>
        <p:nvSpPr>
          <p:cNvPr id="595" name="Google Shape;595;p78"/>
          <p:cNvSpPr/>
          <p:nvPr/>
        </p:nvSpPr>
        <p:spPr>
          <a:xfrm>
            <a:off x="7335175" y="15355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t/>
            </a:r>
            <a:endParaRPr/>
          </a:p>
        </p:txBody>
      </p:sp>
      <p:sp>
        <p:nvSpPr>
          <p:cNvPr id="596" name="Google Shape;596;p78"/>
          <p:cNvSpPr/>
          <p:nvPr/>
        </p:nvSpPr>
        <p:spPr>
          <a:xfrm>
            <a:off x="7335175" y="30595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t/>
            </a:r>
            <a:endParaRPr/>
          </a:p>
        </p:txBody>
      </p:sp>
      <p:sp>
        <p:nvSpPr>
          <p:cNvPr id="597" name="Google Shape;597;p78"/>
          <p:cNvSpPr/>
          <p:nvPr/>
        </p:nvSpPr>
        <p:spPr>
          <a:xfrm>
            <a:off x="7335175" y="48121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rdf:nil</a:t>
            </a:r>
            <a:endParaRPr/>
          </a:p>
        </p:txBody>
      </p:sp>
      <p:sp>
        <p:nvSpPr>
          <p:cNvPr id="598" name="Google Shape;598;p78"/>
          <p:cNvSpPr/>
          <p:nvPr/>
        </p:nvSpPr>
        <p:spPr>
          <a:xfrm>
            <a:off x="4744375" y="30595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t/>
            </a:r>
            <a:endParaRPr/>
          </a:p>
        </p:txBody>
      </p:sp>
      <p:sp>
        <p:nvSpPr>
          <p:cNvPr id="599" name="Google Shape;599;p78"/>
          <p:cNvSpPr/>
          <p:nvPr/>
        </p:nvSpPr>
        <p:spPr>
          <a:xfrm>
            <a:off x="4744375" y="4812100"/>
            <a:ext cx="1209900" cy="6762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t/>
            </a:r>
            <a:endParaRPr/>
          </a:p>
        </p:txBody>
      </p:sp>
      <p:cxnSp>
        <p:nvCxnSpPr>
          <p:cNvPr id="600" name="Google Shape;600;p78"/>
          <p:cNvCxnSpPr>
            <a:stCxn id="588" idx="6"/>
            <a:endCxn id="594" idx="2"/>
          </p:cNvCxnSpPr>
          <p:nvPr/>
        </p:nvCxnSpPr>
        <p:spPr>
          <a:xfrm flipH="1" rot="10800000">
            <a:off x="2639350" y="1873750"/>
            <a:ext cx="1724100" cy="5400"/>
          </a:xfrm>
          <a:prstGeom prst="straightConnector1">
            <a:avLst/>
          </a:prstGeom>
          <a:noFill/>
          <a:ln cap="flat" cmpd="sng" w="9525">
            <a:solidFill>
              <a:schemeClr val="dk2"/>
            </a:solidFill>
            <a:prstDash val="solid"/>
            <a:round/>
            <a:headEnd len="med" w="med" type="none"/>
            <a:tailEnd len="med" w="med" type="triangle"/>
          </a:ln>
        </p:spPr>
      </p:cxnSp>
      <p:cxnSp>
        <p:nvCxnSpPr>
          <p:cNvPr id="601" name="Google Shape;601;p78"/>
          <p:cNvCxnSpPr>
            <a:stCxn id="594" idx="6"/>
            <a:endCxn id="595" idx="2"/>
          </p:cNvCxnSpPr>
          <p:nvPr/>
        </p:nvCxnSpPr>
        <p:spPr>
          <a:xfrm>
            <a:off x="5573275" y="1873600"/>
            <a:ext cx="1761900" cy="0"/>
          </a:xfrm>
          <a:prstGeom prst="straightConnector1">
            <a:avLst/>
          </a:prstGeom>
          <a:noFill/>
          <a:ln cap="flat" cmpd="sng" w="9525">
            <a:solidFill>
              <a:schemeClr val="dk2"/>
            </a:solidFill>
            <a:prstDash val="solid"/>
            <a:round/>
            <a:headEnd len="med" w="med" type="none"/>
            <a:tailEnd len="med" w="med" type="triangle"/>
          </a:ln>
        </p:spPr>
      </p:cxnSp>
      <p:cxnSp>
        <p:nvCxnSpPr>
          <p:cNvPr id="602" name="Google Shape;602;p78"/>
          <p:cNvCxnSpPr>
            <a:stCxn id="595" idx="3"/>
            <a:endCxn id="598" idx="7"/>
          </p:cNvCxnSpPr>
          <p:nvPr/>
        </p:nvCxnSpPr>
        <p:spPr>
          <a:xfrm flipH="1">
            <a:off x="5777161" y="2112673"/>
            <a:ext cx="1735200" cy="1045800"/>
          </a:xfrm>
          <a:prstGeom prst="straightConnector1">
            <a:avLst/>
          </a:prstGeom>
          <a:noFill/>
          <a:ln cap="flat" cmpd="sng" w="9525">
            <a:solidFill>
              <a:schemeClr val="dk2"/>
            </a:solidFill>
            <a:prstDash val="solid"/>
            <a:round/>
            <a:headEnd len="med" w="med" type="none"/>
            <a:tailEnd len="med" w="med" type="triangle"/>
          </a:ln>
        </p:spPr>
      </p:cxnSp>
      <p:cxnSp>
        <p:nvCxnSpPr>
          <p:cNvPr id="603" name="Google Shape;603;p78"/>
          <p:cNvCxnSpPr>
            <a:stCxn id="595" idx="4"/>
            <a:endCxn id="596" idx="0"/>
          </p:cNvCxnSpPr>
          <p:nvPr/>
        </p:nvCxnSpPr>
        <p:spPr>
          <a:xfrm>
            <a:off x="7940125" y="2211700"/>
            <a:ext cx="0" cy="847800"/>
          </a:xfrm>
          <a:prstGeom prst="straightConnector1">
            <a:avLst/>
          </a:prstGeom>
          <a:noFill/>
          <a:ln cap="flat" cmpd="sng" w="9525">
            <a:solidFill>
              <a:schemeClr val="dk2"/>
            </a:solidFill>
            <a:prstDash val="solid"/>
            <a:round/>
            <a:headEnd len="med" w="med" type="none"/>
            <a:tailEnd len="med" w="med" type="triangle"/>
          </a:ln>
        </p:spPr>
      </p:cxnSp>
      <p:cxnSp>
        <p:nvCxnSpPr>
          <p:cNvPr id="604" name="Google Shape;604;p78"/>
          <p:cNvCxnSpPr>
            <a:stCxn id="596" idx="4"/>
            <a:endCxn id="597" idx="0"/>
          </p:cNvCxnSpPr>
          <p:nvPr/>
        </p:nvCxnSpPr>
        <p:spPr>
          <a:xfrm>
            <a:off x="7940125" y="3735700"/>
            <a:ext cx="0" cy="1076400"/>
          </a:xfrm>
          <a:prstGeom prst="straightConnector1">
            <a:avLst/>
          </a:prstGeom>
          <a:noFill/>
          <a:ln cap="flat" cmpd="sng" w="9525">
            <a:solidFill>
              <a:schemeClr val="dk2"/>
            </a:solidFill>
            <a:prstDash val="solid"/>
            <a:round/>
            <a:headEnd len="med" w="med" type="none"/>
            <a:tailEnd len="med" w="med" type="triangle"/>
          </a:ln>
        </p:spPr>
      </p:cxnSp>
      <p:cxnSp>
        <p:nvCxnSpPr>
          <p:cNvPr id="605" name="Google Shape;605;p78"/>
          <p:cNvCxnSpPr>
            <a:stCxn id="596" idx="3"/>
            <a:endCxn id="599" idx="7"/>
          </p:cNvCxnSpPr>
          <p:nvPr/>
        </p:nvCxnSpPr>
        <p:spPr>
          <a:xfrm flipH="1">
            <a:off x="5777161" y="3636673"/>
            <a:ext cx="1735200" cy="1274400"/>
          </a:xfrm>
          <a:prstGeom prst="straightConnector1">
            <a:avLst/>
          </a:prstGeom>
          <a:noFill/>
          <a:ln cap="flat" cmpd="sng" w="9525">
            <a:solidFill>
              <a:schemeClr val="dk2"/>
            </a:solidFill>
            <a:prstDash val="solid"/>
            <a:round/>
            <a:headEnd len="med" w="med" type="none"/>
            <a:tailEnd len="med" w="med" type="triangle"/>
          </a:ln>
        </p:spPr>
      </p:cxnSp>
      <p:cxnSp>
        <p:nvCxnSpPr>
          <p:cNvPr id="606" name="Google Shape;606;p78"/>
          <p:cNvCxnSpPr>
            <a:stCxn id="598" idx="1"/>
            <a:endCxn id="589" idx="6"/>
          </p:cNvCxnSpPr>
          <p:nvPr/>
        </p:nvCxnSpPr>
        <p:spPr>
          <a:xfrm rot="10800000">
            <a:off x="3363361" y="2559427"/>
            <a:ext cx="1558200" cy="599100"/>
          </a:xfrm>
          <a:prstGeom prst="straightConnector1">
            <a:avLst/>
          </a:prstGeom>
          <a:noFill/>
          <a:ln cap="flat" cmpd="sng" w="9525">
            <a:solidFill>
              <a:schemeClr val="dk2"/>
            </a:solidFill>
            <a:prstDash val="solid"/>
            <a:round/>
            <a:headEnd len="med" w="med" type="none"/>
            <a:tailEnd len="med" w="med" type="triangle"/>
          </a:ln>
        </p:spPr>
      </p:cxnSp>
      <p:cxnSp>
        <p:nvCxnSpPr>
          <p:cNvPr id="607" name="Google Shape;607;p78"/>
          <p:cNvCxnSpPr>
            <a:stCxn id="598" idx="2"/>
            <a:endCxn id="590" idx="6"/>
          </p:cNvCxnSpPr>
          <p:nvPr/>
        </p:nvCxnSpPr>
        <p:spPr>
          <a:xfrm rot="10800000">
            <a:off x="3363475" y="3321400"/>
            <a:ext cx="1380900" cy="76200"/>
          </a:xfrm>
          <a:prstGeom prst="straightConnector1">
            <a:avLst/>
          </a:prstGeom>
          <a:noFill/>
          <a:ln cap="flat" cmpd="sng" w="9525">
            <a:solidFill>
              <a:schemeClr val="dk2"/>
            </a:solidFill>
            <a:prstDash val="solid"/>
            <a:round/>
            <a:headEnd len="med" w="med" type="none"/>
            <a:tailEnd len="med" w="med" type="triangle"/>
          </a:ln>
        </p:spPr>
      </p:cxnSp>
      <p:cxnSp>
        <p:nvCxnSpPr>
          <p:cNvPr id="608" name="Google Shape;608;p78"/>
          <p:cNvCxnSpPr>
            <a:stCxn id="598" idx="3"/>
            <a:endCxn id="591" idx="7"/>
          </p:cNvCxnSpPr>
          <p:nvPr/>
        </p:nvCxnSpPr>
        <p:spPr>
          <a:xfrm flipH="1">
            <a:off x="3087061" y="3636673"/>
            <a:ext cx="1834500" cy="283800"/>
          </a:xfrm>
          <a:prstGeom prst="straightConnector1">
            <a:avLst/>
          </a:prstGeom>
          <a:noFill/>
          <a:ln cap="flat" cmpd="sng" w="9525">
            <a:solidFill>
              <a:schemeClr val="dk2"/>
            </a:solidFill>
            <a:prstDash val="solid"/>
            <a:round/>
            <a:headEnd len="med" w="med" type="none"/>
            <a:tailEnd len="med" w="med" type="triangle"/>
          </a:ln>
        </p:spPr>
      </p:cxnSp>
      <p:cxnSp>
        <p:nvCxnSpPr>
          <p:cNvPr id="609" name="Google Shape;609;p78"/>
          <p:cNvCxnSpPr>
            <a:stCxn id="599" idx="1"/>
            <a:endCxn id="591" idx="5"/>
          </p:cNvCxnSpPr>
          <p:nvPr/>
        </p:nvCxnSpPr>
        <p:spPr>
          <a:xfrm rot="10800000">
            <a:off x="3087061" y="4398727"/>
            <a:ext cx="1834500" cy="512400"/>
          </a:xfrm>
          <a:prstGeom prst="straightConnector1">
            <a:avLst/>
          </a:prstGeom>
          <a:noFill/>
          <a:ln cap="flat" cmpd="sng" w="9525">
            <a:solidFill>
              <a:schemeClr val="dk2"/>
            </a:solidFill>
            <a:prstDash val="solid"/>
            <a:round/>
            <a:headEnd len="med" w="med" type="none"/>
            <a:tailEnd len="med" w="med" type="triangle"/>
          </a:ln>
        </p:spPr>
      </p:cxnSp>
      <p:cxnSp>
        <p:nvCxnSpPr>
          <p:cNvPr id="610" name="Google Shape;610;p78"/>
          <p:cNvCxnSpPr>
            <a:stCxn id="599" idx="2"/>
            <a:endCxn id="592" idx="6"/>
          </p:cNvCxnSpPr>
          <p:nvPr/>
        </p:nvCxnSpPr>
        <p:spPr>
          <a:xfrm rot="10800000">
            <a:off x="3363475" y="4921600"/>
            <a:ext cx="1380900" cy="228600"/>
          </a:xfrm>
          <a:prstGeom prst="straightConnector1">
            <a:avLst/>
          </a:prstGeom>
          <a:noFill/>
          <a:ln cap="flat" cmpd="sng" w="9525">
            <a:solidFill>
              <a:schemeClr val="dk2"/>
            </a:solidFill>
            <a:prstDash val="solid"/>
            <a:round/>
            <a:headEnd len="med" w="med" type="none"/>
            <a:tailEnd len="med" w="med" type="triangle"/>
          </a:ln>
        </p:spPr>
      </p:cxnSp>
      <p:cxnSp>
        <p:nvCxnSpPr>
          <p:cNvPr id="611" name="Google Shape;611;p78"/>
          <p:cNvCxnSpPr>
            <a:stCxn id="599" idx="3"/>
            <a:endCxn id="593" idx="6"/>
          </p:cNvCxnSpPr>
          <p:nvPr/>
        </p:nvCxnSpPr>
        <p:spPr>
          <a:xfrm flipH="1">
            <a:off x="3363361" y="5389273"/>
            <a:ext cx="1558200" cy="370500"/>
          </a:xfrm>
          <a:prstGeom prst="straightConnector1">
            <a:avLst/>
          </a:prstGeom>
          <a:noFill/>
          <a:ln cap="flat" cmpd="sng" w="9525">
            <a:solidFill>
              <a:schemeClr val="dk2"/>
            </a:solidFill>
            <a:prstDash val="solid"/>
            <a:round/>
            <a:headEnd len="med" w="med" type="none"/>
            <a:tailEnd len="med" w="med" type="triangle"/>
          </a:ln>
        </p:spPr>
      </p:cxnSp>
      <p:sp>
        <p:nvSpPr>
          <p:cNvPr id="612" name="Google Shape;612;p78"/>
          <p:cNvSpPr txBox="1"/>
          <p:nvPr/>
        </p:nvSpPr>
        <p:spPr>
          <a:xfrm>
            <a:off x="2572675" y="1551950"/>
            <a:ext cx="1558200" cy="3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613" name="Google Shape;613;p78"/>
          <p:cNvSpPr txBox="1"/>
          <p:nvPr/>
        </p:nvSpPr>
        <p:spPr>
          <a:xfrm>
            <a:off x="5544475" y="1551950"/>
            <a:ext cx="1761900" cy="3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owl</a:t>
            </a:r>
            <a:r>
              <a:rPr lang="en-GB">
                <a:solidFill>
                  <a:schemeClr val="dk2"/>
                </a:solidFill>
              </a:rPr>
              <a:t>:</a:t>
            </a:r>
            <a:r>
              <a:rPr lang="en-GB">
                <a:solidFill>
                  <a:schemeClr val="dk2"/>
                </a:solidFill>
              </a:rPr>
              <a:t>intersectionOf</a:t>
            </a:r>
            <a:endParaRPr>
              <a:solidFill>
                <a:schemeClr val="dk2"/>
              </a:solidFill>
            </a:endParaRPr>
          </a:p>
        </p:txBody>
      </p:sp>
      <p:sp>
        <p:nvSpPr>
          <p:cNvPr id="614" name="Google Shape;614;p78"/>
          <p:cNvSpPr txBox="1"/>
          <p:nvPr/>
        </p:nvSpPr>
        <p:spPr>
          <a:xfrm rot="1291308">
            <a:off x="3326464" y="2500349"/>
            <a:ext cx="1951997" cy="37965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owl:</a:t>
            </a:r>
            <a:r>
              <a:rPr lang="en-GB">
                <a:solidFill>
                  <a:schemeClr val="dk2"/>
                </a:solidFill>
              </a:rPr>
              <a:t>someValuesFrom</a:t>
            </a:r>
            <a:endParaRPr>
              <a:solidFill>
                <a:schemeClr val="dk2"/>
              </a:solidFill>
            </a:endParaRPr>
          </a:p>
        </p:txBody>
      </p:sp>
      <p:sp>
        <p:nvSpPr>
          <p:cNvPr id="615" name="Google Shape;615;p78"/>
          <p:cNvSpPr txBox="1"/>
          <p:nvPr/>
        </p:nvSpPr>
        <p:spPr>
          <a:xfrm rot="253962">
            <a:off x="3326586" y="3018858"/>
            <a:ext cx="1548624" cy="3910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owl:</a:t>
            </a:r>
            <a:r>
              <a:rPr lang="en-GB">
                <a:solidFill>
                  <a:schemeClr val="dk2"/>
                </a:solidFill>
              </a:rPr>
              <a:t>onProperty</a:t>
            </a:r>
            <a:endParaRPr>
              <a:solidFill>
                <a:schemeClr val="dk2"/>
              </a:solidFill>
            </a:endParaRPr>
          </a:p>
        </p:txBody>
      </p:sp>
      <p:sp>
        <p:nvSpPr>
          <p:cNvPr id="616" name="Google Shape;616;p78"/>
          <p:cNvSpPr txBox="1"/>
          <p:nvPr/>
        </p:nvSpPr>
        <p:spPr>
          <a:xfrm rot="-549194">
            <a:off x="3637741" y="3379940"/>
            <a:ext cx="841110" cy="41325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rdf:type</a:t>
            </a:r>
            <a:endParaRPr>
              <a:solidFill>
                <a:schemeClr val="dk2"/>
              </a:solidFill>
            </a:endParaRPr>
          </a:p>
        </p:txBody>
      </p:sp>
      <p:sp>
        <p:nvSpPr>
          <p:cNvPr id="617" name="Google Shape;617;p78"/>
          <p:cNvSpPr txBox="1"/>
          <p:nvPr/>
        </p:nvSpPr>
        <p:spPr>
          <a:xfrm rot="946281">
            <a:off x="3713961" y="4294426"/>
            <a:ext cx="841063" cy="4133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rdf:type</a:t>
            </a:r>
            <a:endParaRPr>
              <a:solidFill>
                <a:schemeClr val="dk2"/>
              </a:solidFill>
            </a:endParaRPr>
          </a:p>
        </p:txBody>
      </p:sp>
      <p:sp>
        <p:nvSpPr>
          <p:cNvPr id="618" name="Google Shape;618;p78"/>
          <p:cNvSpPr txBox="1"/>
          <p:nvPr/>
        </p:nvSpPr>
        <p:spPr>
          <a:xfrm rot="586243">
            <a:off x="3402760" y="4714364"/>
            <a:ext cx="1548562" cy="39121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owl:onProperty</a:t>
            </a:r>
            <a:endParaRPr>
              <a:solidFill>
                <a:schemeClr val="dk2"/>
              </a:solidFill>
            </a:endParaRPr>
          </a:p>
        </p:txBody>
      </p:sp>
      <p:sp>
        <p:nvSpPr>
          <p:cNvPr id="619" name="Google Shape;619;p78"/>
          <p:cNvSpPr txBox="1"/>
          <p:nvPr/>
        </p:nvSpPr>
        <p:spPr>
          <a:xfrm rot="-742216">
            <a:off x="3250212" y="5195919"/>
            <a:ext cx="1952121" cy="3795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owl:</a:t>
            </a:r>
            <a:r>
              <a:rPr lang="en-GB">
                <a:solidFill>
                  <a:schemeClr val="dk2"/>
                </a:solidFill>
              </a:rPr>
              <a:t>all</a:t>
            </a:r>
            <a:r>
              <a:rPr lang="en-GB">
                <a:solidFill>
                  <a:schemeClr val="dk2"/>
                </a:solidFill>
              </a:rPr>
              <a:t>ValuesFrom</a:t>
            </a:r>
            <a:endParaRPr>
              <a:solidFill>
                <a:schemeClr val="dk2"/>
              </a:solidFill>
            </a:endParaRPr>
          </a:p>
        </p:txBody>
      </p:sp>
      <p:sp>
        <p:nvSpPr>
          <p:cNvPr id="620" name="Google Shape;620;p78"/>
          <p:cNvSpPr txBox="1"/>
          <p:nvPr/>
        </p:nvSpPr>
        <p:spPr>
          <a:xfrm rot="-1937739">
            <a:off x="6133301" y="2265448"/>
            <a:ext cx="841119" cy="41340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a:t>
            </a:r>
            <a:r>
              <a:rPr lang="en-GB">
                <a:solidFill>
                  <a:schemeClr val="dk2"/>
                </a:solidFill>
              </a:rPr>
              <a:t>first</a:t>
            </a:r>
            <a:endParaRPr>
              <a:solidFill>
                <a:schemeClr val="dk2"/>
              </a:solidFill>
            </a:endParaRPr>
          </a:p>
        </p:txBody>
      </p:sp>
      <p:sp>
        <p:nvSpPr>
          <p:cNvPr id="621" name="Google Shape;621;p78"/>
          <p:cNvSpPr txBox="1"/>
          <p:nvPr/>
        </p:nvSpPr>
        <p:spPr>
          <a:xfrm rot="-1937739">
            <a:off x="6209501" y="3865648"/>
            <a:ext cx="841119" cy="41340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rdf:first</a:t>
            </a:r>
            <a:endParaRPr>
              <a:solidFill>
                <a:schemeClr val="dk2"/>
              </a:solidFill>
            </a:endParaRPr>
          </a:p>
        </p:txBody>
      </p:sp>
      <p:sp>
        <p:nvSpPr>
          <p:cNvPr id="622" name="Google Shape;622;p78"/>
          <p:cNvSpPr txBox="1"/>
          <p:nvPr/>
        </p:nvSpPr>
        <p:spPr>
          <a:xfrm rot="-5400000">
            <a:off x="7352634" y="4018125"/>
            <a:ext cx="8409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rdf:rest</a:t>
            </a:r>
            <a:endParaRPr>
              <a:solidFill>
                <a:schemeClr val="dk2"/>
              </a:solidFill>
            </a:endParaRPr>
          </a:p>
        </p:txBody>
      </p:sp>
      <p:sp>
        <p:nvSpPr>
          <p:cNvPr id="623" name="Google Shape;623;p78"/>
          <p:cNvSpPr txBox="1"/>
          <p:nvPr/>
        </p:nvSpPr>
        <p:spPr>
          <a:xfrm rot="-5400000">
            <a:off x="7352634" y="2341725"/>
            <a:ext cx="8409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rdf:rest</a:t>
            </a:r>
            <a:endParaRPr>
              <a:solidFill>
                <a:schemeClr val="dk2"/>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đổi </a:t>
            </a:r>
            <a:r>
              <a:rPr lang="en-GB"/>
              <a:t>các </a:t>
            </a:r>
            <a:r>
              <a:rPr lang="en-GB"/>
              <a:t>khái niệm</a:t>
            </a:r>
            <a:r>
              <a:rPr lang="en-GB"/>
              <a:t> ABox</a:t>
            </a:r>
            <a:endParaRPr/>
          </a:p>
        </p:txBody>
      </p:sp>
      <p:sp>
        <p:nvSpPr>
          <p:cNvPr id="629" name="Google Shape;629;p7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Nếu các lớp </a:t>
            </a:r>
            <a:r>
              <a:rPr lang="en-GB"/>
              <a:t>đóng</a:t>
            </a:r>
            <a:r>
              <a:rPr lang="en-GB"/>
              <a:t> được hỗ trợ </a:t>
            </a:r>
            <a:r>
              <a:rPr lang="en-GB"/>
              <a:t>thì</a:t>
            </a:r>
            <a:r>
              <a:rPr lang="en-GB"/>
              <a:t> ABox có thể được chuyển đổi thành (1 </a:t>
            </a:r>
            <a:r>
              <a:rPr lang="en-GB"/>
              <a:t>phần) TBox</a:t>
            </a:r>
            <a:endParaRPr/>
          </a:p>
          <a:p>
            <a:pPr indent="457200" lvl="0" marL="914400" rtl="0" algn="l">
              <a:spcBef>
                <a:spcPts val="0"/>
              </a:spcBef>
              <a:spcAft>
                <a:spcPts val="0"/>
              </a:spcAft>
              <a:buClr>
                <a:schemeClr val="dk1"/>
              </a:buClr>
              <a:buSzPts val="1100"/>
              <a:buFont typeface="Arial"/>
              <a:buNone/>
            </a:pPr>
            <a:r>
              <a:rPr lang="en-GB"/>
              <a:t>C(a) = {a} </a:t>
            </a:r>
            <a:r>
              <a:rPr lang="en-GB">
                <a:solidFill>
                  <a:srgbClr val="666666"/>
                </a:solidFill>
              </a:rPr>
              <a:t>⊑</a:t>
            </a:r>
            <a:r>
              <a:rPr lang="en-GB"/>
              <a:t> C</a:t>
            </a:r>
            <a:endParaRPr/>
          </a:p>
          <a:p>
            <a:pPr indent="457200" lvl="0" marL="914400" rtl="0" algn="l">
              <a:spcBef>
                <a:spcPts val="0"/>
              </a:spcBef>
              <a:spcAft>
                <a:spcPts val="0"/>
              </a:spcAft>
              <a:buClr>
                <a:schemeClr val="dk1"/>
              </a:buClr>
              <a:buSzPts val="1100"/>
              <a:buFont typeface="Arial"/>
              <a:buNone/>
            </a:pPr>
            <a:r>
              <a:rPr lang="en-GB"/>
              <a:t>r(a, b) = {a} </a:t>
            </a:r>
            <a:r>
              <a:rPr lang="en-GB">
                <a:solidFill>
                  <a:srgbClr val="666666"/>
                </a:solidFill>
              </a:rPr>
              <a:t>⊑</a:t>
            </a:r>
            <a:r>
              <a:rPr lang="en-GB"/>
              <a:t> ∃r.{b}</a:t>
            </a:r>
            <a:endParaRPr/>
          </a:p>
          <a:p>
            <a:pPr indent="457200" lvl="0" marL="914400" rtl="0" algn="l">
              <a:spcBef>
                <a:spcPts val="0"/>
              </a:spcBef>
              <a:spcAft>
                <a:spcPts val="0"/>
              </a:spcAft>
              <a:buClr>
                <a:schemeClr val="dk1"/>
              </a:buClr>
              <a:buSzPts val="1100"/>
              <a:buFont typeface="Arial"/>
              <a:buNone/>
            </a:pPr>
            <a:r>
              <a:rPr lang="en-GB"/>
              <a:t>¬r(a, b) = {a} </a:t>
            </a:r>
            <a:r>
              <a:rPr lang="en-GB">
                <a:solidFill>
                  <a:srgbClr val="666666"/>
                </a:solidFill>
              </a:rPr>
              <a:t>⊑</a:t>
            </a:r>
            <a:r>
              <a:rPr lang="en-GB"/>
              <a:t> ∀r.(¬{b})</a:t>
            </a:r>
            <a:endParaRPr/>
          </a:p>
          <a:p>
            <a:pPr indent="457200" lvl="0" marL="914400" rtl="0" algn="l">
              <a:spcBef>
                <a:spcPts val="0"/>
              </a:spcBef>
              <a:spcAft>
                <a:spcPts val="0"/>
              </a:spcAft>
              <a:buClr>
                <a:schemeClr val="dk1"/>
              </a:buClr>
              <a:buSzPts val="1100"/>
              <a:buFont typeface="Arial"/>
              <a:buNone/>
            </a:pPr>
            <a:r>
              <a:rPr lang="en-GB"/>
              <a:t>a ≈ b = {a} ≡ {b}</a:t>
            </a:r>
            <a:endParaRPr/>
          </a:p>
          <a:p>
            <a:pPr indent="457200" lvl="0" marL="914400" rtl="0" algn="l">
              <a:spcBef>
                <a:spcPts val="0"/>
              </a:spcBef>
              <a:spcAft>
                <a:spcPts val="0"/>
              </a:spcAft>
              <a:buNone/>
            </a:pPr>
            <a:r>
              <a:rPr lang="en-GB"/>
              <a:t>a ≉  b = {a} </a:t>
            </a:r>
            <a:r>
              <a:rPr lang="en-GB">
                <a:solidFill>
                  <a:srgbClr val="666666"/>
                </a:solidFill>
              </a:rPr>
              <a:t>⊑</a:t>
            </a:r>
            <a:r>
              <a:rPr lang="en-GB"/>
              <a:t> ¬{b}</a:t>
            </a:r>
            <a:endParaRPr/>
          </a:p>
        </p:txBody>
      </p:sp>
      <p:sp>
        <p:nvSpPr>
          <p:cNvPr id="630" name="Google Shape;630;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8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36" name="Google Shape;636;p80"/>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6.1. Tổng quan về biểu diễn tri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6.2. Lô-gic mệnh đề và lô-gic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6.3. Lô-gic mô tả</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6.4. Ngữ nghĩa lô-gic của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6.5. Suy diễn tự động với OWL</a:t>
            </a:r>
            <a:endParaRPr>
              <a:solidFill>
                <a:schemeClr val="dk1"/>
              </a:solidFill>
              <a:latin typeface="Times New Roman"/>
              <a:ea typeface="Times New Roman"/>
              <a:cs typeface="Times New Roman"/>
              <a:sym typeface="Times New Roman"/>
            </a:endParaRPr>
          </a:p>
        </p:txBody>
      </p:sp>
      <p:sp>
        <p:nvSpPr>
          <p:cNvPr id="637" name="Google Shape;637;p80"/>
          <p:cNvSpPr/>
          <p:nvPr/>
        </p:nvSpPr>
        <p:spPr>
          <a:xfrm>
            <a:off x="318450" y="2597178"/>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8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Giả thuyết thế giới mở vs thế giới đóng</a:t>
            </a:r>
            <a:endParaRPr/>
          </a:p>
        </p:txBody>
      </p:sp>
      <p:sp>
        <p:nvSpPr>
          <p:cNvPr id="644" name="Google Shape;644;p81"/>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a:t>Giả thuyết thế giới mở - </a:t>
            </a:r>
            <a:r>
              <a:rPr lang="en-GB"/>
              <a:t>Open World Assumption (OWA)</a:t>
            </a:r>
            <a:endParaRPr/>
          </a:p>
          <a:p>
            <a:pPr indent="-381000" lvl="0" marL="269999" rtl="0" algn="just">
              <a:spcBef>
                <a:spcPts val="0"/>
              </a:spcBef>
              <a:spcAft>
                <a:spcPts val="0"/>
              </a:spcAft>
              <a:buSzPts val="2400"/>
              <a:buChar char="●"/>
            </a:pPr>
            <a:r>
              <a:rPr lang="en-GB"/>
              <a:t>Có thể tồn tại các thành phần mới nếu nó không bị bác bỏ tường minh</a:t>
            </a:r>
            <a:endParaRPr/>
          </a:p>
          <a:p>
            <a:pPr indent="-381000" lvl="0" marL="269999" rtl="0" algn="just">
              <a:spcBef>
                <a:spcPts val="0"/>
              </a:spcBef>
              <a:spcAft>
                <a:spcPts val="0"/>
              </a:spcAft>
              <a:buSzPts val="2400"/>
              <a:buChar char="●"/>
            </a:pPr>
            <a:r>
              <a:rPr lang="en-GB"/>
              <a:t>OWL sử dụng OWA</a:t>
            </a:r>
            <a:endParaRPr/>
          </a:p>
          <a:p>
            <a:pPr indent="0" lvl="0" marL="0" rtl="0" algn="just">
              <a:spcBef>
                <a:spcPts val="0"/>
              </a:spcBef>
              <a:spcAft>
                <a:spcPts val="0"/>
              </a:spcAft>
              <a:buNone/>
            </a:pPr>
            <a:r>
              <a:t/>
            </a:r>
            <a:endParaRPr/>
          </a:p>
          <a:p>
            <a:pPr indent="0" lvl="0" marL="0" rtl="0" algn="just">
              <a:spcBef>
                <a:spcPts val="1000"/>
              </a:spcBef>
              <a:spcAft>
                <a:spcPts val="0"/>
              </a:spcAft>
              <a:buNone/>
            </a:pPr>
            <a:r>
              <a:rPr b="1" lang="en-GB"/>
              <a:t>Giả thuyết thế giới đóng -</a:t>
            </a:r>
            <a:r>
              <a:rPr lang="en-GB"/>
              <a:t> Closed World Assumption (CWA)</a:t>
            </a:r>
            <a:endParaRPr/>
          </a:p>
          <a:p>
            <a:pPr indent="-381000" lvl="0" marL="269999" rtl="0" algn="just">
              <a:spcBef>
                <a:spcPts val="0"/>
              </a:spcBef>
              <a:spcAft>
                <a:spcPts val="0"/>
              </a:spcAft>
              <a:buSzPts val="2400"/>
              <a:buChar char="●"/>
            </a:pPr>
            <a:r>
              <a:rPr lang="en-GB"/>
              <a:t>Được cho rằng CSTT có tất cả các phần tử và dữ kiện - </a:t>
            </a:r>
            <a:r>
              <a:rPr lang="en-GB"/>
              <a:t>Phạm vi là những gì đang có.</a:t>
            </a:r>
            <a:endParaRPr/>
          </a:p>
        </p:txBody>
      </p:sp>
      <p:sp>
        <p:nvSpPr>
          <p:cNvPr id="645" name="Google Shape;645;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6.7. OWA và CWA</a:t>
            </a:r>
            <a:endParaRPr/>
          </a:p>
        </p:txBody>
      </p:sp>
      <p:graphicFrame>
        <p:nvGraphicFramePr>
          <p:cNvPr id="651" name="Google Shape;651;p82"/>
          <p:cNvGraphicFramePr/>
          <p:nvPr/>
        </p:nvGraphicFramePr>
        <p:xfrm>
          <a:off x="237950" y="1899975"/>
          <a:ext cx="3000000" cy="3000000"/>
        </p:xfrm>
        <a:graphic>
          <a:graphicData uri="http://schemas.openxmlformats.org/drawingml/2006/table">
            <a:tbl>
              <a:tblPr>
                <a:noFill/>
                <a:tableStyleId>{301B1D0D-D2F0-4FFE-8277-CC19B5FD8E5E}</a:tableStyleId>
              </a:tblPr>
              <a:tblGrid>
                <a:gridCol w="1977625"/>
                <a:gridCol w="2358425"/>
                <a:gridCol w="2166900"/>
                <a:gridCol w="2167650"/>
              </a:tblGrid>
              <a:tr h="757200">
                <a:tc>
                  <a:txBody>
                    <a:bodyPr/>
                    <a:lstStyle/>
                    <a:p>
                      <a:pPr indent="0" lvl="0" marL="0" rtl="0" algn="l">
                        <a:spcBef>
                          <a:spcPts val="0"/>
                        </a:spcBef>
                        <a:spcAft>
                          <a:spcPts val="0"/>
                        </a:spcAft>
                        <a:buNone/>
                      </a:pPr>
                      <a:r>
                        <a:t/>
                      </a:r>
                      <a:endParaRPr sz="2200"/>
                    </a:p>
                  </a:txBody>
                  <a:tcPr marT="91425" marB="91425" marR="91425" marL="91425"/>
                </a:tc>
                <a:tc>
                  <a:txBody>
                    <a:bodyPr/>
                    <a:lstStyle/>
                    <a:p>
                      <a:pPr indent="0" lvl="0" marL="0" rtl="0" algn="ctr">
                        <a:spcBef>
                          <a:spcPts val="0"/>
                        </a:spcBef>
                        <a:spcAft>
                          <a:spcPts val="0"/>
                        </a:spcAft>
                        <a:buNone/>
                      </a:pPr>
                      <a:r>
                        <a:rPr lang="en-GB" sz="2200"/>
                        <a:t>Có phải tất cả con của Bill đều là con trai?</a:t>
                      </a:r>
                      <a:endParaRPr sz="2200"/>
                    </a:p>
                  </a:txBody>
                  <a:tcPr marT="91425" marB="91425" marR="91425" marL="91425"/>
                </a:tc>
                <a:tc>
                  <a:txBody>
                    <a:bodyPr/>
                    <a:lstStyle/>
                    <a:p>
                      <a:pPr indent="0" lvl="0" marL="0" rtl="0" algn="ctr">
                        <a:spcBef>
                          <a:spcPts val="0"/>
                        </a:spcBef>
                        <a:spcAft>
                          <a:spcPts val="0"/>
                        </a:spcAft>
                        <a:buNone/>
                      </a:pPr>
                      <a:r>
                        <a:rPr lang="en-GB" sz="2200"/>
                        <a:t>Không rõ nếu chúng ta cho rằng không biết tất cả về Bill</a:t>
                      </a:r>
                      <a:endParaRPr sz="2200"/>
                    </a:p>
                  </a:txBody>
                  <a:tcPr marT="91425" marB="91425" marR="91425" marL="91425"/>
                </a:tc>
                <a:tc>
                  <a:txBody>
                    <a:bodyPr/>
                    <a:lstStyle/>
                    <a:p>
                      <a:pPr indent="0" lvl="0" marL="0" rtl="0" algn="ctr">
                        <a:spcBef>
                          <a:spcPts val="0"/>
                        </a:spcBef>
                        <a:spcAft>
                          <a:spcPts val="0"/>
                        </a:spcAft>
                        <a:buNone/>
                      </a:pPr>
                      <a:r>
                        <a:rPr lang="en-GB" sz="2200"/>
                        <a:t>Nếu chúng ta biết tất cả thì tất cả con của Bill đều là con trai</a:t>
                      </a:r>
                      <a:endParaRPr sz="2200"/>
                    </a:p>
                  </a:txBody>
                  <a:tcPr marT="91425" marB="91425" marR="91425" marL="91425"/>
                </a:tc>
              </a:tr>
              <a:tr h="757200">
                <a:tc>
                  <a:txBody>
                    <a:bodyPr/>
                    <a:lstStyle/>
                    <a:p>
                      <a:pPr indent="0" lvl="0" marL="0" rtl="0" algn="l">
                        <a:spcBef>
                          <a:spcPts val="0"/>
                        </a:spcBef>
                        <a:spcAft>
                          <a:spcPts val="0"/>
                        </a:spcAft>
                        <a:buNone/>
                      </a:pPr>
                      <a:r>
                        <a:rPr lang="en-GB" sz="2200"/>
                        <a:t>child(bill, bob)</a:t>
                      </a:r>
                      <a:endParaRPr sz="2200"/>
                    </a:p>
                    <a:p>
                      <a:pPr indent="0" lvl="0" marL="0" rtl="0" algn="l">
                        <a:spcBef>
                          <a:spcPts val="0"/>
                        </a:spcBef>
                        <a:spcAft>
                          <a:spcPts val="0"/>
                        </a:spcAft>
                        <a:buNone/>
                      </a:pPr>
                      <a:r>
                        <a:rPr lang="en-GB" sz="2200"/>
                        <a:t>Man(bob)</a:t>
                      </a:r>
                      <a:endParaRPr sz="2200"/>
                    </a:p>
                  </a:txBody>
                  <a:tcPr marT="91425" marB="91425" marR="91425" marL="91425" anchor="ctr"/>
                </a:tc>
                <a:tc>
                  <a:txBody>
                    <a:bodyPr/>
                    <a:lstStyle/>
                    <a:p>
                      <a:pPr indent="0" lvl="0" marL="0" rtl="0" algn="l">
                        <a:lnSpc>
                          <a:spcPct val="115000"/>
                        </a:lnSpc>
                        <a:spcBef>
                          <a:spcPts val="0"/>
                        </a:spcBef>
                        <a:spcAft>
                          <a:spcPts val="1600"/>
                        </a:spcAft>
                        <a:buNone/>
                      </a:pPr>
                      <a:r>
                        <a:rPr lang="en-GB" sz="2200"/>
                        <a:t>⊨? (∀child.Man)(bill)</a:t>
                      </a:r>
                      <a:endParaRPr sz="2200"/>
                    </a:p>
                  </a:txBody>
                  <a:tcPr marT="91425" marB="91425" marR="91425" marL="91425" anchor="ctr"/>
                </a:tc>
                <a:tc>
                  <a:txBody>
                    <a:bodyPr/>
                    <a:lstStyle/>
                    <a:p>
                      <a:pPr indent="0" lvl="0" marL="0" rtl="0" algn="ctr">
                        <a:spcBef>
                          <a:spcPts val="0"/>
                        </a:spcBef>
                        <a:spcAft>
                          <a:spcPts val="0"/>
                        </a:spcAft>
                        <a:buNone/>
                      </a:pPr>
                      <a:r>
                        <a:rPr lang="en-GB" sz="2200">
                          <a:solidFill>
                            <a:srgbClr val="1C4587"/>
                          </a:solidFill>
                        </a:rPr>
                        <a:t>K</a:t>
                      </a:r>
                      <a:r>
                        <a:rPr lang="en-GB" sz="2200">
                          <a:solidFill>
                            <a:srgbClr val="1C4587"/>
                          </a:solidFill>
                        </a:rPr>
                        <a:t>hông rõ</a:t>
                      </a:r>
                      <a:endParaRPr sz="2200">
                        <a:solidFill>
                          <a:srgbClr val="1C4587"/>
                        </a:solidFill>
                      </a:endParaRPr>
                    </a:p>
                  </a:txBody>
                  <a:tcPr marT="91425" marB="91425" marR="91425" marL="91425" anchor="ctr"/>
                </a:tc>
                <a:tc>
                  <a:txBody>
                    <a:bodyPr/>
                    <a:lstStyle/>
                    <a:p>
                      <a:pPr indent="0" lvl="0" marL="0" rtl="0" algn="ctr">
                        <a:spcBef>
                          <a:spcPts val="0"/>
                        </a:spcBef>
                        <a:spcAft>
                          <a:spcPts val="0"/>
                        </a:spcAft>
                        <a:buNone/>
                      </a:pPr>
                      <a:r>
                        <a:rPr lang="en-GB" sz="2200">
                          <a:solidFill>
                            <a:srgbClr val="1C4587"/>
                          </a:solidFill>
                        </a:rPr>
                        <a:t>Yes</a:t>
                      </a:r>
                      <a:endParaRPr sz="2200">
                        <a:solidFill>
                          <a:srgbClr val="1C4587"/>
                        </a:solidFill>
                      </a:endParaRPr>
                    </a:p>
                  </a:txBody>
                  <a:tcPr marT="91425" marB="91425" marR="91425" marL="91425" anchor="ctr"/>
                </a:tc>
              </a:tr>
              <a:tr h="757200">
                <a:tc>
                  <a:txBody>
                    <a:bodyPr/>
                    <a:lstStyle/>
                    <a:p>
                      <a:pPr indent="0" lvl="0" marL="0" rtl="0" algn="l">
                        <a:spcBef>
                          <a:spcPts val="0"/>
                        </a:spcBef>
                        <a:spcAft>
                          <a:spcPts val="0"/>
                        </a:spcAft>
                        <a:buNone/>
                      </a:pPr>
                      <a:r>
                        <a:rPr lang="en-GB" sz="2200"/>
                        <a:t>(</a:t>
                      </a:r>
                      <a:r>
                        <a:rPr lang="en-GB" sz="2200">
                          <a:solidFill>
                            <a:schemeClr val="dk2"/>
                          </a:solidFill>
                        </a:rPr>
                        <a:t>≤</a:t>
                      </a:r>
                      <a:r>
                        <a:rPr lang="en-GB" sz="2200"/>
                        <a:t> 1 child)(bill)</a:t>
                      </a:r>
                      <a:endParaRPr sz="2200"/>
                    </a:p>
                  </a:txBody>
                  <a:tcPr marT="91425" marB="91425" marR="91425" marL="91425" anchor="ctr"/>
                </a:tc>
                <a:tc>
                  <a:txBody>
                    <a:bodyPr/>
                    <a:lstStyle/>
                    <a:p>
                      <a:pPr indent="0" lvl="0" marL="0" rtl="0" algn="l">
                        <a:lnSpc>
                          <a:spcPct val="115000"/>
                        </a:lnSpc>
                        <a:spcBef>
                          <a:spcPts val="0"/>
                        </a:spcBef>
                        <a:spcAft>
                          <a:spcPts val="1600"/>
                        </a:spcAft>
                        <a:buClr>
                          <a:schemeClr val="dk1"/>
                        </a:buClr>
                        <a:buSzPts val="1100"/>
                        <a:buFont typeface="Arial"/>
                        <a:buNone/>
                      </a:pPr>
                      <a:r>
                        <a:rPr lang="en-GB" sz="2200">
                          <a:solidFill>
                            <a:schemeClr val="dk1"/>
                          </a:solidFill>
                        </a:rPr>
                        <a:t>⊨? (∀child.Man)(bill)</a:t>
                      </a:r>
                      <a:endParaRPr sz="2200"/>
                    </a:p>
                  </a:txBody>
                  <a:tcPr marT="91425" marB="91425" marR="91425" marL="91425" anchor="ctr"/>
                </a:tc>
                <a:tc>
                  <a:txBody>
                    <a:bodyPr/>
                    <a:lstStyle/>
                    <a:p>
                      <a:pPr indent="0" lvl="0" marL="0" rtl="0" algn="ctr">
                        <a:spcBef>
                          <a:spcPts val="0"/>
                        </a:spcBef>
                        <a:spcAft>
                          <a:spcPts val="0"/>
                        </a:spcAft>
                        <a:buNone/>
                      </a:pPr>
                      <a:r>
                        <a:rPr lang="en-GB" sz="2200">
                          <a:solidFill>
                            <a:srgbClr val="1C4587"/>
                          </a:solidFill>
                        </a:rPr>
                        <a:t>Yes</a:t>
                      </a:r>
                      <a:endParaRPr sz="2200">
                        <a:solidFill>
                          <a:srgbClr val="1C4587"/>
                        </a:solidFill>
                      </a:endParaRPr>
                    </a:p>
                  </a:txBody>
                  <a:tcPr marT="91425" marB="91425" marR="91425" marL="91425" anchor="ctr"/>
                </a:tc>
                <a:tc>
                  <a:txBody>
                    <a:bodyPr/>
                    <a:lstStyle/>
                    <a:p>
                      <a:pPr indent="0" lvl="0" marL="0" rtl="0" algn="ctr">
                        <a:spcBef>
                          <a:spcPts val="0"/>
                        </a:spcBef>
                        <a:spcAft>
                          <a:spcPts val="0"/>
                        </a:spcAft>
                        <a:buNone/>
                      </a:pPr>
                      <a:r>
                        <a:rPr lang="en-GB" sz="2200">
                          <a:solidFill>
                            <a:srgbClr val="1C4587"/>
                          </a:solidFill>
                        </a:rPr>
                        <a:t>Yes</a:t>
                      </a:r>
                      <a:endParaRPr sz="2200">
                        <a:solidFill>
                          <a:srgbClr val="1C4587"/>
                        </a:solidFill>
                      </a:endParaRPr>
                    </a:p>
                  </a:txBody>
                  <a:tcPr marT="91425" marB="91425" marR="91425" marL="91425" anchor="ctr"/>
                </a:tc>
              </a:tr>
            </a:tbl>
          </a:graphicData>
        </a:graphic>
      </p:graphicFrame>
      <p:sp>
        <p:nvSpPr>
          <p:cNvPr id="652" name="Google Shape;652;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Các vấn đề suy diễn</a:t>
            </a:r>
            <a:endParaRPr/>
          </a:p>
        </p:txBody>
      </p:sp>
      <p:sp>
        <p:nvSpPr>
          <p:cNvPr id="658" name="Google Shape;658;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Suy diễn lô-gic trong CSTT</a:t>
            </a:r>
            <a:endParaRPr/>
          </a:p>
        </p:txBody>
      </p:sp>
      <p:sp>
        <p:nvSpPr>
          <p:cNvPr id="664" name="Google Shape;664;p84"/>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666666"/>
              </a:buClr>
              <a:buSzPts val="2400"/>
              <a:buChar char="●"/>
            </a:pPr>
            <a:r>
              <a:rPr lang="en-GB">
                <a:solidFill>
                  <a:srgbClr val="666666"/>
                </a:solidFill>
              </a:rPr>
              <a:t>Đặt 𝓘 là 1 biểu diễn, 𝓣 là 1 TBox, 𝓐 là 1 ABox và 𝓚 = (𝓣, 𝓐) là 1 CSTT</a:t>
            </a:r>
            <a:endParaRPr>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a:solidFill>
                  <a:srgbClr val="666666"/>
                </a:solidFill>
              </a:rPr>
              <a:t>𝓘 là mô hình của 𝓣 nếu 𝓘 </a:t>
            </a:r>
            <a:r>
              <a:rPr lang="en-GB">
                <a:solidFill>
                  <a:srgbClr val="666666"/>
                </a:solidFill>
                <a:highlight>
                  <a:srgbClr val="FFFFFF"/>
                </a:highlight>
              </a:rPr>
              <a:t>⊨ ax cho tất cả mệnh đề trong </a:t>
            </a:r>
            <a:r>
              <a:rPr lang="en-GB">
                <a:solidFill>
                  <a:srgbClr val="666666"/>
                </a:solidFill>
              </a:rPr>
              <a:t>𝓣, viết là 𝓘 </a:t>
            </a:r>
            <a:r>
              <a:rPr lang="en-GB">
                <a:solidFill>
                  <a:srgbClr val="666666"/>
                </a:solidFill>
                <a:highlight>
                  <a:srgbClr val="FFFFFF"/>
                </a:highlight>
              </a:rPr>
              <a:t>⊨ </a:t>
            </a:r>
            <a:r>
              <a:rPr lang="en-GB">
                <a:solidFill>
                  <a:srgbClr val="666666"/>
                </a:solidFill>
              </a:rPr>
              <a:t>𝓣.</a:t>
            </a:r>
            <a:endParaRPr>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a:solidFill>
                  <a:srgbClr val="666666"/>
                </a:solidFill>
              </a:rPr>
              <a:t>𝓘 là mô hình của 𝓐, nếu 𝓘 </a:t>
            </a:r>
            <a:r>
              <a:rPr lang="en-GB">
                <a:solidFill>
                  <a:srgbClr val="666666"/>
                </a:solidFill>
                <a:highlight>
                  <a:srgbClr val="FFFFFF"/>
                </a:highlight>
              </a:rPr>
              <a:t>⊨ ax cho tất cả </a:t>
            </a:r>
            <a:r>
              <a:rPr lang="en-GB">
                <a:solidFill>
                  <a:srgbClr val="666666"/>
                </a:solidFill>
                <a:highlight>
                  <a:srgbClr val="FFFFFF"/>
                </a:highlight>
              </a:rPr>
              <a:t>mệnh đề</a:t>
            </a:r>
            <a:r>
              <a:rPr lang="en-GB">
                <a:solidFill>
                  <a:srgbClr val="666666"/>
                </a:solidFill>
                <a:highlight>
                  <a:srgbClr val="FFFFFF"/>
                </a:highlight>
              </a:rPr>
              <a:t> trong </a:t>
            </a:r>
            <a:r>
              <a:rPr lang="en-GB">
                <a:solidFill>
                  <a:srgbClr val="666666"/>
                </a:solidFill>
              </a:rPr>
              <a:t>𝓐, viết là 𝓘 </a:t>
            </a:r>
            <a:r>
              <a:rPr lang="en-GB">
                <a:solidFill>
                  <a:srgbClr val="666666"/>
                </a:solidFill>
                <a:highlight>
                  <a:srgbClr val="FFFFFF"/>
                </a:highlight>
              </a:rPr>
              <a:t>⊨ </a:t>
            </a:r>
            <a:r>
              <a:rPr lang="en-GB">
                <a:solidFill>
                  <a:srgbClr val="666666"/>
                </a:solidFill>
              </a:rPr>
              <a:t>𝓐.</a:t>
            </a:r>
            <a:endParaRPr>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a:solidFill>
                  <a:srgbClr val="666666"/>
                </a:solidFill>
              </a:rPr>
              <a:t>𝓘 là mô hình của 𝓚, nếu 𝓘 </a:t>
            </a:r>
            <a:r>
              <a:rPr lang="en-GB">
                <a:solidFill>
                  <a:srgbClr val="666666"/>
                </a:solidFill>
                <a:highlight>
                  <a:srgbClr val="FFFFFF"/>
                </a:highlight>
              </a:rPr>
              <a:t>⊨ </a:t>
            </a:r>
            <a:r>
              <a:rPr lang="en-GB">
                <a:solidFill>
                  <a:srgbClr val="666666"/>
                </a:solidFill>
              </a:rPr>
              <a:t>𝓣 và 𝓘 </a:t>
            </a:r>
            <a:r>
              <a:rPr lang="en-GB">
                <a:solidFill>
                  <a:srgbClr val="666666"/>
                </a:solidFill>
                <a:highlight>
                  <a:srgbClr val="FFFFFF"/>
                </a:highlight>
              </a:rPr>
              <a:t>⊨ </a:t>
            </a:r>
            <a:r>
              <a:rPr lang="en-GB">
                <a:solidFill>
                  <a:srgbClr val="666666"/>
                </a:solidFill>
              </a:rPr>
              <a:t>𝓐</a:t>
            </a:r>
            <a:endParaRPr>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a:solidFill>
                  <a:srgbClr val="666666"/>
                </a:solidFill>
              </a:rPr>
              <a:t>Một mệnh đề ax được suy ra từ 𝓚, viết là 𝓚 </a:t>
            </a:r>
            <a:r>
              <a:rPr lang="en-GB">
                <a:solidFill>
                  <a:srgbClr val="666666"/>
                </a:solidFill>
                <a:highlight>
                  <a:srgbClr val="FFFFFF"/>
                </a:highlight>
              </a:rPr>
              <a:t>⊨ ax, nếu tất cả mô hình </a:t>
            </a:r>
            <a:r>
              <a:rPr lang="en-GB">
                <a:solidFill>
                  <a:srgbClr val="666666"/>
                </a:solidFill>
              </a:rPr>
              <a:t>𝓘 của 𝓚 cũng là mô hình của ax.</a:t>
            </a:r>
            <a:endParaRPr>
              <a:solidFill>
                <a:srgbClr val="666666"/>
              </a:solidFill>
            </a:endParaRPr>
          </a:p>
        </p:txBody>
      </p:sp>
      <p:sp>
        <p:nvSpPr>
          <p:cNvPr id="665" name="Google Shape;665;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vấn đề suy diễn </a:t>
            </a:r>
            <a:r>
              <a:rPr lang="en-GB"/>
              <a:t>cho </a:t>
            </a:r>
            <a:r>
              <a:rPr lang="en-GB"/>
              <a:t>CSTT 𝓚</a:t>
            </a:r>
            <a:endParaRPr/>
          </a:p>
        </p:txBody>
      </p:sp>
      <p:sp>
        <p:nvSpPr>
          <p:cNvPr id="671" name="Google Shape;671;p85"/>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Tính nhất quán toàn cục của CSTT: </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Giả sử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false, </a:t>
            </a:r>
            <a:r>
              <a:rPr lang="en-GB">
                <a:solidFill>
                  <a:srgbClr val="666666"/>
                </a:solidFill>
              </a:rPr>
              <a:t>𝓚</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CSTT có hợp lý hay không?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Tính nhất quán lớp: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C⊑⊥?</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Lớp C có phải là lớp rỗng ko?</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Bao gồm lớp: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C⊑D?</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Cấu trúc cây của CSTT</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Lớp tương đương: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C ≈ D?</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Các lớp có tập phần tử giống nhau hay không?</a:t>
            </a:r>
            <a:endParaRPr>
              <a:solidFill>
                <a:srgbClr val="666666"/>
              </a:solidFill>
              <a:highlight>
                <a:schemeClr val="lt1"/>
              </a:highlight>
            </a:endParaRPr>
          </a:p>
        </p:txBody>
      </p:sp>
      <p:sp>
        <p:nvSpPr>
          <p:cNvPr id="672" name="Google Shape;672;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vấn đề suy diễn cho CSTT 𝓚</a:t>
            </a:r>
            <a:r>
              <a:rPr baseline="-25000" lang="en-GB"/>
              <a:t>(2)</a:t>
            </a:r>
            <a:endParaRPr baseline="-25000"/>
          </a:p>
        </p:txBody>
      </p:sp>
      <p:sp>
        <p:nvSpPr>
          <p:cNvPr id="678" name="Google Shape;678;p8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Lớp không giao </a:t>
            </a:r>
            <a:r>
              <a:rPr lang="en-GB">
                <a:solidFill>
                  <a:srgbClr val="666666"/>
                </a:solidFill>
              </a:rPr>
              <a:t>nhau</a:t>
            </a:r>
            <a:r>
              <a:rPr lang="en-GB">
                <a:solidFill>
                  <a:srgbClr val="666666"/>
                </a:solidFill>
              </a:rPr>
              <a:t>: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C ⨅ D⊑⊥?</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Các</a:t>
            </a:r>
            <a:r>
              <a:rPr lang="en-GB">
                <a:solidFill>
                  <a:srgbClr val="666666"/>
                </a:solidFill>
              </a:rPr>
              <a:t> lớp có giao </a:t>
            </a:r>
            <a:r>
              <a:rPr lang="en-GB">
                <a:solidFill>
                  <a:srgbClr val="666666"/>
                </a:solidFill>
              </a:rPr>
              <a:t>nhau</a:t>
            </a:r>
            <a:r>
              <a:rPr lang="en-GB">
                <a:solidFill>
                  <a:srgbClr val="666666"/>
                </a:solidFill>
              </a:rPr>
              <a:t> hay không?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Phần tử của lớp: 𝓚 </a:t>
            </a:r>
            <a:r>
              <a:rPr lang="en-GB">
                <a:solidFill>
                  <a:srgbClr val="666666"/>
                </a:solidFill>
                <a:highlight>
                  <a:schemeClr val="lt1"/>
                </a:highlight>
              </a:rPr>
              <a:t>⊨</a:t>
            </a:r>
            <a:r>
              <a:rPr baseline="30000" lang="en-GB">
                <a:solidFill>
                  <a:srgbClr val="666666"/>
                </a:solidFill>
                <a:highlight>
                  <a:schemeClr val="lt1"/>
                </a:highlight>
              </a:rPr>
              <a:t>?</a:t>
            </a:r>
            <a:r>
              <a:rPr lang="en-GB">
                <a:solidFill>
                  <a:srgbClr val="666666"/>
                </a:solidFill>
                <a:highlight>
                  <a:schemeClr val="lt1"/>
                </a:highlight>
              </a:rPr>
              <a:t> </a:t>
            </a:r>
            <a:r>
              <a:rPr lang="en-GB">
                <a:solidFill>
                  <a:srgbClr val="666666"/>
                </a:solidFill>
              </a:rPr>
              <a:t>C(a)?</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Phần tử a có nằm trong lớp C hay không?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Truy </a:t>
            </a:r>
            <a:r>
              <a:rPr lang="en-GB">
                <a:solidFill>
                  <a:srgbClr val="666666"/>
                </a:solidFill>
              </a:rPr>
              <a:t>xuất</a:t>
            </a:r>
            <a:r>
              <a:rPr lang="en-GB">
                <a:solidFill>
                  <a:srgbClr val="666666"/>
                </a:solidFill>
              </a:rPr>
              <a:t> phần tử: Tìm tất cả x sao cho 𝓚 </a:t>
            </a:r>
            <a:r>
              <a:rPr lang="en-GB">
                <a:solidFill>
                  <a:srgbClr val="666666"/>
                </a:solidFill>
                <a:highlight>
                  <a:schemeClr val="lt1"/>
                </a:highlight>
              </a:rPr>
              <a:t>⊨ C(x)</a:t>
            </a:r>
            <a:endParaRPr>
              <a:solidFill>
                <a:srgbClr val="666666"/>
              </a:solidFill>
              <a:highlight>
                <a:schemeClr val="lt1"/>
              </a:highlight>
            </a:endParaRPr>
          </a:p>
          <a:p>
            <a:pPr indent="-368300" lvl="1" marL="914400" rtl="0" algn="l">
              <a:spcBef>
                <a:spcPts val="0"/>
              </a:spcBef>
              <a:spcAft>
                <a:spcPts val="0"/>
              </a:spcAft>
              <a:buClr>
                <a:srgbClr val="666666"/>
              </a:buClr>
              <a:buSzPts val="2200"/>
              <a:buChar char="○"/>
            </a:pPr>
            <a:r>
              <a:rPr lang="en-GB">
                <a:solidFill>
                  <a:srgbClr val="666666"/>
                </a:solidFill>
                <a:highlight>
                  <a:schemeClr val="lt1"/>
                </a:highlight>
              </a:rPr>
              <a:t>Tìm tất cả các phần tử của lớp C</a:t>
            </a:r>
            <a:endParaRPr>
              <a:solidFill>
                <a:srgbClr val="666666"/>
              </a:solidFill>
              <a:highlight>
                <a:schemeClr val="lt1"/>
              </a:highlight>
            </a:endParaRPr>
          </a:p>
        </p:txBody>
      </p:sp>
      <p:sp>
        <p:nvSpPr>
          <p:cNvPr id="679" name="Google Shape;679;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8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dạng kiểm tra ABox</a:t>
            </a:r>
            <a:endParaRPr/>
          </a:p>
        </p:txBody>
      </p:sp>
      <p:sp>
        <p:nvSpPr>
          <p:cNvPr id="685" name="Google Shape;685;p87"/>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Một kiểm tra ABox có thể có 1 trong các dạng sau:</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C(a) (</a:t>
            </a:r>
            <a:r>
              <a:rPr lang="en-GB">
                <a:solidFill>
                  <a:srgbClr val="666666"/>
                </a:solidFill>
              </a:rPr>
              <a:t>kiểm tra</a:t>
            </a:r>
            <a:r>
              <a:rPr lang="en-GB">
                <a:solidFill>
                  <a:srgbClr val="666666"/>
                </a:solidFill>
              </a:rPr>
              <a:t> khái niệm)</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r(a, b) (</a:t>
            </a:r>
            <a:r>
              <a:rPr lang="en-GB">
                <a:solidFill>
                  <a:srgbClr val="666666"/>
                </a:solidFill>
              </a:rPr>
              <a:t>kiểm tra</a:t>
            </a:r>
            <a:r>
              <a:rPr lang="en-GB">
                <a:solidFill>
                  <a:srgbClr val="666666"/>
                </a:solidFill>
              </a:rPr>
              <a:t> vai trò)</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¬r(a, b) (</a:t>
            </a:r>
            <a:r>
              <a:rPr lang="en-GB">
                <a:solidFill>
                  <a:srgbClr val="666666"/>
                </a:solidFill>
              </a:rPr>
              <a:t>kiểm tra</a:t>
            </a:r>
            <a:r>
              <a:rPr lang="en-GB">
                <a:solidFill>
                  <a:srgbClr val="666666"/>
                </a:solidFill>
              </a:rPr>
              <a:t> vai trò phủ định)</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 ≈ b (</a:t>
            </a:r>
            <a:r>
              <a:rPr lang="en-GB">
                <a:solidFill>
                  <a:srgbClr val="666666"/>
                </a:solidFill>
              </a:rPr>
              <a:t>kiểm tra tương đương</a:t>
            </a:r>
            <a:r>
              <a:rPr lang="en-GB">
                <a:solidFill>
                  <a:srgbClr val="666666"/>
                </a:solidFill>
              </a:rPr>
              <a:t>)</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 ≉ b (</a:t>
            </a:r>
            <a:r>
              <a:rPr lang="en-GB">
                <a:solidFill>
                  <a:srgbClr val="666666"/>
                </a:solidFill>
              </a:rPr>
              <a:t>kiểm tra khác biệt</a:t>
            </a:r>
            <a:r>
              <a:rPr lang="en-GB">
                <a:solidFill>
                  <a:srgbClr val="666666"/>
                </a:solidFill>
              </a:rPr>
              <a:t>)</a:t>
            </a:r>
            <a:endParaRPr>
              <a:solidFill>
                <a:srgbClr val="666666"/>
              </a:solidFill>
            </a:endParaRPr>
          </a:p>
        </p:txBody>
      </p:sp>
      <p:sp>
        <p:nvSpPr>
          <p:cNvPr id="686" name="Google Shape;686;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khả quyết của OWL DL</a:t>
            </a:r>
            <a:endParaRPr/>
          </a:p>
        </p:txBody>
      </p:sp>
      <p:sp>
        <p:nvSpPr>
          <p:cNvPr id="692" name="Google Shape;692;p88"/>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OWL DL là 1 phần của FOL, như vậy </a:t>
            </a:r>
            <a:r>
              <a:rPr lang="en-GB">
                <a:solidFill>
                  <a:srgbClr val="666666"/>
                </a:solidFill>
              </a:rPr>
              <a:t>có thể sử dụng </a:t>
            </a:r>
            <a:r>
              <a:rPr lang="en-GB">
                <a:solidFill>
                  <a:srgbClr val="666666"/>
                </a:solidFill>
              </a:rPr>
              <a:t>tiến trình suy diễn FOL (phân giải Tableaux)</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Nhưng </a:t>
            </a:r>
            <a:r>
              <a:rPr lang="en-GB">
                <a:solidFill>
                  <a:srgbClr val="666666"/>
                </a:solidFill>
              </a:rPr>
              <a:t>có thể </a:t>
            </a:r>
            <a:r>
              <a:rPr lang="en-GB">
                <a:solidFill>
                  <a:srgbClr val="666666"/>
                </a:solidFill>
              </a:rPr>
              <a:t>không đảm bảo tính dừng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Vấn đề: Tìm kiếm các giải thuật có đảm bảo tính dừng</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Không có giải pháp đơn giản cho vấn đề này.</a:t>
            </a:r>
            <a:endParaRPr>
              <a:solidFill>
                <a:srgbClr val="666666"/>
              </a:solidFill>
            </a:endParaRPr>
          </a:p>
        </p:txBody>
      </p:sp>
      <p:sp>
        <p:nvSpPr>
          <p:cNvPr id="693" name="Google Shape;693;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uy diễn trong </a:t>
            </a:r>
            <a:r>
              <a:rPr lang="en-GB"/>
              <a:t>OWL 2</a:t>
            </a:r>
            <a:endParaRPr/>
          </a:p>
        </p:txBody>
      </p:sp>
      <p:sp>
        <p:nvSpPr>
          <p:cNvPr id="699" name="Google Shape;699;p89"/>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OWL 2 mở rộng các tính năng đã giới thiệu với các cấu trúc mới</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OWL 2 cũng định nghĩa các th</a:t>
            </a:r>
            <a:r>
              <a:rPr lang="en-GB">
                <a:solidFill>
                  <a:srgbClr val="666666"/>
                </a:solidFill>
              </a:rPr>
              <a:t>ành </a:t>
            </a:r>
            <a:r>
              <a:rPr lang="en-GB">
                <a:solidFill>
                  <a:srgbClr val="666666"/>
                </a:solidFill>
              </a:rPr>
              <a:t>ph</a:t>
            </a:r>
            <a:r>
              <a:rPr lang="en-GB">
                <a:solidFill>
                  <a:srgbClr val="666666"/>
                </a:solidFill>
              </a:rPr>
              <a:t>ần</a:t>
            </a:r>
            <a:r>
              <a:rPr lang="en-GB">
                <a:solidFill>
                  <a:srgbClr val="666666"/>
                </a:solidFill>
              </a:rPr>
              <a:t> đơn giản hơn </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Nhiều công cụ cho phép suy diễn tự động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Trình biên soạn hỗ trợ tạo ontologies/CSTT</a:t>
            </a:r>
            <a:endParaRPr>
              <a:solidFill>
                <a:srgbClr val="666666"/>
              </a:solidFill>
            </a:endParaRPr>
          </a:p>
        </p:txBody>
      </p:sp>
      <p:sp>
        <p:nvSpPr>
          <p:cNvPr id="700" name="Google Shape;700;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6.1</a:t>
            </a:r>
            <a:endParaRPr/>
          </a:p>
        </p:txBody>
      </p:sp>
      <p:sp>
        <p:nvSpPr>
          <p:cNvPr id="706" name="Google Shape;706;p90"/>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Xây dựng các Ontology với OWL DL, lô-gic mô tả và lô-gic bậc nhất theo các mô tả như sau:</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Lớp Vegetable là lớp con của PizzaTopping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Lớp PizzaTopping không có phần tử chung với Pizza</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aubergine là phần tử của lớp Vegetable</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Vai trò trừu tượng hasTopping chỉ được sử dụng cho các lớp Pizza và PizzaTopping</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Lớp VegPizza chỉ bao gồm các phần tử trong lớp NoMeatPizza và NoFishPizza</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Vai trò hasTopping là vai trò con của hasIngredient.</a:t>
            </a:r>
            <a:endParaRPr>
              <a:solidFill>
                <a:srgbClr val="666666"/>
              </a:solidFill>
            </a:endParaRPr>
          </a:p>
        </p:txBody>
      </p:sp>
      <p:sp>
        <p:nvSpPr>
          <p:cNvPr id="707" name="Google Shape;707;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6.1</a:t>
            </a:r>
            <a:r>
              <a:rPr baseline="-25000" lang="en-GB"/>
              <a:t>(2)</a:t>
            </a:r>
            <a:endParaRPr baseline="-25000"/>
          </a:p>
        </p:txBody>
      </p:sp>
      <p:sp>
        <p:nvSpPr>
          <p:cNvPr id="713" name="Google Shape;713;p91"/>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solidFill>
                  <a:srgbClr val="666666"/>
                </a:solidFill>
              </a:rPr>
              <a:t>:Vegetable rdfs:subClassOf :PizzaTopping.</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:PizzaTopping owl:disjointWith :Pizza.</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:aubergine a :Vegtable.</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:hasTopping rdfs:domain :Pizza.</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:hasTopping rdfs:range :PizzaTopping.</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[owl:intersectionOf(:NoMeatePizza :NoFishPizza)] rdfs:subClassOf :VegPizza.</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:hasTopping rdfs:subPropertyOf :hasIngredient.</a:t>
            </a:r>
            <a:endParaRPr>
              <a:solidFill>
                <a:srgbClr val="666666"/>
              </a:solidFill>
            </a:endParaRPr>
          </a:p>
          <a:p>
            <a:pPr indent="0" lvl="0" marL="0" rtl="0" algn="l">
              <a:lnSpc>
                <a:spcPct val="150000"/>
              </a:lnSpc>
              <a:spcBef>
                <a:spcPts val="0"/>
              </a:spcBef>
              <a:spcAft>
                <a:spcPts val="0"/>
              </a:spcAft>
              <a:buNone/>
            </a:pPr>
            <a:r>
              <a:t/>
            </a:r>
            <a:endParaRPr>
              <a:solidFill>
                <a:srgbClr val="666666"/>
              </a:solidFill>
            </a:endParaRPr>
          </a:p>
        </p:txBody>
      </p:sp>
      <p:sp>
        <p:nvSpPr>
          <p:cNvPr id="714" name="Google Shape;714;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6.1</a:t>
            </a:r>
            <a:r>
              <a:rPr baseline="-25000" lang="en-GB"/>
              <a:t>(3</a:t>
            </a:r>
            <a:r>
              <a:rPr baseline="-25000" lang="en-GB"/>
              <a:t>)</a:t>
            </a:r>
            <a:endParaRPr baseline="-25000"/>
          </a:p>
        </p:txBody>
      </p:sp>
      <p:sp>
        <p:nvSpPr>
          <p:cNvPr id="720" name="Google Shape;720;p92"/>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solidFill>
                  <a:srgbClr val="666666"/>
                </a:solidFill>
              </a:rPr>
              <a:t>Vegetable ⊑ PizzaTopping</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PizzaTopping ⊑ ¬Pizza</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Vegetable(aubergine)</a:t>
            </a:r>
            <a:endParaRPr>
              <a:solidFill>
                <a:srgbClr val="666666"/>
              </a:solidFill>
            </a:endParaRPr>
          </a:p>
          <a:p>
            <a:pPr indent="0" lvl="0" marL="0" rtl="0" algn="l">
              <a:lnSpc>
                <a:spcPct val="150000"/>
              </a:lnSpc>
              <a:spcBef>
                <a:spcPts val="0"/>
              </a:spcBef>
              <a:spcAft>
                <a:spcPts val="0"/>
              </a:spcAft>
              <a:buNone/>
            </a:pPr>
            <a:r>
              <a:rPr lang="en-GB" sz="2200">
                <a:solidFill>
                  <a:srgbClr val="666666"/>
                </a:solidFill>
              </a:rPr>
              <a:t>∃hasTopping.T </a:t>
            </a:r>
            <a:r>
              <a:rPr lang="en-GB">
                <a:solidFill>
                  <a:srgbClr val="666666"/>
                </a:solidFill>
              </a:rPr>
              <a:t>⊑ Pizza</a:t>
            </a:r>
            <a:endParaRPr>
              <a:solidFill>
                <a:srgbClr val="666666"/>
              </a:solidFill>
            </a:endParaRPr>
          </a:p>
          <a:p>
            <a:pPr indent="0" lvl="0" marL="0" rtl="0" algn="l">
              <a:lnSpc>
                <a:spcPct val="150000"/>
              </a:lnSpc>
              <a:spcBef>
                <a:spcPts val="0"/>
              </a:spcBef>
              <a:spcAft>
                <a:spcPts val="0"/>
              </a:spcAft>
              <a:buNone/>
            </a:pPr>
            <a:r>
              <a:rPr lang="en-GB" sz="2200">
                <a:solidFill>
                  <a:srgbClr val="666666"/>
                </a:solidFill>
              </a:rPr>
              <a:t>T </a:t>
            </a:r>
            <a:r>
              <a:rPr lang="en-GB">
                <a:solidFill>
                  <a:srgbClr val="666666"/>
                </a:solidFill>
              </a:rPr>
              <a:t>⊑ </a:t>
            </a:r>
            <a:r>
              <a:rPr lang="en-GB">
                <a:solidFill>
                  <a:srgbClr val="666666"/>
                </a:solidFill>
              </a:rPr>
              <a:t>∀hasTopping.PizzaTopping</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NoMeatPizza ⨆ NoFishPizza </a:t>
            </a:r>
            <a:r>
              <a:rPr lang="en-GB">
                <a:solidFill>
                  <a:srgbClr val="666666"/>
                </a:solidFill>
              </a:rPr>
              <a:t>⊑ </a:t>
            </a:r>
            <a:r>
              <a:rPr lang="en-GB">
                <a:solidFill>
                  <a:srgbClr val="666666"/>
                </a:solidFill>
              </a:rPr>
              <a:t>VegPizza</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hasTopping ⊑ hasIngredient</a:t>
            </a:r>
            <a:endParaRPr>
              <a:solidFill>
                <a:srgbClr val="666666"/>
              </a:solidFill>
            </a:endParaRPr>
          </a:p>
          <a:p>
            <a:pPr indent="0" lvl="0" marL="0" rtl="0" algn="l">
              <a:lnSpc>
                <a:spcPct val="150000"/>
              </a:lnSpc>
              <a:spcBef>
                <a:spcPts val="0"/>
              </a:spcBef>
              <a:spcAft>
                <a:spcPts val="0"/>
              </a:spcAft>
              <a:buNone/>
            </a:pPr>
            <a:r>
              <a:t/>
            </a:r>
            <a:endParaRPr>
              <a:solidFill>
                <a:srgbClr val="666666"/>
              </a:solidFill>
            </a:endParaRPr>
          </a:p>
        </p:txBody>
      </p:sp>
      <p:sp>
        <p:nvSpPr>
          <p:cNvPr id="721" name="Google Shape;721;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6.1</a:t>
            </a:r>
            <a:r>
              <a:rPr baseline="-25000" lang="en-GB"/>
              <a:t>(4)</a:t>
            </a:r>
            <a:endParaRPr baseline="-25000"/>
          </a:p>
        </p:txBody>
      </p:sp>
      <p:sp>
        <p:nvSpPr>
          <p:cNvPr id="727" name="Google Shape;727;p93"/>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solidFill>
                  <a:srgbClr val="666666"/>
                </a:solidFill>
              </a:rPr>
              <a:t>(∀x)(</a:t>
            </a:r>
            <a:r>
              <a:rPr lang="en-GB">
                <a:solidFill>
                  <a:srgbClr val="666666"/>
                </a:solidFill>
              </a:rPr>
              <a:t>V</a:t>
            </a:r>
            <a:r>
              <a:rPr lang="en-GB">
                <a:solidFill>
                  <a:srgbClr val="666666"/>
                </a:solidFill>
              </a:rPr>
              <a:t>egetable(x) -&gt;  PizzaTopping(x))</a:t>
            </a:r>
            <a:endParaRPr>
              <a:solidFill>
                <a:srgbClr val="666666"/>
              </a:solidFill>
            </a:endParaRPr>
          </a:p>
          <a:p>
            <a:pPr indent="0" lvl="0" marL="0" rtl="0" algn="l">
              <a:lnSpc>
                <a:spcPct val="150000"/>
              </a:lnSpc>
              <a:spcBef>
                <a:spcPts val="0"/>
              </a:spcBef>
              <a:spcAft>
                <a:spcPts val="0"/>
              </a:spcAft>
              <a:buClr>
                <a:schemeClr val="dk1"/>
              </a:buClr>
              <a:buSzPts val="1100"/>
              <a:buFont typeface="Arial"/>
              <a:buNone/>
            </a:pPr>
            <a:r>
              <a:rPr lang="en-GB">
                <a:solidFill>
                  <a:srgbClr val="666666"/>
                </a:solidFill>
              </a:rPr>
              <a:t>¬</a:t>
            </a:r>
            <a:r>
              <a:rPr lang="en-GB">
                <a:solidFill>
                  <a:srgbClr val="666666"/>
                </a:solidFill>
              </a:rPr>
              <a:t>(∃x)(PizzaTopping(x) ∧ Pizza(x))</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Vegetable(aubergine)</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(∀x)((∃y)hasTopping(x, y) -&gt; Pizza(x))</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(∀x)(∀y)(hasTopping(x, y) -&gt; PizzaTopping(y))</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(∀x)(NoMeatPizza(x) ⨅ NoFishPizza(x) -&gt; VegPizza(x))</a:t>
            </a:r>
            <a:endParaRPr>
              <a:solidFill>
                <a:srgbClr val="666666"/>
              </a:solidFill>
            </a:endParaRPr>
          </a:p>
          <a:p>
            <a:pPr indent="0" lvl="0" marL="0" rtl="0" algn="l">
              <a:lnSpc>
                <a:spcPct val="150000"/>
              </a:lnSpc>
              <a:spcBef>
                <a:spcPts val="0"/>
              </a:spcBef>
              <a:spcAft>
                <a:spcPts val="0"/>
              </a:spcAft>
              <a:buNone/>
            </a:pPr>
            <a:r>
              <a:rPr lang="en-GB">
                <a:solidFill>
                  <a:srgbClr val="666666"/>
                </a:solidFill>
              </a:rPr>
              <a:t>(∀x)(∀y)(hasTopping(x, y) -&gt; hasIngredient(x, y))</a:t>
            </a:r>
            <a:endParaRPr>
              <a:solidFill>
                <a:srgbClr val="666666"/>
              </a:solidFill>
            </a:endParaRPr>
          </a:p>
          <a:p>
            <a:pPr indent="0" lvl="0" marL="0" rtl="0" algn="l">
              <a:lnSpc>
                <a:spcPct val="150000"/>
              </a:lnSpc>
              <a:spcBef>
                <a:spcPts val="0"/>
              </a:spcBef>
              <a:spcAft>
                <a:spcPts val="0"/>
              </a:spcAft>
              <a:buNone/>
            </a:pPr>
            <a:r>
              <a:t/>
            </a:r>
            <a:endParaRPr>
              <a:solidFill>
                <a:srgbClr val="666666"/>
              </a:solidFill>
            </a:endParaRPr>
          </a:p>
        </p:txBody>
      </p:sp>
      <p:sp>
        <p:nvSpPr>
          <p:cNvPr id="728" name="Google Shape;728;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endParaRPr/>
          </a:p>
        </p:txBody>
      </p:sp>
      <p:sp>
        <p:nvSpPr>
          <p:cNvPr id="734" name="Google Shape;734;p94"/>
          <p:cNvSpPr txBox="1"/>
          <p:nvPr>
            <p:ph idx="4294967295" type="body"/>
          </p:nvPr>
        </p:nvSpPr>
        <p:spPr>
          <a:xfrm>
            <a:off x="311700" y="1012400"/>
            <a:ext cx="85206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Chuyển đổi sang OWL</a:t>
            </a:r>
            <a:endParaRPr/>
          </a:p>
        </p:txBody>
      </p:sp>
      <p:sp>
        <p:nvSpPr>
          <p:cNvPr id="735" name="Google Shape;735;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6" name="Google Shape;736;p94"/>
          <p:cNvSpPr txBox="1"/>
          <p:nvPr/>
        </p:nvSpPr>
        <p:spPr>
          <a:xfrm>
            <a:off x="305725" y="1571000"/>
            <a:ext cx="7058100" cy="12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Human </a:t>
            </a:r>
            <a:r>
              <a:rPr lang="en-GB" sz="2400">
                <a:solidFill>
                  <a:srgbClr val="666666"/>
                </a:solidFill>
              </a:rPr>
              <a:t>⊑ ∃hasMother.Human</a:t>
            </a:r>
            <a:endParaRPr sz="2400">
              <a:solidFill>
                <a:srgbClr val="666666"/>
              </a:solidFill>
            </a:endParaRPr>
          </a:p>
          <a:p>
            <a:pPr indent="0" lvl="0" marL="0" rtl="0" algn="l">
              <a:spcBef>
                <a:spcPts val="0"/>
              </a:spcBef>
              <a:spcAft>
                <a:spcPts val="0"/>
              </a:spcAft>
              <a:buNone/>
            </a:pPr>
            <a:r>
              <a:rPr lang="en-GB" sz="2400">
                <a:solidFill>
                  <a:srgbClr val="666666"/>
                </a:solidFill>
              </a:rPr>
              <a:t>∃hasMother.(∃hasMother.Human) ⊑ GrandChild</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Human(anupriyaAnkolekar)</a:t>
            </a:r>
            <a:endParaRPr sz="2400">
              <a:solidFill>
                <a:srgbClr val="666666"/>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9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r>
              <a:rPr baseline="-25000" lang="en-GB"/>
              <a:t>(2)</a:t>
            </a:r>
            <a:endParaRPr baseline="-25000"/>
          </a:p>
        </p:txBody>
      </p:sp>
      <p:sp>
        <p:nvSpPr>
          <p:cNvPr id="742" name="Google Shape;742;p95"/>
          <p:cNvSpPr txBox="1"/>
          <p:nvPr>
            <p:ph idx="4294967295" type="body"/>
          </p:nvPr>
        </p:nvSpPr>
        <p:spPr>
          <a:xfrm>
            <a:off x="311700" y="1012400"/>
            <a:ext cx="85206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Chuyển đổi sang OWL</a:t>
            </a:r>
            <a:endParaRPr/>
          </a:p>
        </p:txBody>
      </p:sp>
      <p:sp>
        <p:nvSpPr>
          <p:cNvPr id="743" name="Google Shape;743;p9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44" name="Google Shape;744;p95"/>
          <p:cNvSpPr txBox="1"/>
          <p:nvPr/>
        </p:nvSpPr>
        <p:spPr>
          <a:xfrm>
            <a:off x="423300" y="3219825"/>
            <a:ext cx="8520600" cy="29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:Human rdfs:subClassOf [a owl:Restriction; </a:t>
            </a:r>
            <a:endParaRPr sz="2400">
              <a:solidFill>
                <a:schemeClr val="dk2"/>
              </a:solidFill>
            </a:endParaRPr>
          </a:p>
          <a:p>
            <a:pPr indent="0" lvl="0" marL="0" rtl="0" algn="l">
              <a:spcBef>
                <a:spcPts val="0"/>
              </a:spcBef>
              <a:spcAft>
                <a:spcPts val="0"/>
              </a:spcAft>
              <a:buNone/>
            </a:pPr>
            <a:r>
              <a:rPr lang="en-GB" sz="2400">
                <a:solidFill>
                  <a:schemeClr val="dk2"/>
                </a:solidFill>
              </a:rPr>
              <a:t>			owl:onProperty :hasMother;</a:t>
            </a:r>
            <a:endParaRPr sz="2400">
              <a:solidFill>
                <a:schemeClr val="dk2"/>
              </a:solidFill>
            </a:endParaRPr>
          </a:p>
          <a:p>
            <a:pPr indent="0" lvl="0" marL="0" rtl="0" algn="l">
              <a:spcBef>
                <a:spcPts val="0"/>
              </a:spcBef>
              <a:spcAft>
                <a:spcPts val="0"/>
              </a:spcAft>
              <a:buNone/>
            </a:pPr>
            <a:r>
              <a:rPr lang="en-GB" sz="2400">
                <a:solidFill>
                  <a:schemeClr val="dk2"/>
                </a:solidFill>
              </a:rPr>
              <a:t>			owl:someValuesFrom :Human].</a:t>
            </a:r>
            <a:endParaRPr sz="2400">
              <a:solidFill>
                <a:schemeClr val="dk2"/>
              </a:solidFill>
            </a:endParaRPr>
          </a:p>
          <a:p>
            <a:pPr indent="0" lvl="0" marL="0" rtl="0" algn="l">
              <a:spcBef>
                <a:spcPts val="0"/>
              </a:spcBef>
              <a:spcAft>
                <a:spcPts val="0"/>
              </a:spcAft>
              <a:buNone/>
            </a:pPr>
            <a:r>
              <a:rPr lang="en-GB" sz="2400">
                <a:solidFill>
                  <a:schemeClr val="dk2"/>
                </a:solidFill>
              </a:rPr>
              <a:t>[a owl:Restriction; owl:onProperty :hasMother; </a:t>
            </a:r>
            <a:endParaRPr sz="2400">
              <a:solidFill>
                <a:schemeClr val="dk2"/>
              </a:solidFill>
            </a:endParaRPr>
          </a:p>
          <a:p>
            <a:pPr indent="0" lvl="0" marL="0" rtl="0" algn="l">
              <a:spcBef>
                <a:spcPts val="0"/>
              </a:spcBef>
              <a:spcAft>
                <a:spcPts val="0"/>
              </a:spcAft>
              <a:buNone/>
            </a:pPr>
            <a:r>
              <a:rPr lang="en-GB" sz="2400">
                <a:solidFill>
                  <a:schemeClr val="dk2"/>
                </a:solidFill>
              </a:rPr>
              <a:t> owl:someValuesFrom [a owl:Restriction; owl:onProperty :hasMother; owl:someValuesFrom :Human]] rdfs:subClassOf :GrandChild.</a:t>
            </a:r>
            <a:endParaRPr sz="2400">
              <a:solidFill>
                <a:schemeClr val="dk2"/>
              </a:solidFill>
            </a:endParaRPr>
          </a:p>
          <a:p>
            <a:pPr indent="0" lvl="0" marL="0" rtl="0" algn="l">
              <a:spcBef>
                <a:spcPts val="0"/>
              </a:spcBef>
              <a:spcAft>
                <a:spcPts val="0"/>
              </a:spcAft>
              <a:buNone/>
            </a:pPr>
            <a:r>
              <a:rPr lang="en-GB" sz="2400">
                <a:solidFill>
                  <a:schemeClr val="dk2"/>
                </a:solidFill>
              </a:rPr>
              <a:t>:AnupriyaAnkolekar a :Human.</a:t>
            </a:r>
            <a:endParaRPr sz="2400">
              <a:solidFill>
                <a:schemeClr val="dk2"/>
              </a:solidFill>
            </a:endParaRPr>
          </a:p>
        </p:txBody>
      </p:sp>
      <p:sp>
        <p:nvSpPr>
          <p:cNvPr id="745" name="Google Shape;745;p95"/>
          <p:cNvSpPr txBox="1"/>
          <p:nvPr/>
        </p:nvSpPr>
        <p:spPr>
          <a:xfrm>
            <a:off x="305725" y="1571000"/>
            <a:ext cx="7058100" cy="12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Human </a:t>
            </a:r>
            <a:r>
              <a:rPr lang="en-GB" sz="2400">
                <a:solidFill>
                  <a:srgbClr val="666666"/>
                </a:solidFill>
              </a:rPr>
              <a:t>⊑ ∃hasMother.Human</a:t>
            </a:r>
            <a:endParaRPr sz="2400">
              <a:solidFill>
                <a:srgbClr val="666666"/>
              </a:solidFill>
            </a:endParaRPr>
          </a:p>
          <a:p>
            <a:pPr indent="0" lvl="0" marL="0" rtl="0" algn="l">
              <a:spcBef>
                <a:spcPts val="0"/>
              </a:spcBef>
              <a:spcAft>
                <a:spcPts val="0"/>
              </a:spcAft>
              <a:buNone/>
            </a:pPr>
            <a:r>
              <a:rPr lang="en-GB" sz="2400">
                <a:solidFill>
                  <a:srgbClr val="666666"/>
                </a:solidFill>
              </a:rPr>
              <a:t>∃hasMother.(∃hasMother.Human) ⊑ GrandChild</a:t>
            </a:r>
            <a:endParaRPr sz="2400">
              <a:solidFill>
                <a:srgbClr val="666666"/>
              </a:solidFill>
            </a:endParaRPr>
          </a:p>
          <a:p>
            <a:pPr indent="0" lvl="0" marL="0" rtl="0" algn="l">
              <a:spcBef>
                <a:spcPts val="0"/>
              </a:spcBef>
              <a:spcAft>
                <a:spcPts val="0"/>
              </a:spcAft>
              <a:buNone/>
            </a:pPr>
            <a:r>
              <a:rPr lang="en-GB" sz="2400">
                <a:solidFill>
                  <a:srgbClr val="666666"/>
                </a:solidFill>
              </a:rPr>
              <a:t>Human(anupriyaAnkolekar)</a:t>
            </a:r>
            <a:endParaRPr sz="2400">
              <a:solidFill>
                <a:srgbClr val="666666"/>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9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r>
              <a:rPr baseline="-25000" lang="en-GB"/>
              <a:t>(</a:t>
            </a:r>
            <a:r>
              <a:rPr baseline="-25000" lang="en-GB"/>
              <a:t>3)</a:t>
            </a:r>
            <a:endParaRPr baseline="-25000"/>
          </a:p>
        </p:txBody>
      </p:sp>
      <p:sp>
        <p:nvSpPr>
          <p:cNvPr id="751" name="Google Shape;751;p96"/>
          <p:cNvSpPr txBox="1"/>
          <p:nvPr>
            <p:ph idx="4294967295" type="body"/>
          </p:nvPr>
        </p:nvSpPr>
        <p:spPr>
          <a:xfrm>
            <a:off x="311700" y="1012400"/>
            <a:ext cx="85206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Thử nghiệm suy diễn:</a:t>
            </a:r>
            <a:endParaRPr i="1"/>
          </a:p>
        </p:txBody>
      </p:sp>
      <p:sp>
        <p:nvSpPr>
          <p:cNvPr id="752" name="Google Shape;752;p9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53" name="Google Shape;753;p96"/>
          <p:cNvSpPr txBox="1"/>
          <p:nvPr/>
        </p:nvSpPr>
        <p:spPr>
          <a:xfrm>
            <a:off x="509600" y="3008425"/>
            <a:ext cx="8193300" cy="3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:a :hasMother :b.</a:t>
            </a:r>
            <a:endParaRPr sz="2400">
              <a:solidFill>
                <a:srgbClr val="666666"/>
              </a:solidFill>
            </a:endParaRPr>
          </a:p>
          <a:p>
            <a:pPr indent="0" lvl="0" marL="0" rtl="0" algn="l">
              <a:spcBef>
                <a:spcPts val="0"/>
              </a:spcBef>
              <a:spcAft>
                <a:spcPts val="0"/>
              </a:spcAft>
              <a:buNone/>
            </a:pPr>
            <a:r>
              <a:rPr lang="en-GB" sz="2400">
                <a:solidFill>
                  <a:srgbClr val="666666"/>
                </a:solidFill>
              </a:rPr>
              <a:t>:b :hasMother :c.</a:t>
            </a:r>
            <a:endParaRPr sz="2400">
              <a:solidFill>
                <a:srgbClr val="666666"/>
              </a:solidFill>
            </a:endParaRPr>
          </a:p>
          <a:p>
            <a:pPr indent="0" lvl="0" marL="0" rtl="0" algn="l">
              <a:spcBef>
                <a:spcPts val="0"/>
              </a:spcBef>
              <a:spcAft>
                <a:spcPts val="0"/>
              </a:spcAft>
              <a:buNone/>
            </a:pPr>
            <a:r>
              <a:rPr lang="en-GB" sz="2400">
                <a:solidFill>
                  <a:srgbClr val="666666"/>
                </a:solidFill>
              </a:rPr>
              <a:t>:c a :Woman.</a:t>
            </a:r>
            <a:endParaRPr sz="2400">
              <a:solidFill>
                <a:srgbClr val="666666"/>
              </a:solidFill>
            </a:endParaRPr>
          </a:p>
          <a:p>
            <a:pPr indent="0" lvl="0" marL="0" rtl="0" algn="l">
              <a:spcBef>
                <a:spcPts val="0"/>
              </a:spcBef>
              <a:spcAft>
                <a:spcPts val="0"/>
              </a:spcAft>
              <a:buNone/>
            </a:pPr>
            <a:r>
              <a:rPr lang="en-GB" sz="2400">
                <a:solidFill>
                  <a:srgbClr val="666666"/>
                </a:solidFill>
              </a:rPr>
              <a:t>:Woman rdfs:subClassOf :Human.</a:t>
            </a:r>
            <a:endParaRPr sz="2400">
              <a:solidFill>
                <a:srgbClr val="666666"/>
              </a:solidFill>
            </a:endParaRPr>
          </a:p>
          <a:p>
            <a:pPr indent="0" lvl="0" marL="0" rtl="0" algn="l">
              <a:spcBef>
                <a:spcPts val="0"/>
              </a:spcBef>
              <a:spcAft>
                <a:spcPts val="0"/>
              </a:spcAft>
              <a:buNone/>
            </a:pPr>
            <a:r>
              <a:t/>
            </a:r>
            <a:endParaRPr sz="2400">
              <a:solidFill>
                <a:srgbClr val="666666"/>
              </a:solidFill>
            </a:endParaRPr>
          </a:p>
          <a:p>
            <a:pPr indent="0" lvl="0" marL="0" rtl="0" algn="l">
              <a:spcBef>
                <a:spcPts val="0"/>
              </a:spcBef>
              <a:spcAft>
                <a:spcPts val="0"/>
              </a:spcAft>
              <a:buNone/>
            </a:pPr>
            <a:r>
              <a:rPr lang="en-GB" sz="2400">
                <a:solidFill>
                  <a:srgbClr val="666666"/>
                </a:solidFill>
              </a:rPr>
              <a:t>=&gt; :a a :GrandChild. ?? - </a:t>
            </a:r>
            <a:r>
              <a:rPr lang="en-GB" sz="2400">
                <a:solidFill>
                  <a:srgbClr val="1155CC"/>
                </a:solidFill>
              </a:rPr>
              <a:t>Có theo lý thuyết</a:t>
            </a:r>
            <a:endParaRPr sz="2400">
              <a:solidFill>
                <a:srgbClr val="1155CC"/>
              </a:solidFill>
            </a:endParaRPr>
          </a:p>
          <a:p>
            <a:pPr indent="0" lvl="0" marL="0" rtl="0" algn="l">
              <a:spcBef>
                <a:spcPts val="0"/>
              </a:spcBef>
              <a:spcAft>
                <a:spcPts val="0"/>
              </a:spcAft>
              <a:buNone/>
            </a:pPr>
            <a:r>
              <a:rPr lang="en-GB" sz="2400">
                <a:solidFill>
                  <a:srgbClr val="666666"/>
                </a:solidFill>
              </a:rPr>
              <a:t>=&gt; :</a:t>
            </a:r>
            <a:r>
              <a:rPr lang="en-GB" sz="2400">
                <a:solidFill>
                  <a:srgbClr val="666666"/>
                </a:solidFill>
              </a:rPr>
              <a:t>b a :Human. ??</a:t>
            </a:r>
            <a:endParaRPr sz="2400">
              <a:solidFill>
                <a:srgbClr val="666666"/>
              </a:solidFill>
            </a:endParaRPr>
          </a:p>
          <a:p>
            <a:pPr indent="0" lvl="0" marL="0" rtl="0" algn="l">
              <a:spcBef>
                <a:spcPts val="0"/>
              </a:spcBef>
              <a:spcAft>
                <a:spcPts val="0"/>
              </a:spcAft>
              <a:buNone/>
            </a:pPr>
            <a:r>
              <a:t/>
            </a:r>
            <a:endParaRPr sz="2400">
              <a:solidFill>
                <a:srgbClr val="666666"/>
              </a:solidFill>
            </a:endParaRPr>
          </a:p>
          <a:p>
            <a:pPr indent="0" lvl="0" marL="0" rtl="0" algn="l">
              <a:spcBef>
                <a:spcPts val="0"/>
              </a:spcBef>
              <a:spcAft>
                <a:spcPts val="0"/>
              </a:spcAft>
              <a:buNone/>
            </a:pPr>
            <a:r>
              <a:rPr lang="en-GB" sz="2400">
                <a:solidFill>
                  <a:srgbClr val="666666"/>
                </a:solidFill>
              </a:rPr>
              <a:t>!Th</a:t>
            </a:r>
            <a:r>
              <a:rPr lang="en-GB" sz="2400">
                <a:solidFill>
                  <a:srgbClr val="666666"/>
                </a:solidFill>
              </a:rPr>
              <a:t>ử nghiệm suy diễn với Apache Jena Fuseki.</a:t>
            </a:r>
            <a:endParaRPr sz="2400">
              <a:solidFill>
                <a:srgbClr val="666666"/>
              </a:solidFill>
            </a:endParaRPr>
          </a:p>
        </p:txBody>
      </p:sp>
      <p:sp>
        <p:nvSpPr>
          <p:cNvPr id="754" name="Google Shape;754;p96"/>
          <p:cNvSpPr txBox="1"/>
          <p:nvPr/>
        </p:nvSpPr>
        <p:spPr>
          <a:xfrm>
            <a:off x="305725" y="1571000"/>
            <a:ext cx="7058100" cy="12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Human </a:t>
            </a:r>
            <a:r>
              <a:rPr lang="en-GB" sz="2400">
                <a:solidFill>
                  <a:srgbClr val="666666"/>
                </a:solidFill>
              </a:rPr>
              <a:t>⊑ ∃hasMother.Human</a:t>
            </a:r>
            <a:endParaRPr sz="2400">
              <a:solidFill>
                <a:srgbClr val="666666"/>
              </a:solidFill>
            </a:endParaRPr>
          </a:p>
          <a:p>
            <a:pPr indent="0" lvl="0" marL="0" rtl="0" algn="l">
              <a:spcBef>
                <a:spcPts val="0"/>
              </a:spcBef>
              <a:spcAft>
                <a:spcPts val="0"/>
              </a:spcAft>
              <a:buNone/>
            </a:pPr>
            <a:r>
              <a:rPr lang="en-GB" sz="2400">
                <a:solidFill>
                  <a:srgbClr val="666666"/>
                </a:solidFill>
              </a:rPr>
              <a:t>∃hasMother.(∃hasMother.Human) ⊑ GrandChild</a:t>
            </a:r>
            <a:endParaRPr sz="2400">
              <a:solidFill>
                <a:srgbClr val="666666"/>
              </a:solidFill>
            </a:endParaRPr>
          </a:p>
          <a:p>
            <a:pPr indent="0" lvl="0" marL="0" rtl="0" algn="l">
              <a:spcBef>
                <a:spcPts val="0"/>
              </a:spcBef>
              <a:spcAft>
                <a:spcPts val="0"/>
              </a:spcAft>
              <a:buNone/>
            </a:pPr>
            <a:r>
              <a:rPr lang="en-GB" sz="2400">
                <a:solidFill>
                  <a:srgbClr val="666666"/>
                </a:solidFill>
              </a:rPr>
              <a:t>Human(anupriyaAnkolekar)</a:t>
            </a:r>
            <a:endParaRPr sz="2400">
              <a:solidFill>
                <a:srgbClr val="666666"/>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97"/>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r>
              <a:rPr baseline="-25000" lang="en-GB"/>
              <a:t>(</a:t>
            </a:r>
            <a:r>
              <a:rPr baseline="-25000" lang="en-GB"/>
              <a:t>4)</a:t>
            </a:r>
            <a:endParaRPr baseline="-25000"/>
          </a:p>
        </p:txBody>
      </p:sp>
      <p:sp>
        <p:nvSpPr>
          <p:cNvPr id="760" name="Google Shape;760;p9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61" name="Google Shape;761;p97"/>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@prefix owl: &lt;http://www.w3.org/2002/07/owl#&gt;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 &lt;http://www.w3.org/1999/02/22-rdf-syntax-ns#&gt;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rdfs: &lt;http://www.w3.org/2000/01/rdf-schema#&gt;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 &lt;http://semweb.edu.vn/human#&gt;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:Human rdfs:subClassOf [a owl:Restriction;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a:t>
            </a:r>
            <a:r>
              <a:rPr lang="en-GB" sz="1600">
                <a:solidFill>
                  <a:srgbClr val="F1C232"/>
                </a:solidFill>
              </a:rPr>
              <a:t>owl:someValuesFrom</a:t>
            </a:r>
            <a:r>
              <a:rPr lang="en-GB" sz="1600">
                <a:solidFill>
                  <a:schemeClr val="dk1"/>
                </a:solidFill>
              </a:rPr>
              <a:t> :Human].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owl:Restriction;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owl:allValuesFrom [a owl:Restriction; owl:onProperty :hasMother; owl:allValuesFrom :Human]] rdfs:subClassOf :GrandChild.</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:AnupriyaAnkolekar a :Human.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:hasMother :b.</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:b :hasMother :c.</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:c a :Woman.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:Woman rdfs:subClassOf :Human.</a:t>
            </a:r>
            <a:endParaRPr sz="1600">
              <a:solidFill>
                <a:schemeClr val="dk1"/>
              </a:solidFill>
            </a:endParaRPr>
          </a:p>
          <a:p>
            <a:pPr indent="0" lvl="0" marL="0" rtl="0" algn="l">
              <a:spcBef>
                <a:spcPts val="0"/>
              </a:spcBef>
              <a:spcAft>
                <a:spcPts val="0"/>
              </a:spcAft>
              <a:buNone/>
            </a:pPr>
            <a:r>
              <a:t/>
            </a:r>
            <a:endParaRPr sz="1600"/>
          </a:p>
        </p:txBody>
      </p:sp>
      <p:sp>
        <p:nvSpPr>
          <p:cNvPr id="762" name="Google Shape;762;p97"/>
          <p:cNvSpPr txBox="1"/>
          <p:nvPr/>
        </p:nvSpPr>
        <p:spPr>
          <a:xfrm>
            <a:off x="443425" y="6045475"/>
            <a:ext cx="8135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Hạn chế về khả năng xử lý someValuesFrom của Fuseki?</a:t>
            </a:r>
            <a:endParaRPr i="1" sz="2400">
              <a:solidFill>
                <a:srgbClr val="1155CC"/>
              </a:solidFill>
            </a:endParaRPr>
          </a:p>
        </p:txBody>
      </p:sp>
      <p:sp>
        <p:nvSpPr>
          <p:cNvPr id="763" name="Google Shape;763;p97"/>
          <p:cNvSpPr txBox="1"/>
          <p:nvPr/>
        </p:nvSpPr>
        <p:spPr>
          <a:xfrm>
            <a:off x="4998675" y="2415375"/>
            <a:ext cx="3328500" cy="8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F1C232"/>
                </a:solidFill>
              </a:rPr>
              <a:t>Vì sao tạo thành vòng lặp vô hạn?</a:t>
            </a:r>
            <a:endParaRPr i="1" sz="2400">
              <a:solidFill>
                <a:srgbClr val="F1C232"/>
              </a:solidFill>
            </a:endParaRPr>
          </a:p>
        </p:txBody>
      </p:sp>
      <p:cxnSp>
        <p:nvCxnSpPr>
          <p:cNvPr id="764" name="Google Shape;764;p97"/>
          <p:cNvCxnSpPr>
            <a:stCxn id="763" idx="1"/>
          </p:cNvCxnSpPr>
          <p:nvPr/>
        </p:nvCxnSpPr>
        <p:spPr>
          <a:xfrm flipH="1">
            <a:off x="3699675" y="2842725"/>
            <a:ext cx="1299000" cy="109800"/>
          </a:xfrm>
          <a:prstGeom prst="straightConnector1">
            <a:avLst/>
          </a:prstGeom>
          <a:noFill/>
          <a:ln cap="flat" cmpd="sng" w="9525">
            <a:solidFill>
              <a:srgbClr val="0B5394"/>
            </a:solidFill>
            <a:prstDash val="dash"/>
            <a:round/>
            <a:headEnd len="med" w="med" type="none"/>
            <a:tailEnd len="med" w="med" type="non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8"/>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r>
              <a:rPr baseline="-25000" lang="en-GB"/>
              <a:t>(</a:t>
            </a:r>
            <a:r>
              <a:rPr baseline="-25000" lang="en-GB"/>
              <a:t>5)</a:t>
            </a:r>
            <a:endParaRPr baseline="-25000"/>
          </a:p>
        </p:txBody>
      </p:sp>
      <p:sp>
        <p:nvSpPr>
          <p:cNvPr id="770" name="Google Shape;770;p9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1" name="Google Shape;771;p98"/>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@prefix owl: &lt;http://www.w3.org/2002/07/owl#&gt;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 &lt;http://www.w3.org/1999/02/22-rdf-syntax-ns#&gt;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rdfs: &lt;http://www.w3.org/2000/01/rdf-schema#&gt;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 &lt;http://semweb.edu.vn/human#&gt;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owl:Restriction;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a:t>
            </a:r>
            <a:r>
              <a:rPr lang="en-GB" sz="1600">
                <a:solidFill>
                  <a:srgbClr val="3C78D8"/>
                </a:solidFill>
              </a:rPr>
              <a:t>owl:</a:t>
            </a:r>
            <a:r>
              <a:rPr lang="en-GB" sz="1600">
                <a:solidFill>
                  <a:srgbClr val="3C78D8"/>
                </a:solidFill>
              </a:rPr>
              <a:t>some</a:t>
            </a:r>
            <a:r>
              <a:rPr lang="en-GB" sz="1600">
                <a:solidFill>
                  <a:srgbClr val="3C78D8"/>
                </a:solidFill>
              </a:rPr>
              <a:t>ValuesFrom</a:t>
            </a:r>
            <a:r>
              <a:rPr lang="en-GB" sz="1600">
                <a:solidFill>
                  <a:schemeClr val="dk1"/>
                </a:solidFill>
              </a:rPr>
              <a:t> :Human] </a:t>
            </a:r>
            <a:r>
              <a:rPr lang="en-GB" sz="1600">
                <a:solidFill>
                  <a:schemeClr val="dk1"/>
                </a:solidFill>
              </a:rPr>
              <a:t>rdfs:subClassOf  :Human</a:t>
            </a:r>
            <a:r>
              <a:rPr lang="en-GB"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owl:Restriction;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owl:allValuesFrom [a owl:Restriction; owl:onProperty :hasMother; owl:allValuesFrom :Human]] rdfs:subClassOf :GrandChild.</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:AnupriyaAnkolekar a :Human.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:hasMother :b.</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:b :hasMother :c.</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:c a :Woman.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:Woman rdfs:subClassOf :Human.</a:t>
            </a:r>
            <a:endParaRPr sz="1600">
              <a:solidFill>
                <a:schemeClr val="dk1"/>
              </a:solidFill>
            </a:endParaRPr>
          </a:p>
          <a:p>
            <a:pPr indent="0" lvl="0" marL="0" rtl="0" algn="l">
              <a:spcBef>
                <a:spcPts val="0"/>
              </a:spcBef>
              <a:spcAft>
                <a:spcPts val="0"/>
              </a:spcAft>
              <a:buNone/>
            </a:pPr>
            <a:r>
              <a:t/>
            </a:r>
            <a:endParaRPr sz="1600"/>
          </a:p>
        </p:txBody>
      </p:sp>
      <p:sp>
        <p:nvSpPr>
          <p:cNvPr id="772" name="Google Shape;772;p98"/>
          <p:cNvSpPr txBox="1"/>
          <p:nvPr/>
        </p:nvSpPr>
        <p:spPr>
          <a:xfrm>
            <a:off x="4382200" y="4691700"/>
            <a:ext cx="4196400" cy="18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:b a :Human.</a:t>
            </a:r>
            <a:endParaRPr i="1" sz="2400">
              <a:solidFill>
                <a:srgbClr val="1155CC"/>
              </a:solidFill>
            </a:endParaRPr>
          </a:p>
          <a:p>
            <a:pPr indent="0" lvl="0" marL="0" rtl="0" algn="l">
              <a:spcBef>
                <a:spcPts val="0"/>
              </a:spcBef>
              <a:spcAft>
                <a:spcPts val="0"/>
              </a:spcAft>
              <a:buNone/>
            </a:pPr>
            <a:r>
              <a:rPr i="1" lang="en-GB" sz="2400">
                <a:solidFill>
                  <a:srgbClr val="1155CC"/>
                </a:solidFill>
              </a:rPr>
              <a:t>:a a :GrandChild.</a:t>
            </a:r>
            <a:endParaRPr i="1" sz="2400">
              <a:solidFill>
                <a:srgbClr val="1155CC"/>
              </a:solidFill>
            </a:endParaRPr>
          </a:p>
        </p:txBody>
      </p:sp>
      <p:sp>
        <p:nvSpPr>
          <p:cNvPr id="773" name="Google Shape;773;p98"/>
          <p:cNvSpPr txBox="1"/>
          <p:nvPr/>
        </p:nvSpPr>
        <p:spPr>
          <a:xfrm>
            <a:off x="4998675" y="2186775"/>
            <a:ext cx="3579900" cy="8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Vì sao không tạo</a:t>
            </a:r>
            <a:r>
              <a:rPr i="1" lang="en-GB" sz="2400">
                <a:solidFill>
                  <a:srgbClr val="1155CC"/>
                </a:solidFill>
              </a:rPr>
              <a:t> thành vòng lặp vô hạn?</a:t>
            </a:r>
            <a:endParaRPr i="1" sz="2400">
              <a:solidFill>
                <a:srgbClr val="1155CC"/>
              </a:solidFill>
            </a:endParaRPr>
          </a:p>
        </p:txBody>
      </p:sp>
      <p:cxnSp>
        <p:nvCxnSpPr>
          <p:cNvPr id="774" name="Google Shape;774;p98"/>
          <p:cNvCxnSpPr>
            <a:stCxn id="773" idx="1"/>
          </p:cNvCxnSpPr>
          <p:nvPr/>
        </p:nvCxnSpPr>
        <p:spPr>
          <a:xfrm flipH="1">
            <a:off x="3556575" y="2614125"/>
            <a:ext cx="1442100" cy="283200"/>
          </a:xfrm>
          <a:prstGeom prst="straightConnector1">
            <a:avLst/>
          </a:prstGeom>
          <a:noFill/>
          <a:ln cap="flat" cmpd="sng" w="9525">
            <a:solidFill>
              <a:srgbClr val="0B5394"/>
            </a:solidFill>
            <a:prstDash val="dash"/>
            <a:round/>
            <a:headEnd len="med" w="med" type="none"/>
            <a:tailEnd len="med" w="med" type="non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99"/>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tập 6.2</a:t>
            </a:r>
            <a:r>
              <a:rPr baseline="-25000" lang="en-GB"/>
              <a:t>(6)</a:t>
            </a:r>
            <a:endParaRPr baseline="-25000"/>
          </a:p>
        </p:txBody>
      </p:sp>
      <p:sp>
        <p:nvSpPr>
          <p:cNvPr id="780" name="Google Shape;780;p9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1" name="Google Shape;781;p99"/>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@prefix owl: &lt;http://www.w3.org/2002/07/owl#&gt;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 &lt;http://www.w3.org/1999/02/22-rdf-syntax-ns#&gt;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rdfs: &lt;http://www.w3.org/2000/01/rdf-schema#&gt;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@prefix : &lt;http://semweb.edu.vn/human#&gt;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:Human rdfs:subClassOf [a owl:Restriction;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owl:someValuesFrom :Human].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owl:Restriction; owl:onProperty :hasMother;</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 owl:someValuesFrom [a owl:Restriction; owl:onProperty :hasMother; owl:someValuesFrom :Human]] </a:t>
            </a:r>
            <a:r>
              <a:rPr lang="en-GB" sz="1600">
                <a:solidFill>
                  <a:schemeClr val="dk1"/>
                </a:solidFill>
              </a:rPr>
              <a:t> rdfs:subClassOf :GrandChild.</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:AnupriyaAnkolekar a :Human.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:a :hasMother :b.</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:b :hasMother :c.</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:c a :Woman.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:Woman rdfs:subClassOf :Human.</a:t>
            </a:r>
            <a:endParaRPr sz="1600">
              <a:solidFill>
                <a:schemeClr val="dk1"/>
              </a:solidFill>
            </a:endParaRPr>
          </a:p>
          <a:p>
            <a:pPr indent="0" lvl="0" marL="0" rtl="0" algn="l">
              <a:spcBef>
                <a:spcPts val="0"/>
              </a:spcBef>
              <a:spcAft>
                <a:spcPts val="0"/>
              </a:spcAft>
              <a:buNone/>
            </a:pPr>
            <a:r>
              <a:t/>
            </a:r>
            <a:endParaRPr sz="1600"/>
          </a:p>
        </p:txBody>
      </p:sp>
      <p:sp>
        <p:nvSpPr>
          <p:cNvPr id="782" name="Google Shape;782;p99"/>
          <p:cNvSpPr txBox="1"/>
          <p:nvPr/>
        </p:nvSpPr>
        <p:spPr>
          <a:xfrm>
            <a:off x="443425" y="6045475"/>
            <a:ext cx="8135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Thử suy diễn với Fuseki?</a:t>
            </a:r>
            <a:endParaRPr i="1" sz="2400">
              <a:solidFill>
                <a:srgbClr val="1155CC"/>
              </a:solidFill>
            </a:endParaRPr>
          </a:p>
        </p:txBody>
      </p:sp>
      <p:sp>
        <p:nvSpPr>
          <p:cNvPr id="783" name="Google Shape;783;p99"/>
          <p:cNvSpPr txBox="1"/>
          <p:nvPr/>
        </p:nvSpPr>
        <p:spPr>
          <a:xfrm>
            <a:off x="3711525" y="4426525"/>
            <a:ext cx="5017800" cy="14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BF9000"/>
                </a:solidFill>
              </a:rPr>
              <a:t>allValuesFrom được hỗ trợ 1 phần, theo chiều tiến - không có kết quả suy diễn :b a :Human trong Fuseki.</a:t>
            </a:r>
            <a:endParaRPr sz="2400">
              <a:solidFill>
                <a:srgbClr val="BF9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00"/>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6.2</a:t>
            </a:r>
            <a:r>
              <a:rPr baseline="-25000" lang="en-GB"/>
              <a:t>(</a:t>
            </a:r>
            <a:r>
              <a:rPr baseline="-25000" lang="en-GB"/>
              <a:t>7)</a:t>
            </a:r>
            <a:endParaRPr baseline="-25000"/>
          </a:p>
        </p:txBody>
      </p:sp>
      <p:sp>
        <p:nvSpPr>
          <p:cNvPr id="789" name="Google Shape;789;p10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0" name="Google Shape;790;p100"/>
          <p:cNvSpPr txBox="1"/>
          <p:nvPr>
            <p:ph idx="4294967295"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rPr>
              <a:t>@prefix owl: &lt;http://www.w3.org/2002/07/owl#&gt; .</a:t>
            </a:r>
            <a:endParaRPr sz="1600">
              <a:solidFill>
                <a:schemeClr val="dk1"/>
              </a:solidFill>
            </a:endParaRPr>
          </a:p>
          <a:p>
            <a:pPr indent="0" lvl="0" marL="0" rtl="0" algn="l">
              <a:spcBef>
                <a:spcPts val="0"/>
              </a:spcBef>
              <a:spcAft>
                <a:spcPts val="0"/>
              </a:spcAft>
              <a:buNone/>
            </a:pPr>
            <a:r>
              <a:rPr lang="en-GB" sz="1600">
                <a:solidFill>
                  <a:schemeClr val="dk1"/>
                </a:solidFill>
              </a:rPr>
              <a:t>@prefix rdf: &lt;http://www.w3.org/1999/02/22-rdf-syntax-ns#&gt; .</a:t>
            </a:r>
            <a:endParaRPr sz="1600">
              <a:solidFill>
                <a:schemeClr val="dk1"/>
              </a:solidFill>
            </a:endParaRPr>
          </a:p>
          <a:p>
            <a:pPr indent="0" lvl="0" marL="0" rtl="0" algn="l">
              <a:spcBef>
                <a:spcPts val="0"/>
              </a:spcBef>
              <a:spcAft>
                <a:spcPts val="0"/>
              </a:spcAft>
              <a:buNone/>
            </a:pPr>
            <a:r>
              <a:rPr lang="en-GB" sz="1600">
                <a:solidFill>
                  <a:schemeClr val="dk1"/>
                </a:solidFill>
              </a:rPr>
              <a:t>@prefix rdfs: &lt;http://www.w3.org/2000/01/rdf-schema#&gt; .</a:t>
            </a:r>
            <a:endParaRPr sz="1600">
              <a:solidFill>
                <a:schemeClr val="dk1"/>
              </a:solidFill>
            </a:endParaRPr>
          </a:p>
          <a:p>
            <a:pPr indent="0" lvl="0" marL="0" rtl="0" algn="l">
              <a:spcBef>
                <a:spcPts val="0"/>
              </a:spcBef>
              <a:spcAft>
                <a:spcPts val="0"/>
              </a:spcAft>
              <a:buNone/>
            </a:pPr>
            <a:r>
              <a:rPr lang="en-GB" sz="1600">
                <a:solidFill>
                  <a:schemeClr val="dk1"/>
                </a:solidFill>
              </a:rPr>
              <a:t>@prefix : &lt;http://semweb.edu.vn/human#&gt;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GB" sz="1600">
                <a:solidFill>
                  <a:schemeClr val="dk1"/>
                </a:solidFill>
              </a:rPr>
              <a:t>:Human owl:equivalentClass [a owl:Restriction;</a:t>
            </a:r>
            <a:endParaRPr sz="1600">
              <a:solidFill>
                <a:schemeClr val="dk1"/>
              </a:solidFill>
            </a:endParaRPr>
          </a:p>
          <a:p>
            <a:pPr indent="0" lvl="0" marL="0" rtl="0" algn="l">
              <a:spcBef>
                <a:spcPts val="0"/>
              </a:spcBef>
              <a:spcAft>
                <a:spcPts val="0"/>
              </a:spcAft>
              <a:buNone/>
            </a:pPr>
            <a:r>
              <a:rPr lang="en-GB" sz="1600">
                <a:solidFill>
                  <a:schemeClr val="dk1"/>
                </a:solidFill>
              </a:rPr>
              <a:t>      owl:onProperty :hasMother;</a:t>
            </a:r>
            <a:endParaRPr sz="1600">
              <a:solidFill>
                <a:schemeClr val="dk1"/>
              </a:solidFill>
            </a:endParaRPr>
          </a:p>
          <a:p>
            <a:pPr indent="0" lvl="0" marL="0" rtl="0" algn="l">
              <a:spcBef>
                <a:spcPts val="0"/>
              </a:spcBef>
              <a:spcAft>
                <a:spcPts val="0"/>
              </a:spcAft>
              <a:buNone/>
            </a:pPr>
            <a:r>
              <a:rPr lang="en-GB" sz="1600">
                <a:solidFill>
                  <a:schemeClr val="dk1"/>
                </a:solidFill>
              </a:rPr>
              <a:t>      owl:allValuesFrom :Human].</a:t>
            </a:r>
            <a:endParaRPr sz="1600">
              <a:solidFill>
                <a:schemeClr val="dk1"/>
              </a:solidFill>
            </a:endParaRPr>
          </a:p>
          <a:p>
            <a:pPr indent="0" lvl="0" marL="0" rtl="0" algn="l">
              <a:spcBef>
                <a:spcPts val="0"/>
              </a:spcBef>
              <a:spcAft>
                <a:spcPts val="0"/>
              </a:spcAft>
              <a:buNone/>
            </a:pPr>
            <a:r>
              <a:rPr lang="en-GB" sz="1600">
                <a:solidFill>
                  <a:schemeClr val="dk1"/>
                </a:solidFill>
              </a:rPr>
              <a:t>:a :hasMother :b.</a:t>
            </a:r>
            <a:endParaRPr sz="1600">
              <a:solidFill>
                <a:schemeClr val="dk1"/>
              </a:solidFill>
            </a:endParaRPr>
          </a:p>
          <a:p>
            <a:pPr indent="0" lvl="0" marL="0" rtl="0" algn="l">
              <a:spcBef>
                <a:spcPts val="0"/>
              </a:spcBef>
              <a:spcAft>
                <a:spcPts val="0"/>
              </a:spcAft>
              <a:buNone/>
            </a:pPr>
            <a:r>
              <a:rPr lang="en-GB" sz="1600">
                <a:solidFill>
                  <a:schemeClr val="dk1"/>
                </a:solidFill>
              </a:rPr>
              <a:t>:a a :Human.</a:t>
            </a:r>
            <a:endParaRPr sz="1600">
              <a:solidFill>
                <a:schemeClr val="dk1"/>
              </a:solidFill>
            </a:endParaRPr>
          </a:p>
          <a:p>
            <a:pPr indent="0" lvl="0" marL="0" rtl="0" algn="l">
              <a:spcBef>
                <a:spcPts val="0"/>
              </a:spcBef>
              <a:spcAft>
                <a:spcPts val="0"/>
              </a:spcAft>
              <a:buNone/>
            </a:pPr>
            <a:r>
              <a:rPr lang="en-GB" sz="1600">
                <a:solidFill>
                  <a:schemeClr val="dk1"/>
                </a:solidFill>
              </a:rPr>
              <a:t>:c :hasMother :d.</a:t>
            </a:r>
            <a:endParaRPr sz="1600">
              <a:solidFill>
                <a:schemeClr val="dk1"/>
              </a:solidFill>
            </a:endParaRPr>
          </a:p>
          <a:p>
            <a:pPr indent="0" lvl="0" marL="0" rtl="0" algn="l">
              <a:spcBef>
                <a:spcPts val="0"/>
              </a:spcBef>
              <a:spcAft>
                <a:spcPts val="0"/>
              </a:spcAft>
              <a:buNone/>
            </a:pPr>
            <a:r>
              <a:rPr lang="en-GB" sz="1600">
                <a:solidFill>
                  <a:schemeClr val="dk1"/>
                </a:solidFill>
              </a:rPr>
              <a:t>:d a :Human.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rPr lang="en-GB" sz="1600">
                <a:solidFill>
                  <a:schemeClr val="dk1"/>
                </a:solidFill>
              </a:rPr>
              <a:t>Suy diễn được :b a :Human.  ⇒ Suy diễn tiến</a:t>
            </a:r>
            <a:endParaRPr sz="1600">
              <a:solidFill>
                <a:schemeClr val="dk1"/>
              </a:solidFill>
            </a:endParaRPr>
          </a:p>
          <a:p>
            <a:pPr indent="0" lvl="0" marL="0" rtl="0" algn="l">
              <a:spcBef>
                <a:spcPts val="0"/>
              </a:spcBef>
              <a:spcAft>
                <a:spcPts val="0"/>
              </a:spcAft>
              <a:buNone/>
            </a:pPr>
            <a:r>
              <a:rPr lang="en-GB" sz="1600">
                <a:solidFill>
                  <a:schemeClr val="dk1"/>
                </a:solidFill>
              </a:rPr>
              <a:t>Fuseki không suy diễn :c a :Human.</a:t>
            </a:r>
            <a:endParaRPr sz="1600">
              <a:solidFill>
                <a:schemeClr val="dk1"/>
              </a:solidFill>
            </a:endParaRPr>
          </a:p>
        </p:txBody>
      </p:sp>
      <p:sp>
        <p:nvSpPr>
          <p:cNvPr id="791" name="Google Shape;791;p100"/>
          <p:cNvSpPr txBox="1"/>
          <p:nvPr/>
        </p:nvSpPr>
        <p:spPr>
          <a:xfrm>
            <a:off x="443425" y="6045475"/>
            <a:ext cx="8135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Thử suy diễn với Fuseki?</a:t>
            </a:r>
            <a:endParaRPr i="1" sz="2400">
              <a:solidFill>
                <a:srgbClr val="1155CC"/>
              </a:solidFill>
            </a:endParaRPr>
          </a:p>
        </p:txBody>
      </p:sp>
      <p:sp>
        <p:nvSpPr>
          <p:cNvPr id="792" name="Google Shape;792;p100"/>
          <p:cNvSpPr txBox="1"/>
          <p:nvPr/>
        </p:nvSpPr>
        <p:spPr>
          <a:xfrm>
            <a:off x="3711525" y="3740725"/>
            <a:ext cx="5017800" cy="14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BF9000"/>
                </a:solidFill>
              </a:rPr>
              <a:t>allValuesFrom được hỗ trợ 1 phần, theo chiều tiến - không có kết quả suy diễn :b a :Human trong Fuseki.</a:t>
            </a:r>
            <a:endParaRPr sz="2400">
              <a:solidFill>
                <a:srgbClr val="BF9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01"/>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tập 6.3 </a:t>
            </a:r>
            <a:endParaRPr/>
          </a:p>
        </p:txBody>
      </p:sp>
      <p:sp>
        <p:nvSpPr>
          <p:cNvPr id="798" name="Google Shape;798;p10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9" name="Google Shape;799;p101"/>
          <p:cNvSpPr txBox="1"/>
          <p:nvPr/>
        </p:nvSpPr>
        <p:spPr>
          <a:xfrm>
            <a:off x="311700" y="1052074"/>
            <a:ext cx="8520600" cy="503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666666"/>
                </a:solidFill>
              </a:rPr>
              <a:t>:Person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:eats rdfs:domain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rdfs:range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:Maverick :eats :Steak.</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:Jen a :Vegetarian;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:eats :Marzipan.</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Clr>
                <a:schemeClr val="dk1"/>
              </a:buClr>
              <a:buSzPts val="1100"/>
              <a:buFont typeface="Arial"/>
              <a:buNone/>
            </a:pPr>
            <a:r>
              <a:rPr lang="en-GB" sz="1800">
                <a:solidFill>
                  <a:srgbClr val="666666"/>
                </a:solidFill>
              </a:rPr>
              <a:t>a</a:t>
            </a:r>
            <a:r>
              <a:rPr lang="en-GB" sz="1800">
                <a:solidFill>
                  <a:srgbClr val="666666"/>
                </a:solidFill>
              </a:rPr>
              <a:t>) Chuyển sang DL.</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b</a:t>
            </a:r>
            <a:r>
              <a:rPr lang="en-GB" sz="1800">
                <a:solidFill>
                  <a:srgbClr val="666666"/>
                </a:solidFill>
              </a:rPr>
              <a:t>) </a:t>
            </a:r>
            <a:r>
              <a:rPr lang="en-GB" sz="1800">
                <a:solidFill>
                  <a:srgbClr val="666666"/>
                </a:solidFill>
              </a:rPr>
              <a:t>Hãy bổ xung các mô tả dựa trên </a:t>
            </a:r>
            <a:r>
              <a:rPr lang="en-GB" sz="1800">
                <a:solidFill>
                  <a:srgbClr val="666666"/>
                </a:solidFill>
              </a:rPr>
              <a:t>OWL</a:t>
            </a:r>
            <a:r>
              <a:rPr lang="en-GB" sz="1800">
                <a:solidFill>
                  <a:srgbClr val="666666"/>
                </a:solidFill>
              </a:rPr>
              <a:t> để có thể suy ra :Marzipan là :VegetarianFood, nhưng :Steak thì không?</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c) </a:t>
            </a:r>
            <a:r>
              <a:rPr lang="en-GB" sz="1800">
                <a:solidFill>
                  <a:srgbClr val="666666"/>
                </a:solidFill>
              </a:rPr>
              <a:t>Thử nghiệm suy diễn với Apache Jena Fuseki</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2"/>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6.3 </a:t>
            </a:r>
            <a:endParaRPr/>
          </a:p>
        </p:txBody>
      </p:sp>
      <p:sp>
        <p:nvSpPr>
          <p:cNvPr id="805" name="Google Shape;805;p10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6" name="Google Shape;806;p102"/>
          <p:cNvSpPr txBox="1"/>
          <p:nvPr/>
        </p:nvSpPr>
        <p:spPr>
          <a:xfrm>
            <a:off x="311700" y="1052074"/>
            <a:ext cx="8520600" cy="503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666666"/>
                </a:solidFill>
              </a:rPr>
              <a:t>:Person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:eats rdfs:domain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rdfs:range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:Maverick :eats :Steak.</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:Jen a :Vegetarian;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:eats :Marzipan.</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Clr>
                <a:schemeClr val="dk1"/>
              </a:buClr>
              <a:buSzPts val="1100"/>
              <a:buFont typeface="Arial"/>
              <a:buNone/>
            </a:pPr>
            <a:r>
              <a:rPr lang="en-GB" sz="1800">
                <a:solidFill>
                  <a:srgbClr val="666666"/>
                </a:solidFill>
              </a:rPr>
              <a:t>b) Hãy bổ xung các mô tả dựa trên owl để có thể suy ra :Marzipan là :VegetarianFood, nhưng :Steak thì không?</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p:txBody>
      </p:sp>
      <p:sp>
        <p:nvSpPr>
          <p:cNvPr id="807" name="Google Shape;807;p102"/>
          <p:cNvSpPr txBox="1"/>
          <p:nvPr/>
        </p:nvSpPr>
        <p:spPr>
          <a:xfrm>
            <a:off x="4254550" y="1039975"/>
            <a:ext cx="4464600" cy="364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666666"/>
                </a:solidFill>
              </a:rPr>
              <a:t>a) Chuyển sang DL.</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∃eats.T </a:t>
            </a:r>
            <a:r>
              <a:rPr lang="en-GB" sz="1800">
                <a:solidFill>
                  <a:srgbClr val="666666"/>
                </a:solidFill>
              </a:rPr>
              <a:t> ⊑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T  ⊑ ∀eats.Food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 ⊑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VegetarianFood ⊑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Vegetarian(Jen)</a:t>
            </a:r>
            <a:endParaRPr sz="1800">
              <a:solidFill>
                <a:srgbClr val="666666"/>
              </a:solidFill>
            </a:endParaRPr>
          </a:p>
          <a:p>
            <a:pPr indent="0" lvl="0" marL="0" rtl="0" algn="l">
              <a:lnSpc>
                <a:spcPct val="115000"/>
              </a:lnSpc>
              <a:spcBef>
                <a:spcPts val="0"/>
              </a:spcBef>
              <a:spcAft>
                <a:spcPts val="0"/>
              </a:spcAft>
              <a:buClr>
                <a:schemeClr val="dk1"/>
              </a:buClr>
              <a:buSzPts val="1100"/>
              <a:buFont typeface="Arial"/>
              <a:buNone/>
            </a:pPr>
            <a:r>
              <a:rPr lang="en-GB" sz="1800">
                <a:solidFill>
                  <a:srgbClr val="666666"/>
                </a:solidFill>
              </a:rPr>
              <a:t>eats(Jen, Marzipan)</a:t>
            </a:r>
            <a:endParaRPr sz="1800">
              <a:solidFill>
                <a:srgbClr val="666666"/>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0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6.3 </a:t>
            </a:r>
            <a:endParaRPr/>
          </a:p>
        </p:txBody>
      </p:sp>
      <p:sp>
        <p:nvSpPr>
          <p:cNvPr id="813" name="Google Shape;813;p10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14" name="Google Shape;814;p103"/>
          <p:cNvSpPr txBox="1"/>
          <p:nvPr/>
        </p:nvSpPr>
        <p:spPr>
          <a:xfrm>
            <a:off x="311700" y="1052074"/>
            <a:ext cx="8520600" cy="503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666666"/>
                </a:solidFill>
              </a:rPr>
              <a:t>:Person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:eats rdfs:domain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rdfs:range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:Maverick :eats :Steak.</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:Person.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:VegetarianFood a owl:Class;</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rdfs:subClassOf :Food.</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:Jen a :Vegetarian;</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        :eats :Marzipan.</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c) </a:t>
            </a:r>
            <a:r>
              <a:rPr lang="en-GB" sz="1800">
                <a:solidFill>
                  <a:srgbClr val="666666"/>
                </a:solidFill>
              </a:rPr>
              <a:t>Thử nghiệm suy diễn với Apache Jena Fuseki</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p:txBody>
      </p:sp>
      <p:sp>
        <p:nvSpPr>
          <p:cNvPr id="815" name="Google Shape;815;p103"/>
          <p:cNvSpPr txBox="1"/>
          <p:nvPr/>
        </p:nvSpPr>
        <p:spPr>
          <a:xfrm>
            <a:off x="4254550" y="1039975"/>
            <a:ext cx="4464600" cy="364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666666"/>
                </a:solidFill>
              </a:rPr>
              <a:t>b) Hãy bổ xung các mô tả dựa trên owl để có thể suy ra :Marzipan là :VegetarianFood, nhưng :Steak thì không?</a:t>
            </a:r>
            <a:endParaRPr sz="1800">
              <a:solidFill>
                <a:srgbClr val="666666"/>
              </a:solidFill>
            </a:endParaRPr>
          </a:p>
          <a:p>
            <a:pPr indent="0" lvl="0" marL="0" rtl="0" algn="l">
              <a:lnSpc>
                <a:spcPct val="150000"/>
              </a:lnSpc>
              <a:spcBef>
                <a:spcPts val="0"/>
              </a:spcBef>
              <a:spcAft>
                <a:spcPts val="0"/>
              </a:spcAft>
              <a:buNone/>
            </a:pPr>
            <a:r>
              <a:t/>
            </a:r>
            <a:endParaRPr sz="1800">
              <a:solidFill>
                <a:srgbClr val="666666"/>
              </a:solidFill>
            </a:endParaRPr>
          </a:p>
          <a:p>
            <a:pPr indent="0" lvl="0" marL="0" rtl="0" algn="l">
              <a:lnSpc>
                <a:spcPct val="150000"/>
              </a:lnSpc>
              <a:spcBef>
                <a:spcPts val="0"/>
              </a:spcBef>
              <a:spcAft>
                <a:spcPts val="0"/>
              </a:spcAft>
              <a:buNone/>
            </a:pPr>
            <a:r>
              <a:rPr lang="en-GB" sz="1800">
                <a:solidFill>
                  <a:srgbClr val="666666"/>
                </a:solidFill>
              </a:rPr>
              <a:t>:Vegetarian rdfs:subClassOf [a owl:Restriction; owl:onProperty :eats; owl:allValuesFrom :VegetarianFood].</a:t>
            </a:r>
            <a:endParaRPr sz="1800">
              <a:solidFill>
                <a:srgbClr val="666666"/>
              </a:solidFill>
            </a:endParaRPr>
          </a:p>
          <a:p>
            <a:pPr indent="0" lvl="0" marL="0" rtl="0" algn="l">
              <a:lnSpc>
                <a:spcPct val="150000"/>
              </a:lnSpc>
              <a:spcBef>
                <a:spcPts val="0"/>
              </a:spcBef>
              <a:spcAft>
                <a:spcPts val="0"/>
              </a:spcAft>
              <a:buNone/>
            </a:pPr>
            <a:r>
              <a:rPr lang="en-GB" sz="1800">
                <a:solidFill>
                  <a:srgbClr val="666666"/>
                </a:solidFill>
              </a:rPr>
              <a:t>Vegetarian ⊑ ∀eats.VegetarianFood</a:t>
            </a:r>
            <a:endParaRPr sz="1800">
              <a:solidFill>
                <a:srgbClr val="666666"/>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04"/>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tập 6.4 </a:t>
            </a:r>
            <a:endParaRPr/>
          </a:p>
        </p:txBody>
      </p:sp>
      <p:sp>
        <p:nvSpPr>
          <p:cNvPr id="821" name="Google Shape;821;p10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2" name="Google Shape;822;p104"/>
          <p:cNvSpPr txBox="1"/>
          <p:nvPr/>
        </p:nvSpPr>
        <p:spPr>
          <a:xfrm>
            <a:off x="391525" y="1000975"/>
            <a:ext cx="8440800" cy="55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rgbClr val="595959"/>
                </a:solidFill>
              </a:rPr>
              <a:t>1. Tạo Ontology trong phạm vi ngữ nghĩa owl, sử dụng cú</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pháp Turtle dựa trên các mô tả:</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a. Bus Drivers are Drivers who drive buses.</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b. Drivers are people who drive at least one vehicle.</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c. Bus is a subclass of vehicle</a:t>
            </a:r>
            <a:endParaRPr sz="2200">
              <a:solidFill>
                <a:srgbClr val="595959"/>
              </a:solidFill>
            </a:endParaRPr>
          </a:p>
          <a:p>
            <a:pPr indent="0" lvl="0" marL="0" rtl="0" algn="l">
              <a:lnSpc>
                <a:spcPct val="115000"/>
              </a:lnSpc>
              <a:spcBef>
                <a:spcPts val="0"/>
              </a:spcBef>
              <a:spcAft>
                <a:spcPts val="0"/>
              </a:spcAft>
              <a:buNone/>
            </a:pPr>
            <a:r>
              <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Sử dụng các từ sau cho các lớp: BusDriver, Driver, Bus, Vehicle</a:t>
            </a:r>
            <a:endParaRPr sz="2200">
              <a:solidFill>
                <a:srgbClr val="595959"/>
              </a:solidFill>
            </a:endParaRPr>
          </a:p>
          <a:p>
            <a:pPr indent="0" lvl="0" marL="0" rtl="0" algn="l">
              <a:lnSpc>
                <a:spcPct val="115000"/>
              </a:lnSpc>
              <a:spcBef>
                <a:spcPts val="0"/>
              </a:spcBef>
              <a:spcAft>
                <a:spcPts val="0"/>
              </a:spcAft>
              <a:buNone/>
            </a:pPr>
            <a:r>
              <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2. Chuyển Ontology thu được ở 1 sang DL.</a:t>
            </a:r>
            <a:endParaRPr sz="2200">
              <a:solidFill>
                <a:srgbClr val="595959"/>
              </a:solidFill>
            </a:endParaRPr>
          </a:p>
          <a:p>
            <a:pPr indent="0" lvl="0" marL="0" rtl="0" algn="l">
              <a:lnSpc>
                <a:spcPct val="115000"/>
              </a:lnSpc>
              <a:spcBef>
                <a:spcPts val="0"/>
              </a:spcBef>
              <a:spcAft>
                <a:spcPts val="0"/>
              </a:spcAft>
              <a:buNone/>
            </a:pPr>
            <a:r>
              <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3. Hãy tìm 3 bộ 3 có thể suy diễn được từ các dữ kiện</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  :b001 rdf:type :Bus.</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  :NVA :drive :b001.</a:t>
            </a:r>
            <a:endParaRPr sz="2200">
              <a:solidFill>
                <a:srgbClr val="595959"/>
              </a:solidFill>
            </a:endParaRPr>
          </a:p>
          <a:p>
            <a:pPr indent="0" lvl="0" marL="0" rtl="0" algn="l">
              <a:lnSpc>
                <a:spcPct val="115000"/>
              </a:lnSpc>
              <a:spcBef>
                <a:spcPts val="0"/>
              </a:spcBef>
              <a:spcAft>
                <a:spcPts val="0"/>
              </a:spcAft>
              <a:buNone/>
            </a:pPr>
            <a:r>
              <a:rPr lang="en-GB" sz="2200">
                <a:solidFill>
                  <a:srgbClr val="595959"/>
                </a:solidFill>
              </a:rPr>
              <a:t>dựa trên Ontology đã tạo trong 1?</a:t>
            </a:r>
            <a:endParaRPr sz="2200">
              <a:solidFill>
                <a:srgbClr val="595959"/>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5"/>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6.4</a:t>
            </a:r>
            <a:r>
              <a:rPr baseline="-25000" lang="en-GB"/>
              <a:t>(2)</a:t>
            </a:r>
            <a:r>
              <a:rPr lang="en-GB"/>
              <a:t> </a:t>
            </a:r>
            <a:endParaRPr/>
          </a:p>
        </p:txBody>
      </p:sp>
      <p:sp>
        <p:nvSpPr>
          <p:cNvPr id="828" name="Google Shape;828;p10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9" name="Google Shape;829;p105"/>
          <p:cNvSpPr txBox="1"/>
          <p:nvPr/>
        </p:nvSpPr>
        <p:spPr>
          <a:xfrm>
            <a:off x="391525" y="1000975"/>
            <a:ext cx="8440800" cy="55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rgbClr val="595959"/>
                </a:solidFill>
              </a:rPr>
              <a:t>a. Bus Drivers are Drivers who drive buses.</a:t>
            </a:r>
            <a:endParaRPr sz="1800">
              <a:solidFill>
                <a:srgbClr val="595959"/>
              </a:solidFill>
            </a:endParaRPr>
          </a:p>
          <a:p>
            <a:pPr indent="0" lvl="0" marL="0" rtl="0" algn="l">
              <a:lnSpc>
                <a:spcPct val="115000"/>
              </a:lnSpc>
              <a:spcBef>
                <a:spcPts val="0"/>
              </a:spcBef>
              <a:spcAft>
                <a:spcPts val="0"/>
              </a:spcAft>
              <a:buNone/>
            </a:pPr>
            <a:r>
              <a:rPr lang="en-GB" sz="1800">
                <a:solidFill>
                  <a:schemeClr val="dk2"/>
                </a:solidFill>
              </a:rPr>
              <a:t>:BusDriver rdfs:subClassOf :Driver.</a:t>
            </a:r>
            <a:endParaRPr sz="1800">
              <a:solidFill>
                <a:schemeClr val="dk2"/>
              </a:solidFill>
            </a:endParaRPr>
          </a:p>
          <a:p>
            <a:pPr indent="0" lvl="0" marL="0" rtl="0" algn="l">
              <a:lnSpc>
                <a:spcPct val="115000"/>
              </a:lnSpc>
              <a:spcBef>
                <a:spcPts val="0"/>
              </a:spcBef>
              <a:spcAft>
                <a:spcPts val="0"/>
              </a:spcAft>
              <a:buNone/>
            </a:pPr>
            <a:r>
              <a:rPr lang="en-GB" sz="1800">
                <a:solidFill>
                  <a:schemeClr val="dk2"/>
                </a:solidFill>
              </a:rPr>
              <a:t>:BusDriver rdfs:subClassOf [a owl:Restriction; owl:onProperty :drive; owl:someValuesFrom :Bus].</a:t>
            </a:r>
            <a:endParaRPr sz="1800">
              <a:solidFill>
                <a:schemeClr val="dk2"/>
              </a:solidFill>
            </a:endParaRPr>
          </a:p>
          <a:p>
            <a:pPr indent="0" lvl="0" marL="0" rtl="0" algn="l">
              <a:spcBef>
                <a:spcPts val="0"/>
              </a:spcBef>
              <a:spcAft>
                <a:spcPts val="0"/>
              </a:spcAft>
              <a:buClr>
                <a:schemeClr val="dk1"/>
              </a:buClr>
              <a:buSzPts val="1100"/>
              <a:buFont typeface="Arial"/>
              <a:buNone/>
            </a:pPr>
            <a:r>
              <a:rPr lang="en-GB" sz="1800">
                <a:solidFill>
                  <a:srgbClr val="666666"/>
                </a:solidFill>
              </a:rPr>
              <a:t>:BusDriver rdfs:subClassOf [a owl:Restriction; owl:minQualifiedCardinality 1; owl:onProperty :drive;  owl:onClass :Bus].</a:t>
            </a:r>
            <a:endParaRPr sz="1800">
              <a:solidFill>
                <a:schemeClr val="dk2"/>
              </a:solidFill>
            </a:endParaRPr>
          </a:p>
          <a:p>
            <a:pPr indent="0" lvl="0" marL="0" rtl="0" algn="l">
              <a:lnSpc>
                <a:spcPct val="115000"/>
              </a:lnSpc>
              <a:spcBef>
                <a:spcPts val="0"/>
              </a:spcBef>
              <a:spcAft>
                <a:spcPts val="0"/>
              </a:spcAft>
              <a:buNone/>
            </a:pPr>
            <a:r>
              <a:rPr lang="en-GB" sz="1800">
                <a:solidFill>
                  <a:srgbClr val="595959"/>
                </a:solidFill>
              </a:rPr>
              <a:t>b. Drivers are people who drive at least one vehicle.</a:t>
            </a:r>
            <a:endParaRPr sz="1800">
              <a:solidFill>
                <a:srgbClr val="595959"/>
              </a:solidFill>
            </a:endParaRPr>
          </a:p>
          <a:p>
            <a:pPr indent="0" lvl="0" marL="0" rtl="0" algn="l">
              <a:lnSpc>
                <a:spcPct val="115000"/>
              </a:lnSpc>
              <a:spcBef>
                <a:spcPts val="0"/>
              </a:spcBef>
              <a:spcAft>
                <a:spcPts val="0"/>
              </a:spcAft>
              <a:buClr>
                <a:schemeClr val="dk1"/>
              </a:buClr>
              <a:buSzPts val="1100"/>
              <a:buFont typeface="Arial"/>
              <a:buNone/>
            </a:pPr>
            <a:r>
              <a:rPr lang="en-GB" sz="1800">
                <a:solidFill>
                  <a:schemeClr val="dk2"/>
                </a:solidFill>
              </a:rPr>
              <a:t>:Driver rdfs:subClassOf [a owl:Restriction; owl:onProperty :drive; owl:someValuesFrom :Vehicle].</a:t>
            </a:r>
            <a:endParaRPr sz="1800">
              <a:solidFill>
                <a:srgbClr val="595959"/>
              </a:solidFill>
            </a:endParaRPr>
          </a:p>
          <a:p>
            <a:pPr indent="0" lvl="0" marL="0" rtl="0" algn="l">
              <a:lnSpc>
                <a:spcPct val="115000"/>
              </a:lnSpc>
              <a:spcBef>
                <a:spcPts val="0"/>
              </a:spcBef>
              <a:spcAft>
                <a:spcPts val="0"/>
              </a:spcAft>
              <a:buNone/>
            </a:pPr>
            <a:r>
              <a:rPr lang="en-GB" sz="1800">
                <a:solidFill>
                  <a:srgbClr val="595959"/>
                </a:solidFill>
              </a:rPr>
              <a:t>c. Bus is a subclass of vehicle</a:t>
            </a:r>
            <a:endParaRPr sz="1800">
              <a:solidFill>
                <a:srgbClr val="595959"/>
              </a:solidFill>
            </a:endParaRPr>
          </a:p>
          <a:p>
            <a:pPr indent="0" lvl="0" marL="0" rtl="0" algn="l">
              <a:lnSpc>
                <a:spcPct val="115000"/>
              </a:lnSpc>
              <a:spcBef>
                <a:spcPts val="0"/>
              </a:spcBef>
              <a:spcAft>
                <a:spcPts val="0"/>
              </a:spcAft>
              <a:buNone/>
            </a:pPr>
            <a:r>
              <a:rPr lang="en-GB" sz="1800">
                <a:solidFill>
                  <a:schemeClr val="dk2"/>
                </a:solidFill>
              </a:rPr>
              <a:t>:Bus rdfs:subClassOf :Vehicle.</a:t>
            </a:r>
            <a:endParaRPr sz="1800">
              <a:solidFill>
                <a:srgbClr val="595959"/>
              </a:solidFill>
            </a:endParaRPr>
          </a:p>
          <a:p>
            <a:pPr indent="0" lvl="0" marL="0" rtl="0" algn="l">
              <a:lnSpc>
                <a:spcPct val="115000"/>
              </a:lnSpc>
              <a:spcBef>
                <a:spcPts val="0"/>
              </a:spcBef>
              <a:spcAft>
                <a:spcPts val="0"/>
              </a:spcAft>
              <a:buNone/>
            </a:pPr>
            <a:r>
              <a:rPr lang="en-GB" sz="1800">
                <a:solidFill>
                  <a:srgbClr val="B45F06"/>
                </a:solidFill>
              </a:rPr>
              <a:t>2. Chuyển Ontology thu được ở 1 sang DL.</a:t>
            </a:r>
            <a:endParaRPr sz="1800">
              <a:solidFill>
                <a:srgbClr val="B45F06"/>
              </a:solidFill>
            </a:endParaRPr>
          </a:p>
          <a:p>
            <a:pPr indent="0" lvl="0" marL="0" rtl="0" algn="l">
              <a:lnSpc>
                <a:spcPct val="115000"/>
              </a:lnSpc>
              <a:spcBef>
                <a:spcPts val="0"/>
              </a:spcBef>
              <a:spcAft>
                <a:spcPts val="0"/>
              </a:spcAft>
              <a:buNone/>
            </a:pPr>
            <a:r>
              <a:rPr lang="en-GB" sz="1800">
                <a:solidFill>
                  <a:srgbClr val="B45F06"/>
                </a:solidFill>
              </a:rPr>
              <a:t>3. Hãy tìm 3 bộ 3 có thể suy diễn được từ các dữ kiện</a:t>
            </a:r>
            <a:endParaRPr sz="1800">
              <a:solidFill>
                <a:srgbClr val="B45F06"/>
              </a:solidFill>
            </a:endParaRPr>
          </a:p>
          <a:p>
            <a:pPr indent="0" lvl="0" marL="0" rtl="0" algn="l">
              <a:lnSpc>
                <a:spcPct val="115000"/>
              </a:lnSpc>
              <a:spcBef>
                <a:spcPts val="0"/>
              </a:spcBef>
              <a:spcAft>
                <a:spcPts val="0"/>
              </a:spcAft>
              <a:buNone/>
            </a:pPr>
            <a:r>
              <a:rPr lang="en-GB" sz="1800">
                <a:solidFill>
                  <a:srgbClr val="B45F06"/>
                </a:solidFill>
              </a:rPr>
              <a:t>  :b001 rdf:type :Bus.</a:t>
            </a:r>
            <a:endParaRPr sz="1800">
              <a:solidFill>
                <a:srgbClr val="B45F06"/>
              </a:solidFill>
            </a:endParaRPr>
          </a:p>
          <a:p>
            <a:pPr indent="0" lvl="0" marL="0" rtl="0" algn="l">
              <a:lnSpc>
                <a:spcPct val="115000"/>
              </a:lnSpc>
              <a:spcBef>
                <a:spcPts val="0"/>
              </a:spcBef>
              <a:spcAft>
                <a:spcPts val="0"/>
              </a:spcAft>
              <a:buNone/>
            </a:pPr>
            <a:r>
              <a:rPr lang="en-GB" sz="1800">
                <a:solidFill>
                  <a:srgbClr val="B45F06"/>
                </a:solidFill>
              </a:rPr>
              <a:t>  :NVA :drive :b001.</a:t>
            </a:r>
            <a:endParaRPr sz="1800">
              <a:solidFill>
                <a:srgbClr val="B45F06"/>
              </a:solidFill>
            </a:endParaRPr>
          </a:p>
          <a:p>
            <a:pPr indent="0" lvl="0" marL="0" rtl="0" algn="l">
              <a:lnSpc>
                <a:spcPct val="115000"/>
              </a:lnSpc>
              <a:spcBef>
                <a:spcPts val="0"/>
              </a:spcBef>
              <a:spcAft>
                <a:spcPts val="0"/>
              </a:spcAft>
              <a:buNone/>
            </a:pPr>
            <a:r>
              <a:rPr lang="en-GB" sz="1800">
                <a:solidFill>
                  <a:srgbClr val="B45F06"/>
                </a:solidFill>
              </a:rPr>
              <a:t>dựa trên Ontology đã tạo trong 1?</a:t>
            </a:r>
            <a:endParaRPr sz="1800">
              <a:solidFill>
                <a:srgbClr val="B45F06"/>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06"/>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tập 6.5. </a:t>
            </a:r>
            <a:endParaRPr/>
          </a:p>
        </p:txBody>
      </p:sp>
      <p:sp>
        <p:nvSpPr>
          <p:cNvPr id="835" name="Google Shape;835;p10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36" name="Google Shape;836;p106"/>
          <p:cNvSpPr txBox="1"/>
          <p:nvPr>
            <p:ph idx="1" type="body"/>
          </p:nvPr>
        </p:nvSpPr>
        <p:spPr>
          <a:xfrm>
            <a:off x="311700" y="1088600"/>
            <a:ext cx="8520600" cy="5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Sử dụng các từ bonnie, clyde, reports, commits, suspects, và knows?</a:t>
            </a:r>
            <a:endParaRPr/>
          </a:p>
          <a:p>
            <a:pPr indent="0" lvl="0" marL="0" rtl="0" algn="l">
              <a:spcBef>
                <a:spcPts val="0"/>
              </a:spcBef>
              <a:spcAft>
                <a:spcPts val="0"/>
              </a:spcAft>
              <a:buClr>
                <a:schemeClr val="dk1"/>
              </a:buClr>
              <a:buSzPts val="1100"/>
              <a:buFont typeface="Arial"/>
              <a:buNone/>
            </a:pPr>
            <a:r>
              <a:rPr lang="en-GB"/>
              <a:t>1. Everybody who is honest and commits a crime reports himself.</a:t>
            </a:r>
            <a:endParaRPr/>
          </a:p>
          <a:p>
            <a:pPr indent="0" lvl="0" marL="0" rtl="0" algn="l">
              <a:spcBef>
                <a:spcPts val="0"/>
              </a:spcBef>
              <a:spcAft>
                <a:spcPts val="0"/>
              </a:spcAft>
              <a:buClr>
                <a:schemeClr val="dk1"/>
              </a:buClr>
              <a:buSzPts val="1100"/>
              <a:buFont typeface="Arial"/>
              <a:buNone/>
            </a:pPr>
            <a:r>
              <a:rPr lang="en-GB"/>
              <a:t>2. Bonnie does not report Clyde.</a:t>
            </a:r>
            <a:endParaRPr/>
          </a:p>
          <a:p>
            <a:pPr indent="0" lvl="0" marL="0" rtl="0" algn="l">
              <a:spcBef>
                <a:spcPts val="0"/>
              </a:spcBef>
              <a:spcAft>
                <a:spcPts val="0"/>
              </a:spcAft>
              <a:buClr>
                <a:schemeClr val="dk1"/>
              </a:buClr>
              <a:buSzPts val="1100"/>
              <a:buFont typeface="Arial"/>
              <a:buNone/>
            </a:pPr>
            <a:r>
              <a:rPr lang="en-GB"/>
              <a:t>3. Clyde has committed at least 10 crimes.</a:t>
            </a:r>
            <a:endParaRPr/>
          </a:p>
          <a:p>
            <a:pPr indent="0" lvl="0" marL="0" rtl="0" algn="l">
              <a:spcBef>
                <a:spcPts val="0"/>
              </a:spcBef>
              <a:spcAft>
                <a:spcPts val="0"/>
              </a:spcAft>
              <a:buClr>
                <a:schemeClr val="dk1"/>
              </a:buClr>
              <a:buSzPts val="1100"/>
              <a:buFont typeface="Arial"/>
              <a:buNone/>
            </a:pPr>
            <a:r>
              <a:rPr lang="en-GB"/>
              <a:t>4. Bonnie and Clyde have committed at least one crime together.</a:t>
            </a:r>
            <a:endParaRPr/>
          </a:p>
          <a:p>
            <a:pPr indent="0" lvl="0" marL="0" rtl="0" algn="l">
              <a:spcBef>
                <a:spcPts val="0"/>
              </a:spcBef>
              <a:spcAft>
                <a:spcPts val="0"/>
              </a:spcAft>
              <a:buClr>
                <a:schemeClr val="dk1"/>
              </a:buClr>
              <a:buSzPts val="1100"/>
              <a:buFont typeface="Arial"/>
              <a:buNone/>
            </a:pPr>
            <a:r>
              <a:rPr lang="en-GB"/>
              <a:t>5. Everybody who knows a suspect is also a suspect.</a:t>
            </a:r>
            <a:endParaRPr/>
          </a:p>
          <a:p>
            <a:pPr indent="-381000" lvl="0" marL="457200" rtl="0" algn="l">
              <a:spcBef>
                <a:spcPts val="0"/>
              </a:spcBef>
              <a:spcAft>
                <a:spcPts val="0"/>
              </a:spcAft>
              <a:buSzPts val="2400"/>
              <a:buAutoNum type="alphaLcParenR"/>
            </a:pPr>
            <a:r>
              <a:rPr lang="en-GB"/>
              <a:t>Biểu diễn các câu trong SROIQ?</a:t>
            </a:r>
            <a:endParaRPr/>
          </a:p>
          <a:p>
            <a:pPr indent="-381000" lvl="0" marL="457200" rtl="0" algn="l">
              <a:spcBef>
                <a:spcPts val="0"/>
              </a:spcBef>
              <a:spcAft>
                <a:spcPts val="0"/>
              </a:spcAft>
              <a:buSzPts val="2400"/>
              <a:buAutoNum type="alphaLcParenR"/>
            </a:pPr>
            <a:r>
              <a:rPr lang="en-GB"/>
              <a:t>Viết các mô tả bằng OWL?</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0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42" name="Google Shape;842;p107"/>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