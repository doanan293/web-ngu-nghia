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1" roundtripDataSignature="AMtx7mhYAugb9hsw1kZfwC1lkVC3XEcH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B8EA43-D825-4125-A80C-85D22B2E5EC3}">
  <a:tblStyle styleId="{61B8EA43-D825-4125-A80C-85D22B2E5E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1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a94e6f0c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2a94e6f0ce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a94e6f0c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2a94e6f0ce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a948f3b73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2a948f3b73f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648ffc6a9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648ffc6a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648ffc6a9b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648ffc6a9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648ffc6a9b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648ffc6a9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a9ea75e1a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a9ea75e1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82858" y="-373184"/>
            <a:ext cx="1426921" cy="1426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2"/>
          <p:cNvSpPr txBox="1"/>
          <p:nvPr>
            <p:ph type="title"/>
          </p:nvPr>
        </p:nvSpPr>
        <p:spPr>
          <a:xfrm>
            <a:off x="635000" y="1336675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2"/>
          <p:cNvSpPr txBox="1"/>
          <p:nvPr>
            <p:ph idx="1" type="body"/>
          </p:nvPr>
        </p:nvSpPr>
        <p:spPr>
          <a:xfrm>
            <a:off x="609600" y="31988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7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2"/>
          <p:cNvSpPr txBox="1"/>
          <p:nvPr>
            <p:ph idx="12" type="sldNum"/>
          </p:nvPr>
        </p:nvSpPr>
        <p:spPr>
          <a:xfrm>
            <a:off x="9232900" y="637222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7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7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7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7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7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7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7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7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7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7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8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book.validatingrdf.com/bookHtml010.html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w3.org/TR/shacl/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://wimmics.inria.fr/corese" TargetMode="External"/><Relationship Id="rId10" Type="http://schemas.openxmlformats.org/officeDocument/2006/relationships/hyperlink" Target="https://github.com/RDFLib/pySHACL" TargetMode="External"/><Relationship Id="rId13" Type="http://schemas.openxmlformats.org/officeDocument/2006/relationships/hyperlink" Target="https://github.com/AKSW/RDFUnit" TargetMode="External"/><Relationship Id="rId12" Type="http://schemas.openxmlformats.org/officeDocument/2006/relationships/hyperlink" Target="https://github.com/AKSW/RDFUnit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TopQuadrant/shacl" TargetMode="External"/><Relationship Id="rId4" Type="http://schemas.openxmlformats.org/officeDocument/2006/relationships/hyperlink" Target="https://www.topquadrant.com/" TargetMode="External"/><Relationship Id="rId9" Type="http://schemas.openxmlformats.org/officeDocument/2006/relationships/hyperlink" Target="https://github.com/RDFLib/pySHACL" TargetMode="External"/><Relationship Id="rId15" Type="http://schemas.openxmlformats.org/officeDocument/2006/relationships/hyperlink" Target="https://rdf4j.org/documentation/programming/shacl/" TargetMode="External"/><Relationship Id="rId14" Type="http://schemas.openxmlformats.org/officeDocument/2006/relationships/hyperlink" Target="https://jena.apache.org/" TargetMode="External"/><Relationship Id="rId17" Type="http://schemas.openxmlformats.org/officeDocument/2006/relationships/hyperlink" Target="https://github.com/zazuko/rdf-validate-shacl" TargetMode="External"/><Relationship Id="rId16" Type="http://schemas.openxmlformats.org/officeDocument/2006/relationships/hyperlink" Target="https://www.stardog.com/" TargetMode="External"/><Relationship Id="rId5" Type="http://schemas.openxmlformats.org/officeDocument/2006/relationships/hyperlink" Target="http://shacl.org/playground/" TargetMode="External"/><Relationship Id="rId6" Type="http://schemas.openxmlformats.org/officeDocument/2006/relationships/hyperlink" Target="http://shacl.org/playground/" TargetMode="External"/><Relationship Id="rId7" Type="http://schemas.openxmlformats.org/officeDocument/2006/relationships/hyperlink" Target="http://labra.weso.es/shaclex/" TargetMode="External"/><Relationship Id="rId8" Type="http://schemas.openxmlformats.org/officeDocument/2006/relationships/hyperlink" Target="http://rdfshape.weso.e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inyurl.com/y46b2f8q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inyurl.com/y4ycv2v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inyurl.com/y6qyqo5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tinyurl.com/y5wjrow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tinyurl.com/y42ec72v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tinyurl.com/y3hkka6s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tinyurl.com/yynnts8o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tinyurl.com/yy4bsavj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tinyurl.com/y5laj3vf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goo.gl/B1PNcO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tinyurl.com/y6p7zyon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tinyurl.com/y3l5ksah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://www.w3.org/ns/entailment/RDFS" TargetMode="External"/><Relationship Id="rId4" Type="http://schemas.openxmlformats.org/officeDocument/2006/relationships/hyperlink" Target="http://www.w3.org/ns/entailment/OWL-RDF-Based" TargetMode="External"/><Relationship Id="rId5" Type="http://schemas.openxmlformats.org/officeDocument/2006/relationships/hyperlink" Target="https://www.w3.org/TR/sparql11-entailment/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www.w3.org/community/shacl/" TargetMode="External"/><Relationship Id="rId4" Type="http://schemas.openxmlformats.org/officeDocument/2006/relationships/hyperlink" Target="https://w3c.github.io/data-shapes/shacl-af/" TargetMode="External"/><Relationship Id="rId5" Type="http://schemas.openxmlformats.org/officeDocument/2006/relationships/hyperlink" Target="https://w3c.github.io/shacl/shacl-compact-syntax/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1310931" y="77956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002060"/>
                </a:solidFill>
              </a:rPr>
              <a:t>SHACL by example </a:t>
            </a:r>
            <a:br>
              <a:rPr lang="en-US" sz="6000">
                <a:solidFill>
                  <a:srgbClr val="002060"/>
                </a:solidFill>
              </a:rPr>
            </a:br>
            <a:r>
              <a:rPr lang="en-US" sz="3600"/>
              <a:t>RDF Validation tutorial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689690" y="3486091"/>
            <a:ext cx="340001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Eric Prud'hommeaux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Wide Web Consortium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MIT, Cambridge, MA, USA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2763746" y="5247320"/>
            <a:ext cx="331236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Harold Solbrig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 Clinic, USA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3060906" y="3486090"/>
            <a:ext cx="271804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Jose Emilio Labra Gayo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WESO Research group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Oviedo, Spain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689690" y="5078042"/>
            <a:ext cx="331236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Iovka Boneva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LINKS, INRIA &amp; CNRS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Lille, France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9707" y="-527136"/>
            <a:ext cx="1975561" cy="197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info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Chapter 5 of Validating RDF Data book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Online HTML version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1" y="2300749"/>
            <a:ext cx="3153655" cy="392245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SHACL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609599" y="1600201"/>
            <a:ext cx="1119657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W3C recommendation: </a:t>
            </a:r>
            <a:r>
              <a:rPr lang="en-US" u="sng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https://www.w3.org/TR/shacl/</a:t>
            </a:r>
            <a:r>
              <a:rPr lang="en-US">
                <a:solidFill>
                  <a:srgbClr val="002060"/>
                </a:solidFill>
              </a:rPr>
              <a:t> (July 2017)</a:t>
            </a:r>
            <a:endParaRPr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Inspired by SPIN, OSLC &amp; bits of ShEx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2 parts: SHACL-Core, SHACL-SPARQL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RDF vocabulary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SHACL implementations</a:t>
            </a:r>
            <a:endParaRPr/>
          </a:p>
        </p:txBody>
      </p:sp>
      <p:graphicFrame>
        <p:nvGraphicFramePr>
          <p:cNvPr id="109" name="Google Shape;109;p4"/>
          <p:cNvGraphicFramePr/>
          <p:nvPr/>
        </p:nvGraphicFramePr>
        <p:xfrm>
          <a:off x="609600" y="12257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223350"/>
                <a:gridCol w="2810350"/>
                <a:gridCol w="2020250"/>
                <a:gridCol w="4380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Parts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Language - Library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Comments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3"/>
                        </a:rPr>
                        <a:t>Topbraid SHACL API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Core,</a:t>
                      </a:r>
                      <a:r>
                        <a:rPr lang="en-US" sz="1800"/>
                        <a:t> </a:t>
                      </a:r>
                      <a:r>
                        <a:rPr lang="en-US" sz="1800"/>
                        <a:t>SPARQL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</a:t>
                      </a:r>
                      <a:r>
                        <a:rPr lang="en-US" sz="1800"/>
                        <a:t> (Jena)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Used</a:t>
                      </a:r>
                      <a:r>
                        <a:rPr lang="en-US" sz="1800"/>
                        <a:t> by </a:t>
                      </a:r>
                      <a:r>
                        <a:rPr lang="en-US" sz="1800" u="sng">
                          <a:solidFill>
                            <a:schemeClr val="hlink"/>
                          </a:solidFill>
                          <a:hlinkClick r:id="rId4"/>
                        </a:rPr>
                        <a:t>TopBraid composer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5"/>
                        </a:rPr>
                        <a:t>SHACL playground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Javascript (rdflib.js)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6"/>
                        </a:rPr>
                        <a:t>http://shacl.org/playground/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7"/>
                        </a:rPr>
                        <a:t>SHACL-S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Part</a:t>
                      </a:r>
                      <a:r>
                        <a:rPr lang="en-US" sz="1800"/>
                        <a:t> of SHaclEX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Scala (Jena, RDF4j)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8"/>
                        </a:rPr>
                        <a:t>http://rdfshape.weso.es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9"/>
                        </a:rPr>
                        <a:t>pySHACL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</a:t>
                      </a:r>
                      <a:r>
                        <a:rPr lang="en-US" sz="1800"/>
                        <a:t>, SPARQL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Python (rdflib)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0"/>
                        </a:rPr>
                        <a:t>https://github.com/RDFLib/pySHACL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Corese SHACL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Core, SPARQL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 (STTL)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1"/>
                        </a:rPr>
                        <a:t>http://wimmics.inria.fr/corese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2"/>
                        </a:rPr>
                        <a:t>RDFUnit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Core, SPARQL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 (Jena)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3"/>
                        </a:rPr>
                        <a:t>https://github.com/AKSW/RDFUnit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Jena SHACL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Core, SPARQL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 (Jena)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4"/>
                        </a:rPr>
                        <a:t>https://jena.apache.org/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RDf4j SHACL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 (RDF4J)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5"/>
                        </a:rPr>
                        <a:t>https://rdf4j.org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Stardog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Core,</a:t>
                      </a:r>
                      <a:r>
                        <a:rPr lang="en-US" sz="1800"/>
                        <a:t> SPARQL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6"/>
                        </a:rPr>
                        <a:t>https://www.stardog.com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Zazuko SHACL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SHACL Core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Javascript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17"/>
                        </a:rPr>
                        <a:t>https://github.com/zazuko/rdf-validate-shacl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0" name="Google Shape;110;p4"/>
          <p:cNvSpPr txBox="1"/>
          <p:nvPr/>
        </p:nvSpPr>
        <p:spPr>
          <a:xfrm>
            <a:off x="2438400" y="5594215"/>
            <a:ext cx="6377515" cy="1200329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rgbClr val="367D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this tutorial we will use RDFShape online demo which supports: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SHaclEX (SHACL-s)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JenaSHACL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SHACL TQ (SHACL TopBraid API)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Ví dụ cơ bản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7529213" y="6370616"/>
            <a:ext cx="45252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it. RDFShape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https://tinyurl.com/y46b2f8q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244076" y="1476975"/>
            <a:ext cx="7147800" cy="4802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@prefix :       &lt;http://semweb.edu.vn/people#&gt; 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@prefix sh:     &lt;http://www.w3.org/ns/shacl#&gt; 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@prefix xsd:    &lt;http://www.w3.org/2001/XMLSchema#&gt;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:UserShape a sh:NodeShape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sh:targetNode :alice, :bob, :carol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sh:nodeKind sh:IRI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sh:property :hasName,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:hasEmail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:hasName sh:path :name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sh:minCount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sh:maxCount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sh:datatype xsd:string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:hasEmail sh:path :email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sh:minCount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sh:maxCount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sh:nodeKind sh:IRI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5705800" y="2994725"/>
            <a:ext cx="6298500" cy="2688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@prefix : &lt;http://semweb.edu.vn/people#&gt;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:alice :name "Alice Cooper"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:email &lt;mailto:alice@mail.org&gt;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:bob   :firstName "Bob"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:email &lt;mailto:bob@mail.org&gt;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:carol :name "Carol" ;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:email "carol@mail.org"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4767325" y="6262150"/>
            <a:ext cx="199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hình trạng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10489025" y="5313625"/>
            <a:ext cx="156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dữ liệu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11161330" y="3956794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1161330" y="4799529"/>
            <a:ext cx="57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18367" y="1223286"/>
            <a:ext cx="168592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236125" y="1417650"/>
            <a:ext cx="6703200" cy="507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7F7F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@prefix :    &lt;http://semweb.edu.vn/people#&gt;  .</a:t>
            </a:r>
            <a:endParaRPr sz="1800">
              <a:solidFill>
                <a:srgbClr val="7F7F7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7F7F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@prefix sh:  &lt;http://www.w3.org/ns/shacl#&gt;  .</a:t>
            </a:r>
            <a:endParaRPr sz="1800">
              <a:solidFill>
                <a:srgbClr val="7F7F7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7F7F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@prefix xsd: &lt;http://www.w3.org/2001/XMLSchema#&gt; .</a:t>
            </a:r>
            <a:endParaRPr sz="1800">
              <a:solidFill>
                <a:srgbClr val="7F7F7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alice,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bob,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Ví dụ với các nút rỗng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7536708" y="6388651"/>
            <a:ext cx="450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Thử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RDFShape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https://tinyurl.com/y4ycv2vn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4455604" y="6495950"/>
            <a:ext cx="220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hình trạng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5648258" y="3053255"/>
            <a:ext cx="62985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0217529" y="5361575"/>
            <a:ext cx="183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dữ liệu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11161330" y="3956794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1161330" y="4647129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Các khái niệm cơ bản của</a:t>
            </a:r>
            <a:r>
              <a:rPr lang="en-US"/>
              <a:t> SHACL</a:t>
            </a:r>
            <a:endParaRPr/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212035" y="1600201"/>
            <a:ext cx="10976665" cy="172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Shape/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Hình trạng - Tập các nút đích và các thành phần ràng buộc.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Nút đích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Các nút trong đồ thị được kiểm tra và phải tương thích với các yêu cầu.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Các thành phần ràng buộc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Các điều kiện mà nút phải đáp ứng.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4375308" y="3390580"/>
            <a:ext cx="2273731" cy="967108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Hình trạng</a:t>
            </a:r>
            <a:endParaRPr/>
          </a:p>
        </p:txBody>
      </p:sp>
      <p:cxnSp>
        <p:nvCxnSpPr>
          <p:cNvPr id="143" name="Google Shape;143;p7"/>
          <p:cNvCxnSpPr/>
          <p:nvPr/>
        </p:nvCxnSpPr>
        <p:spPr>
          <a:xfrm flipH="1" rot="10800000">
            <a:off x="4368143" y="3780647"/>
            <a:ext cx="2273731" cy="1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7"/>
          <p:cNvSpPr txBox="1"/>
          <p:nvPr/>
        </p:nvSpPr>
        <p:spPr>
          <a:xfrm>
            <a:off x="4368143" y="3844243"/>
            <a:ext cx="22717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Khai báo nút đích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Các ràng buộc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6856832" y="3448508"/>
            <a:ext cx="51234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7"/>
          <p:cNvSpPr/>
          <p:nvPr/>
        </p:nvSpPr>
        <p:spPr>
          <a:xfrm rot="-299839">
            <a:off x="6649039" y="3874134"/>
            <a:ext cx="579664" cy="2317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 rot="831953">
            <a:off x="6639919" y="4207935"/>
            <a:ext cx="579664" cy="2317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Đồ thị hình trạng và đồ thị dữ liệu</a:t>
            </a: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Về hình thức</a:t>
            </a:r>
            <a:r>
              <a:rPr lang="en-US"/>
              <a:t>: 2 </a:t>
            </a:r>
            <a:r>
              <a:rPr lang="en-US"/>
              <a:t>đồ thị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Đồ thị hình trạng</a:t>
            </a:r>
            <a:r>
              <a:rPr lang="en-US"/>
              <a:t>: </a:t>
            </a:r>
            <a:r>
              <a:rPr lang="en-US"/>
              <a:t>Một đồ thị RDF chứa các hình trạng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Đồ thị dữ liệu</a:t>
            </a:r>
            <a:r>
              <a:rPr lang="en-US"/>
              <a:t>: </a:t>
            </a:r>
            <a:r>
              <a:rPr lang="en-US"/>
              <a:t>Một đồ thị RDF chứa các dữ liệu cần được kiểm tra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609600" y="3687978"/>
            <a:ext cx="4560900" cy="255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5532512" y="3687978"/>
            <a:ext cx="5945700" cy="2062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3188579" y="6183875"/>
            <a:ext cx="19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hình trạng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9714750" y="5726925"/>
            <a:ext cx="18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dữ liệu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Kết quả kiểm tra</a:t>
            </a:r>
            <a:endParaRPr/>
          </a:p>
        </p:txBody>
      </p:sp>
      <p:sp>
        <p:nvSpPr>
          <p:cNvPr id="163" name="Google Shape;163;p9"/>
          <p:cNvSpPr txBox="1"/>
          <p:nvPr>
            <p:ph idx="1" type="body"/>
          </p:nvPr>
        </p:nvSpPr>
        <p:spPr>
          <a:xfrm>
            <a:off x="609600" y="1600202"/>
            <a:ext cx="10972800" cy="1502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Đầu ra của tiến trình kiểm tra là 1 danh sách lỗi vi phạm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Không có lỗi</a:t>
            </a:r>
            <a:r>
              <a:rPr lang="en-US"/>
              <a:t> ⇒ RDF </a:t>
            </a:r>
            <a:r>
              <a:rPr lang="en-US"/>
              <a:t>tương thích với đồ thị hình trạng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5258188" y="2823329"/>
            <a:ext cx="6769800" cy="3971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    [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ValidationResult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focusNode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"MinCount violation. Expected 1, obtained: 0"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resultSeverity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Violation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sourceConstraintComponent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MinCountConstraintComponent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sourceShape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280140" y="2823329"/>
            <a:ext cx="4743606" cy="92333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Sơ đồ nguyên lý</a:t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6057364" y="3366399"/>
            <a:ext cx="1290165" cy="89415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Bộ xử lý SHACL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7658979" y="3130344"/>
            <a:ext cx="19471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quả kiểm tra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421881" y="3664802"/>
            <a:ext cx="286182" cy="29735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1342942" y="1499370"/>
            <a:ext cx="4594800" cy="255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97144" y="1631267"/>
            <a:ext cx="130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hình trạng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1331202" y="4238450"/>
            <a:ext cx="4618200" cy="1816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&lt;mailto:carol@mail.org&gt;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97144" y="4238450"/>
            <a:ext cx="85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dữ liệu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7782416" y="3510655"/>
            <a:ext cx="4270297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 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057364" y="4355422"/>
            <a:ext cx="596348" cy="595511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 flipH="1" rot="10800000">
            <a:off x="6057364" y="2666623"/>
            <a:ext cx="575077" cy="648192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Chèn các đồ thị hình trạng</a:t>
            </a:r>
            <a:endParaRPr/>
          </a:p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Bộ xử lý </a:t>
            </a:r>
            <a:r>
              <a:rPr lang="en-US"/>
              <a:t>SHACL </a:t>
            </a:r>
            <a:r>
              <a:rPr lang="en-US"/>
              <a:t>lần theo các khai báo</a:t>
            </a:r>
            <a:r>
              <a:rPr lang="en-US"/>
              <a:t>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owl</a:t>
            </a:r>
            <a:r>
              <a:rPr lang="en-US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Nó mở rộng đồ thị hình trang đang được xử lý với các đồ thị được chèn vào.</a:t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609600" y="3159986"/>
            <a:ext cx="4594800" cy="2062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5669280" y="3159986"/>
            <a:ext cx="6263253" cy="286232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owl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imports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 u="sng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http://example.org/UserShapes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Các hình trạng nút và hình trạng thuộc tính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284728" y="1326215"/>
            <a:ext cx="10972800" cy="16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Có 2 loại hình trạng: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NodeShape: </a:t>
            </a:r>
            <a:r>
              <a:rPr lang="en-US"/>
              <a:t>Ràng buộc về hình trạng của nút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PropertyShape: </a:t>
            </a:r>
            <a:r>
              <a:rPr lang="en-US"/>
              <a:t>Ràng buộc về các giá trị trên các đường dẫn thuộc tính của nút.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1293466" y="3414611"/>
            <a:ext cx="2273731" cy="967108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endParaRPr/>
          </a:p>
        </p:txBody>
      </p:sp>
      <p:cxnSp>
        <p:nvCxnSpPr>
          <p:cNvPr id="196" name="Google Shape;196;p12"/>
          <p:cNvCxnSpPr/>
          <p:nvPr/>
        </p:nvCxnSpPr>
        <p:spPr>
          <a:xfrm flipH="1" rot="10800000">
            <a:off x="1286301" y="3804678"/>
            <a:ext cx="2273731" cy="1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2"/>
          <p:cNvSpPr txBox="1"/>
          <p:nvPr/>
        </p:nvSpPr>
        <p:spPr>
          <a:xfrm>
            <a:off x="1286301" y="3868274"/>
            <a:ext cx="22717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target declarations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constraint components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192217" y="5426552"/>
            <a:ext cx="1764554" cy="594131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2"/>
          <p:cNvCxnSpPr/>
          <p:nvPr/>
        </p:nvCxnSpPr>
        <p:spPr>
          <a:xfrm>
            <a:off x="192217" y="5852178"/>
            <a:ext cx="176455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2"/>
          <p:cNvSpPr txBox="1"/>
          <p:nvPr/>
        </p:nvSpPr>
        <p:spPr>
          <a:xfrm>
            <a:off x="1585439" y="5856559"/>
            <a:ext cx="1847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2653683" y="5430558"/>
            <a:ext cx="2415241" cy="967108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PropertyShape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2"/>
          <p:cNvCxnSpPr/>
          <p:nvPr/>
        </p:nvCxnSpPr>
        <p:spPr>
          <a:xfrm>
            <a:off x="2651727" y="5816362"/>
            <a:ext cx="24171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2"/>
          <p:cNvSpPr txBox="1"/>
          <p:nvPr/>
        </p:nvSpPr>
        <p:spPr>
          <a:xfrm>
            <a:off x="2651727" y="5914134"/>
            <a:ext cx="24171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F6128"/>
                </a:solidFill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:path: propertyPath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2"/>
          <p:cNvCxnSpPr>
            <a:stCxn id="198" idx="0"/>
            <a:endCxn id="195" idx="2"/>
          </p:cNvCxnSpPr>
          <p:nvPr/>
        </p:nvCxnSpPr>
        <p:spPr>
          <a:xfrm rot="-5400000">
            <a:off x="1229894" y="4226252"/>
            <a:ext cx="1044900" cy="13557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12"/>
          <p:cNvCxnSpPr>
            <a:stCxn id="201" idx="0"/>
            <a:endCxn id="195" idx="2"/>
          </p:cNvCxnSpPr>
          <p:nvPr/>
        </p:nvCxnSpPr>
        <p:spPr>
          <a:xfrm flipH="1" rot="5400000">
            <a:off x="2621404" y="4190658"/>
            <a:ext cx="1048800" cy="14310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2"/>
          <p:cNvSpPr/>
          <p:nvPr/>
        </p:nvSpPr>
        <p:spPr>
          <a:xfrm>
            <a:off x="2322803" y="4392683"/>
            <a:ext cx="207168" cy="234621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6856832" y="3448508"/>
            <a:ext cx="51234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5706432" y="5354285"/>
            <a:ext cx="1575560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PropertyShape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5706432" y="3868274"/>
            <a:ext cx="1268296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/>
        </p:nvSpPr>
        <p:spPr>
          <a:xfrm>
            <a:off x="5751089" y="3275753"/>
            <a:ext cx="4980851" cy="163121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&lt;http://example.org/bob&gt; 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215" name="Google Shape;215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Node Shapes</a:t>
            </a:r>
            <a:endParaRPr/>
          </a:p>
        </p:txBody>
      </p:sp>
      <p:sp>
        <p:nvSpPr>
          <p:cNvPr id="216" name="Google Shape;216;p13"/>
          <p:cNvSpPr txBox="1"/>
          <p:nvPr>
            <p:ph idx="1" type="body"/>
          </p:nvPr>
        </p:nvSpPr>
        <p:spPr>
          <a:xfrm>
            <a:off x="609600" y="1600202"/>
            <a:ext cx="10972800" cy="1071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Constraints about a focus node</a:t>
            </a:r>
            <a:endParaRPr/>
          </a:p>
        </p:txBody>
      </p:sp>
      <p:sp>
        <p:nvSpPr>
          <p:cNvPr id="217" name="Google Shape;217;p13"/>
          <p:cNvSpPr txBox="1"/>
          <p:nvPr/>
        </p:nvSpPr>
        <p:spPr>
          <a:xfrm>
            <a:off x="8241514" y="4342391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751841" y="3230186"/>
            <a:ext cx="4389120" cy="92333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7020560" y="6096000"/>
            <a:ext cx="35592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https://tinyurl.com/y6qyqo5g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Property shapes</a:t>
            </a:r>
            <a:endParaRPr/>
          </a:p>
        </p:txBody>
      </p:sp>
      <p:sp>
        <p:nvSpPr>
          <p:cNvPr id="225" name="Google Shape;225;p14"/>
          <p:cNvSpPr txBox="1"/>
          <p:nvPr>
            <p:ph idx="1" type="body"/>
          </p:nvPr>
        </p:nvSpPr>
        <p:spPr>
          <a:xfrm>
            <a:off x="609600" y="1600202"/>
            <a:ext cx="11480800" cy="13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Constraints about a given property and its values for the focus node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004040"/>
              </a:buClr>
              <a:buSzPct val="100000"/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/>
              <a:t>associates a shape with a property shape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004040"/>
              </a:buClr>
              <a:buSzPct val="100000"/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/>
              <a:t>identifies the path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609600" y="3640563"/>
            <a:ext cx="4863300" cy="1631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 .</a:t>
            </a:r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5557842" y="3640563"/>
            <a:ext cx="6532500" cy="255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20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20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20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11531945" y="5548777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Paths in property shapes</a:t>
            </a:r>
            <a:endParaRPr/>
          </a:p>
        </p:txBody>
      </p:sp>
      <p:sp>
        <p:nvSpPr>
          <p:cNvPr id="234" name="Google Shape;234;p15"/>
          <p:cNvSpPr txBox="1"/>
          <p:nvPr>
            <p:ph idx="1" type="body"/>
          </p:nvPr>
        </p:nvSpPr>
        <p:spPr>
          <a:xfrm>
            <a:off x="609600" y="1600202"/>
            <a:ext cx="11480800" cy="13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Subset of SPARQL property paths using the following names: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inversePath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alternativePath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zeroOrMorePath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oneOrMorePath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zeroOrOnePath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319093" y="4589814"/>
            <a:ext cx="6617700" cy="1631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[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inversePath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]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65806" y="3337706"/>
            <a:ext cx="44166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10966329" y="4176536"/>
            <a:ext cx="57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 components</a:t>
            </a:r>
            <a:endParaRPr/>
          </a:p>
        </p:txBody>
      </p:sp>
      <p:sp>
        <p:nvSpPr>
          <p:cNvPr id="243" name="Google Shape;243;p16"/>
          <p:cNvSpPr txBox="1"/>
          <p:nvPr>
            <p:ph idx="1" type="body"/>
          </p:nvPr>
        </p:nvSpPr>
        <p:spPr>
          <a:xfrm>
            <a:off x="609600" y="1600201"/>
            <a:ext cx="10972800" cy="12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Nodes that declare constraints associated with shapes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They have parameters whose values specify the constraints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SHACL-core provides a list of predefined constraint components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Most of them have one parameter which identifies them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1963146" y="4858267"/>
            <a:ext cx="4844350" cy="64633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83313" y="5963799"/>
            <a:ext cx="39837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 component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nodeKindConstraintComponent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5816969" y="5963798"/>
            <a:ext cx="1981055" cy="6463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2465" y="-2022"/>
                </a:moveTo>
                <a:lnTo>
                  <a:pt x="-29383" y="-98906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of Parameter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1963146" y="3705337"/>
            <a:ext cx="4662845" cy="92333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Parameter: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Component: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xxConstraintComponent </a:t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4067096" y="5963798"/>
            <a:ext cx="1577676" cy="6463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49505" y="1751"/>
                </a:moveTo>
                <a:lnTo>
                  <a:pt x="5004" y="-89474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7341789" y="5128510"/>
            <a:ext cx="3824052" cy="646331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Custom constraint components can be defined in SHACL-SPARQL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Repeated parameter</a:t>
            </a:r>
            <a:endParaRPr/>
          </a:p>
        </p:txBody>
      </p:sp>
      <p:sp>
        <p:nvSpPr>
          <p:cNvPr id="255" name="Google Shape;255;p17"/>
          <p:cNvSpPr txBox="1"/>
          <p:nvPr>
            <p:ph idx="1" type="body"/>
          </p:nvPr>
        </p:nvSpPr>
        <p:spPr>
          <a:xfrm>
            <a:off x="609600" y="1600201"/>
            <a:ext cx="10972800" cy="807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Each value of the parameter declares a different constraint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944880" y="2733040"/>
            <a:ext cx="4616970" cy="92333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5974080" y="2733040"/>
            <a:ext cx="5250300" cy="1200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0571324" y="3194705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SHACL Core constraint components</a:t>
            </a:r>
            <a:endParaRPr/>
          </a:p>
        </p:txBody>
      </p:sp>
      <p:graphicFrame>
        <p:nvGraphicFramePr>
          <p:cNvPr id="264" name="Google Shape;264;p18"/>
          <p:cNvGraphicFramePr/>
          <p:nvPr/>
        </p:nvGraphicFramePr>
        <p:xfrm>
          <a:off x="609600" y="13560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760325"/>
                <a:gridCol w="6840875"/>
              </a:tblGrid>
              <a:tr h="35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Cơ số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minCount, maxCount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Kiểu của giá trị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class, datatype, nodeKind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Giá trị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node, in, hasValue, property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Khoảng giá trị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minInclusive, maxInclusive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minExclusive,</a:t>
                      </a: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maxExclusive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Thuộc tính của chuỗi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minLength, maxLength, pattern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Ngôn ngữ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languageIn, uniqueLang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Liên kết lô-gic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not, and, or, xone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Hình trạng đóng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closed, ignoredProperties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Ràng buộc theo cặp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equals, disjoint, lessThan, lessThanOrEquals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Thành phần bổ trợ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name, description, order, group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Hình trạng có định kiểu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qualifiedValueShape, qualifiedValueShapesDisjoint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qualifiedMinCount, qualifiedMaxCount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18"/>
          <p:cNvSpPr txBox="1"/>
          <p:nvPr/>
        </p:nvSpPr>
        <p:spPr>
          <a:xfrm>
            <a:off x="10385573" y="5441295"/>
            <a:ext cx="12781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later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10485120" y="6004560"/>
            <a:ext cx="1178560" cy="4978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Thông điệp thân thiện với người dùng</a:t>
            </a:r>
            <a:endParaRPr/>
          </a:p>
        </p:txBody>
      </p:sp>
      <p:sp>
        <p:nvSpPr>
          <p:cNvPr id="272" name="Google Shape;272;p19"/>
          <p:cNvSpPr txBox="1"/>
          <p:nvPr>
            <p:ph idx="1" type="body"/>
          </p:nvPr>
        </p:nvSpPr>
        <p:spPr>
          <a:xfrm>
            <a:off x="609600" y="1600201"/>
            <a:ext cx="10972800" cy="1285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Message declares the message that will appear in the validation report in case of violation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497840" y="2885440"/>
            <a:ext cx="48702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"Where is the name?"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5642404" y="2871371"/>
            <a:ext cx="3997800" cy="646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alias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9066012" y="2934334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213600" y="3580665"/>
            <a:ext cx="528320" cy="38675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5488556" y="4021736"/>
            <a:ext cx="64461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report </a:t>
            </a:r>
            <a:r>
              <a:rPr b="1"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</a:t>
            </a:r>
            <a:r>
              <a:rPr b="1"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 [ </a:t>
            </a:r>
            <a:r>
              <a:rPr b="1"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ValidationResult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resultSeverity          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Violation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sourceConstraintComponent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MinCountConstraintComponent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sourceShape              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focusNode                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resultPath               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resultMessage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"Where is the name?"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8" name="Google Shape;278;p19"/>
          <p:cNvSpPr/>
          <p:nvPr/>
        </p:nvSpPr>
        <p:spPr>
          <a:xfrm rot="-6800065">
            <a:off x="2763521" y="4685309"/>
            <a:ext cx="558800" cy="3352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Severities</a:t>
            </a:r>
            <a:endParaRPr/>
          </a:p>
        </p:txBody>
      </p:sp>
      <p:sp>
        <p:nvSpPr>
          <p:cNvPr id="284" name="Google Shape;284;p20"/>
          <p:cNvSpPr txBox="1"/>
          <p:nvPr>
            <p:ph idx="1" type="body"/>
          </p:nvPr>
        </p:nvSpPr>
        <p:spPr>
          <a:xfrm>
            <a:off x="609600" y="1600201"/>
            <a:ext cx="10972800" cy="12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Declare the level of the violation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 predefined levels: Violation (default), Warning, Info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914400" y="2847142"/>
            <a:ext cx="39837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severity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Warning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5561124" y="2847142"/>
            <a:ext cx="3997800" cy="646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alias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5488556" y="4021736"/>
            <a:ext cx="64461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report </a:t>
            </a:r>
            <a:r>
              <a:rPr b="1"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</a:t>
            </a:r>
            <a:r>
              <a:rPr b="1"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 [ </a:t>
            </a:r>
            <a:r>
              <a:rPr b="1"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ValidationResult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resultSeverity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Warning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sourceConstraintComponent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MinCountConstraintComponent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sourceShape              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focusNode                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resultPath               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resultMessage            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"MinCount Error"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7213600" y="3580665"/>
            <a:ext cx="528320" cy="38675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 rot="-6800065">
            <a:off x="2763521" y="4685309"/>
            <a:ext cx="558800" cy="3352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 rot="-937791">
            <a:off x="5080831" y="4771541"/>
            <a:ext cx="558800" cy="3352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Deactivating shapes</a:t>
            </a:r>
            <a:endParaRPr/>
          </a:p>
        </p:txBody>
      </p:sp>
      <p:sp>
        <p:nvSpPr>
          <p:cNvPr id="296" name="Google Shape;296;p21"/>
          <p:cNvSpPr txBox="1"/>
          <p:nvPr>
            <p:ph idx="1" type="body"/>
          </p:nvPr>
        </p:nvSpPr>
        <p:spPr>
          <a:xfrm>
            <a:off x="609600" y="1600201"/>
            <a:ext cx="10972800" cy="1122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Deactivate a shape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Useful when importing shapes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5232737" y="3172281"/>
            <a:ext cx="5486400" cy="313932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owl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imports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 u="sng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UserShapes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TeacherShape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deactivated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09600" y="3172282"/>
            <a:ext cx="42372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3563934" y="2802950"/>
            <a:ext cx="1282723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UserShapes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Mô tả các đối tượng được kiểm tra</a:t>
            </a:r>
            <a:endParaRPr/>
          </a:p>
        </p:txBody>
      </p:sp>
      <p:sp>
        <p:nvSpPr>
          <p:cNvPr id="305" name="Google Shape;305;p22"/>
          <p:cNvSpPr txBox="1"/>
          <p:nvPr>
            <p:ph idx="1" type="body"/>
          </p:nvPr>
        </p:nvSpPr>
        <p:spPr>
          <a:xfrm>
            <a:off x="609600" y="1600202"/>
            <a:ext cx="10972800" cy="2456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Targets specify nodes that must be validated against the shape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Several types</a:t>
            </a:r>
            <a:endParaRPr/>
          </a:p>
        </p:txBody>
      </p:sp>
      <p:graphicFrame>
        <p:nvGraphicFramePr>
          <p:cNvPr id="306" name="Google Shape;306;p22"/>
          <p:cNvGraphicFramePr/>
          <p:nvPr/>
        </p:nvGraphicFramePr>
        <p:xfrm>
          <a:off x="2176528" y="3374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769300"/>
                <a:gridCol w="5112575"/>
              </a:tblGrid>
              <a:tr h="40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targetNode</a:t>
                      </a:r>
                      <a:endParaRPr sz="20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Liệt kê trực tiếp các nút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targetClass</a:t>
                      </a:r>
                      <a:endParaRPr sz="20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Các phần tử của lớp</a:t>
                      </a:r>
                      <a:endParaRPr sz="20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targetSubjectsOf</a:t>
                      </a:r>
                      <a:endParaRPr sz="20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Các phần tử là chủ thể của thuộc tính</a:t>
                      </a:r>
                      <a:endParaRPr sz="20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nsolas"/>
                        <a:buNone/>
                      </a:pPr>
                      <a:r>
                        <a:rPr lang="en-U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targetObjectsOf</a:t>
                      </a:r>
                      <a:endParaRPr sz="20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Các phần tử là giá trị của thuộc tính</a:t>
                      </a:r>
                      <a:endParaRPr sz="20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Target node</a:t>
            </a:r>
            <a:endParaRPr/>
          </a:p>
        </p:txBody>
      </p:sp>
      <p:sp>
        <p:nvSpPr>
          <p:cNvPr id="312" name="Google Shape;312;p23"/>
          <p:cNvSpPr txBox="1"/>
          <p:nvPr>
            <p:ph idx="1" type="body"/>
          </p:nvPr>
        </p:nvSpPr>
        <p:spPr>
          <a:xfrm>
            <a:off x="609600" y="1600202"/>
            <a:ext cx="10972800" cy="6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Directly declare which nodes must validate the against the shape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854300" y="2631540"/>
            <a:ext cx="5123400" cy="3971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alice,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bob,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6043583" y="3104380"/>
            <a:ext cx="58833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4746445" y="2933537"/>
            <a:ext cx="858179" cy="34168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6096000" y="4764938"/>
            <a:ext cx="858179" cy="34168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23"/>
          <p:cNvCxnSpPr>
            <a:stCxn id="315" idx="2"/>
            <a:endCxn id="316" idx="0"/>
          </p:cNvCxnSpPr>
          <p:nvPr/>
        </p:nvCxnSpPr>
        <p:spPr>
          <a:xfrm>
            <a:off x="5175535" y="3275223"/>
            <a:ext cx="1349700" cy="1489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Target class</a:t>
            </a:r>
            <a:endParaRPr/>
          </a:p>
        </p:txBody>
      </p:sp>
      <p:sp>
        <p:nvSpPr>
          <p:cNvPr id="323" name="Google Shape;323;p24"/>
          <p:cNvSpPr txBox="1"/>
          <p:nvPr>
            <p:ph idx="1" type="body"/>
          </p:nvPr>
        </p:nvSpPr>
        <p:spPr>
          <a:xfrm>
            <a:off x="609600" y="1600202"/>
            <a:ext cx="10972800" cy="1167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Selects all nodes that have a given class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Looks for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US"/>
              <a:t>:type declarations*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6645500" y="6198790"/>
            <a:ext cx="5260671" cy="369332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Also looks for </a:t>
            </a:r>
            <a:r>
              <a:rPr b="0" i="0" lang="en-US" sz="1800" u="none" cap="none" strike="noStrike">
                <a:solidFill>
                  <a:srgbClr val="4F6128"/>
                </a:solidFill>
                <a:latin typeface="Calibri"/>
                <a:ea typeface="Calibri"/>
                <a:cs typeface="Calibri"/>
                <a:sym typeface="Calibri"/>
              </a:rPr>
              <a:t>rdfs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:subClassOf*/</a:t>
            </a:r>
            <a:r>
              <a:rPr b="0" i="0" lang="en-US" sz="1800" u="none" cap="none" strike="noStrike">
                <a:solidFill>
                  <a:srgbClr val="4F6128"/>
                </a:solidFill>
                <a:latin typeface="Calibri"/>
                <a:ea typeface="Calibri"/>
                <a:cs typeface="Calibri"/>
                <a:sym typeface="Calibri"/>
              </a:rPr>
              <a:t>rdf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:type declarations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1184857" y="2874803"/>
            <a:ext cx="3857100" cy="3971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5965199" y="2874803"/>
            <a:ext cx="58833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3182431" y="3203423"/>
            <a:ext cx="858300" cy="3417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7115498" y="5065554"/>
            <a:ext cx="858179" cy="34168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24"/>
          <p:cNvCxnSpPr>
            <a:stCxn id="327" idx="2"/>
            <a:endCxn id="328" idx="1"/>
          </p:cNvCxnSpPr>
          <p:nvPr/>
        </p:nvCxnSpPr>
        <p:spPr>
          <a:xfrm>
            <a:off x="3611581" y="3545123"/>
            <a:ext cx="3504000" cy="1691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Implicit class target</a:t>
            </a:r>
            <a:endParaRPr/>
          </a:p>
        </p:txBody>
      </p:sp>
      <p:sp>
        <p:nvSpPr>
          <p:cNvPr id="335" name="Google Shape;335;p25"/>
          <p:cNvSpPr txBox="1"/>
          <p:nvPr>
            <p:ph idx="1" type="body"/>
          </p:nvPr>
        </p:nvSpPr>
        <p:spPr>
          <a:xfrm>
            <a:off x="609600" y="1600201"/>
            <a:ext cx="11262852" cy="1216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 shape with type sh:Shape and rdfs:Class is a scope class of itself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targetClass declaration is implicit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184857" y="2874803"/>
            <a:ext cx="46170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NodeShape,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5965199" y="2874803"/>
            <a:ext cx="58833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1233488" y="2914649"/>
            <a:ext cx="752475" cy="280989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7139941" y="5105400"/>
            <a:ext cx="769620" cy="28956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25"/>
          <p:cNvCxnSpPr>
            <a:stCxn id="338" idx="2"/>
            <a:endCxn id="339" idx="1"/>
          </p:cNvCxnSpPr>
          <p:nvPr/>
        </p:nvCxnSpPr>
        <p:spPr>
          <a:xfrm>
            <a:off x="1609725" y="3195638"/>
            <a:ext cx="5530200" cy="2054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targetSubjectsOf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609600" y="1741117"/>
            <a:ext cx="5452200" cy="3047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targetSubjectsOf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2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2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4208744" y="4496844"/>
            <a:ext cx="7520100" cy="22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Algebra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#Passes as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0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Logic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#Fails as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0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0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# Ignored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targetObjectsOf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609600" y="1691014"/>
            <a:ext cx="5961900" cy="3047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targetObjectsOf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isTaughtBy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2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2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4459265" y="4384110"/>
            <a:ext cx="7237800" cy="22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0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#Passes as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0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#Fails as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20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# Ignored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algebra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isTaughtBy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"/>
          <p:cNvSpPr txBox="1"/>
          <p:nvPr>
            <p:ph idx="4294967295"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Core constraint components</a:t>
            </a:r>
            <a:endParaRPr/>
          </a:p>
        </p:txBody>
      </p:sp>
      <p:graphicFrame>
        <p:nvGraphicFramePr>
          <p:cNvPr id="360" name="Google Shape;360;p28"/>
          <p:cNvGraphicFramePr/>
          <p:nvPr/>
        </p:nvGraphicFramePr>
        <p:xfrm>
          <a:off x="950888" y="16249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3015800"/>
                <a:gridCol w="7474050"/>
              </a:tblGrid>
              <a:tr h="35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Cardinality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minCount, maxCount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Types</a:t>
                      </a:r>
                      <a:r>
                        <a:rPr lang="en-US" sz="1800"/>
                        <a:t> of v</a:t>
                      </a:r>
                      <a:r>
                        <a:rPr lang="en-US" sz="1800"/>
                        <a:t>alues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datatype, class, nodeKind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node, in, hasValue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Range of values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minInclusive, maxInclusive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minExclusive,</a:t>
                      </a: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maxExclusive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String based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minLength, maxLength, pattern, stem, uniqueLang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Logical constraints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not, and, or, xone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Closed shapes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closed, ignoredProperties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Property pair constraints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equals, disjoint, lessThan, lessThanOrEquals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Non-validating constraints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name, value, defaultValue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Qualified shapes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qualifiedValueShape, qualifiedMinCount, qualifiedMaxCount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Cardinality constraints</a:t>
            </a:r>
            <a:endParaRPr/>
          </a:p>
        </p:txBody>
      </p:sp>
      <p:graphicFrame>
        <p:nvGraphicFramePr>
          <p:cNvPr id="366" name="Google Shape;366;p29"/>
          <p:cNvGraphicFramePr/>
          <p:nvPr/>
        </p:nvGraphicFramePr>
        <p:xfrm>
          <a:off x="1481070" y="1545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034750"/>
                <a:gridCol w="58986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minCount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Restricts minimum number of triples involving the focus node and a given predicate.</a:t>
                      </a:r>
                      <a:r>
                        <a:rPr lang="en-US" sz="1800"/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Default value: 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maxCount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Restricts maximum number of triples involving the focus node and a given predicate.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If not defined = unbounded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7" name="Google Shape;367;p29"/>
          <p:cNvSpPr txBox="1"/>
          <p:nvPr/>
        </p:nvSpPr>
        <p:spPr>
          <a:xfrm>
            <a:off x="8671100" y="6510249"/>
            <a:ext cx="3520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it.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https://tinyurl.com/y5wjrowt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734096" y="4121238"/>
            <a:ext cx="43638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29"/>
          <p:cNvSpPr txBox="1"/>
          <p:nvPr/>
        </p:nvSpPr>
        <p:spPr>
          <a:xfrm>
            <a:off x="5539640" y="3948421"/>
            <a:ext cx="4776300" cy="258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9502895" y="4714879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9502895" y="5565071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Datatypes of values</a:t>
            </a:r>
            <a:endParaRPr/>
          </a:p>
        </p:txBody>
      </p:sp>
      <p:graphicFrame>
        <p:nvGraphicFramePr>
          <p:cNvPr id="377" name="Google Shape;377;p30"/>
          <p:cNvGraphicFramePr/>
          <p:nvPr/>
        </p:nvGraphicFramePr>
        <p:xfrm>
          <a:off x="1473430" y="1417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282475"/>
                <a:gridCol w="66168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datatype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Restrict the datatype of all value nodes to a given value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8" name="Google Shape;378;p30"/>
          <p:cNvSpPr txBox="1"/>
          <p:nvPr/>
        </p:nvSpPr>
        <p:spPr>
          <a:xfrm>
            <a:off x="321972" y="2872249"/>
            <a:ext cx="4791000" cy="1754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>
            <a:off x="8605389" y="6392874"/>
            <a:ext cx="35346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https://tinyurl.com/y42ec72v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5254578" y="2872249"/>
            <a:ext cx="6937500" cy="1477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"1985-08-20"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^^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b="1"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"Unknown"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^^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b="1"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1990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11357764" y="3344645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11357764" y="3749412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of values</a:t>
            </a:r>
            <a:endParaRPr/>
          </a:p>
        </p:txBody>
      </p:sp>
      <p:graphicFrame>
        <p:nvGraphicFramePr>
          <p:cNvPr id="388" name="Google Shape;388;p31"/>
          <p:cNvGraphicFramePr/>
          <p:nvPr/>
        </p:nvGraphicFramePr>
        <p:xfrm>
          <a:off x="1300766" y="1417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282475"/>
                <a:gridCol w="66168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Verify that each node in an instance of some class</a:t>
                      </a:r>
                      <a:endParaRPr/>
                    </a:p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It also allows instances of subclasses*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9" name="Google Shape;389;p31"/>
          <p:cNvSpPr txBox="1"/>
          <p:nvPr/>
        </p:nvSpPr>
        <p:spPr>
          <a:xfrm>
            <a:off x="4855272" y="2658052"/>
            <a:ext cx="5344796" cy="646331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(*) The notion of SHACL instance is different from RDFS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It is defined as 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rdfs:subClassOf*/rdf:type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609600" y="3800827"/>
            <a:ext cx="4617000" cy="1477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5616935" y="3804241"/>
            <a:ext cx="5486400" cy="258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Manager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subClassOf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Manager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p31"/>
          <p:cNvSpPr txBox="1"/>
          <p:nvPr/>
        </p:nvSpPr>
        <p:spPr>
          <a:xfrm>
            <a:off x="10217750" y="554755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Kind of values</a:t>
            </a:r>
            <a:endParaRPr/>
          </a:p>
        </p:txBody>
      </p:sp>
      <p:graphicFrame>
        <p:nvGraphicFramePr>
          <p:cNvPr id="398" name="Google Shape;398;p32"/>
          <p:cNvGraphicFramePr/>
          <p:nvPr/>
        </p:nvGraphicFramePr>
        <p:xfrm>
          <a:off x="1442434" y="12352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282475"/>
                <a:gridCol w="66168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nodeKind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Possible</a:t>
                      </a:r>
                      <a:r>
                        <a:rPr lang="en-US" sz="1800"/>
                        <a:t> values: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BlankNode, IRI, Literal,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BlankNodeOrIRI, BlankNodeOrLiteral, IRIOrLiteral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9" name="Google Shape;399;p32"/>
          <p:cNvSpPr txBox="1"/>
          <p:nvPr/>
        </p:nvSpPr>
        <p:spPr>
          <a:xfrm>
            <a:off x="314241" y="2797665"/>
            <a:ext cx="46170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Literal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BlankNodeOrIRI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5102145" y="2785423"/>
            <a:ext cx="61302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 _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32"/>
          <p:cNvSpPr txBox="1"/>
          <p:nvPr/>
        </p:nvSpPr>
        <p:spPr>
          <a:xfrm>
            <a:off x="10510622" y="5967323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2"/>
          <p:cNvSpPr txBox="1"/>
          <p:nvPr/>
        </p:nvSpPr>
        <p:spPr>
          <a:xfrm>
            <a:off x="10510622" y="546290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10510622" y="305291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on values</a:t>
            </a:r>
            <a:endParaRPr/>
          </a:p>
        </p:txBody>
      </p:sp>
      <p:graphicFrame>
        <p:nvGraphicFramePr>
          <p:cNvPr id="409" name="Google Shape;409;p33"/>
          <p:cNvGraphicFramePr/>
          <p:nvPr/>
        </p:nvGraphicFramePr>
        <p:xfrm>
          <a:off x="1300766" y="1417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282475"/>
                <a:gridCol w="66168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hasValue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Verifies that the focus node has a given value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Enumerates the value nodes that a property may have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0" name="Google Shape;410;p33"/>
          <p:cNvSpPr txBox="1"/>
          <p:nvPr/>
        </p:nvSpPr>
        <p:spPr>
          <a:xfrm>
            <a:off x="445193" y="3187137"/>
            <a:ext cx="5123400" cy="258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hasValue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Female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" name="Google Shape;411;p33"/>
          <p:cNvSpPr txBox="1"/>
          <p:nvPr/>
        </p:nvSpPr>
        <p:spPr>
          <a:xfrm>
            <a:off x="5769735" y="3206839"/>
            <a:ext cx="61560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Female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AnotherCompany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Unknown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" name="Google Shape;412;p33"/>
          <p:cNvSpPr txBox="1"/>
          <p:nvPr/>
        </p:nvSpPr>
        <p:spPr>
          <a:xfrm>
            <a:off x="11295302" y="5722256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 txBox="1"/>
          <p:nvPr/>
        </p:nvSpPr>
        <p:spPr>
          <a:xfrm>
            <a:off x="11295302" y="449950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on values with another shape</a:t>
            </a:r>
            <a:endParaRPr/>
          </a:p>
        </p:txBody>
      </p:sp>
      <p:graphicFrame>
        <p:nvGraphicFramePr>
          <p:cNvPr id="419" name="Google Shape;419;p34"/>
          <p:cNvGraphicFramePr/>
          <p:nvPr/>
        </p:nvGraphicFramePr>
        <p:xfrm>
          <a:off x="1300766" y="1417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282475"/>
                <a:gridCol w="66168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All values of a given property must have a given shape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Recursion is not allowed in current SHACL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0" name="Google Shape;420;p34"/>
          <p:cNvSpPr txBox="1"/>
          <p:nvPr/>
        </p:nvSpPr>
        <p:spPr>
          <a:xfrm>
            <a:off x="609600" y="3103808"/>
            <a:ext cx="4617000" cy="3417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34"/>
          <p:cNvSpPr txBox="1"/>
          <p:nvPr/>
        </p:nvSpPr>
        <p:spPr>
          <a:xfrm>
            <a:off x="5808370" y="3103808"/>
            <a:ext cx="57741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Another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"OurCompany"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Another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34"/>
          <p:cNvSpPr txBox="1"/>
          <p:nvPr/>
        </p:nvSpPr>
        <p:spPr>
          <a:xfrm>
            <a:off x="10599843" y="4027137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Value shapes and recursion</a:t>
            </a:r>
            <a:endParaRPr/>
          </a:p>
        </p:txBody>
      </p:sp>
      <p:sp>
        <p:nvSpPr>
          <p:cNvPr id="428" name="Google Shape;428;p35"/>
          <p:cNvSpPr txBox="1"/>
          <p:nvPr>
            <p:ph idx="1" type="body"/>
          </p:nvPr>
        </p:nvSpPr>
        <p:spPr>
          <a:xfrm>
            <a:off x="562479" y="1531886"/>
            <a:ext cx="10972800" cy="69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Can we define cyclic data models as the following?</a:t>
            </a:r>
            <a:endParaRPr/>
          </a:p>
        </p:txBody>
      </p:sp>
      <p:sp>
        <p:nvSpPr>
          <p:cNvPr id="429" name="Google Shape;429;p35"/>
          <p:cNvSpPr txBox="1"/>
          <p:nvPr/>
        </p:nvSpPr>
        <p:spPr>
          <a:xfrm>
            <a:off x="1019781" y="2237286"/>
            <a:ext cx="3983700" cy="4248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35"/>
          <p:cNvSpPr txBox="1"/>
          <p:nvPr/>
        </p:nvSpPr>
        <p:spPr>
          <a:xfrm>
            <a:off x="6031707" y="2248172"/>
            <a:ext cx="1043189" cy="126628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:User</a:t>
            </a:r>
            <a:endParaRPr/>
          </a:p>
        </p:txBody>
      </p:sp>
      <p:cxnSp>
        <p:nvCxnSpPr>
          <p:cNvPr id="431" name="Google Shape;431;p35"/>
          <p:cNvCxnSpPr/>
          <p:nvPr/>
        </p:nvCxnSpPr>
        <p:spPr>
          <a:xfrm>
            <a:off x="6031707" y="2593721"/>
            <a:ext cx="104318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35"/>
          <p:cNvSpPr txBox="1"/>
          <p:nvPr/>
        </p:nvSpPr>
        <p:spPr>
          <a:xfrm>
            <a:off x="9083069" y="2248172"/>
            <a:ext cx="2452210" cy="126628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35"/>
          <p:cNvCxnSpPr/>
          <p:nvPr/>
        </p:nvCxnSpPr>
        <p:spPr>
          <a:xfrm flipH="1" rot="10800000">
            <a:off x="9083069" y="2593721"/>
            <a:ext cx="2452210" cy="84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35"/>
          <p:cNvSpPr txBox="1"/>
          <p:nvPr/>
        </p:nvSpPr>
        <p:spPr>
          <a:xfrm>
            <a:off x="9083069" y="2593721"/>
            <a:ext cx="23711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xsd:string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5" name="Google Shape;435;p35"/>
          <p:cNvCxnSpPr/>
          <p:nvPr/>
        </p:nvCxnSpPr>
        <p:spPr>
          <a:xfrm>
            <a:off x="7074896" y="2467321"/>
            <a:ext cx="20081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36" name="Google Shape;436;p35"/>
          <p:cNvSpPr txBox="1"/>
          <p:nvPr/>
        </p:nvSpPr>
        <p:spPr>
          <a:xfrm>
            <a:off x="7217369" y="2145410"/>
            <a:ext cx="16754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worksFor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7" name="Google Shape;437;p35"/>
          <p:cNvCxnSpPr/>
          <p:nvPr/>
        </p:nvCxnSpPr>
        <p:spPr>
          <a:xfrm rot="10800000">
            <a:off x="7074897" y="3278014"/>
            <a:ext cx="200817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38" name="Google Shape;438;p35"/>
          <p:cNvSpPr txBox="1"/>
          <p:nvPr/>
        </p:nvSpPr>
        <p:spPr>
          <a:xfrm>
            <a:off x="7241252" y="2956103"/>
            <a:ext cx="16754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9" name="Google Shape;439;p35"/>
          <p:cNvSpPr txBox="1"/>
          <p:nvPr/>
        </p:nvSpPr>
        <p:spPr>
          <a:xfrm>
            <a:off x="5848547" y="5653216"/>
            <a:ext cx="64085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No, current SHACL specification doesn't allow this</a:t>
            </a:r>
            <a:endParaRPr/>
          </a:p>
        </p:txBody>
      </p:sp>
      <p:sp>
        <p:nvSpPr>
          <p:cNvPr id="440" name="Google Shape;440;p35"/>
          <p:cNvSpPr txBox="1"/>
          <p:nvPr/>
        </p:nvSpPr>
        <p:spPr>
          <a:xfrm>
            <a:off x="6031707" y="3701230"/>
            <a:ext cx="5250300" cy="1754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35"/>
          <p:cNvSpPr txBox="1"/>
          <p:nvPr/>
        </p:nvSpPr>
        <p:spPr>
          <a:xfrm>
            <a:off x="7442396" y="6260859"/>
            <a:ext cx="37562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Depends on Implementation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 txBox="1"/>
          <p:nvPr/>
        </p:nvSpPr>
        <p:spPr>
          <a:xfrm>
            <a:off x="11073903" y="6145918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 txBox="1"/>
          <p:nvPr/>
        </p:nvSpPr>
        <p:spPr>
          <a:xfrm>
            <a:off x="1112521" y="6486711"/>
            <a:ext cx="55546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https://tinyurl.com/y3hkka6s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Exercise: </a:t>
            </a:r>
            <a:endParaRPr/>
          </a:p>
        </p:txBody>
      </p:sp>
      <p:sp>
        <p:nvSpPr>
          <p:cNvPr id="449" name="Google Shape;449;p3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Represent the previous shapes without recursion using property paths</a:t>
            </a:r>
            <a:endParaRPr/>
          </a:p>
        </p:txBody>
      </p:sp>
      <p:sp>
        <p:nvSpPr>
          <p:cNvPr id="450" name="Google Shape;450;p37"/>
          <p:cNvSpPr txBox="1"/>
          <p:nvPr/>
        </p:nvSpPr>
        <p:spPr>
          <a:xfrm>
            <a:off x="5936640" y="2712273"/>
            <a:ext cx="1043189" cy="126628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:User</a:t>
            </a:r>
            <a:endParaRPr/>
          </a:p>
        </p:txBody>
      </p:sp>
      <p:cxnSp>
        <p:nvCxnSpPr>
          <p:cNvPr id="451" name="Google Shape;451;p37"/>
          <p:cNvCxnSpPr/>
          <p:nvPr/>
        </p:nvCxnSpPr>
        <p:spPr>
          <a:xfrm>
            <a:off x="5936640" y="3057822"/>
            <a:ext cx="104318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37"/>
          <p:cNvSpPr txBox="1"/>
          <p:nvPr/>
        </p:nvSpPr>
        <p:spPr>
          <a:xfrm>
            <a:off x="8988002" y="2712273"/>
            <a:ext cx="2452210" cy="126628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37"/>
          <p:cNvCxnSpPr/>
          <p:nvPr/>
        </p:nvCxnSpPr>
        <p:spPr>
          <a:xfrm flipH="1" rot="10800000">
            <a:off x="8988002" y="3057822"/>
            <a:ext cx="2452210" cy="84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37"/>
          <p:cNvSpPr txBox="1"/>
          <p:nvPr/>
        </p:nvSpPr>
        <p:spPr>
          <a:xfrm>
            <a:off x="8988002" y="3057822"/>
            <a:ext cx="23711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xsd:string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5" name="Google Shape;455;p37"/>
          <p:cNvCxnSpPr/>
          <p:nvPr/>
        </p:nvCxnSpPr>
        <p:spPr>
          <a:xfrm>
            <a:off x="6979829" y="2931422"/>
            <a:ext cx="20081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56" name="Google Shape;456;p37"/>
          <p:cNvSpPr txBox="1"/>
          <p:nvPr/>
        </p:nvSpPr>
        <p:spPr>
          <a:xfrm>
            <a:off x="7122302" y="2609511"/>
            <a:ext cx="16754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worksFor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7" name="Google Shape;457;p37"/>
          <p:cNvCxnSpPr/>
          <p:nvPr/>
        </p:nvCxnSpPr>
        <p:spPr>
          <a:xfrm rot="10800000">
            <a:off x="6979830" y="3742115"/>
            <a:ext cx="200817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58" name="Google Shape;458;p37"/>
          <p:cNvSpPr txBox="1"/>
          <p:nvPr/>
        </p:nvSpPr>
        <p:spPr>
          <a:xfrm>
            <a:off x="7146185" y="3420204"/>
            <a:ext cx="16754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approach to avoid recursion</a:t>
            </a:r>
            <a:endParaRPr/>
          </a:p>
        </p:txBody>
      </p:sp>
      <p:sp>
        <p:nvSpPr>
          <p:cNvPr id="464" name="Google Shape;464;p36"/>
          <p:cNvSpPr txBox="1"/>
          <p:nvPr>
            <p:ph idx="1" type="body"/>
          </p:nvPr>
        </p:nvSpPr>
        <p:spPr>
          <a:xfrm>
            <a:off x="609600" y="1411789"/>
            <a:ext cx="10972800" cy="74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Add rdf:type arcs for every resource and use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endParaRPr/>
          </a:p>
        </p:txBody>
      </p:sp>
      <p:sp>
        <p:nvSpPr>
          <p:cNvPr id="465" name="Google Shape;465;p36"/>
          <p:cNvSpPr txBox="1"/>
          <p:nvPr/>
        </p:nvSpPr>
        <p:spPr>
          <a:xfrm>
            <a:off x="916644" y="2100105"/>
            <a:ext cx="4237200" cy="4248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8381253" y="6375580"/>
            <a:ext cx="35016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https://tinyurl.com/yynnts8o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5614020" y="3513258"/>
            <a:ext cx="58833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Something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8" name="Google Shape;468;p36"/>
          <p:cNvSpPr txBox="1"/>
          <p:nvPr/>
        </p:nvSpPr>
        <p:spPr>
          <a:xfrm>
            <a:off x="10702874" y="470696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6"/>
          <p:cNvSpPr txBox="1"/>
          <p:nvPr/>
        </p:nvSpPr>
        <p:spPr>
          <a:xfrm>
            <a:off x="5993790" y="2152203"/>
            <a:ext cx="1043189" cy="126628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:User</a:t>
            </a:r>
            <a:endParaRPr/>
          </a:p>
        </p:txBody>
      </p:sp>
      <p:cxnSp>
        <p:nvCxnSpPr>
          <p:cNvPr id="470" name="Google Shape;470;p36"/>
          <p:cNvCxnSpPr/>
          <p:nvPr/>
        </p:nvCxnSpPr>
        <p:spPr>
          <a:xfrm>
            <a:off x="5993790" y="2497752"/>
            <a:ext cx="104318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36"/>
          <p:cNvSpPr txBox="1"/>
          <p:nvPr/>
        </p:nvSpPr>
        <p:spPr>
          <a:xfrm>
            <a:off x="9045152" y="2152203"/>
            <a:ext cx="2452210" cy="126628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36"/>
          <p:cNvCxnSpPr/>
          <p:nvPr/>
        </p:nvCxnSpPr>
        <p:spPr>
          <a:xfrm flipH="1" rot="10800000">
            <a:off x="9045152" y="2497752"/>
            <a:ext cx="2452210" cy="84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36"/>
          <p:cNvSpPr txBox="1"/>
          <p:nvPr/>
        </p:nvSpPr>
        <p:spPr>
          <a:xfrm>
            <a:off x="9045152" y="2497752"/>
            <a:ext cx="23711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xsd:string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4" name="Google Shape;474;p36"/>
          <p:cNvCxnSpPr/>
          <p:nvPr/>
        </p:nvCxnSpPr>
        <p:spPr>
          <a:xfrm>
            <a:off x="7036979" y="2371352"/>
            <a:ext cx="20081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75" name="Google Shape;475;p36"/>
          <p:cNvSpPr txBox="1"/>
          <p:nvPr/>
        </p:nvSpPr>
        <p:spPr>
          <a:xfrm>
            <a:off x="7179452" y="2049441"/>
            <a:ext cx="16754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worksFor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6" name="Google Shape;476;p36"/>
          <p:cNvCxnSpPr/>
          <p:nvPr/>
        </p:nvCxnSpPr>
        <p:spPr>
          <a:xfrm rot="10800000">
            <a:off x="7036980" y="3182045"/>
            <a:ext cx="200817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77" name="Google Shape;477;p36"/>
          <p:cNvSpPr txBox="1"/>
          <p:nvPr/>
        </p:nvSpPr>
        <p:spPr>
          <a:xfrm>
            <a:off x="7203335" y="2860134"/>
            <a:ext cx="16754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Logical Operators</a:t>
            </a:r>
            <a:endParaRPr/>
          </a:p>
        </p:txBody>
      </p:sp>
      <p:graphicFrame>
        <p:nvGraphicFramePr>
          <p:cNvPr id="483" name="Google Shape;483;p38"/>
          <p:cNvGraphicFramePr/>
          <p:nvPr/>
        </p:nvGraphicFramePr>
        <p:xfrm>
          <a:off x="2133600" y="29699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1456950"/>
                <a:gridCol w="59508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Conjunction of a list of shapes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Disjunction of a list of shapes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Negation of a shape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xone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Exactly one (similar XOR for 2 arguments)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and</a:t>
            </a:r>
            <a:endParaRPr/>
          </a:p>
        </p:txBody>
      </p:sp>
      <p:sp>
        <p:nvSpPr>
          <p:cNvPr id="489" name="Google Shape;489;p3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Default behavior</a:t>
            </a:r>
            <a:endParaRPr/>
          </a:p>
        </p:txBody>
      </p:sp>
      <p:sp>
        <p:nvSpPr>
          <p:cNvPr id="490" name="Google Shape;490;p39"/>
          <p:cNvSpPr txBox="1"/>
          <p:nvPr/>
        </p:nvSpPr>
        <p:spPr>
          <a:xfrm>
            <a:off x="1088572" y="2351313"/>
            <a:ext cx="49929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39"/>
          <p:cNvSpPr txBox="1"/>
          <p:nvPr/>
        </p:nvSpPr>
        <p:spPr>
          <a:xfrm>
            <a:off x="6737585" y="2324124"/>
            <a:ext cx="4992900" cy="3078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39"/>
          <p:cNvSpPr txBox="1"/>
          <p:nvPr/>
        </p:nvSpPr>
        <p:spPr>
          <a:xfrm>
            <a:off x="6229585" y="360157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≡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or</a:t>
            </a:r>
            <a:endParaRPr/>
          </a:p>
        </p:txBody>
      </p:sp>
      <p:sp>
        <p:nvSpPr>
          <p:cNvPr id="498" name="Google Shape;498;p40"/>
          <p:cNvSpPr txBox="1"/>
          <p:nvPr/>
        </p:nvSpPr>
        <p:spPr>
          <a:xfrm>
            <a:off x="609600" y="1698171"/>
            <a:ext cx="41103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9" name="Google Shape;499;p40"/>
          <p:cNvSpPr txBox="1"/>
          <p:nvPr/>
        </p:nvSpPr>
        <p:spPr>
          <a:xfrm>
            <a:off x="5500913" y="2612572"/>
            <a:ext cx="4935000" cy="1477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40"/>
          <p:cNvSpPr txBox="1"/>
          <p:nvPr/>
        </p:nvSpPr>
        <p:spPr>
          <a:xfrm>
            <a:off x="9685443" y="3589256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1"/>
          <p:cNvSpPr txBox="1"/>
          <p:nvPr>
            <p:ph idx="4294967295"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</a:t>
            </a:r>
            <a:endParaRPr/>
          </a:p>
        </p:txBody>
      </p:sp>
      <p:sp>
        <p:nvSpPr>
          <p:cNvPr id="506" name="Google Shape;506;p41"/>
          <p:cNvSpPr txBox="1"/>
          <p:nvPr/>
        </p:nvSpPr>
        <p:spPr>
          <a:xfrm>
            <a:off x="1146628" y="2525486"/>
            <a:ext cx="36039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NotFoaf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 [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/>
          </a:p>
        </p:txBody>
      </p:sp>
      <p:sp>
        <p:nvSpPr>
          <p:cNvPr id="507" name="Google Shape;507;p41"/>
          <p:cNvSpPr txBox="1"/>
          <p:nvPr/>
        </p:nvSpPr>
        <p:spPr>
          <a:xfrm>
            <a:off x="5805713" y="2525486"/>
            <a:ext cx="4574700" cy="1477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/>
              <a:t> # ???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a94e6f0ce8_0_6"/>
          <p:cNvSpPr txBox="1"/>
          <p:nvPr>
            <p:ph idx="4294967295"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</a:t>
            </a:r>
            <a:endParaRPr/>
          </a:p>
        </p:txBody>
      </p:sp>
      <p:sp>
        <p:nvSpPr>
          <p:cNvPr id="513" name="Google Shape;513;g2a94e6f0ce8_0_6"/>
          <p:cNvSpPr txBox="1"/>
          <p:nvPr/>
        </p:nvSpPr>
        <p:spPr>
          <a:xfrm>
            <a:off x="1146628" y="2525486"/>
            <a:ext cx="36039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NotFoaf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 [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/>
          </a:p>
        </p:txBody>
      </p:sp>
      <p:sp>
        <p:nvSpPr>
          <p:cNvPr id="514" name="Google Shape;514;g2a94e6f0ce8_0_6"/>
          <p:cNvSpPr txBox="1"/>
          <p:nvPr/>
        </p:nvSpPr>
        <p:spPr>
          <a:xfrm>
            <a:off x="5805713" y="2525486"/>
            <a:ext cx="4574700" cy="1754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Pass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Fail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Pass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Exactly one</a:t>
            </a:r>
            <a:endParaRPr/>
          </a:p>
        </p:txBody>
      </p:sp>
      <p:sp>
        <p:nvSpPr>
          <p:cNvPr id="520" name="Google Shape;520;p42"/>
          <p:cNvSpPr txBox="1"/>
          <p:nvPr/>
        </p:nvSpPr>
        <p:spPr>
          <a:xfrm>
            <a:off x="522514" y="1894114"/>
            <a:ext cx="4027800" cy="3971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xone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1" name="Google Shape;521;p42"/>
          <p:cNvSpPr txBox="1"/>
          <p:nvPr/>
        </p:nvSpPr>
        <p:spPr>
          <a:xfrm>
            <a:off x="4865914" y="2002971"/>
            <a:ext cx="6769800" cy="3417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a94e6f0ce8_0_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Exactly one</a:t>
            </a:r>
            <a:endParaRPr/>
          </a:p>
        </p:txBody>
      </p:sp>
      <p:sp>
        <p:nvSpPr>
          <p:cNvPr id="527" name="Google Shape;527;g2a94e6f0ce8_0_0"/>
          <p:cNvSpPr txBox="1"/>
          <p:nvPr/>
        </p:nvSpPr>
        <p:spPr>
          <a:xfrm>
            <a:off x="522514" y="1894114"/>
            <a:ext cx="4027800" cy="3971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xone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g2a94e6f0ce8_0_0"/>
          <p:cNvSpPr txBox="1"/>
          <p:nvPr/>
        </p:nvSpPr>
        <p:spPr>
          <a:xfrm>
            <a:off x="4865914" y="2002971"/>
            <a:ext cx="6769800" cy="3417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#Passes as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#Passes as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#Fails as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#Fails as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534" name="Google Shape;534;p43"/>
          <p:cNvSpPr txBox="1"/>
          <p:nvPr>
            <p:ph idx="1" type="body"/>
          </p:nvPr>
        </p:nvSpPr>
        <p:spPr>
          <a:xfrm>
            <a:off x="609600" y="1600201"/>
            <a:ext cx="10972800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IF-THEN pattern: IF X Then Y = (NOT X) OR Y</a:t>
            </a:r>
            <a:endParaRPr/>
          </a:p>
        </p:txBody>
      </p:sp>
      <p:pic>
        <p:nvPicPr>
          <p:cNvPr descr="Bina_pencil_blue.png" id="535" name="Google Shape;5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8" y="115888"/>
            <a:ext cx="1328737" cy="12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3"/>
          <p:cNvSpPr txBox="1"/>
          <p:nvPr/>
        </p:nvSpPr>
        <p:spPr>
          <a:xfrm>
            <a:off x="609600" y="2143760"/>
            <a:ext cx="1052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Tạo hình trạng kiểm tra: Tất cả các các sản phẩm đều có đúng 1 productID, bên cạnh đó nếu sản phẩm thuộc lớp Vehicle thì các thuộc tính vehicleEngine và fuelType phải được cung cấp.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43"/>
          <p:cNvSpPr txBox="1"/>
          <p:nvPr/>
        </p:nvSpPr>
        <p:spPr>
          <a:xfrm>
            <a:off x="2164080" y="3373060"/>
            <a:ext cx="77622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p1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Conforms</a:t>
            </a:r>
            <a:endParaRPr sz="18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"P1"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Conforms</a:t>
            </a:r>
            <a:endParaRPr sz="18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"P2"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fuelType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"Gasoline"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vehicleEngine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"X2"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p3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Fails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"P3"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a948f3b73f_0_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543" name="Google Shape;543;g2a948f3b73f_0_9"/>
          <p:cNvSpPr txBox="1"/>
          <p:nvPr>
            <p:ph idx="1" type="body"/>
          </p:nvPr>
        </p:nvSpPr>
        <p:spPr>
          <a:xfrm>
            <a:off x="609600" y="1600201"/>
            <a:ext cx="10972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IF-THEN pattern: IF X Then Y = (NOT X) OR Y</a:t>
            </a:r>
            <a:endParaRPr/>
          </a:p>
        </p:txBody>
      </p:sp>
      <p:pic>
        <p:nvPicPr>
          <p:cNvPr descr="Bina_pencil_blue.png" id="544" name="Google Shape;544;g2a948f3b73f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8" y="115888"/>
            <a:ext cx="1328737" cy="12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2a948f3b73f_0_9"/>
          <p:cNvSpPr txBox="1"/>
          <p:nvPr/>
        </p:nvSpPr>
        <p:spPr>
          <a:xfrm>
            <a:off x="609600" y="2143760"/>
            <a:ext cx="1052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Tạo hình trạng kiểm tra: Tất cả các các sản phẩm đều có đúng 1 productID, bên cạnh đó nếu sản phẩm thuộc lớp Vehicle thì các thuộc tính vehicleEngine và fuelType phải được cung cấp.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g2a948f3b73f_0_9"/>
          <p:cNvSpPr txBox="1"/>
          <p:nvPr/>
        </p:nvSpPr>
        <p:spPr>
          <a:xfrm>
            <a:off x="6782075" y="3373050"/>
            <a:ext cx="49731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p1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Conforms</a:t>
            </a:r>
            <a:endParaRPr sz="18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"P1"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Conforms</a:t>
            </a:r>
            <a:endParaRPr sz="18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"P2"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fuelType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"Gasoline"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vehicleEngine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"X2"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p3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Fails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"P3"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g2a948f3b73f_0_9"/>
          <p:cNvSpPr txBox="1"/>
          <p:nvPr/>
        </p:nvSpPr>
        <p:spPr>
          <a:xfrm>
            <a:off x="518500" y="3326700"/>
            <a:ext cx="5746200" cy="302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@prefix :       &lt;http://semweb.edu.vn/people#&gt;  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@prefix sh:     &lt;http://www.w3.org/ns/shacl#&gt;  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@prefix xsd:    &lt;http://www.w3.org/2001/XMLSchema#&gt; 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:ProductShape a sh:NodeShape 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sh:targetNode :p1, :p2, :p3, :p4, :p5, :p6 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sh:property [ sh:path :productID ; sh:minCount 1; sh:maxCount 1 ];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sh:or ([sh:not [sh:class :Vehicle]]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      [sh:property [sh:path :fuelType; sh:minCount 1],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                   [sh:path :vehicleEngine; sh:minCount 1]]).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553" name="Google Shape;553;p44"/>
          <p:cNvSpPr txBox="1"/>
          <p:nvPr>
            <p:ph idx="1" type="body"/>
          </p:nvPr>
        </p:nvSpPr>
        <p:spPr>
          <a:xfrm>
            <a:off x="609600" y="1600201"/>
            <a:ext cx="10972800" cy="66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IF-THEN-ELSE pattern</a:t>
            </a:r>
            <a:endParaRPr/>
          </a:p>
        </p:txBody>
      </p:sp>
      <p:pic>
        <p:nvPicPr>
          <p:cNvPr descr="Bina_pencil_blue.png" id="554" name="Google Shape;5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8" y="115888"/>
            <a:ext cx="1328737" cy="12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4"/>
          <p:cNvSpPr txBox="1"/>
          <p:nvPr/>
        </p:nvSpPr>
        <p:spPr>
          <a:xfrm>
            <a:off x="838200" y="2336800"/>
            <a:ext cx="10459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products must have 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:productID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and, if a product has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US" sz="2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it must have the properties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vehicleEngine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fuelType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it must have </a:t>
            </a:r>
            <a:r>
              <a:rPr lang="en-US" sz="2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 string value.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5"/>
          <p:cNvSpPr txBox="1"/>
          <p:nvPr>
            <p:ph idx="4294967295"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Value ranges</a:t>
            </a:r>
            <a:endParaRPr/>
          </a:p>
        </p:txBody>
      </p:sp>
      <p:graphicFrame>
        <p:nvGraphicFramePr>
          <p:cNvPr id="561" name="Google Shape;561;p45"/>
          <p:cNvGraphicFramePr/>
          <p:nvPr/>
        </p:nvGraphicFramePr>
        <p:xfrm>
          <a:off x="4206526" y="1417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1859000"/>
                <a:gridCol w="175767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minInclusive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&lt;=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maxInclusive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&gt;=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minExclusive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maxExclusive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2" name="Google Shape;562;p45"/>
          <p:cNvSpPr txBox="1"/>
          <p:nvPr/>
        </p:nvSpPr>
        <p:spPr>
          <a:xfrm>
            <a:off x="8671829" y="6410292"/>
            <a:ext cx="34474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https://tinyurl.com/yy4bsavj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5"/>
          <p:cNvSpPr txBox="1"/>
          <p:nvPr/>
        </p:nvSpPr>
        <p:spPr>
          <a:xfrm>
            <a:off x="347730" y="3709115"/>
            <a:ext cx="51234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minInclusive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maxInclusive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/>
          </a:p>
        </p:txBody>
      </p:sp>
      <p:sp>
        <p:nvSpPr>
          <p:cNvPr id="564" name="Google Shape;564;p45"/>
          <p:cNvSpPr txBox="1"/>
          <p:nvPr/>
        </p:nvSpPr>
        <p:spPr>
          <a:xfrm>
            <a:off x="5750417" y="3709115"/>
            <a:ext cx="52545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bad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average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veryGood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zero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565" name="Google Shape;565;p45"/>
          <p:cNvSpPr txBox="1"/>
          <p:nvPr/>
        </p:nvSpPr>
        <p:spPr>
          <a:xfrm>
            <a:off x="10108472" y="518398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String based constraints</a:t>
            </a:r>
            <a:endParaRPr/>
          </a:p>
        </p:txBody>
      </p:sp>
      <p:graphicFrame>
        <p:nvGraphicFramePr>
          <p:cNvPr id="571" name="Google Shape;571;p46"/>
          <p:cNvGraphicFramePr/>
          <p:nvPr/>
        </p:nvGraphicFramePr>
        <p:xfrm>
          <a:off x="1195834" y="1912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519100"/>
                <a:gridCol w="73028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minLength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Restricts the minimum string length on</a:t>
                      </a:r>
                      <a:r>
                        <a:rPr lang="en-US" sz="1800"/>
                        <a:t> </a:t>
                      </a:r>
                      <a:r>
                        <a:rPr lang="en-US" sz="1800"/>
                        <a:t>value nodes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maxLength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Restricts the maximum string length on</a:t>
                      </a:r>
                      <a:r>
                        <a:rPr lang="en-US" sz="1800"/>
                        <a:t> </a:t>
                      </a:r>
                      <a:r>
                        <a:rPr lang="en-US" sz="1800"/>
                        <a:t>value nodes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pattern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Checks if the string value matches a regular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expression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minLength/maxLength</a:t>
            </a:r>
            <a:endParaRPr/>
          </a:p>
        </p:txBody>
      </p:sp>
      <p:sp>
        <p:nvSpPr>
          <p:cNvPr id="577" name="Google Shape;577;p47"/>
          <p:cNvSpPr txBox="1"/>
          <p:nvPr/>
        </p:nvSpPr>
        <p:spPr>
          <a:xfrm>
            <a:off x="8712374" y="6456438"/>
            <a:ext cx="33772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https://tinyurl.com/y5laj3vf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7"/>
          <p:cNvSpPr txBox="1"/>
          <p:nvPr/>
        </p:nvSpPr>
        <p:spPr>
          <a:xfrm>
            <a:off x="1140590" y="3750551"/>
            <a:ext cx="38571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minLength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maxLength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47"/>
          <p:cNvSpPr txBox="1"/>
          <p:nvPr/>
        </p:nvSpPr>
        <p:spPr>
          <a:xfrm>
            <a:off x="5621945" y="3750551"/>
            <a:ext cx="53835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strange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_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strange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47"/>
          <p:cNvSpPr txBox="1"/>
          <p:nvPr/>
        </p:nvSpPr>
        <p:spPr>
          <a:xfrm>
            <a:off x="10220196" y="5303786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7"/>
          <p:cNvSpPr txBox="1"/>
          <p:nvPr>
            <p:ph idx="1" type="body"/>
          </p:nvPr>
        </p:nvSpPr>
        <p:spPr>
          <a:xfrm>
            <a:off x="609600" y="1600201"/>
            <a:ext cx="10972800" cy="1383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Checks the string representation of the value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This cannot be applied to blank nodes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minLength = 0, no restriction on string length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82" name="Google Shape;582;p47"/>
          <p:cNvSpPr txBox="1"/>
          <p:nvPr/>
        </p:nvSpPr>
        <p:spPr>
          <a:xfrm>
            <a:off x="10220196" y="4228151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7"/>
          <p:cNvSpPr txBox="1"/>
          <p:nvPr/>
        </p:nvSpPr>
        <p:spPr>
          <a:xfrm>
            <a:off x="10308361" y="4663041"/>
            <a:ext cx="3978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</a:t>
            </a:r>
            <a:endParaRPr/>
          </a:p>
        </p:txBody>
      </p:sp>
      <p:sp>
        <p:nvSpPr>
          <p:cNvPr id="589" name="Google Shape;589;p48"/>
          <p:cNvSpPr txBox="1"/>
          <p:nvPr>
            <p:ph idx="1" type="body"/>
          </p:nvPr>
        </p:nvSpPr>
        <p:spPr>
          <a:xfrm>
            <a:off x="609600" y="1600202"/>
            <a:ext cx="10972800" cy="858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Checks if the values matches a regular expression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It can be combined with sh:flags</a:t>
            </a:r>
            <a:endParaRPr/>
          </a:p>
        </p:txBody>
      </p:sp>
      <p:sp>
        <p:nvSpPr>
          <p:cNvPr id="590" name="Google Shape;590;p48"/>
          <p:cNvSpPr txBox="1"/>
          <p:nvPr/>
        </p:nvSpPr>
        <p:spPr>
          <a:xfrm>
            <a:off x="764499" y="3177914"/>
            <a:ext cx="42372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"^P\\d{3,4}"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1" name="Google Shape;591;p48"/>
          <p:cNvSpPr txBox="1"/>
          <p:nvPr/>
        </p:nvSpPr>
        <p:spPr>
          <a:xfrm>
            <a:off x="5846164" y="3177914"/>
            <a:ext cx="51582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"P2345"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bus 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"p567"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truck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"P12"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bike 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"B123"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2" name="Google Shape;592;p48"/>
          <p:cNvSpPr txBox="1"/>
          <p:nvPr/>
        </p:nvSpPr>
        <p:spPr>
          <a:xfrm>
            <a:off x="10430058" y="4674199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8"/>
          <p:cNvSpPr txBox="1"/>
          <p:nvPr/>
        </p:nvSpPr>
        <p:spPr>
          <a:xfrm>
            <a:off x="10430058" y="416819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Language based constraints</a:t>
            </a:r>
            <a:endParaRPr/>
          </a:p>
        </p:txBody>
      </p:sp>
      <p:graphicFrame>
        <p:nvGraphicFramePr>
          <p:cNvPr id="599" name="Google Shape;599;p49"/>
          <p:cNvGraphicFramePr/>
          <p:nvPr/>
        </p:nvGraphicFramePr>
        <p:xfrm>
          <a:off x="1185032" y="1417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519100"/>
                <a:gridCol w="7302825"/>
              </a:tblGrid>
              <a:tr h="46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languageIn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Declares the allowed languages of a literal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uniqueLang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Specifies that no pair of nodes can have the same language tag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languageIn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5" name="Google Shape;605;p50"/>
          <p:cNvSpPr txBox="1"/>
          <p:nvPr>
            <p:ph idx="1" type="body"/>
          </p:nvPr>
        </p:nvSpPr>
        <p:spPr>
          <a:xfrm>
            <a:off x="609600" y="1600201"/>
            <a:ext cx="10972800" cy="1021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Specifies the allowed language that a literal can have</a:t>
            </a:r>
            <a:endParaRPr/>
          </a:p>
        </p:txBody>
      </p:sp>
      <p:sp>
        <p:nvSpPr>
          <p:cNvPr id="606" name="Google Shape;606;p50"/>
          <p:cNvSpPr txBox="1"/>
          <p:nvPr/>
        </p:nvSpPr>
        <p:spPr>
          <a:xfrm>
            <a:off x="985520" y="3177914"/>
            <a:ext cx="4490332" cy="175432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languageIn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"es"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50"/>
          <p:cNvSpPr txBox="1"/>
          <p:nvPr/>
        </p:nvSpPr>
        <p:spPr>
          <a:xfrm>
            <a:off x="5805524" y="3177914"/>
            <a:ext cx="6101996" cy="34163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p234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"jamón"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"ham"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p235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"milk"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p236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"Käse"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p237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"patatas"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"kartofeln"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50"/>
          <p:cNvSpPr txBox="1"/>
          <p:nvPr/>
        </p:nvSpPr>
        <p:spPr>
          <a:xfrm>
            <a:off x="10399578" y="493224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0"/>
          <p:cNvSpPr txBox="1"/>
          <p:nvPr/>
        </p:nvSpPr>
        <p:spPr>
          <a:xfrm>
            <a:off x="10399578" y="5578571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uniqueLang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p51"/>
          <p:cNvSpPr txBox="1"/>
          <p:nvPr>
            <p:ph idx="1" type="body"/>
          </p:nvPr>
        </p:nvSpPr>
        <p:spPr>
          <a:xfrm>
            <a:off x="609600" y="1600201"/>
            <a:ext cx="10972800" cy="777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Checks that no pair of nodes use the same language tag</a:t>
            </a:r>
            <a:endParaRPr/>
          </a:p>
        </p:txBody>
      </p:sp>
      <p:sp>
        <p:nvSpPr>
          <p:cNvPr id="616" name="Google Shape;616;p51"/>
          <p:cNvSpPr txBox="1"/>
          <p:nvPr/>
        </p:nvSpPr>
        <p:spPr>
          <a:xfrm>
            <a:off x="8763167" y="6308727"/>
            <a:ext cx="28192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it: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http://goo.gl/B1PNcO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1"/>
          <p:cNvSpPr txBox="1"/>
          <p:nvPr/>
        </p:nvSpPr>
        <p:spPr>
          <a:xfrm>
            <a:off x="322288" y="2728210"/>
            <a:ext cx="4490332" cy="175432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CountryShape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uniqueLang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618" name="Google Shape;618;p51"/>
          <p:cNvSpPr txBox="1"/>
          <p:nvPr/>
        </p:nvSpPr>
        <p:spPr>
          <a:xfrm>
            <a:off x="4897120" y="2728210"/>
            <a:ext cx="6972591" cy="397031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spain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"Spain"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"España"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france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"Francia"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italy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usa 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"USA"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"United States"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9" name="Google Shape;619;p51"/>
          <p:cNvSpPr txBox="1"/>
          <p:nvPr/>
        </p:nvSpPr>
        <p:spPr>
          <a:xfrm>
            <a:off x="10476028" y="5894280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625" name="Google Shape;625;p52"/>
          <p:cNvSpPr txBox="1"/>
          <p:nvPr>
            <p:ph idx="1" type="body"/>
          </p:nvPr>
        </p:nvSpPr>
        <p:spPr>
          <a:xfrm>
            <a:off x="609600" y="1524001"/>
            <a:ext cx="10972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Nodes must have exactly one literal per language in English and Spanish for property </a:t>
            </a:r>
            <a:r>
              <a:rPr lang="en-US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</a:t>
            </a:r>
            <a:endParaRPr/>
          </a:p>
        </p:txBody>
      </p:sp>
      <p:pic>
        <p:nvPicPr>
          <p:cNvPr descr="Bina_pencil_blue.png" id="626" name="Google Shape;62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8" y="115888"/>
            <a:ext cx="1328737" cy="12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52"/>
          <p:cNvSpPr txBox="1"/>
          <p:nvPr/>
        </p:nvSpPr>
        <p:spPr>
          <a:xfrm>
            <a:off x="4897120" y="2728210"/>
            <a:ext cx="69726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spain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"Spain"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"España"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france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"Francia"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italy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usa 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"USA"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"United States"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8" name="Google Shape;628;p52"/>
          <p:cNvSpPr txBox="1"/>
          <p:nvPr/>
        </p:nvSpPr>
        <p:spPr>
          <a:xfrm>
            <a:off x="10369053" y="5738330"/>
            <a:ext cx="57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2"/>
          <p:cNvSpPr txBox="1"/>
          <p:nvPr/>
        </p:nvSpPr>
        <p:spPr>
          <a:xfrm>
            <a:off x="9220503" y="4797180"/>
            <a:ext cx="57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52"/>
          <p:cNvSpPr txBox="1"/>
          <p:nvPr/>
        </p:nvSpPr>
        <p:spPr>
          <a:xfrm>
            <a:off x="9220503" y="4111380"/>
            <a:ext cx="57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3"/>
          <p:cNvSpPr txBox="1"/>
          <p:nvPr>
            <p:ph idx="4294967295"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Property pair constraints</a:t>
            </a:r>
            <a:endParaRPr/>
          </a:p>
        </p:txBody>
      </p:sp>
      <p:graphicFrame>
        <p:nvGraphicFramePr>
          <p:cNvPr id="636" name="Google Shape;636;p53"/>
          <p:cNvGraphicFramePr/>
          <p:nvPr/>
        </p:nvGraphicFramePr>
        <p:xfrm>
          <a:off x="1195834" y="12891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395825"/>
                <a:gridCol w="819060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The sets of values of both properties at a given focus node must be equal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disjoint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The sets of values of both properties at a given focus node must be different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lessThan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The values must be smaller than the values of another property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lessThanOrEquals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The values must be smaller or equal than the values of another property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7" name="Google Shape;637;p53"/>
          <p:cNvSpPr txBox="1"/>
          <p:nvPr/>
        </p:nvSpPr>
        <p:spPr>
          <a:xfrm>
            <a:off x="609600" y="3552669"/>
            <a:ext cx="4363800" cy="258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equals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disjoint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8" name="Google Shape;638;p53"/>
          <p:cNvSpPr txBox="1"/>
          <p:nvPr/>
        </p:nvSpPr>
        <p:spPr>
          <a:xfrm>
            <a:off x="5306518" y="3410580"/>
            <a:ext cx="59361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"Cooper"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"Smith"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9" name="Google Shape;639;p53"/>
          <p:cNvSpPr txBox="1"/>
          <p:nvPr/>
        </p:nvSpPr>
        <p:spPr>
          <a:xfrm>
            <a:off x="10127970" y="4712086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53"/>
          <p:cNvSpPr txBox="1"/>
          <p:nvPr/>
        </p:nvSpPr>
        <p:spPr>
          <a:xfrm>
            <a:off x="10127970" y="5692991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Closed shapes</a:t>
            </a:r>
            <a:endParaRPr/>
          </a:p>
        </p:txBody>
      </p:sp>
      <p:sp>
        <p:nvSpPr>
          <p:cNvPr id="646" name="Google Shape;646;p54"/>
          <p:cNvSpPr txBox="1"/>
          <p:nvPr>
            <p:ph idx="1" type="body"/>
          </p:nvPr>
        </p:nvSpPr>
        <p:spPr>
          <a:xfrm>
            <a:off x="609600" y="1600201"/>
            <a:ext cx="10972800" cy="618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graphicFrame>
        <p:nvGraphicFramePr>
          <p:cNvPr id="647" name="Google Shape;647;p54"/>
          <p:cNvGraphicFramePr/>
          <p:nvPr/>
        </p:nvGraphicFramePr>
        <p:xfrm>
          <a:off x="609600" y="15363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3055900"/>
                <a:gridCol w="81167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closed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Valid resources must only have values for properties that appear in </a:t>
                      </a:r>
                      <a:r>
                        <a:rPr lang="en-US" sz="1800">
                          <a:solidFill>
                            <a:srgbClr val="4F612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</a:t>
                      </a: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:property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ignoredProperties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Optional list of properties that are also permitted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8" name="Google Shape;648;p54"/>
          <p:cNvSpPr txBox="1"/>
          <p:nvPr/>
        </p:nvSpPr>
        <p:spPr>
          <a:xfrm>
            <a:off x="609600" y="3013023"/>
            <a:ext cx="48702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closed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ignoredProperties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9" name="Google Shape;649;p54"/>
          <p:cNvSpPr txBox="1"/>
          <p:nvPr/>
        </p:nvSpPr>
        <p:spPr>
          <a:xfrm>
            <a:off x="5561351" y="3013023"/>
            <a:ext cx="53064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"Cooper"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"Smith"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"King"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54"/>
          <p:cNvSpPr txBox="1"/>
          <p:nvPr/>
        </p:nvSpPr>
        <p:spPr>
          <a:xfrm>
            <a:off x="10097990" y="5093384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Qualified value shapes</a:t>
            </a:r>
            <a:endParaRPr/>
          </a:p>
        </p:txBody>
      </p:sp>
      <p:sp>
        <p:nvSpPr>
          <p:cNvPr id="656" name="Google Shape;656;p55"/>
          <p:cNvSpPr txBox="1"/>
          <p:nvPr>
            <p:ph idx="1" type="body"/>
          </p:nvPr>
        </p:nvSpPr>
        <p:spPr>
          <a:xfrm>
            <a:off x="609600" y="1600202"/>
            <a:ext cx="10972800" cy="127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Problem with repeated properties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Example: Books have two IDs (an isbn and an internal code)</a:t>
            </a:r>
            <a:endParaRPr/>
          </a:p>
        </p:txBody>
      </p:sp>
      <p:sp>
        <p:nvSpPr>
          <p:cNvPr id="657" name="Google Shape;657;p55"/>
          <p:cNvSpPr txBox="1"/>
          <p:nvPr/>
        </p:nvSpPr>
        <p:spPr>
          <a:xfrm>
            <a:off x="869430" y="2865804"/>
            <a:ext cx="47436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"^isbn"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 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"^code"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8" name="Google Shape;658;p55"/>
          <p:cNvSpPr txBox="1"/>
          <p:nvPr/>
        </p:nvSpPr>
        <p:spPr>
          <a:xfrm>
            <a:off x="5872866" y="3705904"/>
            <a:ext cx="5376900" cy="646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b1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"isbn:123-456-789"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"code234"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9" name="Google Shape;659;p55"/>
          <p:cNvSpPr txBox="1"/>
          <p:nvPr/>
        </p:nvSpPr>
        <p:spPr>
          <a:xfrm>
            <a:off x="7466342" y="4527797"/>
            <a:ext cx="128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fails!!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Qualified value shapes</a:t>
            </a:r>
            <a:endParaRPr/>
          </a:p>
        </p:txBody>
      </p:sp>
      <p:sp>
        <p:nvSpPr>
          <p:cNvPr id="665" name="Google Shape;665;p56"/>
          <p:cNvSpPr txBox="1"/>
          <p:nvPr>
            <p:ph idx="1" type="body"/>
          </p:nvPr>
        </p:nvSpPr>
        <p:spPr>
          <a:xfrm>
            <a:off x="609600" y="1254086"/>
            <a:ext cx="10972800" cy="768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Qualified value shapes verify that certain number of values of a given property have a given shape</a:t>
            </a:r>
            <a:endParaRPr/>
          </a:p>
        </p:txBody>
      </p:sp>
      <p:sp>
        <p:nvSpPr>
          <p:cNvPr id="666" name="Google Shape;666;p56"/>
          <p:cNvSpPr txBox="1"/>
          <p:nvPr/>
        </p:nvSpPr>
        <p:spPr>
          <a:xfrm>
            <a:off x="456784" y="2141202"/>
            <a:ext cx="5080500" cy="4525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qualifiedValueShape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FF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"^isbn"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qualifiedValueShape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FF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"^code"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6"/>
          <p:cNvSpPr txBox="1"/>
          <p:nvPr/>
        </p:nvSpPr>
        <p:spPr>
          <a:xfrm>
            <a:off x="5872866" y="3705904"/>
            <a:ext cx="5376900" cy="646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b1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"isbn:123-456-789"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"code234"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Non-validating constraints</a:t>
            </a:r>
            <a:endParaRPr/>
          </a:p>
        </p:txBody>
      </p:sp>
      <p:sp>
        <p:nvSpPr>
          <p:cNvPr id="673" name="Google Shape;673;p57"/>
          <p:cNvSpPr txBox="1"/>
          <p:nvPr>
            <p:ph idx="1" type="body"/>
          </p:nvPr>
        </p:nvSpPr>
        <p:spPr>
          <a:xfrm>
            <a:off x="609600" y="120009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Can be useful to annotate shapes or design UI forms</a:t>
            </a:r>
            <a:endParaRPr/>
          </a:p>
        </p:txBody>
      </p:sp>
      <p:graphicFrame>
        <p:nvGraphicFramePr>
          <p:cNvPr id="674" name="Google Shape;674;p57"/>
          <p:cNvGraphicFramePr/>
          <p:nvPr/>
        </p:nvGraphicFramePr>
        <p:xfrm>
          <a:off x="1345736" y="18447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1712250"/>
                <a:gridCol w="810967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Provide human-readable labels for a property 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Provide a description of a property 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Relative order of the property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 several constraints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together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5" name="Google Shape;675;p57"/>
          <p:cNvSpPr txBox="1"/>
          <p:nvPr/>
        </p:nvSpPr>
        <p:spPr>
          <a:xfrm>
            <a:off x="6923380" y="2924757"/>
            <a:ext cx="44517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url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"URL"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description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"User URL"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description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"User name"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Non-validating constraints</a:t>
            </a:r>
            <a:endParaRPr/>
          </a:p>
        </p:txBody>
      </p:sp>
      <p:sp>
        <p:nvSpPr>
          <p:cNvPr id="681" name="Google Shape;681;p58"/>
          <p:cNvSpPr txBox="1"/>
          <p:nvPr/>
        </p:nvSpPr>
        <p:spPr>
          <a:xfrm>
            <a:off x="404734" y="1456181"/>
            <a:ext cx="5276400" cy="3540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url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"URL"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userDetails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userDetails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address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"Address"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"Country"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2" name="Google Shape;682;p58"/>
          <p:cNvSpPr txBox="1"/>
          <p:nvPr/>
        </p:nvSpPr>
        <p:spPr>
          <a:xfrm>
            <a:off x="6425784" y="1456181"/>
            <a:ext cx="4711908" cy="20313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userDetails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PropertyGroup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"User details"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location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PropertyGroup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"Location"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58"/>
          <p:cNvSpPr txBox="1"/>
          <p:nvPr/>
        </p:nvSpPr>
        <p:spPr>
          <a:xfrm>
            <a:off x="6935449" y="4523182"/>
            <a:ext cx="3704860" cy="193899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User details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URL: _____________________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Name: ___________________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Address: __________________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Country: __________________</a:t>
            </a:r>
            <a:endParaRPr/>
          </a:p>
        </p:txBody>
      </p:sp>
      <p:sp>
        <p:nvSpPr>
          <p:cNvPr id="684" name="Google Shape;684;p58"/>
          <p:cNvSpPr txBox="1"/>
          <p:nvPr/>
        </p:nvSpPr>
        <p:spPr>
          <a:xfrm>
            <a:off x="5981075" y="3957403"/>
            <a:ext cx="39510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agent could generate a form like: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9"/>
          <p:cNvSpPr txBox="1"/>
          <p:nvPr>
            <p:ph idx="4294967295"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SHACL-SPARQL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SPARQL constraints</a:t>
            </a:r>
            <a:endParaRPr/>
          </a:p>
        </p:txBody>
      </p:sp>
      <p:sp>
        <p:nvSpPr>
          <p:cNvPr id="695" name="Google Shape;695;p60"/>
          <p:cNvSpPr txBox="1"/>
          <p:nvPr>
            <p:ph idx="1" type="body"/>
          </p:nvPr>
        </p:nvSpPr>
        <p:spPr>
          <a:xfrm>
            <a:off x="518160" y="1417638"/>
            <a:ext cx="10972800" cy="183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Ràng buộc dựa trên truy vấn SPARQL</a:t>
            </a:r>
            <a:r>
              <a:rPr lang="en-US" sz="2800"/>
              <a:t>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When the SPARQL query return validation errors a violation is reported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SPARQL constraints have type sh:SPARQLConstraint</a:t>
            </a:r>
            <a:endParaRPr sz="2400"/>
          </a:p>
        </p:txBody>
      </p:sp>
      <p:graphicFrame>
        <p:nvGraphicFramePr>
          <p:cNvPr id="696" name="Google Shape;696;p60"/>
          <p:cNvGraphicFramePr/>
          <p:nvPr/>
        </p:nvGraphicFramePr>
        <p:xfrm>
          <a:off x="2296160" y="2927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1261025"/>
                <a:gridCol w="3994225"/>
              </a:tblGrid>
              <a:tr h="397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message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Message in case of error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sparql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SPARQL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code that is run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prefixes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Points to namespace prefix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declarations defined by sh:declare: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one has: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sh:prefix:  Prefix alias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sh:namespace: namespace IRI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SPARQL constraints</a:t>
            </a:r>
            <a:endParaRPr/>
          </a:p>
        </p:txBody>
      </p:sp>
      <p:sp>
        <p:nvSpPr>
          <p:cNvPr id="702" name="Google Shape;702;p61"/>
          <p:cNvSpPr txBox="1"/>
          <p:nvPr>
            <p:ph idx="1" type="body"/>
          </p:nvPr>
        </p:nvSpPr>
        <p:spPr>
          <a:xfrm>
            <a:off x="609600" y="1600201"/>
            <a:ext cx="10972800" cy="1132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Special variables are pre-binded by the SHACL-SPARQL processor</a:t>
            </a:r>
            <a:endParaRPr sz="2800"/>
          </a:p>
        </p:txBody>
      </p:sp>
      <p:graphicFrame>
        <p:nvGraphicFramePr>
          <p:cNvPr id="703" name="Google Shape;703;p61"/>
          <p:cNvGraphicFramePr/>
          <p:nvPr/>
        </p:nvGraphicFramePr>
        <p:xfrm>
          <a:off x="1257293" y="23598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124800"/>
                <a:gridCol w="70522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$this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Focus Node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$shapesGraph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Can be used to query the shapes graph</a:t>
                      </a: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 named graphs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Similar to: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GRAPH</a:t>
                      </a:r>
                      <a:r>
                        <a:rPr lang="en-US" sz="18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$</a:t>
                      </a:r>
                      <a:r>
                        <a:rPr lang="en-US" sz="18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shapesGraph { ... }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$currentShape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shape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SPARQL constraints</a:t>
            </a:r>
            <a:endParaRPr/>
          </a:p>
        </p:txBody>
      </p:sp>
      <p:sp>
        <p:nvSpPr>
          <p:cNvPr id="709" name="Google Shape;709;p6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Mappings between result rows and error validation information</a:t>
            </a:r>
            <a:endParaRPr/>
          </a:p>
        </p:txBody>
      </p:sp>
      <p:graphicFrame>
        <p:nvGraphicFramePr>
          <p:cNvPr id="710" name="Google Shape;710;p62"/>
          <p:cNvGraphicFramePr/>
          <p:nvPr/>
        </p:nvGraphicFramePr>
        <p:xfrm>
          <a:off x="1993692" y="244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623275"/>
                <a:gridCol w="56962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Constraint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sh:focusNode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Value of </a:t>
                      </a:r>
                      <a:r>
                        <a:rPr lang="en-US" sz="18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$this</a:t>
                      </a:r>
                      <a:r>
                        <a:rPr lang="en-US" sz="1800"/>
                        <a:t> variable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sh:subject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Value of </a:t>
                      </a:r>
                      <a:r>
                        <a:rPr lang="en-US" sz="18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?subject</a:t>
                      </a:r>
                      <a:r>
                        <a:rPr lang="en-US" sz="1800"/>
                        <a:t> variable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sh:predicate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Value of </a:t>
                      </a:r>
                      <a:r>
                        <a:rPr lang="en-US" sz="18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?predicate</a:t>
                      </a:r>
                      <a:r>
                        <a:rPr lang="en-US" sz="1800"/>
                        <a:t> variable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sh:object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Value of </a:t>
                      </a:r>
                      <a:r>
                        <a:rPr lang="en-US" sz="18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?object</a:t>
                      </a:r>
                      <a:r>
                        <a:rPr lang="en-US" sz="1800"/>
                        <a:t> variable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sh:message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Value of </a:t>
                      </a:r>
                      <a:r>
                        <a:rPr lang="en-US" sz="18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?message</a:t>
                      </a:r>
                      <a:r>
                        <a:rPr lang="en-US" sz="1800"/>
                        <a:t> variable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sh:sourceConstraint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The constraint that was validated against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sh:sourceShape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The shape that was validated against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sh:severity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sh:ViolationError</a:t>
                      </a:r>
                      <a:r>
                        <a:rPr lang="en-US" sz="1800"/>
                        <a:t> by default or the value of sh:severity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SPARQL constraints</a:t>
            </a:r>
            <a:endParaRPr/>
          </a:p>
        </p:txBody>
      </p:sp>
      <p:sp>
        <p:nvSpPr>
          <p:cNvPr id="716" name="Google Shape;716;p63"/>
          <p:cNvSpPr txBox="1"/>
          <p:nvPr>
            <p:ph idx="1" type="body"/>
          </p:nvPr>
        </p:nvSpPr>
        <p:spPr>
          <a:xfrm>
            <a:off x="322502" y="1268230"/>
            <a:ext cx="10972800" cy="746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Example: Name must be the concatenation of singleName and familyName</a:t>
            </a:r>
            <a:endParaRPr sz="2400"/>
          </a:p>
        </p:txBody>
      </p:sp>
      <p:sp>
        <p:nvSpPr>
          <p:cNvPr id="717" name="Google Shape;717;p63"/>
          <p:cNvSpPr txBox="1"/>
          <p:nvPr/>
        </p:nvSpPr>
        <p:spPr>
          <a:xfrm>
            <a:off x="200397" y="1920240"/>
            <a:ext cx="8376000" cy="4771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a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sparql [ a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SPARQLConstraint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":name must equal :givenName+:familyName"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prefixes [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declare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"schema"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600" u="sng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http://schema.org/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^^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anyURI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]]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?path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?name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?name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?givenName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familyName 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?familyName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isLiteral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isLiteral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?givenName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isLiteral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?familyName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concat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?givenName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 '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?familyName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))!=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?name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}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8" name="Google Shape;718;p63"/>
          <p:cNvSpPr txBox="1"/>
          <p:nvPr/>
        </p:nvSpPr>
        <p:spPr>
          <a:xfrm>
            <a:off x="7744330" y="3151346"/>
            <a:ext cx="35511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familyName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"Cooper"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a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familyName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"Smith"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 Smith"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9" name="Google Shape;719;p63"/>
          <p:cNvSpPr txBox="1"/>
          <p:nvPr/>
        </p:nvSpPr>
        <p:spPr>
          <a:xfrm>
            <a:off x="11295302" y="4554904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3"/>
          <p:cNvSpPr/>
          <p:nvPr/>
        </p:nvSpPr>
        <p:spPr>
          <a:xfrm>
            <a:off x="9234011" y="6493896"/>
            <a:ext cx="29579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https://tinyurl.com/y6p7zyon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SPARQL constraint components</a:t>
            </a:r>
            <a:endParaRPr/>
          </a:p>
        </p:txBody>
      </p:sp>
      <p:sp>
        <p:nvSpPr>
          <p:cNvPr id="726" name="Google Shape;726;p64"/>
          <p:cNvSpPr txBox="1"/>
          <p:nvPr>
            <p:ph idx="1" type="body"/>
          </p:nvPr>
        </p:nvSpPr>
        <p:spPr>
          <a:xfrm>
            <a:off x="609600" y="1600201"/>
            <a:ext cx="11186160" cy="1305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SHACL-SPARQL allows to declare custom constraint components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Once defined, they can be used like bult-in constraint components</a:t>
            </a:r>
            <a:endParaRPr/>
          </a:p>
        </p:txBody>
      </p:sp>
      <p:sp>
        <p:nvSpPr>
          <p:cNvPr id="727" name="Google Shape;727;p64"/>
          <p:cNvSpPr txBox="1"/>
          <p:nvPr/>
        </p:nvSpPr>
        <p:spPr>
          <a:xfrm>
            <a:off x="873760" y="3261360"/>
            <a:ext cx="3983783" cy="20313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ProductShape a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      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8" name="Google Shape;728;p64"/>
          <p:cNvSpPr txBox="1"/>
          <p:nvPr/>
        </p:nvSpPr>
        <p:spPr>
          <a:xfrm>
            <a:off x="5648960" y="3403600"/>
            <a:ext cx="4378960" cy="175432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c1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c2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210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345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c3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9" name="Google Shape;729;p64"/>
          <p:cNvSpPr txBox="1"/>
          <p:nvPr/>
        </p:nvSpPr>
        <p:spPr>
          <a:xfrm>
            <a:off x="9293782" y="3880782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4"/>
          <p:cNvSpPr txBox="1"/>
          <p:nvPr/>
        </p:nvSpPr>
        <p:spPr>
          <a:xfrm>
            <a:off x="9293782" y="4378622"/>
            <a:ext cx="574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4"/>
          <p:cNvSpPr/>
          <p:nvPr/>
        </p:nvSpPr>
        <p:spPr>
          <a:xfrm>
            <a:off x="4562903" y="4382749"/>
            <a:ext cx="589280" cy="28872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SPARQL constraint components</a:t>
            </a:r>
            <a:endParaRPr/>
          </a:p>
        </p:txBody>
      </p:sp>
      <p:sp>
        <p:nvSpPr>
          <p:cNvPr id="737" name="Google Shape;737;p65"/>
          <p:cNvSpPr txBox="1"/>
          <p:nvPr/>
        </p:nvSpPr>
        <p:spPr>
          <a:xfrm>
            <a:off x="91440" y="1305878"/>
            <a:ext cx="5679440" cy="230832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FixedListConstraintComponent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ConstraintComponent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parameter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    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"Size of list"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description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"The size of the list"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labelTemplate </a:t>
            </a:r>
            <a:r>
              <a:rPr lang="en-US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"Size of values: \"{$size}\""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propertyValidator :fixedLengthValidator .</a:t>
            </a:r>
            <a:endParaRPr/>
          </a:p>
        </p:txBody>
      </p:sp>
      <p:sp>
        <p:nvSpPr>
          <p:cNvPr id="738" name="Google Shape;738;p65"/>
          <p:cNvSpPr txBox="1"/>
          <p:nvPr/>
        </p:nvSpPr>
        <p:spPr>
          <a:xfrm>
            <a:off x="6003811" y="1306642"/>
            <a:ext cx="5452134" cy="440120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:fixedLengthValidator  a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SPARQLSelectValidator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"{$PATH} must have length {?size}, not {?count}"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prefixes [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declare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"rdf"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 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 u="sng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http://www.w3.org/1999/02/22-rdf-syntax-ns#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4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$count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$PATH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{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?member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?count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$size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*/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?member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}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BY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$size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isBlank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?count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$size</a:t>
            </a:r>
            <a:r>
              <a:rPr lang="en-US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r>
              <a:rPr lang="en-US" sz="14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9" name="Google Shape;739;p65"/>
          <p:cNvSpPr txBox="1"/>
          <p:nvPr/>
        </p:nvSpPr>
        <p:spPr>
          <a:xfrm>
            <a:off x="2814320" y="4673600"/>
            <a:ext cx="28440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validators: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SPARQLSelectValidator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SPARQLASKValidator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0" name="Google Shape;740;p65"/>
          <p:cNvSpPr txBox="1"/>
          <p:nvPr/>
        </p:nvSpPr>
        <p:spPr>
          <a:xfrm>
            <a:off x="4781006" y="6418217"/>
            <a:ext cx="2878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https://tinyurl.com/y3l5ksah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SPARQL constraint components</a:t>
            </a:r>
            <a:endParaRPr/>
          </a:p>
        </p:txBody>
      </p:sp>
      <p:graphicFrame>
        <p:nvGraphicFramePr>
          <p:cNvPr id="746" name="Google Shape;746;p66"/>
          <p:cNvGraphicFramePr/>
          <p:nvPr/>
        </p:nvGraphicFramePr>
        <p:xfrm>
          <a:off x="1312972" y="16010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{61B8EA43-D825-4125-A80C-85D22B2E5EC3}</a:tableStyleId>
              </a:tblPr>
              <a:tblGrid>
                <a:gridCol w="2812000"/>
                <a:gridCol w="55075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Property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sh:parameter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Declares the parameters of the constraint component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The values are subclasses of property shapes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sh:path declares the parameter name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sh:optional declares if the parameter is optional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sh:labelTemplate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Suggests how constraints are rendered.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Can refer to parameter names using: </a:t>
                      </a: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$varName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sh:nodeValidator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Associates a node shape validator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sh:propertyValidator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Associates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 property shape validator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7" name="Google Shape;747;p66"/>
          <p:cNvSpPr txBox="1"/>
          <p:nvPr/>
        </p:nvSpPr>
        <p:spPr>
          <a:xfrm>
            <a:off x="1435261" y="5000263"/>
            <a:ext cx="68435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SPARQL based validators can be  SELECT or ASK-based validators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SHACL and inference systems</a:t>
            </a:r>
            <a:endParaRPr/>
          </a:p>
        </p:txBody>
      </p:sp>
      <p:sp>
        <p:nvSpPr>
          <p:cNvPr id="753" name="Google Shape;753;p6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SHACL uses a subset of RDFS for target declarations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rdfs:subClassOf, rdf:type, owl:imports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 shapes graph containing sh:entailment with value E indicates the SHACL processor the kind of entailment to apply to the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Possible values: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RDFS: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http://www.w3.org/ns/entailment/RDFS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OWL 2 RDF based: </a:t>
            </a:r>
            <a:r>
              <a:rPr lang="en-US" sz="2400" u="sng">
                <a:solidFill>
                  <a:schemeClr val="hlink"/>
                </a:solidFill>
                <a:hlinkClick r:id="rId4"/>
              </a:rPr>
              <a:t>http://www.w3.org/ns/entailment/OWL-RDF-Based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...and more, see: </a:t>
            </a:r>
            <a:r>
              <a:rPr lang="en-US" sz="2400" u="sng">
                <a:solidFill>
                  <a:schemeClr val="hlink"/>
                </a:solidFill>
                <a:hlinkClick r:id="rId5"/>
              </a:rPr>
              <a:t>https://www.w3.org/TR/sparql11-entailment/</a:t>
            </a:r>
            <a:endParaRPr sz="2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features</a:t>
            </a:r>
            <a:endParaRPr/>
          </a:p>
        </p:txBody>
      </p:sp>
      <p:sp>
        <p:nvSpPr>
          <p:cNvPr id="759" name="Google Shape;759;p6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SHACL accepted as Recommendation on July 2017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SHACL community group created: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https://www.w3.org/community/shacl/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Several features were postponed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Advanced features: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https://w3c.github.io/data-shapes/shacl-af/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SHACL functions and rules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Compact syntax: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https://w3c.github.io/shacl/shacl-compact-syntax/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648ffc6a9b_0_5"/>
          <p:cNvSpPr txBox="1"/>
          <p:nvPr>
            <p:ph idx="4294967295" type="title"/>
          </p:nvPr>
        </p:nvSpPr>
        <p:spPr>
          <a:xfrm>
            <a:off x="609600" y="274644"/>
            <a:ext cx="10972800" cy="541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1</a:t>
            </a:r>
            <a:endParaRPr/>
          </a:p>
        </p:txBody>
      </p:sp>
      <p:sp>
        <p:nvSpPr>
          <p:cNvPr id="765" name="Google Shape;765;g2648ffc6a9b_0_5"/>
          <p:cNvSpPr txBox="1"/>
          <p:nvPr/>
        </p:nvSpPr>
        <p:spPr>
          <a:xfrm>
            <a:off x="604250" y="937175"/>
            <a:ext cx="10970700" cy="50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@prefix ex: &lt;http://semweb.edu.vn/example#&gt;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@prefix xsd: &lt;http://www.w3.org/2001/XMLSchema#&gt;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ex:Hamlet ex:author ex:Shakespeare ; ex:price "10.50"^^xsd:decimal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ex:Macbeth ex:author ex:Shakespeare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ex:Tamburlaine ex:author ex:Marlowe ; ex:price "17"^^xsd:integer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ex:DoctorFaustus ex:author ex:Marlowe ; ex:price "12"^^xsd:integer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    ex:title "The Tragical History of Doctor Faustus"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34343"/>
                </a:solidFill>
              </a:rPr>
              <a:t>ex:RomeoJulia ex:author ex:Brooke ; ex:price "9"^^xsd:integer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34343"/>
                </a:solidFill>
              </a:rPr>
              <a:t>Tạo hình trạng để kiểm tra đảm bảo tất cả sách đều có giá - ex:price?</a:t>
            </a:r>
            <a:endParaRPr sz="2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648ffc6a9b_0_16"/>
          <p:cNvSpPr txBox="1"/>
          <p:nvPr>
            <p:ph idx="4294967295" type="title"/>
          </p:nvPr>
        </p:nvSpPr>
        <p:spPr>
          <a:xfrm>
            <a:off x="609600" y="274644"/>
            <a:ext cx="10972800" cy="541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1</a:t>
            </a:r>
            <a:r>
              <a:rPr baseline="-25000" lang="en-US"/>
              <a:t>(2)</a:t>
            </a:r>
            <a:endParaRPr baseline="-25000"/>
          </a:p>
        </p:txBody>
      </p:sp>
      <p:sp>
        <p:nvSpPr>
          <p:cNvPr id="771" name="Google Shape;771;g2648ffc6a9b_0_16"/>
          <p:cNvSpPr txBox="1"/>
          <p:nvPr/>
        </p:nvSpPr>
        <p:spPr>
          <a:xfrm>
            <a:off x="604250" y="937175"/>
            <a:ext cx="10970700" cy="58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@prefix ex: &lt;http://semweb.edu.vn/example#&gt; 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@prefix xsd: &lt;http://www.w3.org/2001/XMLSchema#&gt; 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ex:Hamlet ex:author ex:Shakespeare ; ex:price "10.50"^^xsd:decimal 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ex:Macbeth ex:author ex:Shakespeare 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ex:Tamburlaine ex:author ex:Marlowe ; ex:price "17"^^xsd:integer 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ex:DoctorFaustus ex:author ex:Marlowe ; ex:price "12"^^xsd:integer ;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    ex:title "The Tragical History of Doctor Faustus" 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ex:RomeoJulia ex:author ex:Brooke ; ex:price "9"^^xsd:integer 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Tạo hình trạng để kiểm tra đảm bảo tất cả sách đều có giá - ex:price?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@prefix sh:     &lt;http://www.w3.org/ns/shacl#&gt;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@prefix ex: &lt;http://semweb.edu.vn/example#&gt;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ex:PriceShape a sh:NodeShape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  sh:targetSubjectsOf ex:author;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  sh:property [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    sh:path ex:price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34343"/>
                </a:solidFill>
              </a:rPr>
              <a:t>    sh:minCount 1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34343"/>
                </a:solidFill>
              </a:rPr>
              <a:t>  ].</a:t>
            </a:r>
            <a:endParaRPr sz="2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648ffc6a9b_0_11"/>
          <p:cNvSpPr txBox="1"/>
          <p:nvPr>
            <p:ph idx="4294967295" type="title"/>
          </p:nvPr>
        </p:nvSpPr>
        <p:spPr>
          <a:xfrm>
            <a:off x="609600" y="274644"/>
            <a:ext cx="10972800" cy="541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2</a:t>
            </a:r>
            <a:endParaRPr/>
          </a:p>
        </p:txBody>
      </p:sp>
      <p:sp>
        <p:nvSpPr>
          <p:cNvPr id="777" name="Google Shape;777;g2648ffc6a9b_0_11"/>
          <p:cNvSpPr txBox="1"/>
          <p:nvPr/>
        </p:nvSpPr>
        <p:spPr>
          <a:xfrm>
            <a:off x="604250" y="937175"/>
            <a:ext cx="10970700" cy="50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@prefix ex: &lt;http://example.org/&gt; 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@prefix xsd: &lt;http://www.w3.org/2001/XMLSchema#&gt; 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ex:Earth ex:radius "6372.8"^^xsd:double 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ex:satellite ex:Moon 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ex:Mars ex:radius "3402.5"^^xsd:double 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ex:satellite ex:Phobos, ex:Deimos 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ex:Moon ex:name "Mond"@de, "Moon"@en 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ex:radius "1737.1"^^xsd:double 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ex:Phobos ex:name "Phobos" 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ex:Deimos ex:name "Deimos" .</a:t>
            </a:r>
            <a:endParaRPr sz="2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34343"/>
                </a:solidFill>
              </a:rPr>
              <a:t>Tạo hình trạng để kiểm tra đảm bảo tất cả </a:t>
            </a:r>
            <a:r>
              <a:rPr lang="en-US" sz="2200">
                <a:solidFill>
                  <a:srgbClr val="434343"/>
                </a:solidFill>
              </a:rPr>
              <a:t>thiên thể là vệ tinh của 1 thiên thể khác phải có tên tiếng Anh?</a:t>
            </a:r>
            <a:endParaRPr sz="2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a9ea75e1a6_0_0"/>
          <p:cNvSpPr txBox="1"/>
          <p:nvPr>
            <p:ph idx="4294967295" type="title"/>
          </p:nvPr>
        </p:nvSpPr>
        <p:spPr>
          <a:xfrm>
            <a:off x="609600" y="274644"/>
            <a:ext cx="10972800" cy="541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2</a:t>
            </a:r>
            <a:r>
              <a:rPr baseline="-25000" lang="en-US"/>
              <a:t>(2)</a:t>
            </a:r>
            <a:endParaRPr baseline="-25000"/>
          </a:p>
        </p:txBody>
      </p:sp>
      <p:sp>
        <p:nvSpPr>
          <p:cNvPr id="783" name="Google Shape;783;g2a9ea75e1a6_0_0"/>
          <p:cNvSpPr txBox="1"/>
          <p:nvPr/>
        </p:nvSpPr>
        <p:spPr>
          <a:xfrm>
            <a:off x="604250" y="937175"/>
            <a:ext cx="10970700" cy="50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@prefix ex: &lt;http://example.org/&gt;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@prefix xsd: &lt;http://www.w3.org/2001/XMLSchema#&gt;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ex:Earth ex:radius "6372.8"^^xsd:double 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ex:satellite ex:Moon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ex:Mars ex:radius "3402.5"^^xsd:double 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ex:satellite ex:Phobos, ex:Deimos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ex:Moon ex:name "Mond"@de, "Moon"@en 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ex:radius "1737.1"^^xsd:double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ex:Phobos ex:name "Phobos"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ex:Deimos ex:name "Deimos" 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434343"/>
                </a:solidFill>
              </a:rPr>
              <a:t>Tạo hình trạng để kiểm tra đảm bảo tất cả thiên thể là vệ tinh </a:t>
            </a:r>
            <a:endParaRPr b="1" i="1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434343"/>
                </a:solidFill>
              </a:rPr>
              <a:t>của 1 thiên thể khác phải có tên tiếng Anh?</a:t>
            </a:r>
            <a:endParaRPr b="1" i="1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84" name="Google Shape;784;g2a9ea75e1a6_0_0"/>
          <p:cNvSpPr txBox="1"/>
          <p:nvPr/>
        </p:nvSpPr>
        <p:spPr>
          <a:xfrm>
            <a:off x="6041725" y="1128250"/>
            <a:ext cx="5108400" cy="54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prefix ex:       &lt;http://example.org/&gt;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prefix sh:     &lt;http://www.w3.org/ns/shacl#&gt;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ex:LangShape a sh:NodeShape 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sh:targetObjectsOf ex:satellite 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sh:sparql [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sh:prefixes [sh:declare [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sh:prefix "ex";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sh:namespace "http://example.org/"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]] 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sh:select """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SELECT (ex:name AS ?path) ?en_num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WHERE {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  {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    SELECT (count(?name) as ?en_num) where {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      $this ex:name ?name .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      FILTER (lang(?name) = "en") .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    }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  } filter (?en_num &lt; 1)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   }"""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66666"/>
                </a:solidFill>
              </a:rPr>
              <a:t> ].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mantics-201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2016-05-01T12:11:51Z</dcterms:created>
  <dc:creator>Jose Labra</dc:creator>
</cp:coreProperties>
</file>