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6858000" cx="9144000"/>
  <p:notesSz cx="6858000" cy="9144000"/>
  <p:embeddedFontLst>
    <p:embeddedFont>
      <p:font typeface="Caveat"/>
      <p:regular r:id="rId53"/>
      <p:bold r:id="rId54"/>
    </p:embeddedFont>
    <p:embeddedFont>
      <p:font typeface="Caveat Medium"/>
      <p:regular r:id="rId55"/>
      <p:bold r:id="rId56"/>
    </p:embeddedFont>
    <p:embeddedFont>
      <p:font typeface="Noto Sans Symbols"/>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4DBD49-A438-44D5-B211-3F3E4B296100}">
  <a:tblStyle styleId="{494DBD49-A438-44D5-B211-3F3E4B29610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Caveat-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CaveatMedium-regular.fntdata"/><Relationship Id="rId10" Type="http://schemas.openxmlformats.org/officeDocument/2006/relationships/slide" Target="slides/slide4.xml"/><Relationship Id="rId54" Type="http://schemas.openxmlformats.org/officeDocument/2006/relationships/font" Target="fonts/Caveat-bold.fntdata"/><Relationship Id="rId13" Type="http://schemas.openxmlformats.org/officeDocument/2006/relationships/slide" Target="slides/slide7.xml"/><Relationship Id="rId57" Type="http://schemas.openxmlformats.org/officeDocument/2006/relationships/font" Target="fonts/NotoSansSymbols-regular.fntdata"/><Relationship Id="rId12" Type="http://schemas.openxmlformats.org/officeDocument/2006/relationships/slide" Target="slides/slide6.xml"/><Relationship Id="rId56" Type="http://schemas.openxmlformats.org/officeDocument/2006/relationships/font" Target="fonts/CaveatMedium-bold.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NotoSansSymbols-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3fa2c68e6c_0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13fa2c68e6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3fa2c68e6c_0_6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3fa2c68e6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b17e44047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b17e4404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b23f66468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b23f6646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b17e440479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b17e44047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aa49054a4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aa49054a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aa49054a4e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aa49054a4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b23f66468b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b23f66468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aa49054a4e_0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aa49054a4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b4be40082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b4be4008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b4be40082b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b4be40082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b4be40082b_0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b4be40082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abe1104fd4_0_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abe1104fd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32f235ee5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32f235ee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abe1104fd4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abe1104fd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32f235ee5_0_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32f235ee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b17e440479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b17e44047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c5e4e262bb_0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c5e4e262b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32f235ee5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732f235ee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732f235ee5_0_6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732f235ee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732f235ee5_0_7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732f235ee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732f235ee5_0_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732f235ee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732f235ee5_0_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732f235ee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732f235ee5_0_9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732f235ee5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abe1104fd4_0_1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abe1104fd4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732f235ee5_0_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732f235ee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732f235ee5_0_10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732f235ee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32f235ee5_0_1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732f235ee5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b23f66468b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b23f66468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c4281041f9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c4281041f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732f235ee5_0_15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732f235ee5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732f235ee5_0_1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732f235ee5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732f235ee5_0_17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732f235ee5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b23f66468b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b23f66468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b666b98caf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b666b98ca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b666b98caf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b666b98ca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b666b98caf_0_1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b666b98ca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c41b6d154e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c41b6d154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b666b98caf_0_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b666b98ca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b666b98caf_0_8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b666b98caf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732f235ee5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732f235ee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732f235ee5_0_1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732f235ee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732f235ee5_0_1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732f235ee5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732f235ee5_0_1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732f235ee5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732f235ee5_0_1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732f235ee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3fa2c68e6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3fa2c68e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1574475"/>
            <a:ext cx="8520600" cy="20994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FFFFF"/>
              </a:buClr>
              <a:buSzPts val="4800"/>
              <a:buNone/>
              <a:defRPr b="1" sz="4800">
                <a:solidFill>
                  <a:srgbClr val="FFFFFF"/>
                </a:solidFill>
              </a:defRPr>
            </a:lvl1pPr>
            <a:lvl2pPr lvl="1" algn="ctr">
              <a:spcBef>
                <a:spcPts val="0"/>
              </a:spcBef>
              <a:spcAft>
                <a:spcPts val="0"/>
              </a:spcAft>
              <a:buClr>
                <a:srgbClr val="FFFFFF"/>
              </a:buClr>
              <a:buSzPts val="5200"/>
              <a:buNone/>
              <a:defRPr sz="5200">
                <a:solidFill>
                  <a:srgbClr val="FFFFFF"/>
                </a:solidFill>
              </a:defRPr>
            </a:lvl2pPr>
            <a:lvl3pPr lvl="2" algn="ctr">
              <a:spcBef>
                <a:spcPts val="0"/>
              </a:spcBef>
              <a:spcAft>
                <a:spcPts val="0"/>
              </a:spcAft>
              <a:buClr>
                <a:srgbClr val="FFFFFF"/>
              </a:buClr>
              <a:buSzPts val="5200"/>
              <a:buNone/>
              <a:defRPr sz="5200">
                <a:solidFill>
                  <a:srgbClr val="FFFFFF"/>
                </a:solidFill>
              </a:defRPr>
            </a:lvl3pPr>
            <a:lvl4pPr lvl="3" algn="ctr">
              <a:spcBef>
                <a:spcPts val="0"/>
              </a:spcBef>
              <a:spcAft>
                <a:spcPts val="0"/>
              </a:spcAft>
              <a:buClr>
                <a:srgbClr val="FFFFFF"/>
              </a:buClr>
              <a:buSzPts val="5200"/>
              <a:buNone/>
              <a:defRPr sz="5200">
                <a:solidFill>
                  <a:srgbClr val="FFFFFF"/>
                </a:solidFill>
              </a:defRPr>
            </a:lvl4pPr>
            <a:lvl5pPr lvl="4" algn="ctr">
              <a:spcBef>
                <a:spcPts val="0"/>
              </a:spcBef>
              <a:spcAft>
                <a:spcPts val="0"/>
              </a:spcAft>
              <a:buClr>
                <a:srgbClr val="FFFFFF"/>
              </a:buClr>
              <a:buSzPts val="5200"/>
              <a:buNone/>
              <a:defRPr sz="5200">
                <a:solidFill>
                  <a:srgbClr val="FFFFFF"/>
                </a:solidFill>
              </a:defRPr>
            </a:lvl5pPr>
            <a:lvl6pPr lvl="5" algn="ctr">
              <a:spcBef>
                <a:spcPts val="0"/>
              </a:spcBef>
              <a:spcAft>
                <a:spcPts val="0"/>
              </a:spcAft>
              <a:buClr>
                <a:srgbClr val="FFFFFF"/>
              </a:buClr>
              <a:buSzPts val="5200"/>
              <a:buNone/>
              <a:defRPr sz="5200">
                <a:solidFill>
                  <a:srgbClr val="FFFFFF"/>
                </a:solidFill>
              </a:defRPr>
            </a:lvl6pPr>
            <a:lvl7pPr lvl="6" algn="ctr">
              <a:spcBef>
                <a:spcPts val="0"/>
              </a:spcBef>
              <a:spcAft>
                <a:spcPts val="0"/>
              </a:spcAft>
              <a:buClr>
                <a:srgbClr val="FFFFFF"/>
              </a:buClr>
              <a:buSzPts val="5200"/>
              <a:buNone/>
              <a:defRPr sz="5200">
                <a:solidFill>
                  <a:srgbClr val="FFFFFF"/>
                </a:solidFill>
              </a:defRPr>
            </a:lvl7pPr>
            <a:lvl8pPr lvl="7" algn="ctr">
              <a:spcBef>
                <a:spcPts val="0"/>
              </a:spcBef>
              <a:spcAft>
                <a:spcPts val="0"/>
              </a:spcAft>
              <a:buClr>
                <a:srgbClr val="FFFFFF"/>
              </a:buClr>
              <a:buSzPts val="5200"/>
              <a:buNone/>
              <a:defRPr sz="5200">
                <a:solidFill>
                  <a:srgbClr val="FFFFFF"/>
                </a:solidFill>
              </a:defRPr>
            </a:lvl8pPr>
            <a:lvl9pPr lvl="8" algn="ctr">
              <a:spcBef>
                <a:spcPts val="0"/>
              </a:spcBef>
              <a:spcAft>
                <a:spcPts val="0"/>
              </a:spcAft>
              <a:buClr>
                <a:srgbClr val="FFFFFF"/>
              </a:buClr>
              <a:buSzPts val="5200"/>
              <a:buNone/>
              <a:defRPr sz="5200">
                <a:solidFill>
                  <a:srgbClr val="FFFFFF"/>
                </a:solidFill>
              </a:defRPr>
            </a:lvl9pPr>
          </a:lstStyle>
          <a:p/>
        </p:txBody>
      </p:sp>
      <p:sp>
        <p:nvSpPr>
          <p:cNvPr id="11" name="Google Shape;11;p2"/>
          <p:cNvSpPr txBox="1"/>
          <p:nvPr>
            <p:ph idx="1" type="subTitle"/>
          </p:nvPr>
        </p:nvSpPr>
        <p:spPr>
          <a:xfrm>
            <a:off x="311700" y="38550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FFFFFF"/>
              </a:buClr>
              <a:buSzPts val="3200"/>
              <a:buNone/>
              <a:defRPr b="1" sz="3200">
                <a:solidFill>
                  <a:srgbClr val="FFFFFF"/>
                </a:solidFill>
              </a:defRPr>
            </a:lvl1pPr>
            <a:lvl2pPr lvl="1" algn="ctr">
              <a:lnSpc>
                <a:spcPct val="100000"/>
              </a:lnSpc>
              <a:spcBef>
                <a:spcPts val="0"/>
              </a:spcBef>
              <a:spcAft>
                <a:spcPts val="0"/>
              </a:spcAft>
              <a:buClr>
                <a:srgbClr val="FFFFFF"/>
              </a:buClr>
              <a:buSzPts val="2800"/>
              <a:buNone/>
              <a:defRPr sz="2800">
                <a:solidFill>
                  <a:srgbClr val="FFFFFF"/>
                </a:solidFill>
              </a:defRPr>
            </a:lvl2pPr>
            <a:lvl3pPr lvl="2" algn="ctr">
              <a:lnSpc>
                <a:spcPct val="100000"/>
              </a:lnSpc>
              <a:spcBef>
                <a:spcPts val="0"/>
              </a:spcBef>
              <a:spcAft>
                <a:spcPts val="0"/>
              </a:spcAft>
              <a:buClr>
                <a:srgbClr val="FFFFFF"/>
              </a:buClr>
              <a:buSzPts val="2800"/>
              <a:buNone/>
              <a:defRPr sz="2800">
                <a:solidFill>
                  <a:srgbClr val="FFFFFF"/>
                </a:solidFill>
              </a:defRPr>
            </a:lvl3pPr>
            <a:lvl4pPr lvl="3" algn="ctr">
              <a:lnSpc>
                <a:spcPct val="100000"/>
              </a:lnSpc>
              <a:spcBef>
                <a:spcPts val="0"/>
              </a:spcBef>
              <a:spcAft>
                <a:spcPts val="0"/>
              </a:spcAft>
              <a:buClr>
                <a:srgbClr val="FFFFFF"/>
              </a:buClr>
              <a:buSzPts val="2800"/>
              <a:buNone/>
              <a:defRPr sz="2800">
                <a:solidFill>
                  <a:srgbClr val="FFFFFF"/>
                </a:solidFill>
              </a:defRPr>
            </a:lvl4pPr>
            <a:lvl5pPr lvl="4" algn="ctr">
              <a:lnSpc>
                <a:spcPct val="100000"/>
              </a:lnSpc>
              <a:spcBef>
                <a:spcPts val="0"/>
              </a:spcBef>
              <a:spcAft>
                <a:spcPts val="0"/>
              </a:spcAft>
              <a:buClr>
                <a:srgbClr val="FFFFFF"/>
              </a:buClr>
              <a:buSzPts val="2800"/>
              <a:buNone/>
              <a:defRPr sz="2800">
                <a:solidFill>
                  <a:srgbClr val="FFFFFF"/>
                </a:solidFill>
              </a:defRPr>
            </a:lvl5pPr>
            <a:lvl6pPr lvl="5" algn="ctr">
              <a:lnSpc>
                <a:spcPct val="100000"/>
              </a:lnSpc>
              <a:spcBef>
                <a:spcPts val="0"/>
              </a:spcBef>
              <a:spcAft>
                <a:spcPts val="0"/>
              </a:spcAft>
              <a:buClr>
                <a:srgbClr val="FFFFFF"/>
              </a:buClr>
              <a:buSzPts val="2800"/>
              <a:buNone/>
              <a:defRPr sz="2800">
                <a:solidFill>
                  <a:srgbClr val="FFFFFF"/>
                </a:solidFill>
              </a:defRPr>
            </a:lvl6pPr>
            <a:lvl7pPr lvl="6" algn="ctr">
              <a:lnSpc>
                <a:spcPct val="100000"/>
              </a:lnSpc>
              <a:spcBef>
                <a:spcPts val="0"/>
              </a:spcBef>
              <a:spcAft>
                <a:spcPts val="0"/>
              </a:spcAft>
              <a:buClr>
                <a:srgbClr val="FFFFFF"/>
              </a:buClr>
              <a:buSzPts val="2800"/>
              <a:buNone/>
              <a:defRPr sz="2800">
                <a:solidFill>
                  <a:srgbClr val="FFFFFF"/>
                </a:solidFill>
              </a:defRPr>
            </a:lvl7pPr>
            <a:lvl8pPr lvl="7" algn="ctr">
              <a:lnSpc>
                <a:spcPct val="100000"/>
              </a:lnSpc>
              <a:spcBef>
                <a:spcPts val="0"/>
              </a:spcBef>
              <a:spcAft>
                <a:spcPts val="0"/>
              </a:spcAft>
              <a:buClr>
                <a:srgbClr val="FFFFFF"/>
              </a:buClr>
              <a:buSzPts val="2800"/>
              <a:buNone/>
              <a:defRPr sz="2800">
                <a:solidFill>
                  <a:srgbClr val="FFFFFF"/>
                </a:solidFill>
              </a:defRPr>
            </a:lvl8pPr>
            <a:lvl9pPr lvl="8" algn="ctr">
              <a:lnSpc>
                <a:spcPct val="100000"/>
              </a:lnSpc>
              <a:spcBef>
                <a:spcPts val="0"/>
              </a:spcBef>
              <a:spcAft>
                <a:spcPts val="0"/>
              </a:spcAft>
              <a:buClr>
                <a:srgbClr val="FFFFFF"/>
              </a:buClr>
              <a:buSzPts val="2800"/>
              <a:buNone/>
              <a:defRPr sz="2800">
                <a:solidFill>
                  <a:srgbClr val="FFFFFF"/>
                </a:solidFill>
              </a:defRPr>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3" name="Shape 13"/>
        <p:cNvGrpSpPr/>
        <p:nvPr/>
      </p:nvGrpSpPr>
      <p:grpSpPr>
        <a:xfrm>
          <a:off x="0" y="0"/>
          <a:ext cx="0" cy="0"/>
          <a:chOff x="0" y="0"/>
          <a:chExt cx="0" cy="0"/>
        </a:xfrm>
      </p:grpSpPr>
      <p:sp>
        <p:nvSpPr>
          <p:cNvPr id="14" name="Google Shape;14;p3"/>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0" name="Google Shape;20;p5"/>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1" name="Google Shape;21;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2" name="Shape 22"/>
        <p:cNvGrpSpPr/>
        <p:nvPr/>
      </p:nvGrpSpPr>
      <p:grpSpPr>
        <a:xfrm>
          <a:off x="0" y="0"/>
          <a:ext cx="0" cy="0"/>
          <a:chOff x="0" y="0"/>
          <a:chExt cx="0" cy="0"/>
        </a:xfrm>
      </p:grpSpPr>
      <p:sp>
        <p:nvSpPr>
          <p:cNvPr id="23" name="Google Shape;23;p6"/>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6" name="Google Shape;26;p7"/>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7"/>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1" name="Google Shape;31;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9"/>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9"/>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10"/>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1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1"/>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11"/>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11"/>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4" name="Google Shape;44;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2"/>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7" name="Google Shape;47;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3"/>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3"/>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1" name="Google Shape;51;p1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12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400"/>
              <a:buNone/>
              <a:defRPr sz="3400">
                <a:solidFill>
                  <a:schemeClr val="dk1"/>
                </a:solidFill>
              </a:defRPr>
            </a:lvl1pPr>
            <a:lvl2pPr lvl="1">
              <a:spcBef>
                <a:spcPts val="0"/>
              </a:spcBef>
              <a:spcAft>
                <a:spcPts val="0"/>
              </a:spcAft>
              <a:buClr>
                <a:schemeClr val="dk1"/>
              </a:buClr>
              <a:buSzPts val="3200"/>
              <a:buNone/>
              <a:defRPr sz="3200">
                <a:solidFill>
                  <a:schemeClr val="dk1"/>
                </a:solidFill>
              </a:defRPr>
            </a:lvl2pPr>
            <a:lvl3pPr lvl="2">
              <a:spcBef>
                <a:spcPts val="0"/>
              </a:spcBef>
              <a:spcAft>
                <a:spcPts val="0"/>
              </a:spcAft>
              <a:buClr>
                <a:schemeClr val="dk1"/>
              </a:buClr>
              <a:buSzPts val="3200"/>
              <a:buNone/>
              <a:defRPr sz="3200">
                <a:solidFill>
                  <a:schemeClr val="dk1"/>
                </a:solidFill>
              </a:defRPr>
            </a:lvl3pPr>
            <a:lvl4pPr lvl="3">
              <a:spcBef>
                <a:spcPts val="0"/>
              </a:spcBef>
              <a:spcAft>
                <a:spcPts val="0"/>
              </a:spcAft>
              <a:buClr>
                <a:schemeClr val="dk1"/>
              </a:buClr>
              <a:buSzPts val="3200"/>
              <a:buNone/>
              <a:defRPr sz="3200">
                <a:solidFill>
                  <a:schemeClr val="dk1"/>
                </a:solidFill>
              </a:defRPr>
            </a:lvl4pPr>
            <a:lvl5pPr lvl="4">
              <a:spcBef>
                <a:spcPts val="0"/>
              </a:spcBef>
              <a:spcAft>
                <a:spcPts val="0"/>
              </a:spcAft>
              <a:buClr>
                <a:schemeClr val="dk1"/>
              </a:buClr>
              <a:buSzPts val="3200"/>
              <a:buNone/>
              <a:defRPr sz="3200">
                <a:solidFill>
                  <a:schemeClr val="dk1"/>
                </a:solidFill>
              </a:defRPr>
            </a:lvl5pPr>
            <a:lvl6pPr lvl="5">
              <a:spcBef>
                <a:spcPts val="0"/>
              </a:spcBef>
              <a:spcAft>
                <a:spcPts val="0"/>
              </a:spcAft>
              <a:buClr>
                <a:schemeClr val="dk1"/>
              </a:buClr>
              <a:buSzPts val="3200"/>
              <a:buNone/>
              <a:defRPr sz="3200">
                <a:solidFill>
                  <a:schemeClr val="dk1"/>
                </a:solidFill>
              </a:defRPr>
            </a:lvl6pPr>
            <a:lvl7pPr lvl="6">
              <a:spcBef>
                <a:spcPts val="0"/>
              </a:spcBef>
              <a:spcAft>
                <a:spcPts val="0"/>
              </a:spcAft>
              <a:buClr>
                <a:schemeClr val="dk1"/>
              </a:buClr>
              <a:buSzPts val="3200"/>
              <a:buNone/>
              <a:defRPr sz="3200">
                <a:solidFill>
                  <a:schemeClr val="dk1"/>
                </a:solidFill>
              </a:defRPr>
            </a:lvl7pPr>
            <a:lvl8pPr lvl="7">
              <a:spcBef>
                <a:spcPts val="0"/>
              </a:spcBef>
              <a:spcAft>
                <a:spcPts val="0"/>
              </a:spcAft>
              <a:buClr>
                <a:schemeClr val="dk1"/>
              </a:buClr>
              <a:buSzPts val="3200"/>
              <a:buNone/>
              <a:defRPr sz="3200">
                <a:solidFill>
                  <a:schemeClr val="dk1"/>
                </a:solidFill>
              </a:defRPr>
            </a:lvl8pPr>
            <a:lvl9pPr lvl="8">
              <a:spcBef>
                <a:spcPts val="0"/>
              </a:spcBef>
              <a:spcAft>
                <a:spcPts val="0"/>
              </a:spcAft>
              <a:buClr>
                <a:schemeClr val="dk1"/>
              </a:buClr>
              <a:buSzPts val="3200"/>
              <a:buNone/>
              <a:defRPr sz="3200">
                <a:solidFill>
                  <a:schemeClr val="dk1"/>
                </a:solidFill>
              </a:defRPr>
            </a:lvl9pPr>
          </a:lstStyle>
          <a:p/>
        </p:txBody>
      </p:sp>
      <p:sp>
        <p:nvSpPr>
          <p:cNvPr id="7" name="Google Shape;7;p1"/>
          <p:cNvSpPr txBox="1"/>
          <p:nvPr>
            <p:ph idx="1" type="body"/>
          </p:nvPr>
        </p:nvSpPr>
        <p:spPr>
          <a:xfrm>
            <a:off x="311700" y="975875"/>
            <a:ext cx="8520600" cy="53853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68300" lvl="1" marL="914400">
              <a:lnSpc>
                <a:spcPct val="115000"/>
              </a:lnSpc>
              <a:spcBef>
                <a:spcPts val="0"/>
              </a:spcBef>
              <a:spcAft>
                <a:spcPts val="0"/>
              </a:spcAft>
              <a:buClr>
                <a:schemeClr val="dk2"/>
              </a:buClr>
              <a:buSzPts val="2200"/>
              <a:buChar char="○"/>
              <a:defRPr sz="2200">
                <a:solidFill>
                  <a:schemeClr val="dk2"/>
                </a:solidFill>
              </a:defRPr>
            </a:lvl2pPr>
            <a:lvl3pPr indent="-342900" lvl="2" marL="1371600">
              <a:lnSpc>
                <a:spcPct val="115000"/>
              </a:lnSpc>
              <a:spcBef>
                <a:spcPts val="0"/>
              </a:spcBef>
              <a:spcAft>
                <a:spcPts val="0"/>
              </a:spcAft>
              <a:buClr>
                <a:schemeClr val="dk2"/>
              </a:buClr>
              <a:buSzPts val="1800"/>
              <a:buChar char="■"/>
              <a:defRPr sz="1800">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5"/>
          <p:cNvSpPr txBox="1"/>
          <p:nvPr>
            <p:ph type="title"/>
          </p:nvPr>
        </p:nvSpPr>
        <p:spPr>
          <a:xfrm>
            <a:off x="311700" y="1474833"/>
            <a:ext cx="8520600" cy="261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Web ngữ nghĩa</a:t>
            </a:r>
            <a:endParaRPr sz="4200"/>
          </a:p>
        </p:txBody>
      </p:sp>
      <p:sp>
        <p:nvSpPr>
          <p:cNvPr id="59" name="Google Shape;59;p15"/>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Soạn bởi: Nguyễn Bá Ngọc</a:t>
            </a:r>
            <a:endParaRPr sz="2600"/>
          </a:p>
        </p:txBody>
      </p:sp>
      <p:sp>
        <p:nvSpPr>
          <p:cNvPr id="60" name="Google Shape;60;p15"/>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Nội-2021</a:t>
            </a:r>
            <a:endParaRPr sz="2600"/>
          </a:p>
        </p:txBody>
      </p:sp>
      <p:sp>
        <p:nvSpPr>
          <p:cNvPr id="61" name="Google Shape;61;p15"/>
          <p:cNvSpPr txBox="1"/>
          <p:nvPr/>
        </p:nvSpPr>
        <p:spPr>
          <a:xfrm>
            <a:off x="491750" y="4667633"/>
            <a:ext cx="26586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t>Chương 4</a:t>
            </a:r>
            <a:endParaRPr sz="3600"/>
          </a:p>
        </p:txBody>
      </p:sp>
      <p:sp>
        <p:nvSpPr>
          <p:cNvPr id="62" name="Google Shape;62;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6"/>
          <p:cNvSpPr txBox="1"/>
          <p:nvPr>
            <p:ph type="title"/>
          </p:nvPr>
        </p:nvSpPr>
        <p:spPr>
          <a:xfrm>
            <a:off x="311700" y="2459625"/>
            <a:ext cx="8520600" cy="169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Chương 4.</a:t>
            </a:r>
            <a:endParaRPr/>
          </a:p>
          <a:p>
            <a:pPr indent="0" lvl="0" marL="0" rtl="0" algn="ctr">
              <a:spcBef>
                <a:spcPts val="0"/>
              </a:spcBef>
              <a:spcAft>
                <a:spcPts val="0"/>
              </a:spcAft>
              <a:buNone/>
            </a:pPr>
            <a:r>
              <a:rPr lang="en-GB"/>
              <a:t>Ngữ nghĩa hình thức RDF và RDFS</a:t>
            </a:r>
            <a:endParaRPr/>
          </a:p>
        </p:txBody>
      </p:sp>
      <p:sp>
        <p:nvSpPr>
          <p:cNvPr id="68" name="Google Shape;68;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a:t>
            </a:r>
            <a:r>
              <a:rPr lang="en-GB"/>
              <a:t>ội dung</a:t>
            </a:r>
            <a:endParaRPr/>
          </a:p>
        </p:txBody>
      </p:sp>
      <p:sp>
        <p:nvSpPr>
          <p:cNvPr id="74" name="Google Shape;74;p17"/>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4.1. Vai trò của ngữ nghĩa hình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4.2. Ngữ nghĩa lô-gic của RDF(S)</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4.3. Suy diễn dựa trên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4.4. Các hạn chế của RDF(S)</a:t>
            </a:r>
            <a:endParaRPr sz="4000"/>
          </a:p>
        </p:txBody>
      </p:sp>
      <p:sp>
        <p:nvSpPr>
          <p:cNvPr id="75" name="Google Shape;75;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81" name="Google Shape;81;p18"/>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4.1. Vai trò của ngữ nghĩa hình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4.2. Ngữ nghĩa lô-gic của RDF(S)</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4.3. Suy diễn dựa trên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4.4. Các hạn chế của RDF(S)</a:t>
            </a:r>
            <a:endParaRPr sz="4000"/>
          </a:p>
        </p:txBody>
      </p:sp>
      <p:sp>
        <p:nvSpPr>
          <p:cNvPr id="82" name="Google Shape;82;p18"/>
          <p:cNvSpPr/>
          <p:nvPr/>
        </p:nvSpPr>
        <p:spPr>
          <a:xfrm>
            <a:off x="318450" y="896983"/>
            <a:ext cx="53529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Ng</a:t>
            </a:r>
            <a:r>
              <a:rPr lang="en-GB"/>
              <a:t>ữ nghĩa hình thức</a:t>
            </a:r>
            <a:endParaRPr/>
          </a:p>
        </p:txBody>
      </p:sp>
      <p:sp>
        <p:nvSpPr>
          <p:cNvPr id="89" name="Google Shape;89;p19"/>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V</a:t>
            </a:r>
            <a:r>
              <a:rPr lang="en-GB"/>
              <a:t>ấn đề trong phát triển phần mềm cho </a:t>
            </a:r>
            <a:r>
              <a:rPr lang="en-GB"/>
              <a:t>RDF(S)</a:t>
            </a:r>
            <a:endParaRPr/>
          </a:p>
          <a:p>
            <a:pPr indent="-368300" lvl="1" marL="914400" rtl="0" algn="l">
              <a:spcBef>
                <a:spcPts val="0"/>
              </a:spcBef>
              <a:spcAft>
                <a:spcPts val="0"/>
              </a:spcAft>
              <a:buSzPts val="2200"/>
              <a:buChar char="○"/>
            </a:pPr>
            <a:r>
              <a:rPr lang="en-GB"/>
              <a:t>D</a:t>
            </a:r>
            <a:r>
              <a:rPr lang="en-GB"/>
              <a:t>ù đã có quy chuẩn nhưng c</a:t>
            </a:r>
            <a:r>
              <a:rPr lang="en-GB"/>
              <a:t>ác phần mềm vẫn không tương thích.</a:t>
            </a:r>
            <a:endParaRPr/>
          </a:p>
          <a:p>
            <a:pPr indent="-368300" lvl="1" marL="914400" rtl="0" algn="l">
              <a:spcBef>
                <a:spcPts val="0"/>
              </a:spcBef>
              <a:spcAft>
                <a:spcPts val="0"/>
              </a:spcAft>
              <a:buSzPts val="2200"/>
              <a:buChar char="○"/>
            </a:pPr>
            <a:r>
              <a:rPr lang="en-GB"/>
              <a:t>Ví dụ: Khi sử dụng các hệ lưu trữ </a:t>
            </a:r>
            <a:r>
              <a:rPr lang="en-GB"/>
              <a:t>bộ-3</a:t>
            </a:r>
            <a:r>
              <a:rPr lang="en-GB"/>
              <a:t> khác nhau:</a:t>
            </a:r>
            <a:endParaRPr/>
          </a:p>
          <a:p>
            <a:pPr indent="-342900" lvl="2" marL="1371600" rtl="0" algn="l">
              <a:spcBef>
                <a:spcPts val="0"/>
              </a:spcBef>
              <a:spcAft>
                <a:spcPts val="0"/>
              </a:spcAft>
              <a:buSzPts val="1800"/>
              <a:buChar char="■"/>
            </a:pPr>
            <a:r>
              <a:rPr lang="en-GB"/>
              <a:t>Cùng 1 CSDL RDF và 1 truy vấn SPARQL</a:t>
            </a:r>
            <a:endParaRPr/>
          </a:p>
          <a:p>
            <a:pPr indent="-342900" lvl="2" marL="1371600" rtl="0" algn="l">
              <a:spcBef>
                <a:spcPts val="0"/>
              </a:spcBef>
              <a:spcAft>
                <a:spcPts val="0"/>
              </a:spcAft>
              <a:buSzPts val="1800"/>
              <a:buChar char="■"/>
            </a:pPr>
            <a:r>
              <a:rPr lang="en-GB"/>
              <a:t>... Nhưng kết quả truy vấn có thể khác nhau.</a:t>
            </a:r>
            <a:endParaRPr/>
          </a:p>
          <a:p>
            <a:pPr indent="-381000" lvl="0" marL="457200" rtl="0" algn="l">
              <a:spcBef>
                <a:spcPts val="0"/>
              </a:spcBef>
              <a:spcAft>
                <a:spcPts val="0"/>
              </a:spcAft>
              <a:buSzPts val="2400"/>
              <a:buChar char="●"/>
            </a:pPr>
            <a:r>
              <a:rPr lang="en-GB"/>
              <a:t>Ngữ nghĩa hình thức đã được biên soạn:</a:t>
            </a:r>
            <a:endParaRPr/>
          </a:p>
          <a:p>
            <a:pPr indent="-368300" lvl="1" marL="914400" rtl="0" algn="l">
              <a:spcBef>
                <a:spcPts val="0"/>
              </a:spcBef>
              <a:spcAft>
                <a:spcPts val="0"/>
              </a:spcAft>
              <a:buSzPts val="2200"/>
              <a:buChar char="○"/>
            </a:pPr>
            <a:r>
              <a:rPr lang="en-GB"/>
              <a:t>Được</a:t>
            </a:r>
            <a:r>
              <a:rPr lang="en-GB"/>
              <a:t> sử dụng </a:t>
            </a:r>
            <a:r>
              <a:rPr lang="en-GB"/>
              <a:t>làm cơ sở lý thuyết …</a:t>
            </a:r>
            <a:endParaRPr/>
          </a:p>
          <a:p>
            <a:pPr indent="-368300" lvl="1" marL="914400" rtl="0" algn="l">
              <a:spcBef>
                <a:spcPts val="0"/>
              </a:spcBef>
              <a:spcAft>
                <a:spcPts val="0"/>
              </a:spcAft>
              <a:buSzPts val="2200"/>
              <a:buChar char="○"/>
            </a:pPr>
            <a:r>
              <a:rPr lang="en-GB"/>
              <a:t>... qua đó nâng cao tính tương thích giữa các phần mềm.</a:t>
            </a:r>
            <a:endParaRPr/>
          </a:p>
        </p:txBody>
      </p:sp>
      <p:sp>
        <p:nvSpPr>
          <p:cNvPr id="90" name="Google Shape;90;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t>
            </a:r>
            <a:r>
              <a:rPr lang="en-GB"/>
              <a:t>ối liên hệ giữa RDF(S) và lô-gic</a:t>
            </a:r>
            <a:endParaRPr/>
          </a:p>
        </p:txBody>
      </p:sp>
      <p:sp>
        <p:nvSpPr>
          <p:cNvPr id="96" name="Google Shape;96;p20"/>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a:t>
            </a:r>
            <a:r>
              <a:rPr lang="en-GB"/>
              <a:t>ác thành phần trong câu RDF(S):</a:t>
            </a:r>
            <a:endParaRPr/>
          </a:p>
          <a:p>
            <a:pPr indent="-368300" lvl="1" marL="914400" rtl="0" algn="l">
              <a:spcBef>
                <a:spcPts val="0"/>
              </a:spcBef>
              <a:spcAft>
                <a:spcPts val="0"/>
              </a:spcAft>
              <a:buSzPts val="2200"/>
              <a:buChar char="○"/>
            </a:pPr>
            <a:r>
              <a:rPr lang="en-GB"/>
              <a:t>Tập từ vựng V để tạo các câu bao gồm: Định danh (IRIs), nút rỗng (bnodes), và các hằng giá trị (literals)</a:t>
            </a:r>
            <a:endParaRPr/>
          </a:p>
          <a:p>
            <a:pPr indent="-381000" lvl="0" marL="457200" rtl="0" algn="l">
              <a:spcBef>
                <a:spcPts val="0"/>
              </a:spcBef>
              <a:spcAft>
                <a:spcPts val="0"/>
              </a:spcAft>
              <a:buSzPts val="2400"/>
              <a:buChar char="●"/>
            </a:pPr>
            <a:r>
              <a:rPr lang="en-GB"/>
              <a:t>B</a:t>
            </a:r>
            <a:r>
              <a:rPr lang="en-GB"/>
              <a:t>ộ-3</a:t>
            </a:r>
            <a:r>
              <a:rPr lang="en-GB"/>
              <a:t>:</a:t>
            </a:r>
            <a:endParaRPr/>
          </a:p>
          <a:p>
            <a:pPr indent="0" lvl="0" marL="914400" rtl="0" algn="l">
              <a:spcBef>
                <a:spcPts val="0"/>
              </a:spcBef>
              <a:spcAft>
                <a:spcPts val="0"/>
              </a:spcAft>
              <a:buNone/>
            </a:pPr>
            <a:r>
              <a:rPr lang="en-GB" sz="2200"/>
              <a:t>(s, p, o) ∈ (IRI ∪ bnode) x IRI x (IRI </a:t>
            </a:r>
            <a:r>
              <a:rPr lang="en-GB" sz="2200"/>
              <a:t>∪ bnode ∪ literal).</a:t>
            </a:r>
            <a:endParaRPr sz="2200"/>
          </a:p>
          <a:p>
            <a:pPr indent="-381000" lvl="0" marL="457200" rtl="0" algn="l">
              <a:spcBef>
                <a:spcPts val="0"/>
              </a:spcBef>
              <a:spcAft>
                <a:spcPts val="0"/>
              </a:spcAft>
              <a:buSzPts val="2400"/>
              <a:buChar char="●"/>
            </a:pPr>
            <a:r>
              <a:rPr lang="en-GB"/>
              <a:t>Tập bộ-3 còn được gọi là đồ thị RDF.</a:t>
            </a:r>
            <a:endParaRPr/>
          </a:p>
        </p:txBody>
      </p:sp>
      <p:sp>
        <p:nvSpPr>
          <p:cNvPr id="97" name="Google Shape;97;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t>
            </a:r>
            <a:r>
              <a:rPr lang="en-GB"/>
              <a:t>ối liên hệ giữa RDF(S) và Lô-gic</a:t>
            </a:r>
            <a:r>
              <a:rPr baseline="-25000" lang="en-GB"/>
              <a:t>(2)</a:t>
            </a:r>
            <a:endParaRPr baseline="-25000"/>
          </a:p>
        </p:txBody>
      </p:sp>
      <p:sp>
        <p:nvSpPr>
          <p:cNvPr id="103" name="Google Shape;103;p21"/>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Phép kéo theo trong lô-gic: </a:t>
            </a:r>
            <a:endParaRPr/>
          </a:p>
          <a:p>
            <a:pPr indent="-368300" lvl="1" marL="914400" rtl="0" algn="l">
              <a:spcBef>
                <a:spcPts val="0"/>
              </a:spcBef>
              <a:spcAft>
                <a:spcPts val="0"/>
              </a:spcAft>
              <a:buSzPts val="2200"/>
              <a:buChar char="○"/>
            </a:pPr>
            <a:r>
              <a:rPr lang="en-GB"/>
              <a:t>Câu hỏi: Đ</a:t>
            </a:r>
            <a:r>
              <a:rPr lang="en-GB"/>
              <a:t>ồ thị G có suy ra được đồ thị </a:t>
            </a:r>
            <a:r>
              <a:rPr lang="en-GB"/>
              <a:t>G' hay không? </a:t>
            </a:r>
            <a:endParaRPr/>
          </a:p>
          <a:p>
            <a:pPr indent="-368300" lvl="1" marL="914400" rtl="0" algn="l">
              <a:spcBef>
                <a:spcPts val="0"/>
              </a:spcBef>
              <a:spcAft>
                <a:spcPts val="0"/>
              </a:spcAft>
              <a:buSzPts val="2200"/>
              <a:buChar char="○"/>
            </a:pPr>
            <a:r>
              <a:rPr lang="en-GB"/>
              <a:t>Ký hiệu là: G </a:t>
            </a:r>
            <a:r>
              <a:rPr lang="en-GB">
                <a:solidFill>
                  <a:srgbClr val="202122"/>
                </a:solidFill>
                <a:highlight>
                  <a:srgbClr val="FFFFFF"/>
                </a:highlight>
              </a:rPr>
              <a:t>⊨</a:t>
            </a:r>
            <a:r>
              <a:rPr lang="en-GB"/>
              <a:t> G', trong đó G và G' là các đồ thị RDF(S)</a:t>
            </a:r>
            <a:endParaRPr/>
          </a:p>
          <a:p>
            <a:pPr indent="-381000" lvl="0" marL="457200" rtl="0" algn="l">
              <a:spcBef>
                <a:spcPts val="0"/>
              </a:spcBef>
              <a:spcAft>
                <a:spcPts val="0"/>
              </a:spcAft>
              <a:buSzPts val="2400"/>
              <a:buChar char="●"/>
            </a:pPr>
            <a:r>
              <a:rPr lang="en-GB"/>
              <a:t>Chúng ta sẽ định nghĩa các biểu diễn và xác định các điều kiện để 1 biểu diễn là mô hình của đồ thị.</a:t>
            </a:r>
            <a:endParaRPr/>
          </a:p>
        </p:txBody>
      </p:sp>
      <p:sp>
        <p:nvSpPr>
          <p:cNvPr id="104" name="Google Shape;104;p21"/>
          <p:cNvSpPr/>
          <p:nvPr/>
        </p:nvSpPr>
        <p:spPr>
          <a:xfrm>
            <a:off x="1111375" y="3648975"/>
            <a:ext cx="2789100" cy="2329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1"/>
          <p:cNvSpPr txBox="1"/>
          <p:nvPr/>
        </p:nvSpPr>
        <p:spPr>
          <a:xfrm>
            <a:off x="1700850" y="3784125"/>
            <a:ext cx="718800" cy="5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s</a:t>
            </a:r>
            <a:r>
              <a:rPr baseline="-25000" lang="en-GB" sz="2000"/>
              <a:t>1</a:t>
            </a:r>
            <a:endParaRPr baseline="-25000" sz="2000"/>
          </a:p>
        </p:txBody>
      </p:sp>
      <p:sp>
        <p:nvSpPr>
          <p:cNvPr id="106" name="Google Shape;106;p21"/>
          <p:cNvSpPr txBox="1"/>
          <p:nvPr/>
        </p:nvSpPr>
        <p:spPr>
          <a:xfrm>
            <a:off x="1686473" y="4888306"/>
            <a:ext cx="718800" cy="5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s</a:t>
            </a:r>
            <a:r>
              <a:rPr baseline="-25000" lang="en-GB" sz="2000"/>
              <a:t>2</a:t>
            </a:r>
            <a:endParaRPr baseline="-25000" sz="2000"/>
          </a:p>
        </p:txBody>
      </p:sp>
      <p:sp>
        <p:nvSpPr>
          <p:cNvPr id="107" name="Google Shape;107;p21"/>
          <p:cNvSpPr txBox="1"/>
          <p:nvPr/>
        </p:nvSpPr>
        <p:spPr>
          <a:xfrm>
            <a:off x="2767650" y="4317525"/>
            <a:ext cx="718800" cy="5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202122"/>
                </a:solidFill>
                <a:highlight>
                  <a:srgbClr val="FFFFFF"/>
                </a:highlight>
              </a:rPr>
              <a:t>⊨</a:t>
            </a:r>
            <a:r>
              <a:rPr lang="en-GB" sz="1050">
                <a:solidFill>
                  <a:srgbClr val="202122"/>
                </a:solidFill>
                <a:highlight>
                  <a:srgbClr val="FFFFFF"/>
                </a:highlight>
              </a:rPr>
              <a:t> </a:t>
            </a:r>
            <a:r>
              <a:rPr lang="en-GB" sz="2000"/>
              <a:t>s</a:t>
            </a:r>
            <a:r>
              <a:rPr baseline="-25000" lang="en-GB" sz="2000"/>
              <a:t>3</a:t>
            </a:r>
            <a:endParaRPr baseline="-25000" sz="2000"/>
          </a:p>
        </p:txBody>
      </p:sp>
      <p:sp>
        <p:nvSpPr>
          <p:cNvPr id="108" name="Google Shape;108;p21"/>
          <p:cNvSpPr/>
          <p:nvPr/>
        </p:nvSpPr>
        <p:spPr>
          <a:xfrm>
            <a:off x="1930875" y="4224075"/>
            <a:ext cx="790750" cy="345050"/>
          </a:xfrm>
          <a:custGeom>
            <a:rect b="b" l="l" r="r" t="t"/>
            <a:pathLst>
              <a:path extrusionOk="0" h="13802" w="31630">
                <a:moveTo>
                  <a:pt x="0" y="0"/>
                </a:moveTo>
                <a:lnTo>
                  <a:pt x="6901" y="5751"/>
                </a:lnTo>
                <a:lnTo>
                  <a:pt x="14378" y="10351"/>
                </a:lnTo>
                <a:lnTo>
                  <a:pt x="23004" y="13227"/>
                </a:lnTo>
                <a:lnTo>
                  <a:pt x="31630" y="13802"/>
                </a:lnTo>
              </a:path>
            </a:pathLst>
          </a:custGeom>
          <a:noFill/>
          <a:ln cap="flat" cmpd="sng" w="9525">
            <a:solidFill>
              <a:schemeClr val="dk2"/>
            </a:solidFill>
            <a:prstDash val="solid"/>
            <a:round/>
            <a:headEnd len="med" w="med" type="none"/>
            <a:tailEnd len="med" w="med" type="none"/>
          </a:ln>
        </p:spPr>
      </p:sp>
      <p:sp>
        <p:nvSpPr>
          <p:cNvPr id="109" name="Google Shape;109;p21"/>
          <p:cNvSpPr/>
          <p:nvPr/>
        </p:nvSpPr>
        <p:spPr>
          <a:xfrm rot="8100000">
            <a:off x="1902128" y="4572004"/>
            <a:ext cx="790742" cy="345047"/>
          </a:xfrm>
          <a:custGeom>
            <a:rect b="b" l="l" r="r" t="t"/>
            <a:pathLst>
              <a:path extrusionOk="0" h="13802" w="31630">
                <a:moveTo>
                  <a:pt x="0" y="0"/>
                </a:moveTo>
                <a:lnTo>
                  <a:pt x="6901" y="5751"/>
                </a:lnTo>
                <a:lnTo>
                  <a:pt x="14378" y="10351"/>
                </a:lnTo>
                <a:lnTo>
                  <a:pt x="23004" y="13227"/>
                </a:lnTo>
                <a:lnTo>
                  <a:pt x="31630" y="13802"/>
                </a:lnTo>
              </a:path>
            </a:pathLst>
          </a:custGeom>
          <a:noFill/>
          <a:ln cap="flat" cmpd="sng" w="9525">
            <a:solidFill>
              <a:schemeClr val="dk2"/>
            </a:solidFill>
            <a:prstDash val="solid"/>
            <a:round/>
            <a:headEnd len="med" w="med" type="none"/>
            <a:tailEnd len="med" w="med" type="none"/>
          </a:ln>
        </p:spPr>
      </p:sp>
      <p:sp>
        <p:nvSpPr>
          <p:cNvPr id="110" name="Google Shape;110;p21"/>
          <p:cNvSpPr txBox="1"/>
          <p:nvPr/>
        </p:nvSpPr>
        <p:spPr>
          <a:xfrm>
            <a:off x="2070350" y="4596525"/>
            <a:ext cx="1940700" cy="5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Suy diễn lô-gic</a:t>
            </a:r>
            <a:endParaRPr baseline="-25000" sz="2000"/>
          </a:p>
        </p:txBody>
      </p:sp>
      <p:sp>
        <p:nvSpPr>
          <p:cNvPr id="111" name="Google Shape;111;p21"/>
          <p:cNvSpPr txBox="1"/>
          <p:nvPr/>
        </p:nvSpPr>
        <p:spPr>
          <a:xfrm>
            <a:off x="1895925" y="5384325"/>
            <a:ext cx="1471200" cy="5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t>Các câu</a:t>
            </a:r>
            <a:endParaRPr baseline="-25000" sz="2000"/>
          </a:p>
        </p:txBody>
      </p:sp>
      <p:sp>
        <p:nvSpPr>
          <p:cNvPr id="112" name="Google Shape;112;p21"/>
          <p:cNvSpPr/>
          <p:nvPr/>
        </p:nvSpPr>
        <p:spPr>
          <a:xfrm>
            <a:off x="4768975" y="3577075"/>
            <a:ext cx="3186000" cy="2401200"/>
          </a:xfrm>
          <a:prstGeom prst="ellipse">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1"/>
          <p:cNvSpPr/>
          <p:nvPr/>
        </p:nvSpPr>
        <p:spPr>
          <a:xfrm>
            <a:off x="5155725" y="3658775"/>
            <a:ext cx="2458500" cy="1507500"/>
          </a:xfrm>
          <a:prstGeom prst="wedgeEllipseCallout">
            <a:avLst>
              <a:gd fmla="val -172985" name="adj1"/>
              <a:gd fmla="val -10089" name="adj2"/>
            </a:avLst>
          </a:prstGeom>
          <a:solidFill>
            <a:srgbClr val="E06666"/>
          </a:solidFill>
          <a:ln cap="flat" cmpd="sng" w="9525">
            <a:solidFill>
              <a:schemeClr val="dk2"/>
            </a:solidFill>
            <a:prstDash val="solid"/>
            <a:round/>
            <a:headEnd len="sm" w="sm" type="none"/>
            <a:tailEnd len="sm" w="sm" type="none"/>
          </a:ln>
        </p:spPr>
        <p:txBody>
          <a:bodyPr anchorCtr="0" anchor="t" bIns="54000" lIns="0" spcFirstLastPara="1" rIns="0" wrap="square" tIns="54000">
            <a:noAutofit/>
          </a:bodyPr>
          <a:lstStyle/>
          <a:p>
            <a:pPr indent="0" lvl="0" marL="0" rtl="0" algn="l">
              <a:spcBef>
                <a:spcPts val="0"/>
              </a:spcBef>
              <a:spcAft>
                <a:spcPts val="0"/>
              </a:spcAft>
              <a:buNone/>
            </a:pPr>
            <a:r>
              <a:rPr lang="en-GB" sz="2000"/>
              <a:t>M</a:t>
            </a:r>
            <a:r>
              <a:rPr lang="en-GB" sz="2000"/>
              <a:t>ô hình của s</a:t>
            </a:r>
            <a:r>
              <a:rPr baseline="-25000" lang="en-GB" sz="2000"/>
              <a:t>1</a:t>
            </a:r>
            <a:endParaRPr sz="2000"/>
          </a:p>
        </p:txBody>
      </p:sp>
      <p:sp>
        <p:nvSpPr>
          <p:cNvPr id="114" name="Google Shape;114;p21"/>
          <p:cNvSpPr/>
          <p:nvPr/>
        </p:nvSpPr>
        <p:spPr>
          <a:xfrm>
            <a:off x="5155725" y="4370050"/>
            <a:ext cx="2458500" cy="1507500"/>
          </a:xfrm>
          <a:prstGeom prst="wedgeEllipseCallout">
            <a:avLst>
              <a:gd fmla="val -175908" name="adj1"/>
              <a:gd fmla="val 2750" name="adj2"/>
            </a:avLst>
          </a:prstGeom>
          <a:solidFill>
            <a:srgbClr val="FFE599"/>
          </a:solidFill>
          <a:ln cap="flat" cmpd="sng" w="9525">
            <a:solidFill>
              <a:schemeClr val="dk2"/>
            </a:solidFill>
            <a:prstDash val="solid"/>
            <a:round/>
            <a:headEnd len="sm" w="sm" type="none"/>
            <a:tailEnd len="sm" w="sm" type="none"/>
          </a:ln>
        </p:spPr>
        <p:txBody>
          <a:bodyPr anchorCtr="0" anchor="b" bIns="54000" lIns="0" spcFirstLastPara="1" rIns="0" wrap="square" tIns="54000">
            <a:noAutofit/>
          </a:bodyPr>
          <a:lstStyle/>
          <a:p>
            <a:pPr indent="0" lvl="0" marL="0" rtl="0" algn="l">
              <a:spcBef>
                <a:spcPts val="0"/>
              </a:spcBef>
              <a:spcAft>
                <a:spcPts val="0"/>
              </a:spcAft>
              <a:buNone/>
            </a:pPr>
            <a:r>
              <a:rPr lang="en-GB" sz="2000"/>
              <a:t>Mô hình của s</a:t>
            </a:r>
            <a:r>
              <a:rPr baseline="-25000" lang="en-GB" sz="2000"/>
              <a:t>2</a:t>
            </a:r>
            <a:endParaRPr sz="2000"/>
          </a:p>
        </p:txBody>
      </p:sp>
      <p:sp>
        <p:nvSpPr>
          <p:cNvPr id="115" name="Google Shape;115;p21"/>
          <p:cNvSpPr/>
          <p:nvPr/>
        </p:nvSpPr>
        <p:spPr>
          <a:xfrm>
            <a:off x="5280800" y="4370050"/>
            <a:ext cx="2185500" cy="702300"/>
          </a:xfrm>
          <a:prstGeom prst="wedgeEllipseCallout">
            <a:avLst>
              <a:gd fmla="val -138810" name="adj1"/>
              <a:gd fmla="val -19607" name="adj2"/>
            </a:avLst>
          </a:prstGeom>
          <a:solidFill>
            <a:srgbClr val="F6B26B"/>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l">
              <a:spcBef>
                <a:spcPts val="0"/>
              </a:spcBef>
              <a:spcAft>
                <a:spcPts val="0"/>
              </a:spcAft>
              <a:buNone/>
            </a:pPr>
            <a:r>
              <a:rPr lang="en-GB" sz="2000"/>
              <a:t>M</a:t>
            </a:r>
            <a:r>
              <a:rPr lang="en-GB" sz="2000"/>
              <a:t>ô hình của s</a:t>
            </a:r>
            <a:r>
              <a:rPr baseline="-25000" lang="en-GB" sz="2000"/>
              <a:t>3</a:t>
            </a:r>
            <a:endParaRPr sz="2000"/>
          </a:p>
        </p:txBody>
      </p:sp>
      <p:sp>
        <p:nvSpPr>
          <p:cNvPr id="116" name="Google Shape;116;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122" name="Google Shape;122;p22"/>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4.1. Vai trò của ngữ nghĩa hình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4.2. Ngữ nghĩa lô-gic của RDF(S)</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4.3. Suy diễn dựa trên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4.4. Các hạn chế của RDF(S)</a:t>
            </a:r>
            <a:endParaRPr sz="4000"/>
          </a:p>
        </p:txBody>
      </p:sp>
      <p:sp>
        <p:nvSpPr>
          <p:cNvPr id="123" name="Google Shape;123;p22"/>
          <p:cNvSpPr/>
          <p:nvPr/>
        </p:nvSpPr>
        <p:spPr>
          <a:xfrm>
            <a:off x="318450" y="1297690"/>
            <a:ext cx="53529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tầng biểu diễn</a:t>
            </a:r>
            <a:endParaRPr/>
          </a:p>
        </p:txBody>
      </p:sp>
      <p:sp>
        <p:nvSpPr>
          <p:cNvPr id="130" name="Google Shape;130;p23"/>
          <p:cNvSpPr/>
          <p:nvPr/>
        </p:nvSpPr>
        <p:spPr>
          <a:xfrm>
            <a:off x="718875" y="1122875"/>
            <a:ext cx="6182400" cy="3341400"/>
          </a:xfrm>
          <a:prstGeom prst="rect">
            <a:avLst/>
          </a:prstGeom>
          <a:solidFill>
            <a:srgbClr val="EFEFEF"/>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000"/>
              <a:t>Biểu diễn đơn giản</a:t>
            </a:r>
            <a:endParaRPr sz="2000"/>
          </a:p>
        </p:txBody>
      </p:sp>
      <p:sp>
        <p:nvSpPr>
          <p:cNvPr id="131" name="Google Shape;131;p23"/>
          <p:cNvSpPr/>
          <p:nvPr/>
        </p:nvSpPr>
        <p:spPr>
          <a:xfrm>
            <a:off x="1078300" y="1630257"/>
            <a:ext cx="5564100" cy="2697900"/>
          </a:xfrm>
          <a:prstGeom prst="rect">
            <a:avLst/>
          </a:prstGeom>
          <a:solidFill>
            <a:srgbClr val="D9D9D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000"/>
              <a:t>Biểu diễn RDF</a:t>
            </a:r>
            <a:endParaRPr sz="2000"/>
          </a:p>
        </p:txBody>
      </p:sp>
      <p:sp>
        <p:nvSpPr>
          <p:cNvPr id="132" name="Google Shape;132;p23"/>
          <p:cNvSpPr/>
          <p:nvPr/>
        </p:nvSpPr>
        <p:spPr>
          <a:xfrm>
            <a:off x="1408975" y="2187131"/>
            <a:ext cx="4816500" cy="1893300"/>
          </a:xfrm>
          <a:prstGeom prst="rect">
            <a:avLst/>
          </a:prstGeom>
          <a:solidFill>
            <a:srgbClr val="CC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2000"/>
              <a:t>Biểu diễn RDFS</a:t>
            </a:r>
            <a:endParaRPr sz="2000"/>
          </a:p>
        </p:txBody>
      </p:sp>
      <p:sp>
        <p:nvSpPr>
          <p:cNvPr id="133" name="Google Shape;133;p23"/>
          <p:cNvSpPr txBox="1"/>
          <p:nvPr/>
        </p:nvSpPr>
        <p:spPr>
          <a:xfrm>
            <a:off x="549900" y="4652750"/>
            <a:ext cx="8282400" cy="1893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GB" sz="2200">
                <a:solidFill>
                  <a:srgbClr val="0B5394"/>
                </a:solidFill>
              </a:rPr>
              <a:t>Biểu diễn đơn giản</a:t>
            </a:r>
            <a:r>
              <a:rPr lang="en-GB" sz="2200">
                <a:solidFill>
                  <a:srgbClr val="0B5394"/>
                </a:solidFill>
              </a:rPr>
              <a:t> có thể là biểu diễn RDF nếu thỏa mãn các ràng buộc, và biểu diễn RDF có thể là biểu diễn RDFS nếu thỏa mãn các ràng buộc tiếp theo.</a:t>
            </a:r>
            <a:endParaRPr sz="2200">
              <a:solidFill>
                <a:srgbClr val="0B5394"/>
              </a:solidFill>
            </a:endParaRPr>
          </a:p>
          <a:p>
            <a:pPr indent="0" lvl="0" marL="0" rtl="0" algn="just">
              <a:spcBef>
                <a:spcPts val="0"/>
              </a:spcBef>
              <a:spcAft>
                <a:spcPts val="0"/>
              </a:spcAft>
              <a:buNone/>
            </a:pPr>
            <a:r>
              <a:rPr lang="en-GB" sz="2200">
                <a:solidFill>
                  <a:srgbClr val="0B5394"/>
                </a:solidFill>
              </a:rPr>
              <a:t>Càng giới hạn tập biểu diễn, càng có nhiều (tăng) khả năng thực hiện suy diễn.</a:t>
            </a:r>
            <a:endParaRPr sz="2200">
              <a:solidFill>
                <a:srgbClr val="0B5394"/>
              </a:solidFill>
            </a:endParaRPr>
          </a:p>
        </p:txBody>
      </p:sp>
      <p:sp>
        <p:nvSpPr>
          <p:cNvPr id="134" name="Google Shape;134;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200"/>
              <a:t>Các thành phần của </a:t>
            </a:r>
            <a:r>
              <a:rPr lang="en-GB" sz="2200"/>
              <a:t>Biểu diễn đơn giản</a:t>
            </a:r>
            <a:r>
              <a:rPr lang="en-GB" sz="2200"/>
              <a:t> I </a:t>
            </a:r>
            <a:r>
              <a:rPr lang="en-GB" sz="2200"/>
              <a:t>cho đồ thị RDF của bộ từ vựng V</a:t>
            </a:r>
            <a:r>
              <a:rPr lang="en-GB" sz="2200"/>
              <a:t>:</a:t>
            </a:r>
            <a:endParaRPr sz="2200"/>
          </a:p>
          <a:p>
            <a:pPr indent="-368300" lvl="0" marL="457200" rtl="0" algn="l">
              <a:spcBef>
                <a:spcPts val="0"/>
              </a:spcBef>
              <a:spcAft>
                <a:spcPts val="0"/>
              </a:spcAft>
              <a:buSzPts val="2200"/>
              <a:buAutoNum type="arabicPeriod"/>
            </a:pPr>
            <a:r>
              <a:rPr lang="en-GB" sz="2200"/>
              <a:t>IR - 1 tập không rỗng, còn được gọi là không gian mô tả của I</a:t>
            </a:r>
            <a:endParaRPr sz="2200">
              <a:latin typeface="Caveat Medium"/>
              <a:ea typeface="Caveat Medium"/>
              <a:cs typeface="Caveat Medium"/>
              <a:sym typeface="Caveat Medium"/>
            </a:endParaRPr>
          </a:p>
          <a:p>
            <a:pPr indent="-368300" lvl="0" marL="457200" marR="0" rtl="0" algn="l">
              <a:lnSpc>
                <a:spcPct val="115000"/>
              </a:lnSpc>
              <a:spcBef>
                <a:spcPts val="0"/>
              </a:spcBef>
              <a:spcAft>
                <a:spcPts val="0"/>
              </a:spcAft>
              <a:buSzPts val="2200"/>
              <a:buAutoNum type="arabicPeriod"/>
            </a:pPr>
            <a:r>
              <a:rPr lang="en-GB" sz="2200"/>
              <a:t>IP - tập các thuộc tính của I</a:t>
            </a:r>
            <a:r>
              <a:rPr lang="en-GB" sz="2200">
                <a:latin typeface="Caveat"/>
                <a:ea typeface="Caveat"/>
                <a:cs typeface="Caveat"/>
                <a:sym typeface="Caveat"/>
              </a:rPr>
              <a:t>.</a:t>
            </a:r>
            <a:endParaRPr sz="2200">
              <a:latin typeface="Caveat"/>
              <a:ea typeface="Caveat"/>
              <a:cs typeface="Caveat"/>
              <a:sym typeface="Caveat"/>
            </a:endParaRPr>
          </a:p>
          <a:p>
            <a:pPr indent="-368300" lvl="0" marL="457200" rtl="0" algn="l">
              <a:spcBef>
                <a:spcPts val="0"/>
              </a:spcBef>
              <a:spcAft>
                <a:spcPts val="0"/>
              </a:spcAft>
              <a:buSzPts val="2200"/>
              <a:buAutoNum type="arabicPeriod"/>
            </a:pPr>
            <a:r>
              <a:rPr lang="en-GB" sz="2200"/>
              <a:t>IEXT - ánh xạ thuộc tính tới 1 tập cặp phần tử của IR; </a:t>
            </a:r>
            <a:endParaRPr sz="2200"/>
          </a:p>
          <a:p>
            <a:pPr indent="0" lvl="0" marL="457200" rtl="0" algn="ctr">
              <a:spcBef>
                <a:spcPts val="0"/>
              </a:spcBef>
              <a:spcAft>
                <a:spcPts val="0"/>
              </a:spcAft>
              <a:buNone/>
            </a:pPr>
            <a:r>
              <a:rPr lang="en-GB" sz="2200"/>
              <a:t>IEXT: IP ➝ IR x IR,</a:t>
            </a:r>
            <a:endParaRPr sz="2200"/>
          </a:p>
          <a:p>
            <a:pPr indent="0" lvl="0" marL="457200" rtl="0" algn="l">
              <a:spcBef>
                <a:spcPts val="0"/>
              </a:spcBef>
              <a:spcAft>
                <a:spcPts val="0"/>
              </a:spcAft>
              <a:buNone/>
            </a:pPr>
            <a:r>
              <a:rPr lang="en-GB" sz="2200"/>
              <a:t>IEXT(p) được gọi là mở rộng của thuộc tính p.</a:t>
            </a:r>
            <a:endParaRPr sz="2200">
              <a:latin typeface="Caveat"/>
              <a:ea typeface="Caveat"/>
              <a:cs typeface="Caveat"/>
              <a:sym typeface="Caveat"/>
            </a:endParaRPr>
          </a:p>
          <a:p>
            <a:pPr indent="-368300" lvl="0" marL="457200" rtl="0" algn="l">
              <a:spcBef>
                <a:spcPts val="0"/>
              </a:spcBef>
              <a:spcAft>
                <a:spcPts val="0"/>
              </a:spcAft>
              <a:buSzPts val="2200"/>
              <a:buAutoNum type="arabicPeriod"/>
            </a:pPr>
            <a:r>
              <a:rPr lang="en-GB" sz="2200"/>
              <a:t>IS - </a:t>
            </a:r>
            <a:r>
              <a:rPr lang="en-GB" sz="2200"/>
              <a:t>ánh xạ URIs từ V sang hợp của IR và IP; IS: V ➝IR ∪ IP.</a:t>
            </a:r>
            <a:endParaRPr sz="2200"/>
          </a:p>
          <a:p>
            <a:pPr indent="-368300" lvl="0" marL="457200" rtl="0" algn="l">
              <a:spcBef>
                <a:spcPts val="0"/>
              </a:spcBef>
              <a:spcAft>
                <a:spcPts val="0"/>
              </a:spcAft>
              <a:buSzPts val="2200"/>
              <a:buAutoNum type="arabicPeriod"/>
            </a:pPr>
            <a:r>
              <a:rPr lang="en-GB" sz="2200"/>
              <a:t>IL - ánh xạ một phần hằng giá trị trong V sang IR.</a:t>
            </a:r>
            <a:endParaRPr sz="2200"/>
          </a:p>
          <a:p>
            <a:pPr indent="-368300" lvl="1" marL="914400" rtl="0" algn="l">
              <a:spcBef>
                <a:spcPts val="0"/>
              </a:spcBef>
              <a:spcAft>
                <a:spcPts val="0"/>
              </a:spcAft>
              <a:buSzPts val="2200"/>
              <a:buChar char="○"/>
            </a:pPr>
            <a:r>
              <a:rPr lang="en-GB"/>
              <a:t>Một phần bởi vì có những hằng giá trị không có tham chiếu.</a:t>
            </a:r>
            <a:endParaRPr sz="2200"/>
          </a:p>
          <a:p>
            <a:pPr indent="0" lvl="0" marL="457200" rtl="0" algn="l">
              <a:spcBef>
                <a:spcPts val="0"/>
              </a:spcBef>
              <a:spcAft>
                <a:spcPts val="0"/>
              </a:spcAft>
              <a:buNone/>
            </a:pPr>
            <a:r>
              <a:t/>
            </a:r>
            <a:endParaRPr sz="2200"/>
          </a:p>
        </p:txBody>
      </p:sp>
      <p:sp>
        <p:nvSpPr>
          <p:cNvPr id="140" name="Google Shape;140;p2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ký hiệu cho 1</a:t>
            </a:r>
            <a:r>
              <a:rPr lang="en-GB"/>
              <a:t> Biểu diễn đơn giản</a:t>
            </a:r>
            <a:endParaRPr/>
          </a:p>
        </p:txBody>
      </p:sp>
      <p:sp>
        <p:nvSpPr>
          <p:cNvPr id="141" name="Google Shape;141;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42" name="Google Shape;142;p24"/>
          <p:cNvSpPr txBox="1"/>
          <p:nvPr/>
        </p:nvSpPr>
        <p:spPr>
          <a:xfrm>
            <a:off x="280450" y="5073200"/>
            <a:ext cx="8520600" cy="11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chemeClr val="accent1"/>
                </a:solidFill>
              </a:rPr>
              <a:t>!RDF 1.0 (2004) phân biệt hằng có định kiểu và hằng không định kiểu, tuy nhiên RDF 1.1 (2014) giản lược phần này và định nghĩa lại quy tắc ánh xạ.</a:t>
            </a:r>
            <a:endParaRPr i="1" sz="2400">
              <a:solidFill>
                <a:schemeClr val="accen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ơ đồ khái niệm</a:t>
            </a:r>
            <a:endParaRPr/>
          </a:p>
        </p:txBody>
      </p:sp>
      <p:sp>
        <p:nvSpPr>
          <p:cNvPr id="148" name="Google Shape;148;p25"/>
          <p:cNvSpPr/>
          <p:nvPr/>
        </p:nvSpPr>
        <p:spPr>
          <a:xfrm>
            <a:off x="1428075" y="2485400"/>
            <a:ext cx="5550000" cy="1212900"/>
          </a:xfrm>
          <a:prstGeom prst="downArrow">
            <a:avLst>
              <a:gd fmla="val 50000" name="adj1"/>
              <a:gd fmla="val 50000" name="adj2"/>
            </a:avLst>
          </a:prstGeom>
          <a:solidFill>
            <a:srgbClr val="99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600">
              <a:latin typeface="Caveat"/>
              <a:ea typeface="Caveat"/>
              <a:cs typeface="Caveat"/>
              <a:sym typeface="Caveat"/>
            </a:endParaRPr>
          </a:p>
        </p:txBody>
      </p:sp>
      <p:sp>
        <p:nvSpPr>
          <p:cNvPr id="149" name="Google Shape;149;p25"/>
          <p:cNvSpPr/>
          <p:nvPr/>
        </p:nvSpPr>
        <p:spPr>
          <a:xfrm>
            <a:off x="1171425" y="3394875"/>
            <a:ext cx="4003200" cy="16833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600"/>
              <a:t>IR</a:t>
            </a:r>
            <a:endParaRPr sz="2600"/>
          </a:p>
        </p:txBody>
      </p:sp>
      <p:cxnSp>
        <p:nvCxnSpPr>
          <p:cNvPr id="150" name="Google Shape;150;p25"/>
          <p:cNvCxnSpPr/>
          <p:nvPr/>
        </p:nvCxnSpPr>
        <p:spPr>
          <a:xfrm>
            <a:off x="1186975" y="2925540"/>
            <a:ext cx="6993000" cy="2700"/>
          </a:xfrm>
          <a:prstGeom prst="straightConnector1">
            <a:avLst/>
          </a:prstGeom>
          <a:noFill/>
          <a:ln cap="flat" cmpd="sng" w="9525">
            <a:solidFill>
              <a:schemeClr val="dk2"/>
            </a:solidFill>
            <a:prstDash val="solid"/>
            <a:round/>
            <a:headEnd len="med" w="med" type="none"/>
            <a:tailEnd len="med" w="med" type="none"/>
          </a:ln>
        </p:spPr>
      </p:cxnSp>
      <p:sp>
        <p:nvSpPr>
          <p:cNvPr id="151" name="Google Shape;151;p25"/>
          <p:cNvSpPr/>
          <p:nvPr/>
        </p:nvSpPr>
        <p:spPr>
          <a:xfrm>
            <a:off x="4570100" y="3350150"/>
            <a:ext cx="2896500" cy="172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600"/>
              <a:t>IP</a:t>
            </a:r>
            <a:endParaRPr sz="2600"/>
          </a:p>
        </p:txBody>
      </p:sp>
      <p:sp>
        <p:nvSpPr>
          <p:cNvPr id="152" name="Google Shape;152;p25"/>
          <p:cNvSpPr txBox="1"/>
          <p:nvPr/>
        </p:nvSpPr>
        <p:spPr>
          <a:xfrm rot="5400000">
            <a:off x="6882300" y="1794750"/>
            <a:ext cx="1836300" cy="4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t>Bộ từ vựng V</a:t>
            </a:r>
            <a:endParaRPr b="1" sz="2000"/>
          </a:p>
        </p:txBody>
      </p:sp>
      <p:sp>
        <p:nvSpPr>
          <p:cNvPr id="153" name="Google Shape;153;p25"/>
          <p:cNvSpPr txBox="1"/>
          <p:nvPr/>
        </p:nvSpPr>
        <p:spPr>
          <a:xfrm rot="5400000">
            <a:off x="6982850" y="3861825"/>
            <a:ext cx="1635300" cy="4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t>Biểu diễn </a:t>
            </a:r>
            <a:r>
              <a:rPr lang="en-GB" sz="2200">
                <a:solidFill>
                  <a:schemeClr val="dk2"/>
                </a:solidFill>
              </a:rPr>
              <a:t>I</a:t>
            </a:r>
            <a:endParaRPr b="1" sz="2000"/>
          </a:p>
        </p:txBody>
      </p:sp>
      <p:sp>
        <p:nvSpPr>
          <p:cNvPr id="154" name="Google Shape;154;p25"/>
          <p:cNvSpPr/>
          <p:nvPr/>
        </p:nvSpPr>
        <p:spPr>
          <a:xfrm>
            <a:off x="3703200" y="2668525"/>
            <a:ext cx="525900" cy="1106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800"/>
              <a:t>IL</a:t>
            </a:r>
            <a:endParaRPr sz="1800"/>
          </a:p>
        </p:txBody>
      </p:sp>
      <p:sp>
        <p:nvSpPr>
          <p:cNvPr id="155" name="Google Shape;155;p25"/>
          <p:cNvSpPr/>
          <p:nvPr/>
        </p:nvSpPr>
        <p:spPr>
          <a:xfrm>
            <a:off x="4322550" y="3200400"/>
            <a:ext cx="485400" cy="574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5"/>
          <p:cNvSpPr/>
          <p:nvPr/>
        </p:nvSpPr>
        <p:spPr>
          <a:xfrm>
            <a:off x="6486478" y="3200400"/>
            <a:ext cx="485400" cy="574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5"/>
          <p:cNvSpPr/>
          <p:nvPr/>
        </p:nvSpPr>
        <p:spPr>
          <a:xfrm>
            <a:off x="4447275" y="3016525"/>
            <a:ext cx="2414100" cy="27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8000" lIns="18000" spcFirstLastPara="1" rIns="18000" wrap="square" tIns="18000">
            <a:noAutofit/>
          </a:bodyPr>
          <a:lstStyle/>
          <a:p>
            <a:pPr indent="0" lvl="0" marL="0" rtl="0" algn="ctr">
              <a:spcBef>
                <a:spcPts val="0"/>
              </a:spcBef>
              <a:spcAft>
                <a:spcPts val="0"/>
              </a:spcAft>
              <a:buNone/>
            </a:pPr>
            <a:r>
              <a:t/>
            </a:r>
            <a:endParaRPr baseline="-25000" sz="1800"/>
          </a:p>
        </p:txBody>
      </p:sp>
      <p:sp>
        <p:nvSpPr>
          <p:cNvPr id="158" name="Google Shape;158;p25"/>
          <p:cNvSpPr/>
          <p:nvPr/>
        </p:nvSpPr>
        <p:spPr>
          <a:xfrm>
            <a:off x="6236650" y="2682925"/>
            <a:ext cx="303300" cy="33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5"/>
          <p:cNvSpPr/>
          <p:nvPr/>
        </p:nvSpPr>
        <p:spPr>
          <a:xfrm>
            <a:off x="6628986" y="3105600"/>
            <a:ext cx="183900" cy="183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5"/>
          <p:cNvSpPr/>
          <p:nvPr/>
        </p:nvSpPr>
        <p:spPr>
          <a:xfrm>
            <a:off x="6619306" y="3181800"/>
            <a:ext cx="232800" cy="183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5"/>
          <p:cNvSpPr/>
          <p:nvPr/>
        </p:nvSpPr>
        <p:spPr>
          <a:xfrm>
            <a:off x="4449514" y="3105600"/>
            <a:ext cx="183900" cy="183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5"/>
          <p:cNvSpPr/>
          <p:nvPr/>
        </p:nvSpPr>
        <p:spPr>
          <a:xfrm>
            <a:off x="4446473" y="3181800"/>
            <a:ext cx="232800" cy="183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5"/>
          <p:cNvSpPr/>
          <p:nvPr/>
        </p:nvSpPr>
        <p:spPr>
          <a:xfrm>
            <a:off x="6247986" y="2953200"/>
            <a:ext cx="183900" cy="183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5"/>
          <p:cNvSpPr/>
          <p:nvPr/>
        </p:nvSpPr>
        <p:spPr>
          <a:xfrm>
            <a:off x="6339729" y="2877000"/>
            <a:ext cx="183900" cy="183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5"/>
          <p:cNvSpPr/>
          <p:nvPr/>
        </p:nvSpPr>
        <p:spPr>
          <a:xfrm flipH="1" rot="-5400000">
            <a:off x="4484750" y="4507301"/>
            <a:ext cx="1277700" cy="1260900"/>
          </a:xfrm>
          <a:prstGeom prst="bentUpArrow">
            <a:avLst>
              <a:gd fmla="val 25000" name="adj1"/>
              <a:gd fmla="val 24070" name="adj2"/>
              <a:gd fmla="val 26827" name="adj3"/>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5"/>
          <p:cNvSpPr/>
          <p:nvPr/>
        </p:nvSpPr>
        <p:spPr>
          <a:xfrm>
            <a:off x="2586225" y="4741525"/>
            <a:ext cx="183900" cy="183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5"/>
          <p:cNvSpPr/>
          <p:nvPr/>
        </p:nvSpPr>
        <p:spPr>
          <a:xfrm>
            <a:off x="2967225" y="4741525"/>
            <a:ext cx="183900" cy="183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5"/>
          <p:cNvSpPr/>
          <p:nvPr/>
        </p:nvSpPr>
        <p:spPr>
          <a:xfrm>
            <a:off x="3424425" y="4741525"/>
            <a:ext cx="183900" cy="183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5"/>
          <p:cNvSpPr/>
          <p:nvPr/>
        </p:nvSpPr>
        <p:spPr>
          <a:xfrm>
            <a:off x="3957825" y="4665325"/>
            <a:ext cx="183900" cy="183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5"/>
          <p:cNvSpPr/>
          <p:nvPr/>
        </p:nvSpPr>
        <p:spPr>
          <a:xfrm>
            <a:off x="4415025" y="4589125"/>
            <a:ext cx="183900" cy="183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1" name="Google Shape;171;p25"/>
          <p:cNvCxnSpPr>
            <a:stCxn id="166" idx="4"/>
            <a:endCxn id="167" idx="3"/>
          </p:cNvCxnSpPr>
          <p:nvPr/>
        </p:nvCxnSpPr>
        <p:spPr>
          <a:xfrm rot="-5400000">
            <a:off x="2822625" y="4753975"/>
            <a:ext cx="27000" cy="315900"/>
          </a:xfrm>
          <a:prstGeom prst="curvedConnector3">
            <a:avLst>
              <a:gd fmla="val -399815" name="adj1"/>
            </a:avLst>
          </a:prstGeom>
          <a:noFill/>
          <a:ln cap="flat" cmpd="sng" w="9525">
            <a:solidFill>
              <a:schemeClr val="dk2"/>
            </a:solidFill>
            <a:prstDash val="solid"/>
            <a:round/>
            <a:headEnd len="med" w="med" type="none"/>
            <a:tailEnd len="med" w="med" type="none"/>
          </a:ln>
        </p:spPr>
      </p:cxnSp>
      <p:cxnSp>
        <p:nvCxnSpPr>
          <p:cNvPr id="172" name="Google Shape;172;p25"/>
          <p:cNvCxnSpPr>
            <a:stCxn id="168" idx="4"/>
            <a:endCxn id="170" idx="4"/>
          </p:cNvCxnSpPr>
          <p:nvPr/>
        </p:nvCxnSpPr>
        <p:spPr>
          <a:xfrm rot="-5400000">
            <a:off x="3935475" y="4353925"/>
            <a:ext cx="152400" cy="990600"/>
          </a:xfrm>
          <a:prstGeom prst="curvedConnector3">
            <a:avLst>
              <a:gd fmla="val -438993" name="adj1"/>
            </a:avLst>
          </a:prstGeom>
          <a:noFill/>
          <a:ln cap="flat" cmpd="sng" w="9525">
            <a:solidFill>
              <a:schemeClr val="dk2"/>
            </a:solidFill>
            <a:prstDash val="solid"/>
            <a:round/>
            <a:headEnd len="med" w="med" type="none"/>
            <a:tailEnd len="med" w="med" type="none"/>
          </a:ln>
        </p:spPr>
      </p:cxnSp>
      <p:cxnSp>
        <p:nvCxnSpPr>
          <p:cNvPr id="173" name="Google Shape;173;p25"/>
          <p:cNvCxnSpPr>
            <a:stCxn id="166" idx="4"/>
            <a:endCxn id="169" idx="3"/>
          </p:cNvCxnSpPr>
          <p:nvPr/>
        </p:nvCxnSpPr>
        <p:spPr>
          <a:xfrm rot="-5400000">
            <a:off x="3279825" y="4220575"/>
            <a:ext cx="103200" cy="1306500"/>
          </a:xfrm>
          <a:prstGeom prst="curvedConnector3">
            <a:avLst>
              <a:gd fmla="val -560102" name="adj1"/>
            </a:avLst>
          </a:prstGeom>
          <a:noFill/>
          <a:ln cap="flat" cmpd="sng" w="9525">
            <a:solidFill>
              <a:schemeClr val="dk2"/>
            </a:solidFill>
            <a:prstDash val="solid"/>
            <a:round/>
            <a:headEnd len="med" w="med" type="none"/>
            <a:tailEnd len="med" w="med" type="none"/>
          </a:ln>
        </p:spPr>
      </p:cxnSp>
      <p:sp>
        <p:nvSpPr>
          <p:cNvPr id="174" name="Google Shape;174;p25"/>
          <p:cNvSpPr txBox="1"/>
          <p:nvPr/>
        </p:nvSpPr>
        <p:spPr>
          <a:xfrm>
            <a:off x="1128525" y="5093275"/>
            <a:ext cx="1619700" cy="4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000">
                <a:solidFill>
                  <a:srgbClr val="0B5394"/>
                </a:solidFill>
              </a:rPr>
              <a:t>Cặp phần tử</a:t>
            </a:r>
            <a:endParaRPr i="1" sz="2000">
              <a:solidFill>
                <a:srgbClr val="0B5394"/>
              </a:solidFill>
            </a:endParaRPr>
          </a:p>
        </p:txBody>
      </p:sp>
      <p:graphicFrame>
        <p:nvGraphicFramePr>
          <p:cNvPr id="175" name="Google Shape;175;p25"/>
          <p:cNvGraphicFramePr/>
          <p:nvPr/>
        </p:nvGraphicFramePr>
        <p:xfrm>
          <a:off x="1472250" y="1469847"/>
          <a:ext cx="3000000" cy="3000000"/>
        </p:xfrm>
        <a:graphic>
          <a:graphicData uri="http://schemas.openxmlformats.org/drawingml/2006/table">
            <a:tbl>
              <a:tblPr>
                <a:noFill/>
                <a:tableStyleId>{494DBD49-A438-44D5-B211-3F3E4B296100}</a:tableStyleId>
              </a:tblPr>
              <a:tblGrid>
                <a:gridCol w="2230950"/>
                <a:gridCol w="2195125"/>
                <a:gridCol w="947750"/>
              </a:tblGrid>
              <a:tr h="381000">
                <a:tc gridSpan="3">
                  <a:txBody>
                    <a:bodyPr/>
                    <a:lstStyle/>
                    <a:p>
                      <a:pPr indent="0" lvl="0" marL="0" rtl="0" algn="l">
                        <a:spcBef>
                          <a:spcPts val="0"/>
                        </a:spcBef>
                        <a:spcAft>
                          <a:spcPts val="0"/>
                        </a:spcAft>
                        <a:buNone/>
                      </a:pPr>
                      <a:r>
                        <a:rPr b="1" lang="en-GB" sz="2200"/>
                        <a:t>Các thành phần</a:t>
                      </a:r>
                      <a:endParaRPr b="1" sz="2200"/>
                    </a:p>
                  </a:txBody>
                  <a:tcPr marT="91425" marB="91425" marR="91425" marL="91425">
                    <a:solidFill>
                      <a:srgbClr val="FFFFFF"/>
                    </a:solidFill>
                  </a:tcPr>
                </a:tc>
                <a:tc hMerge="1"/>
                <a:tc hMerge="1"/>
              </a:tr>
              <a:tr h="381000">
                <a:tc gridSpan="2">
                  <a:txBody>
                    <a:bodyPr/>
                    <a:lstStyle/>
                    <a:p>
                      <a:pPr indent="0" lvl="0" marL="0" rtl="0" algn="ctr">
                        <a:spcBef>
                          <a:spcPts val="0"/>
                        </a:spcBef>
                        <a:spcAft>
                          <a:spcPts val="0"/>
                        </a:spcAft>
                        <a:buNone/>
                      </a:pPr>
                      <a:r>
                        <a:rPr lang="en-GB" sz="2200"/>
                        <a:t>H</a:t>
                      </a:r>
                      <a:r>
                        <a:rPr lang="en-GB" sz="2200"/>
                        <a:t>ằng giá trị</a:t>
                      </a:r>
                      <a:endParaRPr sz="2200"/>
                    </a:p>
                  </a:txBody>
                  <a:tcPr marT="91425" marB="91425" marR="91425" marL="91425">
                    <a:solidFill>
                      <a:srgbClr val="FFFFFF"/>
                    </a:solidFill>
                  </a:tcPr>
                </a:tc>
                <a:tc hMerge="1"/>
                <a:tc>
                  <a:txBody>
                    <a:bodyPr/>
                    <a:lstStyle/>
                    <a:p>
                      <a:pPr indent="0" lvl="0" marL="0" rtl="0" algn="l">
                        <a:spcBef>
                          <a:spcPts val="0"/>
                        </a:spcBef>
                        <a:spcAft>
                          <a:spcPts val="0"/>
                        </a:spcAft>
                        <a:buNone/>
                      </a:pPr>
                      <a:r>
                        <a:rPr i="1" lang="en-GB" sz="2200"/>
                        <a:t>IRIs</a:t>
                      </a:r>
                      <a:endParaRPr i="1" sz="2200"/>
                    </a:p>
                  </a:txBody>
                  <a:tcPr marT="91425" marB="91425" marR="91425" marL="91425">
                    <a:solidFill>
                      <a:srgbClr val="FFFFFF"/>
                    </a:solidFill>
                  </a:tcPr>
                </a:tc>
              </a:tr>
            </a:tbl>
          </a:graphicData>
        </a:graphic>
      </p:graphicFrame>
      <p:sp>
        <p:nvSpPr>
          <p:cNvPr id="176" name="Google Shape;176;p25"/>
          <p:cNvSpPr txBox="1"/>
          <p:nvPr/>
        </p:nvSpPr>
        <p:spPr>
          <a:xfrm>
            <a:off x="4904675" y="5308775"/>
            <a:ext cx="828900" cy="333600"/>
          </a:xfrm>
          <a:prstGeom prst="rect">
            <a:avLst/>
          </a:prstGeom>
          <a:noFill/>
          <a:ln>
            <a:noFill/>
          </a:ln>
        </p:spPr>
        <p:txBody>
          <a:bodyPr anchorCtr="0" anchor="t" bIns="18000" lIns="91425" spcFirstLastPara="1" rIns="91425" wrap="square" tIns="18000">
            <a:noAutofit/>
          </a:bodyPr>
          <a:lstStyle/>
          <a:p>
            <a:pPr indent="0" lvl="0" marL="0" rtl="0" algn="l">
              <a:spcBef>
                <a:spcPts val="0"/>
              </a:spcBef>
              <a:spcAft>
                <a:spcPts val="0"/>
              </a:spcAft>
              <a:buNone/>
            </a:pPr>
            <a:r>
              <a:rPr lang="en-GB" sz="1800">
                <a:solidFill>
                  <a:schemeClr val="dk2"/>
                </a:solidFill>
              </a:rPr>
              <a:t>IEXT</a:t>
            </a:r>
            <a:endParaRPr sz="1800"/>
          </a:p>
        </p:txBody>
      </p:sp>
      <p:sp>
        <p:nvSpPr>
          <p:cNvPr id="177" name="Google Shape;177;p25"/>
          <p:cNvSpPr/>
          <p:nvPr/>
        </p:nvSpPr>
        <p:spPr>
          <a:xfrm>
            <a:off x="5491118" y="4259292"/>
            <a:ext cx="183900" cy="1839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5"/>
          <p:cNvSpPr txBox="1"/>
          <p:nvPr/>
        </p:nvSpPr>
        <p:spPr>
          <a:xfrm>
            <a:off x="6080449" y="2820946"/>
            <a:ext cx="614400" cy="33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t>IS</a:t>
            </a:r>
            <a:endParaRPr sz="1800"/>
          </a:p>
        </p:txBody>
      </p:sp>
      <p:sp>
        <p:nvSpPr>
          <p:cNvPr id="179" name="Google Shape;179;p25"/>
          <p:cNvSpPr txBox="1"/>
          <p:nvPr/>
        </p:nvSpPr>
        <p:spPr>
          <a:xfrm>
            <a:off x="2914250" y="2799175"/>
            <a:ext cx="865200" cy="4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600">
                <a:solidFill>
                  <a:schemeClr val="dk1"/>
                </a:solidFill>
              </a:rPr>
              <a:t>I</a:t>
            </a:r>
            <a:endParaRPr/>
          </a:p>
        </p:txBody>
      </p:sp>
      <p:sp>
        <p:nvSpPr>
          <p:cNvPr id="180" name="Google Shape;180;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Điều kiện biểu diễn</a:t>
            </a:r>
            <a:endParaRPr/>
          </a:p>
        </p:txBody>
      </p:sp>
      <p:sp>
        <p:nvSpPr>
          <p:cNvPr id="186" name="Google Shape;186;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7" name="Google Shape;187;p26"/>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GB"/>
              <a:t>Biểu diễn đơn giản I là mô hình của đồ thị G - ký hiệu I(G) = true/I thỏa mãn G, khi và chỉ khi I là mô hình của tất cả các bộ-3 của G. Trong đó:</a:t>
            </a:r>
            <a:endParaRPr/>
          </a:p>
          <a:p>
            <a:pPr indent="-381000" lvl="0" marL="457200" rtl="0" algn="l">
              <a:lnSpc>
                <a:spcPct val="115000"/>
              </a:lnSpc>
              <a:spcBef>
                <a:spcPts val="0"/>
              </a:spcBef>
              <a:spcAft>
                <a:spcPts val="0"/>
              </a:spcAft>
              <a:buSzPts val="2400"/>
              <a:buChar char="●"/>
            </a:pPr>
            <a:r>
              <a:rPr lang="en-GB"/>
              <a:t>Nếu E là bộ-3 cơ bản s p o, thì I là mô hình của E - ký hiệu I(E) = true khi và chỉ khi I(p) nằm trong IP và cặp &lt;I(s), I(o)&gt; nằm trong IEXT(I(p)).</a:t>
            </a:r>
            <a:endParaRPr/>
          </a:p>
          <a:p>
            <a:pPr indent="-381000" lvl="0" marL="457200" rtl="0" algn="l">
              <a:lnSpc>
                <a:spcPct val="115000"/>
              </a:lnSpc>
              <a:spcBef>
                <a:spcPts val="0"/>
              </a:spcBef>
              <a:spcAft>
                <a:spcPts val="0"/>
              </a:spcAft>
              <a:buSzPts val="2400"/>
              <a:buChar char="●"/>
            </a:pPr>
            <a:r>
              <a:rPr lang="en-GB"/>
              <a:t>Nếu E là hằng thì I(E) = IL(E).</a:t>
            </a:r>
            <a:endParaRPr/>
          </a:p>
          <a:p>
            <a:pPr indent="-381000" lvl="0" marL="457200" rtl="0" algn="l">
              <a:lnSpc>
                <a:spcPct val="115000"/>
              </a:lnSpc>
              <a:spcBef>
                <a:spcPts val="0"/>
              </a:spcBef>
              <a:spcAft>
                <a:spcPts val="0"/>
              </a:spcAft>
              <a:buSzPts val="2400"/>
              <a:buChar char="●"/>
            </a:pPr>
            <a:r>
              <a:rPr lang="en-GB"/>
              <a:t>Nếu E là IRI thì I(E) = IS(E).</a:t>
            </a:r>
            <a:endParaRPr/>
          </a:p>
          <a:p>
            <a:pPr indent="0" lvl="0" marL="0" rtl="0" algn="l">
              <a:spcBef>
                <a:spcPts val="0"/>
              </a:spcBef>
              <a:spcAft>
                <a:spcPts val="0"/>
              </a:spcAft>
              <a:buNone/>
            </a:pPr>
            <a:r>
              <a:rPr lang="en-GB"/>
              <a:t>Nếu I không phải mô hình của G thì ký hiệu I(G) = false, và tương tự đối với các bộ-3.</a:t>
            </a:r>
            <a:endParaRPr/>
          </a:p>
          <a:p>
            <a:pPr indent="0" lvl="0" marL="0" rtl="0" algn="l">
              <a:spcBef>
                <a:spcPts val="0"/>
              </a:spcBef>
              <a:spcAft>
                <a:spcPts val="0"/>
              </a:spcAft>
              <a:buNone/>
            </a:pPr>
            <a:r>
              <a:rPr lang="en-GB"/>
              <a:t>Trường hợp đặc biệt: I(G) luôn đúng nếu G rỗng.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đơn giản: Nút rỗng</a:t>
            </a:r>
            <a:endParaRPr/>
          </a:p>
        </p:txBody>
      </p:sp>
      <p:sp>
        <p:nvSpPr>
          <p:cNvPr id="193" name="Google Shape;193;p27"/>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Đặt A là ánh xạ nút rỗng trong G tới phần tử trong IR</a:t>
            </a:r>
            <a:endParaRPr/>
          </a:p>
          <a:p>
            <a:pPr indent="-368300" lvl="1" marL="914400" rtl="0" algn="l">
              <a:spcBef>
                <a:spcPts val="0"/>
              </a:spcBef>
              <a:spcAft>
                <a:spcPts val="0"/>
              </a:spcAft>
              <a:buSzPts val="2200"/>
              <a:buChar char="○"/>
            </a:pPr>
            <a:r>
              <a:rPr lang="en-GB"/>
              <a:t>Đồng thời ký hiệu I + A là 1 biểu diễn kết hợp I và A.</a:t>
            </a:r>
            <a:endParaRPr/>
          </a:p>
          <a:p>
            <a:pPr indent="-368300" lvl="1" marL="914400" rtl="0" algn="l">
              <a:spcBef>
                <a:spcPts val="0"/>
              </a:spcBef>
              <a:spcAft>
                <a:spcPts val="0"/>
              </a:spcAft>
              <a:buSzPts val="2200"/>
              <a:buChar char="○"/>
            </a:pPr>
            <a:r>
              <a:rPr lang="en-GB"/>
              <a:t>[I + A](x) = I(x) nếu x là tên, và [I + A](x) = A(x) nếu x là nút rỗng.</a:t>
            </a:r>
            <a:endParaRPr/>
          </a:p>
          <a:p>
            <a:pPr indent="-381000" lvl="0" marL="457200" rtl="0" algn="l">
              <a:spcBef>
                <a:spcPts val="0"/>
              </a:spcBef>
              <a:spcAft>
                <a:spcPts val="0"/>
              </a:spcAft>
              <a:buSzPts val="2400"/>
              <a:buChar char="●"/>
            </a:pPr>
            <a:r>
              <a:rPr lang="en-GB"/>
              <a:t>Chúng ta có thể mở rộng phạm vi biểu diễn đồ thị RDF G có chứa nút rỗng như sau:</a:t>
            </a:r>
            <a:endParaRPr/>
          </a:p>
          <a:p>
            <a:pPr indent="-368300" lvl="1" marL="914400" rtl="0" algn="l">
              <a:spcBef>
                <a:spcPts val="0"/>
              </a:spcBef>
              <a:spcAft>
                <a:spcPts val="0"/>
              </a:spcAft>
              <a:buSzPts val="2200"/>
              <a:buChar char="○"/>
            </a:pPr>
            <a:r>
              <a:rPr lang="en-GB"/>
              <a:t>I(G) = true khi và chỉ khi [I + A](G) = true với một ánh xạ A nào đó từ tập nút rỗng sang IR.</a:t>
            </a:r>
            <a:endParaRPr/>
          </a:p>
        </p:txBody>
      </p:sp>
      <p:sp>
        <p:nvSpPr>
          <p:cNvPr id="194" name="Google Shape;194;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đơn giản</a:t>
            </a:r>
            <a:r>
              <a:rPr lang="en-GB"/>
              <a:t> nhận biết kiểu dữ liệu</a:t>
            </a:r>
            <a:endParaRPr/>
          </a:p>
        </p:txBody>
      </p:sp>
      <p:sp>
        <p:nvSpPr>
          <p:cNvPr id="200" name="Google Shape;200;p28"/>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Đặt D là tập IRI xác định các kiểu dữ liệu. Biểu diễn-D đơn giản (Simple D-interpretation) là b</a:t>
            </a:r>
            <a:r>
              <a:rPr lang="en-GB"/>
              <a:t>iểu diễn đơn giản</a:t>
            </a:r>
            <a:r>
              <a:rPr lang="en-GB"/>
              <a:t> với các điều kiện bổ xung:</a:t>
            </a:r>
            <a:endParaRPr/>
          </a:p>
          <a:p>
            <a:pPr indent="-368300" lvl="1" marL="914400" rtl="0" algn="just">
              <a:spcBef>
                <a:spcPts val="0"/>
              </a:spcBef>
              <a:spcAft>
                <a:spcPts val="0"/>
              </a:spcAft>
              <a:buSzPts val="2200"/>
              <a:buChar char="○"/>
            </a:pPr>
            <a:r>
              <a:rPr lang="en-GB"/>
              <a:t>Nếu rdf:langString có trong D, thì với tất cả chuỗi E với mặt chữ sss được ghi chú thẻ ngôn ngữ ttt, chúng ta có IL(E) = &lt;sss, ttt'&gt;, trong đó là ttt' là ttt được chuyển </a:t>
            </a:r>
            <a:r>
              <a:rPr lang="en-GB"/>
              <a:t>sang</a:t>
            </a:r>
            <a:r>
              <a:rPr lang="en-GB"/>
              <a:t> chữ thường.</a:t>
            </a:r>
            <a:endParaRPr/>
          </a:p>
          <a:p>
            <a:pPr indent="-368300" lvl="1" marL="914400" rtl="0" algn="l">
              <a:spcBef>
                <a:spcPts val="0"/>
              </a:spcBef>
              <a:spcAft>
                <a:spcPts val="0"/>
              </a:spcAft>
              <a:buSzPts val="2200"/>
              <a:buChar char="○"/>
            </a:pPr>
            <a:r>
              <a:rPr lang="en-GB"/>
              <a:t>Với tất cả các IRI aaa khác trong D, I(aaa) là kiểu dữ liệu được xác định bởi aaa, và đối với tất cả các hằng dạng "sss"^^aaa, IL("</a:t>
            </a:r>
            <a:r>
              <a:rPr lang="en-GB"/>
              <a:t>sss"^^aaa) = L2V(I(aaa))(sss), trong đó L2V(I(aaa)) là ánh xạ mặt chữ sang giá trị.</a:t>
            </a:r>
            <a:endParaRPr/>
          </a:p>
          <a:p>
            <a:pPr indent="-342900" lvl="2" marL="1371600" rtl="0" algn="l">
              <a:spcBef>
                <a:spcPts val="0"/>
              </a:spcBef>
              <a:spcAft>
                <a:spcPts val="0"/>
              </a:spcAft>
              <a:buSzPts val="1800"/>
              <a:buChar char="■"/>
            </a:pPr>
            <a:r>
              <a:rPr lang="en-GB"/>
              <a:t>Nếu sss sai quy cách thì L2V(I(aaa)) không ánh xạ tới giá trị nào cả.</a:t>
            </a:r>
            <a:endParaRPr/>
          </a:p>
          <a:p>
            <a:pPr indent="-342900" lvl="2" marL="1371600" rtl="0" algn="l">
              <a:spcBef>
                <a:spcPts val="0"/>
              </a:spcBef>
              <a:spcAft>
                <a:spcPts val="0"/>
              </a:spcAft>
              <a:buSzPts val="1800"/>
              <a:buChar char="■"/>
            </a:pPr>
            <a:r>
              <a:rPr lang="en-GB"/>
              <a:t>Nếu kiểu dữ liệu không xác định thì hằng không bị nhận diện sai quy cách, phần mềm ứng dụng có thể đưa ra cảnh báo.</a:t>
            </a:r>
            <a:endParaRPr/>
          </a:p>
        </p:txBody>
      </p:sp>
      <p:sp>
        <p:nvSpPr>
          <p:cNvPr id="201" name="Google Shape;201;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4.1. </a:t>
            </a:r>
            <a:r>
              <a:rPr lang="en-GB"/>
              <a:t>Biểu diễn đơn giản</a:t>
            </a:r>
            <a:endParaRPr/>
          </a:p>
        </p:txBody>
      </p:sp>
      <p:sp>
        <p:nvSpPr>
          <p:cNvPr id="207" name="Google Shape;207;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08" name="Google Shape;208;p29"/>
          <p:cNvSpPr/>
          <p:nvPr/>
        </p:nvSpPr>
        <p:spPr>
          <a:xfrm>
            <a:off x="1330275" y="1288825"/>
            <a:ext cx="3434100" cy="569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http://example.org/Chutney</a:t>
            </a:r>
            <a:endParaRPr/>
          </a:p>
        </p:txBody>
      </p:sp>
      <p:sp>
        <p:nvSpPr>
          <p:cNvPr id="209" name="Google Shape;209;p29"/>
          <p:cNvSpPr/>
          <p:nvPr/>
        </p:nvSpPr>
        <p:spPr>
          <a:xfrm>
            <a:off x="1330275" y="2431825"/>
            <a:ext cx="3434100" cy="569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9"/>
          <p:cNvSpPr/>
          <p:nvPr/>
        </p:nvSpPr>
        <p:spPr>
          <a:xfrm>
            <a:off x="4763600" y="1669825"/>
            <a:ext cx="3953100" cy="569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http://example.org/</a:t>
            </a:r>
            <a:r>
              <a:rPr lang="en-GB"/>
              <a:t>GreenMango</a:t>
            </a:r>
            <a:endParaRPr/>
          </a:p>
        </p:txBody>
      </p:sp>
      <p:sp>
        <p:nvSpPr>
          <p:cNvPr id="211" name="Google Shape;211;p29"/>
          <p:cNvSpPr/>
          <p:nvPr/>
        </p:nvSpPr>
        <p:spPr>
          <a:xfrm>
            <a:off x="7128125" y="2506700"/>
            <a:ext cx="838500" cy="38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1 lb</a:t>
            </a:r>
            <a:endParaRPr/>
          </a:p>
        </p:txBody>
      </p:sp>
      <p:cxnSp>
        <p:nvCxnSpPr>
          <p:cNvPr id="212" name="Google Shape;212;p29"/>
          <p:cNvCxnSpPr>
            <a:stCxn id="208" idx="4"/>
            <a:endCxn id="209" idx="0"/>
          </p:cNvCxnSpPr>
          <p:nvPr/>
        </p:nvCxnSpPr>
        <p:spPr>
          <a:xfrm>
            <a:off x="3047325" y="1857925"/>
            <a:ext cx="0" cy="573900"/>
          </a:xfrm>
          <a:prstGeom prst="straightConnector1">
            <a:avLst/>
          </a:prstGeom>
          <a:noFill/>
          <a:ln cap="flat" cmpd="sng" w="9525">
            <a:solidFill>
              <a:schemeClr val="dk2"/>
            </a:solidFill>
            <a:prstDash val="solid"/>
            <a:round/>
            <a:headEnd len="med" w="med" type="none"/>
            <a:tailEnd len="med" w="med" type="none"/>
          </a:ln>
        </p:spPr>
      </p:cxnSp>
      <p:cxnSp>
        <p:nvCxnSpPr>
          <p:cNvPr id="213" name="Google Shape;213;p29"/>
          <p:cNvCxnSpPr>
            <a:stCxn id="209" idx="7"/>
            <a:endCxn id="210" idx="2"/>
          </p:cNvCxnSpPr>
          <p:nvPr/>
        </p:nvCxnSpPr>
        <p:spPr>
          <a:xfrm flipH="1" rot="10800000">
            <a:off x="4261463" y="1954468"/>
            <a:ext cx="502200" cy="560700"/>
          </a:xfrm>
          <a:prstGeom prst="straightConnector1">
            <a:avLst/>
          </a:prstGeom>
          <a:noFill/>
          <a:ln cap="flat" cmpd="sng" w="9525">
            <a:solidFill>
              <a:schemeClr val="dk2"/>
            </a:solidFill>
            <a:prstDash val="solid"/>
            <a:round/>
            <a:headEnd len="med" w="med" type="none"/>
            <a:tailEnd len="med" w="med" type="none"/>
          </a:ln>
        </p:spPr>
      </p:cxnSp>
      <p:cxnSp>
        <p:nvCxnSpPr>
          <p:cNvPr id="214" name="Google Shape;214;p29"/>
          <p:cNvCxnSpPr>
            <a:stCxn id="209" idx="6"/>
            <a:endCxn id="211" idx="1"/>
          </p:cNvCxnSpPr>
          <p:nvPr/>
        </p:nvCxnSpPr>
        <p:spPr>
          <a:xfrm flipH="1" rot="10800000">
            <a:off x="4764375" y="2701375"/>
            <a:ext cx="2363700" cy="15000"/>
          </a:xfrm>
          <a:prstGeom prst="straightConnector1">
            <a:avLst/>
          </a:prstGeom>
          <a:noFill/>
          <a:ln cap="flat" cmpd="sng" w="9525">
            <a:solidFill>
              <a:schemeClr val="dk2"/>
            </a:solidFill>
            <a:prstDash val="solid"/>
            <a:round/>
            <a:headEnd len="med" w="med" type="none"/>
            <a:tailEnd len="med" w="med" type="none"/>
          </a:ln>
        </p:spPr>
      </p:cxnSp>
      <p:sp>
        <p:nvSpPr>
          <p:cNvPr id="215" name="Google Shape;215;p29"/>
          <p:cNvSpPr txBox="1"/>
          <p:nvPr/>
        </p:nvSpPr>
        <p:spPr>
          <a:xfrm>
            <a:off x="284100" y="1967625"/>
            <a:ext cx="28950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http://example.org/hasIngredient</a:t>
            </a:r>
            <a:endParaRPr>
              <a:solidFill>
                <a:schemeClr val="dk2"/>
              </a:solidFill>
            </a:endParaRPr>
          </a:p>
        </p:txBody>
      </p:sp>
      <p:sp>
        <p:nvSpPr>
          <p:cNvPr id="216" name="Google Shape;216;p29"/>
          <p:cNvSpPr txBox="1"/>
          <p:nvPr/>
        </p:nvSpPr>
        <p:spPr>
          <a:xfrm>
            <a:off x="4398900" y="2196225"/>
            <a:ext cx="25797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http://example.org/</a:t>
            </a:r>
            <a:r>
              <a:rPr lang="en-GB">
                <a:solidFill>
                  <a:schemeClr val="dk2"/>
                </a:solidFill>
              </a:rPr>
              <a:t>ingredient</a:t>
            </a:r>
            <a:endParaRPr>
              <a:solidFill>
                <a:schemeClr val="dk2"/>
              </a:solidFill>
            </a:endParaRPr>
          </a:p>
        </p:txBody>
      </p:sp>
      <p:sp>
        <p:nvSpPr>
          <p:cNvPr id="217" name="Google Shape;217;p29"/>
          <p:cNvSpPr txBox="1"/>
          <p:nvPr/>
        </p:nvSpPr>
        <p:spPr>
          <a:xfrm>
            <a:off x="4779900" y="2729625"/>
            <a:ext cx="23637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http://example.org/</a:t>
            </a:r>
            <a:r>
              <a:rPr lang="en-GB">
                <a:solidFill>
                  <a:schemeClr val="dk2"/>
                </a:solidFill>
              </a:rPr>
              <a:t>amount</a:t>
            </a:r>
            <a:endParaRPr>
              <a:solidFill>
                <a:schemeClr val="dk2"/>
              </a:solidFill>
            </a:endParaRPr>
          </a:p>
        </p:txBody>
      </p:sp>
      <p:sp>
        <p:nvSpPr>
          <p:cNvPr id="218" name="Google Shape;218;p29"/>
          <p:cNvSpPr txBox="1"/>
          <p:nvPr/>
        </p:nvSpPr>
        <p:spPr>
          <a:xfrm>
            <a:off x="689725" y="3348875"/>
            <a:ext cx="3709200" cy="17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IR = {c, g, h, b, i, a, 1 lb}</a:t>
            </a:r>
            <a:endParaRPr>
              <a:solidFill>
                <a:schemeClr val="dk2"/>
              </a:solidFill>
            </a:endParaRPr>
          </a:p>
          <a:p>
            <a:pPr indent="0" lvl="0" marL="0" rtl="0" algn="l">
              <a:spcBef>
                <a:spcPts val="0"/>
              </a:spcBef>
              <a:spcAft>
                <a:spcPts val="0"/>
              </a:spcAft>
              <a:buNone/>
            </a:pPr>
            <a:r>
              <a:rPr lang="en-GB">
                <a:solidFill>
                  <a:schemeClr val="dk2"/>
                </a:solidFill>
              </a:rPr>
              <a:t>IP = {h, i, a}</a:t>
            </a:r>
            <a:endParaRPr>
              <a:solidFill>
                <a:schemeClr val="dk2"/>
              </a:solidFill>
            </a:endParaRPr>
          </a:p>
          <a:p>
            <a:pPr indent="0" lvl="0" marL="0" rtl="0" algn="l">
              <a:spcBef>
                <a:spcPts val="0"/>
              </a:spcBef>
              <a:spcAft>
                <a:spcPts val="0"/>
              </a:spcAft>
              <a:buNone/>
            </a:pPr>
            <a:r>
              <a:rPr lang="en-GB">
                <a:solidFill>
                  <a:schemeClr val="dk2"/>
                </a:solidFill>
              </a:rPr>
              <a:t>IL: "1 lb" =&gt; 1 lb</a:t>
            </a:r>
            <a:endParaRPr>
              <a:solidFill>
                <a:schemeClr val="dk2"/>
              </a:solidFill>
            </a:endParaRPr>
          </a:p>
          <a:p>
            <a:pPr indent="0" lvl="0" marL="0" rtl="0" algn="l">
              <a:spcBef>
                <a:spcPts val="0"/>
              </a:spcBef>
              <a:spcAft>
                <a:spcPts val="0"/>
              </a:spcAft>
              <a:buNone/>
            </a:pPr>
            <a:r>
              <a:rPr lang="en-GB">
                <a:solidFill>
                  <a:schemeClr val="dk2"/>
                </a:solidFill>
              </a:rPr>
              <a:t>IEXT: h =&gt; {&lt;c, b&gt;}</a:t>
            </a:r>
            <a:endParaRPr>
              <a:solidFill>
                <a:schemeClr val="dk2"/>
              </a:solidFill>
            </a:endParaRPr>
          </a:p>
          <a:p>
            <a:pPr indent="0" lvl="0" marL="0" rtl="0" algn="l">
              <a:spcBef>
                <a:spcPts val="0"/>
              </a:spcBef>
              <a:spcAft>
                <a:spcPts val="0"/>
              </a:spcAft>
              <a:buNone/>
            </a:pPr>
            <a:r>
              <a:rPr lang="en-GB">
                <a:solidFill>
                  <a:schemeClr val="dk2"/>
                </a:solidFill>
              </a:rPr>
              <a:t>          i =&gt; {&lt;b, g&gt;}</a:t>
            </a:r>
            <a:endParaRPr>
              <a:solidFill>
                <a:schemeClr val="dk2"/>
              </a:solidFill>
            </a:endParaRPr>
          </a:p>
          <a:p>
            <a:pPr indent="0" lvl="0" marL="0" rtl="0" algn="l">
              <a:spcBef>
                <a:spcPts val="0"/>
              </a:spcBef>
              <a:spcAft>
                <a:spcPts val="0"/>
              </a:spcAft>
              <a:buNone/>
            </a:pPr>
            <a:r>
              <a:rPr lang="en-GB">
                <a:solidFill>
                  <a:schemeClr val="dk2"/>
                </a:solidFill>
              </a:rPr>
              <a:t>          a =&gt; {&lt;b, 1 lb&gt;}</a:t>
            </a:r>
            <a:endParaRPr>
              <a:solidFill>
                <a:schemeClr val="dk2"/>
              </a:solidFill>
            </a:endParaRPr>
          </a:p>
          <a:p>
            <a:pPr indent="0" lvl="0" marL="0" rtl="0" algn="l">
              <a:spcBef>
                <a:spcPts val="0"/>
              </a:spcBef>
              <a:spcAft>
                <a:spcPts val="0"/>
              </a:spcAft>
              <a:buNone/>
            </a:pPr>
            <a:r>
              <a:rPr lang="en-GB">
                <a:solidFill>
                  <a:schemeClr val="dk2"/>
                </a:solidFill>
              </a:rPr>
              <a:t>   </a:t>
            </a:r>
            <a:endParaRPr>
              <a:solidFill>
                <a:schemeClr val="dk2"/>
              </a:solidFill>
            </a:endParaRPr>
          </a:p>
        </p:txBody>
      </p:sp>
      <p:sp>
        <p:nvSpPr>
          <p:cNvPr id="219" name="Google Shape;219;p29"/>
          <p:cNvSpPr txBox="1"/>
          <p:nvPr/>
        </p:nvSpPr>
        <p:spPr>
          <a:xfrm>
            <a:off x="4956925" y="3348875"/>
            <a:ext cx="3709200" cy="20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IS: ex:Chutney =&gt; c</a:t>
            </a:r>
            <a:endParaRPr>
              <a:solidFill>
                <a:schemeClr val="dk2"/>
              </a:solidFill>
            </a:endParaRPr>
          </a:p>
          <a:p>
            <a:pPr indent="0" lvl="0" marL="0" rtl="0" algn="l">
              <a:spcBef>
                <a:spcPts val="0"/>
              </a:spcBef>
              <a:spcAft>
                <a:spcPts val="0"/>
              </a:spcAft>
              <a:buNone/>
            </a:pPr>
            <a:r>
              <a:rPr lang="en-GB">
                <a:solidFill>
                  <a:schemeClr val="dk2"/>
                </a:solidFill>
              </a:rPr>
              <a:t>     ex:hasIngredient =&gt; h</a:t>
            </a:r>
            <a:endParaRPr>
              <a:solidFill>
                <a:schemeClr val="dk2"/>
              </a:solidFill>
            </a:endParaRPr>
          </a:p>
          <a:p>
            <a:pPr indent="0" lvl="0" marL="0" rtl="0" algn="l">
              <a:spcBef>
                <a:spcPts val="0"/>
              </a:spcBef>
              <a:spcAft>
                <a:spcPts val="0"/>
              </a:spcAft>
              <a:buNone/>
            </a:pPr>
            <a:r>
              <a:rPr lang="en-GB">
                <a:solidFill>
                  <a:schemeClr val="dk2"/>
                </a:solidFill>
              </a:rPr>
              <a:t>     ex:GreenMango =&gt; g</a:t>
            </a:r>
            <a:endParaRPr>
              <a:solidFill>
                <a:schemeClr val="dk2"/>
              </a:solidFill>
            </a:endParaRPr>
          </a:p>
          <a:p>
            <a:pPr indent="0" lvl="0" marL="0" rtl="0" algn="l">
              <a:spcBef>
                <a:spcPts val="0"/>
              </a:spcBef>
              <a:spcAft>
                <a:spcPts val="0"/>
              </a:spcAft>
              <a:buNone/>
            </a:pPr>
            <a:r>
              <a:rPr lang="en-GB">
                <a:solidFill>
                  <a:schemeClr val="dk2"/>
                </a:solidFill>
              </a:rPr>
              <a:t>     ex:ingredient =&gt; i</a:t>
            </a:r>
            <a:endParaRPr>
              <a:solidFill>
                <a:schemeClr val="dk2"/>
              </a:solidFill>
            </a:endParaRPr>
          </a:p>
          <a:p>
            <a:pPr indent="0" lvl="0" marL="0" rtl="0" algn="l">
              <a:spcBef>
                <a:spcPts val="0"/>
              </a:spcBef>
              <a:spcAft>
                <a:spcPts val="0"/>
              </a:spcAft>
              <a:buNone/>
            </a:pPr>
            <a:r>
              <a:rPr lang="en-GB">
                <a:solidFill>
                  <a:schemeClr val="dk2"/>
                </a:solidFill>
              </a:rPr>
              <a:t>     ex:amount=&gt; a</a:t>
            </a:r>
            <a:endParaRPr>
              <a:solidFill>
                <a:schemeClr val="dk2"/>
              </a:solidFill>
            </a:endParaRPr>
          </a:p>
        </p:txBody>
      </p:sp>
      <p:sp>
        <p:nvSpPr>
          <p:cNvPr id="220" name="Google Shape;220;p29"/>
          <p:cNvSpPr txBox="1"/>
          <p:nvPr/>
        </p:nvSpPr>
        <p:spPr>
          <a:xfrm>
            <a:off x="617200" y="5373675"/>
            <a:ext cx="7896600" cy="5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chemeClr val="dk2"/>
                </a:solidFill>
              </a:rPr>
              <a:t>Biểu diễn I có thỏa mãn đồ thị G hay không?</a:t>
            </a:r>
            <a:endParaRPr sz="24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4.1. </a:t>
            </a:r>
            <a:r>
              <a:rPr lang="en-GB"/>
              <a:t>Biểu diễn đơn giản</a:t>
            </a:r>
            <a:r>
              <a:rPr baseline="-25000" lang="en-GB"/>
              <a:t>(</a:t>
            </a:r>
            <a:r>
              <a:rPr baseline="-25000" lang="en-GB"/>
              <a:t>2)</a:t>
            </a:r>
            <a:endParaRPr baseline="-25000"/>
          </a:p>
        </p:txBody>
      </p:sp>
      <p:sp>
        <p:nvSpPr>
          <p:cNvPr id="226" name="Google Shape;226;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7" name="Google Shape;227;p30"/>
          <p:cNvSpPr/>
          <p:nvPr/>
        </p:nvSpPr>
        <p:spPr>
          <a:xfrm>
            <a:off x="1330275" y="1288825"/>
            <a:ext cx="3434100" cy="569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http://example.org/Chutney</a:t>
            </a:r>
            <a:endParaRPr/>
          </a:p>
        </p:txBody>
      </p:sp>
      <p:sp>
        <p:nvSpPr>
          <p:cNvPr id="228" name="Google Shape;228;p30"/>
          <p:cNvSpPr/>
          <p:nvPr/>
        </p:nvSpPr>
        <p:spPr>
          <a:xfrm>
            <a:off x="1330275" y="2431825"/>
            <a:ext cx="3434100" cy="569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30"/>
          <p:cNvSpPr/>
          <p:nvPr/>
        </p:nvSpPr>
        <p:spPr>
          <a:xfrm>
            <a:off x="4763600" y="1669825"/>
            <a:ext cx="3953100" cy="569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http://example.org/GreenMango</a:t>
            </a:r>
            <a:endParaRPr/>
          </a:p>
        </p:txBody>
      </p:sp>
      <p:sp>
        <p:nvSpPr>
          <p:cNvPr id="230" name="Google Shape;230;p30"/>
          <p:cNvSpPr/>
          <p:nvPr/>
        </p:nvSpPr>
        <p:spPr>
          <a:xfrm>
            <a:off x="7128125" y="2506700"/>
            <a:ext cx="838500" cy="389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1 lb</a:t>
            </a:r>
            <a:endParaRPr/>
          </a:p>
        </p:txBody>
      </p:sp>
      <p:cxnSp>
        <p:nvCxnSpPr>
          <p:cNvPr id="231" name="Google Shape;231;p30"/>
          <p:cNvCxnSpPr>
            <a:stCxn id="227" idx="4"/>
            <a:endCxn id="228" idx="0"/>
          </p:cNvCxnSpPr>
          <p:nvPr/>
        </p:nvCxnSpPr>
        <p:spPr>
          <a:xfrm>
            <a:off x="3047325" y="1857925"/>
            <a:ext cx="0" cy="573900"/>
          </a:xfrm>
          <a:prstGeom prst="straightConnector1">
            <a:avLst/>
          </a:prstGeom>
          <a:noFill/>
          <a:ln cap="flat" cmpd="sng" w="9525">
            <a:solidFill>
              <a:schemeClr val="dk2"/>
            </a:solidFill>
            <a:prstDash val="solid"/>
            <a:round/>
            <a:headEnd len="med" w="med" type="none"/>
            <a:tailEnd len="med" w="med" type="none"/>
          </a:ln>
        </p:spPr>
      </p:cxnSp>
      <p:cxnSp>
        <p:nvCxnSpPr>
          <p:cNvPr id="232" name="Google Shape;232;p30"/>
          <p:cNvCxnSpPr>
            <a:stCxn id="228" idx="7"/>
            <a:endCxn id="229" idx="2"/>
          </p:cNvCxnSpPr>
          <p:nvPr/>
        </p:nvCxnSpPr>
        <p:spPr>
          <a:xfrm flipH="1" rot="10800000">
            <a:off x="4261463" y="1954468"/>
            <a:ext cx="502200" cy="560700"/>
          </a:xfrm>
          <a:prstGeom prst="straightConnector1">
            <a:avLst/>
          </a:prstGeom>
          <a:noFill/>
          <a:ln cap="flat" cmpd="sng" w="9525">
            <a:solidFill>
              <a:schemeClr val="dk2"/>
            </a:solidFill>
            <a:prstDash val="solid"/>
            <a:round/>
            <a:headEnd len="med" w="med" type="none"/>
            <a:tailEnd len="med" w="med" type="none"/>
          </a:ln>
        </p:spPr>
      </p:cxnSp>
      <p:cxnSp>
        <p:nvCxnSpPr>
          <p:cNvPr id="233" name="Google Shape;233;p30"/>
          <p:cNvCxnSpPr>
            <a:stCxn id="228" idx="6"/>
            <a:endCxn id="230" idx="1"/>
          </p:cNvCxnSpPr>
          <p:nvPr/>
        </p:nvCxnSpPr>
        <p:spPr>
          <a:xfrm flipH="1" rot="10800000">
            <a:off x="4764375" y="2701375"/>
            <a:ext cx="2363700" cy="15000"/>
          </a:xfrm>
          <a:prstGeom prst="straightConnector1">
            <a:avLst/>
          </a:prstGeom>
          <a:noFill/>
          <a:ln cap="flat" cmpd="sng" w="9525">
            <a:solidFill>
              <a:schemeClr val="dk2"/>
            </a:solidFill>
            <a:prstDash val="solid"/>
            <a:round/>
            <a:headEnd len="med" w="med" type="none"/>
            <a:tailEnd len="med" w="med" type="none"/>
          </a:ln>
        </p:spPr>
      </p:cxnSp>
      <p:sp>
        <p:nvSpPr>
          <p:cNvPr id="234" name="Google Shape;234;p30"/>
          <p:cNvSpPr txBox="1"/>
          <p:nvPr/>
        </p:nvSpPr>
        <p:spPr>
          <a:xfrm>
            <a:off x="284100" y="1967625"/>
            <a:ext cx="28950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http://example.org/hasIngredient</a:t>
            </a:r>
            <a:endParaRPr>
              <a:solidFill>
                <a:schemeClr val="dk2"/>
              </a:solidFill>
            </a:endParaRPr>
          </a:p>
        </p:txBody>
      </p:sp>
      <p:sp>
        <p:nvSpPr>
          <p:cNvPr id="235" name="Google Shape;235;p30"/>
          <p:cNvSpPr txBox="1"/>
          <p:nvPr/>
        </p:nvSpPr>
        <p:spPr>
          <a:xfrm>
            <a:off x="4398900" y="2196225"/>
            <a:ext cx="2579700" cy="3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http://example.org/ingredient</a:t>
            </a:r>
            <a:endParaRPr>
              <a:solidFill>
                <a:schemeClr val="dk2"/>
              </a:solidFill>
            </a:endParaRPr>
          </a:p>
        </p:txBody>
      </p:sp>
      <p:sp>
        <p:nvSpPr>
          <p:cNvPr id="236" name="Google Shape;236;p30"/>
          <p:cNvSpPr txBox="1"/>
          <p:nvPr/>
        </p:nvSpPr>
        <p:spPr>
          <a:xfrm>
            <a:off x="4779900" y="2729625"/>
            <a:ext cx="23637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http://example.org/amount</a:t>
            </a:r>
            <a:endParaRPr>
              <a:solidFill>
                <a:schemeClr val="dk2"/>
              </a:solidFill>
            </a:endParaRPr>
          </a:p>
        </p:txBody>
      </p:sp>
      <p:sp>
        <p:nvSpPr>
          <p:cNvPr id="237" name="Google Shape;237;p30"/>
          <p:cNvSpPr txBox="1"/>
          <p:nvPr/>
        </p:nvSpPr>
        <p:spPr>
          <a:xfrm>
            <a:off x="689725" y="3348875"/>
            <a:ext cx="3709200" cy="20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IR = {c, g, h, b, i, a, 1 lb}</a:t>
            </a:r>
            <a:endParaRPr>
              <a:solidFill>
                <a:schemeClr val="dk2"/>
              </a:solidFill>
            </a:endParaRPr>
          </a:p>
          <a:p>
            <a:pPr indent="0" lvl="0" marL="0" rtl="0" algn="l">
              <a:spcBef>
                <a:spcPts val="0"/>
              </a:spcBef>
              <a:spcAft>
                <a:spcPts val="0"/>
              </a:spcAft>
              <a:buNone/>
            </a:pPr>
            <a:r>
              <a:rPr lang="en-GB">
                <a:solidFill>
                  <a:schemeClr val="dk2"/>
                </a:solidFill>
              </a:rPr>
              <a:t>IP = {h, i, a}</a:t>
            </a:r>
            <a:endParaRPr>
              <a:solidFill>
                <a:schemeClr val="dk2"/>
              </a:solidFill>
            </a:endParaRPr>
          </a:p>
          <a:p>
            <a:pPr indent="0" lvl="0" marL="0" rtl="0" algn="l">
              <a:spcBef>
                <a:spcPts val="0"/>
              </a:spcBef>
              <a:spcAft>
                <a:spcPts val="0"/>
              </a:spcAft>
              <a:buNone/>
            </a:pPr>
            <a:r>
              <a:rPr lang="en-GB">
                <a:solidFill>
                  <a:schemeClr val="dk2"/>
                </a:solidFill>
              </a:rPr>
              <a:t>IL: "1 lb" =&gt; 1 lb</a:t>
            </a:r>
            <a:endParaRPr>
              <a:solidFill>
                <a:schemeClr val="dk2"/>
              </a:solidFill>
            </a:endParaRPr>
          </a:p>
          <a:p>
            <a:pPr indent="0" lvl="0" marL="0" rtl="0" algn="l">
              <a:spcBef>
                <a:spcPts val="0"/>
              </a:spcBef>
              <a:spcAft>
                <a:spcPts val="0"/>
              </a:spcAft>
              <a:buNone/>
            </a:pPr>
            <a:r>
              <a:rPr lang="en-GB">
                <a:solidFill>
                  <a:schemeClr val="dk2"/>
                </a:solidFill>
              </a:rPr>
              <a:t>IEXT: h =&gt; {&lt;c, b&gt;}</a:t>
            </a:r>
            <a:endParaRPr>
              <a:solidFill>
                <a:schemeClr val="dk2"/>
              </a:solidFill>
            </a:endParaRPr>
          </a:p>
          <a:p>
            <a:pPr indent="0" lvl="0" marL="0" rtl="0" algn="l">
              <a:spcBef>
                <a:spcPts val="0"/>
              </a:spcBef>
              <a:spcAft>
                <a:spcPts val="0"/>
              </a:spcAft>
              <a:buNone/>
            </a:pPr>
            <a:r>
              <a:rPr lang="en-GB">
                <a:solidFill>
                  <a:schemeClr val="dk2"/>
                </a:solidFill>
              </a:rPr>
              <a:t>          i =&gt; {&lt;b, g&gt;}</a:t>
            </a:r>
            <a:endParaRPr>
              <a:solidFill>
                <a:schemeClr val="dk2"/>
              </a:solidFill>
            </a:endParaRPr>
          </a:p>
          <a:p>
            <a:pPr indent="0" lvl="0" marL="0" rtl="0" algn="l">
              <a:spcBef>
                <a:spcPts val="0"/>
              </a:spcBef>
              <a:spcAft>
                <a:spcPts val="0"/>
              </a:spcAft>
              <a:buNone/>
            </a:pPr>
            <a:r>
              <a:rPr lang="en-GB">
                <a:solidFill>
                  <a:schemeClr val="dk2"/>
                </a:solidFill>
              </a:rPr>
              <a:t>          a =&gt; {&lt;b, 1 lb&gt;}</a:t>
            </a:r>
            <a:endParaRPr>
              <a:solidFill>
                <a:schemeClr val="dk2"/>
              </a:solidFill>
            </a:endParaRPr>
          </a:p>
          <a:p>
            <a:pPr indent="0" lvl="0" marL="0" rtl="0" algn="l">
              <a:spcBef>
                <a:spcPts val="0"/>
              </a:spcBef>
              <a:spcAft>
                <a:spcPts val="0"/>
              </a:spcAft>
              <a:buNone/>
            </a:pPr>
            <a:r>
              <a:rPr lang="en-GB">
                <a:solidFill>
                  <a:schemeClr val="dk2"/>
                </a:solidFill>
              </a:rPr>
              <a:t>   </a:t>
            </a:r>
            <a:endParaRPr>
              <a:solidFill>
                <a:schemeClr val="dk2"/>
              </a:solidFill>
            </a:endParaRPr>
          </a:p>
        </p:txBody>
      </p:sp>
      <p:sp>
        <p:nvSpPr>
          <p:cNvPr id="238" name="Google Shape;238;p30"/>
          <p:cNvSpPr txBox="1"/>
          <p:nvPr/>
        </p:nvSpPr>
        <p:spPr>
          <a:xfrm>
            <a:off x="4956925" y="3348875"/>
            <a:ext cx="3709200" cy="20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IS: ex:Chutney =&gt; c</a:t>
            </a:r>
            <a:endParaRPr>
              <a:solidFill>
                <a:schemeClr val="dk2"/>
              </a:solidFill>
            </a:endParaRPr>
          </a:p>
          <a:p>
            <a:pPr indent="0" lvl="0" marL="0" rtl="0" algn="l">
              <a:spcBef>
                <a:spcPts val="0"/>
              </a:spcBef>
              <a:spcAft>
                <a:spcPts val="0"/>
              </a:spcAft>
              <a:buNone/>
            </a:pPr>
            <a:r>
              <a:rPr lang="en-GB">
                <a:solidFill>
                  <a:schemeClr val="dk2"/>
                </a:solidFill>
              </a:rPr>
              <a:t>     ex:hasIngredient =&gt; h</a:t>
            </a:r>
            <a:endParaRPr>
              <a:solidFill>
                <a:schemeClr val="dk2"/>
              </a:solidFill>
            </a:endParaRPr>
          </a:p>
          <a:p>
            <a:pPr indent="0" lvl="0" marL="0" rtl="0" algn="l">
              <a:spcBef>
                <a:spcPts val="0"/>
              </a:spcBef>
              <a:spcAft>
                <a:spcPts val="0"/>
              </a:spcAft>
              <a:buNone/>
            </a:pPr>
            <a:r>
              <a:rPr lang="en-GB">
                <a:solidFill>
                  <a:schemeClr val="dk2"/>
                </a:solidFill>
              </a:rPr>
              <a:t>     ex:GreenMango =&gt; g</a:t>
            </a:r>
            <a:endParaRPr>
              <a:solidFill>
                <a:schemeClr val="dk2"/>
              </a:solidFill>
            </a:endParaRPr>
          </a:p>
          <a:p>
            <a:pPr indent="0" lvl="0" marL="0" rtl="0" algn="l">
              <a:spcBef>
                <a:spcPts val="0"/>
              </a:spcBef>
              <a:spcAft>
                <a:spcPts val="0"/>
              </a:spcAft>
              <a:buNone/>
            </a:pPr>
            <a:r>
              <a:rPr lang="en-GB">
                <a:solidFill>
                  <a:schemeClr val="dk2"/>
                </a:solidFill>
              </a:rPr>
              <a:t>     ex:ingredient =&gt; i</a:t>
            </a:r>
            <a:endParaRPr>
              <a:solidFill>
                <a:schemeClr val="dk2"/>
              </a:solidFill>
            </a:endParaRPr>
          </a:p>
          <a:p>
            <a:pPr indent="0" lvl="0" marL="0" rtl="0" algn="l">
              <a:spcBef>
                <a:spcPts val="0"/>
              </a:spcBef>
              <a:spcAft>
                <a:spcPts val="0"/>
              </a:spcAft>
              <a:buNone/>
            </a:pPr>
            <a:r>
              <a:rPr lang="en-GB">
                <a:solidFill>
                  <a:schemeClr val="dk2"/>
                </a:solidFill>
              </a:rPr>
              <a:t>     ex:amount=&gt; a</a:t>
            </a:r>
            <a:endParaRPr>
              <a:solidFill>
                <a:schemeClr val="dk2"/>
              </a:solidFill>
            </a:endParaRPr>
          </a:p>
        </p:txBody>
      </p:sp>
      <p:sp>
        <p:nvSpPr>
          <p:cNvPr id="239" name="Google Shape;239;p30"/>
          <p:cNvSpPr txBox="1"/>
          <p:nvPr/>
        </p:nvSpPr>
        <p:spPr>
          <a:xfrm>
            <a:off x="689725" y="5068875"/>
            <a:ext cx="8026800" cy="85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1155CC"/>
                </a:solidFill>
              </a:rPr>
              <a:t>I không thỏa mãn đồ thị G, nếu chọn A ánh xạ nút rỗng sang b thì I + A thỏa mãn G.</a:t>
            </a:r>
            <a:endParaRPr sz="2400">
              <a:solidFill>
                <a:srgbClr val="1155CC"/>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a:t>
            </a:r>
            <a:r>
              <a:rPr lang="en-GB"/>
              <a:t>ểu diễn RDF</a:t>
            </a:r>
            <a:endParaRPr/>
          </a:p>
        </p:txBody>
      </p:sp>
      <p:sp>
        <p:nvSpPr>
          <p:cNvPr id="245" name="Google Shape;245;p31"/>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B</a:t>
            </a:r>
            <a:r>
              <a:rPr lang="en-GB"/>
              <a:t>iểu diễn RDF có nhiều ràng buộc hơn </a:t>
            </a:r>
            <a:r>
              <a:rPr lang="en-GB"/>
              <a:t>Biểu diễn đơn giản</a:t>
            </a:r>
            <a:r>
              <a:rPr lang="en-GB"/>
              <a:t>, trong đó các điều kiện bổ xung được thiết lập trên các URIs của RDF để thể hiện ngữ nghĩa của chúng.</a:t>
            </a:r>
            <a:endParaRPr/>
          </a:p>
          <a:p>
            <a:pPr indent="-381000" lvl="0" marL="457200" rtl="0" algn="just">
              <a:spcBef>
                <a:spcPts val="0"/>
              </a:spcBef>
              <a:spcAft>
                <a:spcPts val="0"/>
              </a:spcAft>
              <a:buSzPts val="2400"/>
              <a:buChar char="●"/>
            </a:pPr>
            <a:r>
              <a:rPr lang="en-GB"/>
              <a:t>Một biểu diễn RDF nhận biết D là một biểu diễn-D tự do I trong đó D bao gồm rdf:langString và xsd:string, đồng thời thỏa mãn các ràng buộc:</a:t>
            </a:r>
            <a:endParaRPr/>
          </a:p>
          <a:p>
            <a:pPr indent="-368300" lvl="1" marL="914400" rtl="0" algn="just">
              <a:spcBef>
                <a:spcPts val="0"/>
              </a:spcBef>
              <a:spcAft>
                <a:spcPts val="0"/>
              </a:spcAft>
              <a:buSzPts val="2200"/>
              <a:buChar char="○"/>
            </a:pPr>
            <a:r>
              <a:rPr lang="en-GB"/>
              <a:t>Bao gồm các từ khóa RDF;</a:t>
            </a:r>
            <a:endParaRPr/>
          </a:p>
          <a:p>
            <a:pPr indent="-368300" lvl="1" marL="914400" rtl="0" algn="just">
              <a:spcBef>
                <a:spcPts val="0"/>
              </a:spcBef>
              <a:spcAft>
                <a:spcPts val="0"/>
              </a:spcAft>
              <a:buSzPts val="2200"/>
              <a:buChar char="○"/>
            </a:pPr>
            <a:r>
              <a:rPr lang="en-GB"/>
              <a:t>x nằm trong IP khi và chỉ khi &lt;x, I(rdf:Property)&gt; nằm trong IEXT(I(rdf:type));</a:t>
            </a:r>
            <a:endParaRPr/>
          </a:p>
          <a:p>
            <a:pPr indent="-368300" lvl="1" marL="914400" rtl="0" algn="just">
              <a:spcBef>
                <a:spcPts val="0"/>
              </a:spcBef>
              <a:spcAft>
                <a:spcPts val="0"/>
              </a:spcAft>
              <a:buSzPts val="2200"/>
              <a:buChar char="○"/>
            </a:pPr>
            <a:r>
              <a:rPr lang="en-GB"/>
              <a:t>Với tất cả IRI aaa trong D, &lt;x, I(aaa)&gt; nằm trong IEXT(I(rdf:type)) khi và chỉ khi x nằm trong không gian giá trị của I(aaa).</a:t>
            </a:r>
            <a:endParaRPr/>
          </a:p>
          <a:p>
            <a:pPr indent="-368300" lvl="1" marL="914400" rtl="0" algn="just">
              <a:spcBef>
                <a:spcPts val="0"/>
              </a:spcBef>
              <a:spcAft>
                <a:spcPts val="0"/>
              </a:spcAft>
              <a:buSzPts val="2200"/>
              <a:buChar char="○"/>
            </a:pPr>
            <a:r>
              <a:rPr lang="en-GB"/>
              <a:t>và thỏa mãn các bộ-3 tiên đề RDF.</a:t>
            </a:r>
            <a:endParaRPr/>
          </a:p>
        </p:txBody>
      </p:sp>
      <p:sp>
        <p:nvSpPr>
          <p:cNvPr id="246" name="Google Shape;246;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RDF: C</a:t>
            </a:r>
            <a:r>
              <a:rPr lang="en-GB"/>
              <a:t>ác bộ-3 tiên đề RDF</a:t>
            </a:r>
            <a:endParaRPr baseline="-25000"/>
          </a:p>
        </p:txBody>
      </p:sp>
      <p:sp>
        <p:nvSpPr>
          <p:cNvPr id="252" name="Google Shape;252;p32"/>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200"/>
              <a:t>rdf:type rdf:type rdf:Property .</a:t>
            </a:r>
            <a:endParaRPr sz="2200"/>
          </a:p>
          <a:p>
            <a:pPr indent="0" lvl="0" marL="0" rtl="0" algn="l">
              <a:spcBef>
                <a:spcPts val="0"/>
              </a:spcBef>
              <a:spcAft>
                <a:spcPts val="0"/>
              </a:spcAft>
              <a:buClr>
                <a:schemeClr val="dk1"/>
              </a:buClr>
              <a:buSzPts val="1100"/>
              <a:buFont typeface="Arial"/>
              <a:buNone/>
            </a:pPr>
            <a:r>
              <a:rPr lang="en-GB" sz="2200"/>
              <a:t>rdf:subject rdf:type rdf:Property .</a:t>
            </a:r>
            <a:endParaRPr sz="2200"/>
          </a:p>
          <a:p>
            <a:pPr indent="0" lvl="0" marL="0" rtl="0" algn="l">
              <a:spcBef>
                <a:spcPts val="0"/>
              </a:spcBef>
              <a:spcAft>
                <a:spcPts val="0"/>
              </a:spcAft>
              <a:buClr>
                <a:schemeClr val="dk1"/>
              </a:buClr>
              <a:buSzPts val="1100"/>
              <a:buFont typeface="Arial"/>
              <a:buNone/>
            </a:pPr>
            <a:r>
              <a:rPr lang="en-GB" sz="2200"/>
              <a:t>rdf:predicate rdf:type rdf:Property .</a:t>
            </a:r>
            <a:endParaRPr sz="2200"/>
          </a:p>
          <a:p>
            <a:pPr indent="0" lvl="0" marL="0" rtl="0" algn="l">
              <a:spcBef>
                <a:spcPts val="0"/>
              </a:spcBef>
              <a:spcAft>
                <a:spcPts val="0"/>
              </a:spcAft>
              <a:buClr>
                <a:schemeClr val="dk1"/>
              </a:buClr>
              <a:buSzPts val="1100"/>
              <a:buFont typeface="Arial"/>
              <a:buNone/>
            </a:pPr>
            <a:r>
              <a:rPr lang="en-GB" sz="2200"/>
              <a:t>rdf:object rdf:type rdf:Property .</a:t>
            </a:r>
            <a:endParaRPr sz="2200"/>
          </a:p>
          <a:p>
            <a:pPr indent="0" lvl="0" marL="0" rtl="0" algn="l">
              <a:spcBef>
                <a:spcPts val="0"/>
              </a:spcBef>
              <a:spcAft>
                <a:spcPts val="0"/>
              </a:spcAft>
              <a:buClr>
                <a:schemeClr val="dk1"/>
              </a:buClr>
              <a:buSzPts val="1100"/>
              <a:buFont typeface="Arial"/>
              <a:buNone/>
            </a:pPr>
            <a:r>
              <a:rPr lang="en-GB" sz="2200"/>
              <a:t>rdf:first rdf:type rdf:Property .</a:t>
            </a:r>
            <a:endParaRPr sz="2200"/>
          </a:p>
          <a:p>
            <a:pPr indent="0" lvl="0" marL="0" rtl="0" algn="l">
              <a:spcBef>
                <a:spcPts val="0"/>
              </a:spcBef>
              <a:spcAft>
                <a:spcPts val="0"/>
              </a:spcAft>
              <a:buClr>
                <a:schemeClr val="dk1"/>
              </a:buClr>
              <a:buSzPts val="1100"/>
              <a:buFont typeface="Arial"/>
              <a:buNone/>
            </a:pPr>
            <a:r>
              <a:rPr lang="en-GB" sz="2200"/>
              <a:t>rdf:rest rdf:type rdf:Property .</a:t>
            </a:r>
            <a:endParaRPr sz="2200"/>
          </a:p>
          <a:p>
            <a:pPr indent="0" lvl="0" marL="0" rtl="0" algn="l">
              <a:spcBef>
                <a:spcPts val="0"/>
              </a:spcBef>
              <a:spcAft>
                <a:spcPts val="0"/>
              </a:spcAft>
              <a:buClr>
                <a:schemeClr val="dk1"/>
              </a:buClr>
              <a:buSzPts val="1100"/>
              <a:buFont typeface="Arial"/>
              <a:buNone/>
            </a:pPr>
            <a:r>
              <a:rPr lang="en-GB" sz="2200"/>
              <a:t>rdf:value rdf:type rdf:Property .</a:t>
            </a:r>
            <a:endParaRPr sz="2200"/>
          </a:p>
          <a:p>
            <a:pPr indent="0" lvl="0" marL="0" rtl="0" algn="l">
              <a:spcBef>
                <a:spcPts val="0"/>
              </a:spcBef>
              <a:spcAft>
                <a:spcPts val="0"/>
              </a:spcAft>
              <a:buClr>
                <a:schemeClr val="dk1"/>
              </a:buClr>
              <a:buSzPts val="1100"/>
              <a:buFont typeface="Arial"/>
              <a:buNone/>
            </a:pPr>
            <a:r>
              <a:rPr lang="en-GB" sz="2200"/>
              <a:t>rdf:nil rdf:type rdf:List .</a:t>
            </a:r>
            <a:endParaRPr sz="2200"/>
          </a:p>
          <a:p>
            <a:pPr indent="0" lvl="0" marL="0" rtl="0" algn="l">
              <a:spcBef>
                <a:spcPts val="0"/>
              </a:spcBef>
              <a:spcAft>
                <a:spcPts val="0"/>
              </a:spcAft>
              <a:buClr>
                <a:schemeClr val="dk1"/>
              </a:buClr>
              <a:buSzPts val="1100"/>
              <a:buFont typeface="Arial"/>
              <a:buNone/>
            </a:pPr>
            <a:r>
              <a:rPr lang="en-GB" sz="2200"/>
              <a:t>rdf:_1 rdf:type rdf:Property .</a:t>
            </a:r>
            <a:endParaRPr sz="2200"/>
          </a:p>
          <a:p>
            <a:pPr indent="0" lvl="0" marL="0" rtl="0" algn="l">
              <a:spcBef>
                <a:spcPts val="0"/>
              </a:spcBef>
              <a:spcAft>
                <a:spcPts val="0"/>
              </a:spcAft>
              <a:buClr>
                <a:schemeClr val="dk1"/>
              </a:buClr>
              <a:buSzPts val="1100"/>
              <a:buFont typeface="Arial"/>
              <a:buNone/>
            </a:pPr>
            <a:r>
              <a:rPr lang="en-GB" sz="2200"/>
              <a:t>rdf:_2 rdf:type rdf:Property .</a:t>
            </a:r>
            <a:endParaRPr sz="2200"/>
          </a:p>
          <a:p>
            <a:pPr indent="0" lvl="0" marL="0" rtl="0" algn="l">
              <a:spcBef>
                <a:spcPts val="0"/>
              </a:spcBef>
              <a:spcAft>
                <a:spcPts val="0"/>
              </a:spcAft>
              <a:buClr>
                <a:schemeClr val="dk1"/>
              </a:buClr>
              <a:buSzPts val="1100"/>
              <a:buFont typeface="Arial"/>
              <a:buNone/>
            </a:pPr>
            <a:r>
              <a:rPr lang="en-GB" sz="2200"/>
              <a:t>...</a:t>
            </a:r>
            <a:endParaRPr sz="2200"/>
          </a:p>
        </p:txBody>
      </p:sp>
      <p:sp>
        <p:nvSpPr>
          <p:cNvPr id="253" name="Google Shape;253;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Suy diễn RDF</a:t>
            </a:r>
            <a:endParaRPr/>
          </a:p>
        </p:txBody>
      </p:sp>
      <p:sp>
        <p:nvSpPr>
          <p:cNvPr id="259" name="Google Shape;259;p33"/>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S trên cơ sở RDF suy ra E trong điều kiện nhận biết D nếu bất kỳ biểu diễn RDF nào nhận biết D thỏa mãn S thì cũng thỏa mãn E.</a:t>
            </a:r>
            <a:endParaRPr/>
          </a:p>
          <a:p>
            <a:pPr indent="-368300" lvl="1" marL="914400" rtl="0" algn="l">
              <a:spcBef>
                <a:spcPts val="0"/>
              </a:spcBef>
              <a:spcAft>
                <a:spcPts val="0"/>
              </a:spcAft>
              <a:buSzPts val="2200"/>
              <a:buChar char="○"/>
            </a:pPr>
            <a:r>
              <a:rPr lang="en-GB"/>
              <a:t>Nếu D là {rdf:langString, xsd:string} thì có thể nói đơn giản là S trên cơ sở RDF suy ra E.</a:t>
            </a:r>
            <a:endParaRPr/>
          </a:p>
          <a:p>
            <a:pPr indent="-368300" lvl="1" marL="914400" rtl="0" algn="l">
              <a:spcBef>
                <a:spcPts val="0"/>
              </a:spcBef>
              <a:spcAft>
                <a:spcPts val="0"/>
              </a:spcAft>
              <a:buSzPts val="2200"/>
              <a:buChar char="○"/>
            </a:pPr>
            <a:r>
              <a:rPr lang="en-GB"/>
              <a:t>Trên cơ sở RDF các bộ ba-3 tiên đề RDF có thể được suy ra từ đồ thị rỗng - mâu thuẫn với bổ đề nội suy:</a:t>
            </a:r>
            <a:endParaRPr/>
          </a:p>
          <a:p>
            <a:pPr indent="-342900" lvl="2" marL="1371600" rtl="0" algn="l">
              <a:spcBef>
                <a:spcPts val="0"/>
              </a:spcBef>
              <a:spcAft>
                <a:spcPts val="0"/>
              </a:spcAft>
              <a:buSzPts val="1800"/>
              <a:buChar char="■"/>
            </a:pPr>
            <a:r>
              <a:rPr lang="en-GB"/>
              <a:t>(Interpolation Lemma) - G suy diễn tự do ra E khi và chỉ khi có 1 đồ thị con của G là 1 bản của E.</a:t>
            </a:r>
            <a:endParaRPr/>
          </a:p>
          <a:p>
            <a:pPr indent="-381000" lvl="0" marL="457200" rtl="0" algn="l">
              <a:spcBef>
                <a:spcPts val="0"/>
              </a:spcBef>
              <a:spcAft>
                <a:spcPts val="0"/>
              </a:spcAft>
              <a:buSzPts val="2400"/>
              <a:buChar char="●"/>
            </a:pPr>
            <a:r>
              <a:rPr lang="en-GB"/>
              <a:t>E không thỏa mãn RDF (nhận biết D) khi không có biểu diễn RDF (nhận biết D) thỏa mãn E.</a:t>
            </a:r>
            <a:endParaRPr/>
          </a:p>
        </p:txBody>
      </p:sp>
      <p:sp>
        <p:nvSpPr>
          <p:cNvPr id="260" name="Google Shape;260;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mẫu suy diễn RDF</a:t>
            </a:r>
            <a:endParaRPr/>
          </a:p>
        </p:txBody>
      </p:sp>
      <p:sp>
        <p:nvSpPr>
          <p:cNvPr id="266" name="Google Shape;266;p34"/>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rdfD1:</a:t>
            </a:r>
            <a:r>
              <a:rPr lang="en-GB"/>
              <a:t> Nếu S chứa xxx aaa “sss"^^ddd. đối với ddd nằm trong D thì S trên cơ sở RDF trong điều kiện nhận biết D suy ra: xxx aaa _:nnn. _:nnn rdf:type ddd.</a:t>
            </a:r>
            <a:endParaRPr/>
          </a:p>
          <a:p>
            <a:pPr indent="0" lvl="0" marL="0" rtl="0" algn="l">
              <a:spcBef>
                <a:spcPts val="0"/>
              </a:spcBef>
              <a:spcAft>
                <a:spcPts val="0"/>
              </a:spcAft>
              <a:buNone/>
            </a:pPr>
            <a:r>
              <a:rPr lang="en-GB"/>
              <a:t>Ví dụ: ex:a ex:p "123"^^xsd:integer .</a:t>
            </a:r>
            <a:endParaRPr/>
          </a:p>
          <a:p>
            <a:pPr indent="0" lvl="0" marL="0" rtl="0" algn="l">
              <a:spcBef>
                <a:spcPts val="0"/>
              </a:spcBef>
              <a:spcAft>
                <a:spcPts val="0"/>
              </a:spcAft>
              <a:buNone/>
            </a:pPr>
            <a:r>
              <a:rPr lang="en-GB"/>
              <a:t>trên cơ sở RDF trong điều kiện nhận biết {xsd:integer} suy ra:</a:t>
            </a:r>
            <a:endParaRPr/>
          </a:p>
          <a:p>
            <a:pPr indent="0" lvl="0" marL="0" rtl="0" algn="l">
              <a:spcBef>
                <a:spcPts val="0"/>
              </a:spcBef>
              <a:spcAft>
                <a:spcPts val="0"/>
              </a:spcAft>
              <a:buNone/>
            </a:pPr>
            <a:r>
              <a:rPr lang="en-GB"/>
              <a:t>ex:a ex:p _:x .</a:t>
            </a:r>
            <a:endParaRPr/>
          </a:p>
          <a:p>
            <a:pPr indent="0" lvl="0" marL="0" rtl="0" algn="l">
              <a:spcBef>
                <a:spcPts val="0"/>
              </a:spcBef>
              <a:spcAft>
                <a:spcPts val="0"/>
              </a:spcAft>
              <a:buNone/>
            </a:pPr>
            <a:r>
              <a:rPr lang="en-GB"/>
              <a:t>_:x rdf:type xsd:integer .</a:t>
            </a:r>
            <a:endParaRPr/>
          </a:p>
          <a:p>
            <a:pPr indent="0" lvl="0" marL="0" rtl="0" algn="l">
              <a:spcBef>
                <a:spcPts val="0"/>
              </a:spcBef>
              <a:spcAft>
                <a:spcPts val="0"/>
              </a:spcAft>
              <a:buNone/>
            </a:pPr>
            <a:r>
              <a:rPr b="1" lang="en-GB"/>
              <a:t>rdfD2:</a:t>
            </a:r>
            <a:r>
              <a:rPr lang="en-GB"/>
              <a:t> Nếu S chứa xxx aaa yyy. Thì S trên cơ sở RDF trong điều kiện nhận biết D suy ra aaa rdf:type rdf:Property.</a:t>
            </a:r>
            <a:endParaRPr/>
          </a:p>
        </p:txBody>
      </p:sp>
      <p:sp>
        <p:nvSpPr>
          <p:cNvPr id="267" name="Google Shape;267;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RDFS</a:t>
            </a:r>
            <a:endParaRPr/>
          </a:p>
        </p:txBody>
      </p:sp>
      <p:sp>
        <p:nvSpPr>
          <p:cNvPr id="273" name="Google Shape;273;p35"/>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RDFS mở rộng RDF với bộ từ vựng lớn hơn, ví dụ: rdfs:domain rdfs:range, rdfs:Class rdfs:subClassOf rdfs:subPropertyOf, v.v..</a:t>
            </a:r>
            <a:endParaRPr/>
          </a:p>
          <a:p>
            <a:pPr indent="-381000" lvl="0" marL="457200" rtl="0" algn="l">
              <a:spcBef>
                <a:spcPts val="0"/>
              </a:spcBef>
              <a:spcAft>
                <a:spcPts val="0"/>
              </a:spcAft>
              <a:buSzPts val="2400"/>
              <a:buChar char="●"/>
            </a:pPr>
            <a:r>
              <a:rPr lang="en-GB"/>
              <a:t>Một biểu diễn RDFS (nhận biết D) là một biểu diễn RDF (nhận biết D) I thỏa mãn các điều kiện ngữ nghĩa cho RDFS và các bộ-3 tiên đề RDFS.</a:t>
            </a:r>
            <a:endParaRPr/>
          </a:p>
        </p:txBody>
      </p:sp>
      <p:sp>
        <p:nvSpPr>
          <p:cNvPr id="274" name="Google Shape;274;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điều kiện ngữ nghĩa RDFS</a:t>
            </a:r>
            <a:endParaRPr/>
          </a:p>
        </p:txBody>
      </p:sp>
      <p:sp>
        <p:nvSpPr>
          <p:cNvPr id="280" name="Google Shape;280;p36"/>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Mở rộng lớp:</a:t>
            </a:r>
            <a:endParaRPr i="1"/>
          </a:p>
          <a:p>
            <a:pPr indent="0" lvl="0" marL="0" rtl="0" algn="l">
              <a:spcBef>
                <a:spcPts val="0"/>
              </a:spcBef>
              <a:spcAft>
                <a:spcPts val="0"/>
              </a:spcAft>
              <a:buNone/>
            </a:pPr>
            <a:r>
              <a:rPr lang="en-GB"/>
              <a:t>Ký hiệu ICEXT(y) là {x : &lt; x,y &gt; nằm trong IEXT(I(rdf:type)) }</a:t>
            </a:r>
            <a:endParaRPr/>
          </a:p>
          <a:p>
            <a:pPr indent="0" lvl="0" marL="0" rtl="0" algn="l">
              <a:spcBef>
                <a:spcPts val="0"/>
              </a:spcBef>
              <a:spcAft>
                <a:spcPts val="0"/>
              </a:spcAft>
              <a:buNone/>
            </a:pPr>
            <a:r>
              <a:rPr lang="en-GB"/>
              <a:t>Đặt IC là ICEXT(I(rdfs:Class)) và LV là ICEXT(I(rdfs:Literal)).</a:t>
            </a:r>
            <a:endParaRPr/>
          </a:p>
          <a:p>
            <a:pPr indent="0" lvl="0" marL="0" rtl="0" algn="l">
              <a:spcBef>
                <a:spcPts val="0"/>
              </a:spcBef>
              <a:spcAft>
                <a:spcPts val="0"/>
              </a:spcAft>
              <a:buNone/>
            </a:pPr>
            <a:r>
              <a:rPr lang="en-GB"/>
              <a:t>Chúng ta có ICEXT(I(rdfs:Resource)) = IR</a:t>
            </a:r>
            <a:endParaRPr/>
          </a:p>
          <a:p>
            <a:pPr indent="0" lvl="0" marL="0" rtl="0" algn="l">
              <a:spcBef>
                <a:spcPts val="0"/>
              </a:spcBef>
              <a:spcAft>
                <a:spcPts val="0"/>
              </a:spcAft>
              <a:buNone/>
            </a:pPr>
            <a:r>
              <a:rPr lang="en-GB"/>
              <a:t>ICEXT(I(rdf:langString)) là tập {I(E): E là chuỗi có ghi chú ngôn ngữ }</a:t>
            </a:r>
            <a:endParaRPr/>
          </a:p>
          <a:p>
            <a:pPr indent="0" lvl="0" marL="0" rtl="0" algn="l">
              <a:spcBef>
                <a:spcPts val="0"/>
              </a:spcBef>
              <a:spcAft>
                <a:spcPts val="0"/>
              </a:spcAft>
              <a:buNone/>
            </a:pPr>
            <a:r>
              <a:rPr lang="en-GB"/>
              <a:t>với tất cả IRI dạng aaa khác trong D, ICEXT(I(aaa)) là không gian giá trị của I(aaa).</a:t>
            </a:r>
            <a:endParaRPr/>
          </a:p>
          <a:p>
            <a:pPr indent="0" lvl="0" marL="0" rtl="0" algn="l">
              <a:spcBef>
                <a:spcPts val="0"/>
              </a:spcBef>
              <a:spcAft>
                <a:spcPts val="0"/>
              </a:spcAft>
              <a:buNone/>
            </a:pPr>
            <a:r>
              <a:rPr lang="en-GB"/>
              <a:t>Với tất cả IRI dạng aaa trong D, I(aaa) nằm trong ICEXT(I(rdfs:Datatype))</a:t>
            </a:r>
            <a:endParaRPr/>
          </a:p>
        </p:txBody>
      </p:sp>
      <p:sp>
        <p:nvSpPr>
          <p:cNvPr id="281" name="Google Shape;281;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điều kiện ngữ nghĩa RDFS</a:t>
            </a:r>
            <a:r>
              <a:rPr baseline="-25000" lang="en-GB"/>
              <a:t>(</a:t>
            </a:r>
            <a:r>
              <a:rPr baseline="-25000" lang="en-GB"/>
              <a:t>2)</a:t>
            </a:r>
            <a:endParaRPr baseline="-25000"/>
          </a:p>
        </p:txBody>
      </p:sp>
      <p:sp>
        <p:nvSpPr>
          <p:cNvPr id="287" name="Google Shape;287;p37"/>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miền</a:t>
            </a:r>
            <a:endParaRPr i="1"/>
          </a:p>
          <a:p>
            <a:pPr indent="0" lvl="0" marL="0" rtl="0" algn="l">
              <a:spcBef>
                <a:spcPts val="0"/>
              </a:spcBef>
              <a:spcAft>
                <a:spcPts val="0"/>
              </a:spcAft>
              <a:buNone/>
            </a:pPr>
            <a:r>
              <a:rPr lang="en-GB"/>
              <a:t>Nếu &lt;x, y&gt; nằm trong IEXT(I(rdfs:domain)) và &lt;u,v&gt; nằm trong IEXT(x) thì u nằm trong ICEXT(y).</a:t>
            </a:r>
            <a:endParaRPr/>
          </a:p>
          <a:p>
            <a:pPr indent="0" lvl="0" marL="0" rtl="0" algn="l">
              <a:spcBef>
                <a:spcPts val="0"/>
              </a:spcBef>
              <a:spcAft>
                <a:spcPts val="0"/>
              </a:spcAft>
              <a:buNone/>
            </a:pPr>
            <a:r>
              <a:rPr i="1" lang="en-GB"/>
              <a:t>khoảng</a:t>
            </a:r>
            <a:endParaRPr i="1"/>
          </a:p>
          <a:p>
            <a:pPr indent="0" lvl="0" marL="0" rtl="0" algn="l">
              <a:spcBef>
                <a:spcPts val="0"/>
              </a:spcBef>
              <a:spcAft>
                <a:spcPts val="0"/>
              </a:spcAft>
              <a:buNone/>
            </a:pPr>
            <a:r>
              <a:rPr lang="en-GB"/>
              <a:t>Nếu &lt;x, y&gt; nằm trong IEXT(I(rdfs:range)) và &lt;u,v&gt; nằm trong IEXT(x) thì v nằm trong ICEXT(y).</a:t>
            </a:r>
            <a:endParaRPr/>
          </a:p>
          <a:p>
            <a:pPr indent="0" lvl="0" marL="0" rtl="0" algn="l">
              <a:spcBef>
                <a:spcPts val="0"/>
              </a:spcBef>
              <a:spcAft>
                <a:spcPts val="0"/>
              </a:spcAft>
              <a:buNone/>
            </a:pPr>
            <a:r>
              <a:rPr i="1" lang="en-GB"/>
              <a:t>thuộc tính con</a:t>
            </a:r>
            <a:endParaRPr i="1"/>
          </a:p>
          <a:p>
            <a:pPr indent="0" lvl="0" marL="0" rtl="0" algn="l">
              <a:spcBef>
                <a:spcPts val="0"/>
              </a:spcBef>
              <a:spcAft>
                <a:spcPts val="0"/>
              </a:spcAft>
              <a:buNone/>
            </a:pPr>
            <a:r>
              <a:rPr lang="en-GB"/>
              <a:t>Nếu &lt;x, y&gt; nằm trong IEXT(I(rdfs:subPropertyOf)) thì x và y nằm trong IP và IEXT(x) là tập con của IEXT(y).</a:t>
            </a:r>
            <a:endParaRPr/>
          </a:p>
          <a:p>
            <a:pPr indent="0" lvl="0" marL="0" rtl="0" algn="l">
              <a:spcBef>
                <a:spcPts val="0"/>
              </a:spcBef>
              <a:spcAft>
                <a:spcPts val="0"/>
              </a:spcAft>
              <a:buNone/>
            </a:pPr>
            <a:r>
              <a:rPr i="1" lang="en-GB"/>
              <a:t>lớp là tài nguyên</a:t>
            </a:r>
            <a:endParaRPr i="1"/>
          </a:p>
          <a:p>
            <a:pPr indent="0" lvl="0" marL="0" rtl="0" algn="l">
              <a:spcBef>
                <a:spcPts val="0"/>
              </a:spcBef>
              <a:spcAft>
                <a:spcPts val="0"/>
              </a:spcAft>
              <a:buClr>
                <a:schemeClr val="dk1"/>
              </a:buClr>
              <a:buSzPts val="1100"/>
              <a:buFont typeface="Arial"/>
              <a:buNone/>
            </a:pPr>
            <a:r>
              <a:rPr lang="en-GB"/>
              <a:t>Nếu x nằm trong IC thì &lt; x, I(rdfs:Resource) &gt; nằm trong IEXT(I(rdfs:subClassOf))</a:t>
            </a:r>
            <a:endParaRPr/>
          </a:p>
        </p:txBody>
      </p:sp>
      <p:sp>
        <p:nvSpPr>
          <p:cNvPr id="288" name="Google Shape;288;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điều kiện ngữ nghĩa RDFS</a:t>
            </a:r>
            <a:r>
              <a:rPr baseline="-25000" lang="en-GB"/>
              <a:t>(</a:t>
            </a:r>
            <a:r>
              <a:rPr baseline="-25000" lang="en-GB"/>
              <a:t>3</a:t>
            </a:r>
            <a:r>
              <a:rPr baseline="-25000" lang="en-GB"/>
              <a:t>)</a:t>
            </a:r>
            <a:endParaRPr baseline="-25000"/>
          </a:p>
        </p:txBody>
      </p:sp>
      <p:sp>
        <p:nvSpPr>
          <p:cNvPr id="294" name="Google Shape;294;p38"/>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lớp con</a:t>
            </a:r>
            <a:endParaRPr i="1"/>
          </a:p>
          <a:p>
            <a:pPr indent="0" lvl="0" marL="0" rtl="0" algn="l">
              <a:spcBef>
                <a:spcPts val="0"/>
              </a:spcBef>
              <a:spcAft>
                <a:spcPts val="0"/>
              </a:spcAft>
              <a:buNone/>
            </a:pPr>
            <a:r>
              <a:rPr lang="en-GB"/>
              <a:t>Nếu &lt;x, y&gt; nằm trong IEXT(I(rdfs:subClassOf)) thì x và y nằm trong IC và ICEXT(x) là tập con của ICEXT(y).</a:t>
            </a:r>
            <a:endParaRPr/>
          </a:p>
          <a:p>
            <a:pPr indent="0" lvl="0" marL="0" rtl="0" algn="l">
              <a:spcBef>
                <a:spcPts val="0"/>
              </a:spcBef>
              <a:spcAft>
                <a:spcPts val="0"/>
              </a:spcAft>
              <a:buNone/>
            </a:pPr>
            <a:r>
              <a:rPr i="1" lang="en-GB"/>
              <a:t>thành viên</a:t>
            </a:r>
            <a:endParaRPr i="1"/>
          </a:p>
          <a:p>
            <a:pPr indent="0" lvl="0" marL="0" rtl="0" algn="l">
              <a:spcBef>
                <a:spcPts val="0"/>
              </a:spcBef>
              <a:spcAft>
                <a:spcPts val="0"/>
              </a:spcAft>
              <a:buNone/>
            </a:pPr>
            <a:r>
              <a:rPr lang="en-GB"/>
              <a:t>Nếu x nằm trong ICEXT(I(rdfs:ContainerMembershipProperty)) thì</a:t>
            </a:r>
            <a:endParaRPr/>
          </a:p>
          <a:p>
            <a:pPr indent="0" lvl="0" marL="0" rtl="0" algn="l">
              <a:spcBef>
                <a:spcPts val="0"/>
              </a:spcBef>
              <a:spcAft>
                <a:spcPts val="0"/>
              </a:spcAft>
              <a:buNone/>
            </a:pPr>
            <a:r>
              <a:rPr lang="en-GB"/>
              <a:t>&lt; x, I(rdfs:member) &gt; nằm trong IEXT(I(rdfs:subPropertyOf))</a:t>
            </a:r>
            <a:endParaRPr/>
          </a:p>
          <a:p>
            <a:pPr indent="0" lvl="0" marL="0" rtl="0" algn="l">
              <a:spcBef>
                <a:spcPts val="0"/>
              </a:spcBef>
              <a:spcAft>
                <a:spcPts val="0"/>
              </a:spcAft>
              <a:buNone/>
            </a:pPr>
            <a:r>
              <a:rPr i="1" lang="en-GB"/>
              <a:t>kiểu dữ liệu là lớp giá trị</a:t>
            </a:r>
            <a:endParaRPr i="1"/>
          </a:p>
          <a:p>
            <a:pPr indent="0" lvl="0" marL="0" rtl="0" algn="l">
              <a:spcBef>
                <a:spcPts val="0"/>
              </a:spcBef>
              <a:spcAft>
                <a:spcPts val="0"/>
              </a:spcAft>
              <a:buNone/>
            </a:pPr>
            <a:r>
              <a:rPr lang="en-GB"/>
              <a:t>Nếu x nằm trong ICEXT(I(rdfs:Datatype)) thì </a:t>
            </a:r>
            <a:endParaRPr/>
          </a:p>
          <a:p>
            <a:pPr indent="0" lvl="0" marL="0" rtl="0" algn="l">
              <a:spcBef>
                <a:spcPts val="0"/>
              </a:spcBef>
              <a:spcAft>
                <a:spcPts val="0"/>
              </a:spcAft>
              <a:buNone/>
            </a:pPr>
            <a:r>
              <a:rPr lang="en-GB"/>
              <a:t>  &lt;x,</a:t>
            </a:r>
            <a:r>
              <a:rPr lang="en-GB"/>
              <a:t> </a:t>
            </a:r>
            <a:r>
              <a:rPr lang="en-GB"/>
              <a:t>I(rdfs:Literal)&gt; nằm trong IEXT(I(rdfs:subClassOf)).</a:t>
            </a:r>
            <a:endParaRPr/>
          </a:p>
        </p:txBody>
      </p:sp>
      <p:sp>
        <p:nvSpPr>
          <p:cNvPr id="295" name="Google Shape;295;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bộ-3 tiên đề RDFS</a:t>
            </a:r>
            <a:endParaRPr baseline="-25000"/>
          </a:p>
        </p:txBody>
      </p:sp>
      <p:sp>
        <p:nvSpPr>
          <p:cNvPr id="301" name="Google Shape;301;p39"/>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200">
                <a:latin typeface="Courier"/>
                <a:ea typeface="Courier"/>
                <a:cs typeface="Courier"/>
                <a:sym typeface="Courier"/>
              </a:rPr>
              <a:t>rdf:type            rdfs:domain  rdfs:Resource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rdfs:domain         rdfs:domain  rdf:Property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rdfs:range          rdfs:domain  rdf:Property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rdfs:subPropertyOf  rdfs:domain  rdf:Property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rdfs:subClassOf 		 rdfs:domain	rdfs:Class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rdf:subject			 rdfs:domain	rdf:Statement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rdf:predicate			 rdfs:domain	rdf:Statement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rdf:object         rdfs:domain    rdf:Statement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rdfs:member        rdfs:domain    rdfs:Resource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rdf:first          rdfs:domain    rdf:List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rdf:rest           rdfs:domain    rdf:List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rdfs:seeAlso       rdfs:domain    rdfs:Resource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rdfs:isDefinedBy   rdfs:domain    rdfs:Resource .</a:t>
            </a:r>
            <a:endParaRPr sz="2200">
              <a:latin typeface="Courier"/>
              <a:ea typeface="Courier"/>
              <a:cs typeface="Courier"/>
              <a:sym typeface="Courier"/>
            </a:endParaRPr>
          </a:p>
          <a:p>
            <a:pPr indent="0" lvl="0" marL="0" rtl="0" algn="l">
              <a:spcBef>
                <a:spcPts val="0"/>
              </a:spcBef>
              <a:spcAft>
                <a:spcPts val="0"/>
              </a:spcAft>
              <a:buNone/>
            </a:pPr>
            <a:r>
              <a:rPr lang="en-GB" sz="2200">
                <a:latin typeface="Courier"/>
                <a:ea typeface="Courier"/>
                <a:cs typeface="Courier"/>
                <a:sym typeface="Courier"/>
              </a:rPr>
              <a:t>...</a:t>
            </a:r>
            <a:endParaRPr sz="2200">
              <a:latin typeface="Courier"/>
              <a:ea typeface="Courier"/>
              <a:cs typeface="Courier"/>
              <a:sym typeface="Courier"/>
            </a:endParaRPr>
          </a:p>
        </p:txBody>
      </p:sp>
      <p:sp>
        <p:nvSpPr>
          <p:cNvPr id="302" name="Google Shape;302;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Suy diễn RDFS</a:t>
            </a:r>
            <a:endParaRPr/>
          </a:p>
        </p:txBody>
      </p:sp>
      <p:sp>
        <p:nvSpPr>
          <p:cNvPr id="308" name="Google Shape;308;p40"/>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S trên cơ sở RDFS nhận diện D suy ra E khi tất cả các biểu diễn RDFS nhận diện D thỏa mãn S cũng thỏa mãn E.</a:t>
            </a:r>
            <a:endParaRPr/>
          </a:p>
          <a:p>
            <a:pPr indent="-381000" lvl="0" marL="457200" rtl="0" algn="l">
              <a:spcBef>
                <a:spcPts val="0"/>
              </a:spcBef>
              <a:spcAft>
                <a:spcPts val="0"/>
              </a:spcAft>
              <a:buSzPts val="2400"/>
              <a:buChar char="●"/>
            </a:pPr>
            <a:r>
              <a:rPr lang="en-GB"/>
              <a:t>Bởi vì biểu diễn RDFS là biểu diễn RDF, nếu S trên cơ sở RDFS suy a E thì S trên cơ sở RDF cũng suy ra E.</a:t>
            </a:r>
            <a:endParaRPr/>
          </a:p>
          <a:p>
            <a:pPr indent="-381000" lvl="0" marL="457200" rtl="0" algn="l">
              <a:spcBef>
                <a:spcPts val="0"/>
              </a:spcBef>
              <a:spcAft>
                <a:spcPts val="0"/>
              </a:spcAft>
              <a:buSzPts val="2400"/>
              <a:buChar char="●"/>
            </a:pPr>
            <a:r>
              <a:rPr lang="en-GB"/>
              <a:t>Suy diễn RDFS mạnh hơn suy diễn RDF, có những suy diễn thực hiện được trên cơ sở RDFS nhưng không thực hiện được trên cơ sở RDF.</a:t>
            </a:r>
            <a:endParaRPr/>
          </a:p>
        </p:txBody>
      </p:sp>
      <p:sp>
        <p:nvSpPr>
          <p:cNvPr id="309" name="Google Shape;309;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1"/>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mẫu suy diễn RDFS</a:t>
            </a:r>
            <a:endParaRPr/>
          </a:p>
        </p:txBody>
      </p:sp>
      <p:sp>
        <p:nvSpPr>
          <p:cNvPr id="315" name="Google Shape;315;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16" name="Google Shape;316;p41"/>
          <p:cNvGraphicFramePr/>
          <p:nvPr/>
        </p:nvGraphicFramePr>
        <p:xfrm>
          <a:off x="503275" y="1152150"/>
          <a:ext cx="3000000" cy="3000000"/>
        </p:xfrm>
        <a:graphic>
          <a:graphicData uri="http://schemas.openxmlformats.org/drawingml/2006/table">
            <a:tbl>
              <a:tblPr>
                <a:noFill/>
                <a:tableStyleId>{494DBD49-A438-44D5-B211-3F3E4B296100}</a:tableStyleId>
              </a:tblPr>
              <a:tblGrid>
                <a:gridCol w="879925"/>
                <a:gridCol w="3188800"/>
                <a:gridCol w="4198450"/>
              </a:tblGrid>
              <a:tr h="381000">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b="1" lang="en-GB" sz="1800"/>
                        <a:t>Nếu S chứa</a:t>
                      </a:r>
                      <a:endParaRPr b="1" sz="1800"/>
                    </a:p>
                  </a:txBody>
                  <a:tcPr marT="91425" marB="91425" marR="91425" marL="91425"/>
                </a:tc>
                <a:tc>
                  <a:txBody>
                    <a:bodyPr/>
                    <a:lstStyle/>
                    <a:p>
                      <a:pPr indent="0" lvl="0" marL="0" rtl="0" algn="l">
                        <a:spcBef>
                          <a:spcPts val="0"/>
                        </a:spcBef>
                        <a:spcAft>
                          <a:spcPts val="0"/>
                        </a:spcAft>
                        <a:buNone/>
                      </a:pPr>
                      <a:r>
                        <a:rPr b="1" lang="en-GB" sz="1800"/>
                        <a:t>Thì S theo RDFS nhận diện D suy ra</a:t>
                      </a:r>
                      <a:endParaRPr b="1" sz="1800"/>
                    </a:p>
                  </a:txBody>
                  <a:tcPr marT="91425" marB="91425" marR="91425" marL="91425"/>
                </a:tc>
              </a:tr>
              <a:tr h="381000">
                <a:tc>
                  <a:txBody>
                    <a:bodyPr/>
                    <a:lstStyle/>
                    <a:p>
                      <a:pPr indent="0" lvl="0" marL="0" rtl="0" algn="l">
                        <a:spcBef>
                          <a:spcPts val="0"/>
                        </a:spcBef>
                        <a:spcAft>
                          <a:spcPts val="0"/>
                        </a:spcAft>
                        <a:buNone/>
                      </a:pPr>
                      <a:r>
                        <a:rPr lang="en-GB" sz="1800"/>
                        <a:t>rdfs1</a:t>
                      </a:r>
                      <a:endParaRPr sz="1800"/>
                    </a:p>
                  </a:txBody>
                  <a:tcPr marT="91425" marB="91425" marR="91425" marL="91425"/>
                </a:tc>
                <a:tc>
                  <a:txBody>
                    <a:bodyPr/>
                    <a:lstStyle/>
                    <a:p>
                      <a:pPr indent="0" lvl="0" marL="0" rtl="0" algn="l">
                        <a:spcBef>
                          <a:spcPts val="0"/>
                        </a:spcBef>
                        <a:spcAft>
                          <a:spcPts val="0"/>
                        </a:spcAft>
                        <a:buNone/>
                      </a:pPr>
                      <a:r>
                        <a:rPr lang="en-GB" sz="1800"/>
                        <a:t>IRI aaa trong D</a:t>
                      </a:r>
                      <a:endParaRPr sz="1800"/>
                    </a:p>
                  </a:txBody>
                  <a:tcPr marT="91425" marB="91425" marR="91425" marL="91425"/>
                </a:tc>
                <a:tc>
                  <a:txBody>
                    <a:bodyPr/>
                    <a:lstStyle/>
                    <a:p>
                      <a:pPr indent="0" lvl="0" marL="0" rtl="0" algn="l">
                        <a:spcBef>
                          <a:spcPts val="0"/>
                        </a:spcBef>
                        <a:spcAft>
                          <a:spcPts val="0"/>
                        </a:spcAft>
                        <a:buNone/>
                      </a:pPr>
                      <a:r>
                        <a:rPr lang="en-GB" sz="1800"/>
                        <a:t>aaa rdf:type rdfs:Datatype .</a:t>
                      </a:r>
                      <a:endParaRPr sz="1800"/>
                    </a:p>
                  </a:txBody>
                  <a:tcPr marT="91425" marB="91425" marR="91425" marL="91425"/>
                </a:tc>
              </a:tr>
              <a:tr h="381000">
                <a:tc>
                  <a:txBody>
                    <a:bodyPr/>
                    <a:lstStyle/>
                    <a:p>
                      <a:pPr indent="0" lvl="0" marL="0" rtl="0" algn="l">
                        <a:spcBef>
                          <a:spcPts val="0"/>
                        </a:spcBef>
                        <a:spcAft>
                          <a:spcPts val="0"/>
                        </a:spcAft>
                        <a:buNone/>
                      </a:pPr>
                      <a:r>
                        <a:rPr lang="en-GB" sz="1800"/>
                        <a:t>rdfs2</a:t>
                      </a:r>
                      <a:endParaRPr sz="1800"/>
                    </a:p>
                  </a:txBody>
                  <a:tcPr marT="91425" marB="91425" marR="91425" marL="91425"/>
                </a:tc>
                <a:tc>
                  <a:txBody>
                    <a:bodyPr/>
                    <a:lstStyle/>
                    <a:p>
                      <a:pPr indent="0" lvl="0" marL="0" rtl="0" algn="l">
                        <a:spcBef>
                          <a:spcPts val="0"/>
                        </a:spcBef>
                        <a:spcAft>
                          <a:spcPts val="0"/>
                        </a:spcAft>
                        <a:buNone/>
                      </a:pPr>
                      <a:r>
                        <a:rPr lang="en-GB" sz="1800"/>
                        <a:t>aaa rdfs:domain xxx .</a:t>
                      </a:r>
                      <a:endParaRPr sz="1800"/>
                    </a:p>
                    <a:p>
                      <a:pPr indent="0" lvl="0" marL="0" rtl="0" algn="l">
                        <a:spcBef>
                          <a:spcPts val="0"/>
                        </a:spcBef>
                        <a:spcAft>
                          <a:spcPts val="0"/>
                        </a:spcAft>
                        <a:buNone/>
                      </a:pPr>
                      <a:r>
                        <a:rPr lang="en-GB" sz="1800"/>
                        <a:t>yyy aaa zzz .</a:t>
                      </a:r>
                      <a:endParaRPr sz="1800"/>
                    </a:p>
                  </a:txBody>
                  <a:tcPr marT="91425" marB="91425" marR="91425" marL="91425"/>
                </a:tc>
                <a:tc>
                  <a:txBody>
                    <a:bodyPr/>
                    <a:lstStyle/>
                    <a:p>
                      <a:pPr indent="0" lvl="0" marL="0" rtl="0" algn="l">
                        <a:spcBef>
                          <a:spcPts val="0"/>
                        </a:spcBef>
                        <a:spcAft>
                          <a:spcPts val="0"/>
                        </a:spcAft>
                        <a:buNone/>
                      </a:pPr>
                      <a:r>
                        <a:rPr lang="en-GB" sz="1800"/>
                        <a:t>yyy rdf:type xxx .</a:t>
                      </a:r>
                      <a:endParaRPr sz="1800"/>
                    </a:p>
                  </a:txBody>
                  <a:tcPr marT="91425" marB="91425" marR="91425" marL="91425"/>
                </a:tc>
              </a:tr>
              <a:tr h="381000">
                <a:tc>
                  <a:txBody>
                    <a:bodyPr/>
                    <a:lstStyle/>
                    <a:p>
                      <a:pPr indent="0" lvl="0" marL="0" rtl="0" algn="l">
                        <a:spcBef>
                          <a:spcPts val="0"/>
                        </a:spcBef>
                        <a:spcAft>
                          <a:spcPts val="0"/>
                        </a:spcAft>
                        <a:buNone/>
                      </a:pPr>
                      <a:r>
                        <a:rPr lang="en-GB" sz="1800"/>
                        <a:t>rdfs3</a:t>
                      </a:r>
                      <a:endParaRPr sz="1800"/>
                    </a:p>
                  </a:txBody>
                  <a:tcPr marT="91425" marB="91425" marR="91425" marL="91425"/>
                </a:tc>
                <a:tc>
                  <a:txBody>
                    <a:bodyPr/>
                    <a:lstStyle/>
                    <a:p>
                      <a:pPr indent="0" lvl="0" marL="0" rtl="0" algn="l">
                        <a:spcBef>
                          <a:spcPts val="0"/>
                        </a:spcBef>
                        <a:spcAft>
                          <a:spcPts val="0"/>
                        </a:spcAft>
                        <a:buNone/>
                      </a:pPr>
                      <a:r>
                        <a:rPr lang="en-GB" sz="1800"/>
                        <a:t>aaa rdfs:range xxx .</a:t>
                      </a:r>
                      <a:endParaRPr sz="1800"/>
                    </a:p>
                    <a:p>
                      <a:pPr indent="0" lvl="0" marL="0" rtl="0" algn="l">
                        <a:spcBef>
                          <a:spcPts val="0"/>
                        </a:spcBef>
                        <a:spcAft>
                          <a:spcPts val="0"/>
                        </a:spcAft>
                        <a:buNone/>
                      </a:pPr>
                      <a:r>
                        <a:rPr lang="en-GB" sz="1800"/>
                        <a:t>yyy aaa zzz .</a:t>
                      </a:r>
                      <a:endParaRPr sz="1800"/>
                    </a:p>
                  </a:txBody>
                  <a:tcPr marT="91425" marB="91425" marR="91425" marL="91425"/>
                </a:tc>
                <a:tc>
                  <a:txBody>
                    <a:bodyPr/>
                    <a:lstStyle/>
                    <a:p>
                      <a:pPr indent="0" lvl="0" marL="0" rtl="0" algn="l">
                        <a:spcBef>
                          <a:spcPts val="0"/>
                        </a:spcBef>
                        <a:spcAft>
                          <a:spcPts val="0"/>
                        </a:spcAft>
                        <a:buNone/>
                      </a:pPr>
                      <a:r>
                        <a:rPr lang="en-GB" sz="1800"/>
                        <a:t>zzz rdf:type xxx .</a:t>
                      </a:r>
                      <a:endParaRPr sz="1800"/>
                    </a:p>
                  </a:txBody>
                  <a:tcPr marT="91425" marB="91425" marR="91425" marL="91425"/>
                </a:tc>
              </a:tr>
              <a:tr h="381000">
                <a:tc>
                  <a:txBody>
                    <a:bodyPr/>
                    <a:lstStyle/>
                    <a:p>
                      <a:pPr indent="0" lvl="0" marL="0" rtl="0" algn="l">
                        <a:spcBef>
                          <a:spcPts val="0"/>
                        </a:spcBef>
                        <a:spcAft>
                          <a:spcPts val="0"/>
                        </a:spcAft>
                        <a:buNone/>
                      </a:pPr>
                      <a:r>
                        <a:rPr lang="en-GB" sz="1800"/>
                        <a:t>rdfs4a</a:t>
                      </a:r>
                      <a:endParaRPr sz="1800"/>
                    </a:p>
                  </a:txBody>
                  <a:tcPr marT="91425" marB="91425" marR="91425" marL="91425"/>
                </a:tc>
                <a:tc>
                  <a:txBody>
                    <a:bodyPr/>
                    <a:lstStyle/>
                    <a:p>
                      <a:pPr indent="0" lvl="0" marL="0" rtl="0" algn="l">
                        <a:spcBef>
                          <a:spcPts val="0"/>
                        </a:spcBef>
                        <a:spcAft>
                          <a:spcPts val="0"/>
                        </a:spcAft>
                        <a:buNone/>
                      </a:pPr>
                      <a:r>
                        <a:rPr lang="en-GB" sz="1800"/>
                        <a:t>xxx aaa yyy .</a:t>
                      </a:r>
                      <a:endParaRPr sz="1800"/>
                    </a:p>
                  </a:txBody>
                  <a:tcPr marT="91425" marB="91425" marR="91425" marL="91425"/>
                </a:tc>
                <a:tc>
                  <a:txBody>
                    <a:bodyPr/>
                    <a:lstStyle/>
                    <a:p>
                      <a:pPr indent="0" lvl="0" marL="0" rtl="0" algn="l">
                        <a:spcBef>
                          <a:spcPts val="0"/>
                        </a:spcBef>
                        <a:spcAft>
                          <a:spcPts val="0"/>
                        </a:spcAft>
                        <a:buNone/>
                      </a:pPr>
                      <a:r>
                        <a:rPr lang="en-GB" sz="1800"/>
                        <a:t>xxx rdf:type rdfs:Resource .</a:t>
                      </a:r>
                      <a:endParaRPr sz="1800"/>
                    </a:p>
                  </a:txBody>
                  <a:tcPr marT="91425" marB="91425" marR="91425" marL="91425"/>
                </a:tc>
              </a:tr>
              <a:tr h="381000">
                <a:tc>
                  <a:txBody>
                    <a:bodyPr/>
                    <a:lstStyle/>
                    <a:p>
                      <a:pPr indent="0" lvl="0" marL="0" rtl="0" algn="l">
                        <a:spcBef>
                          <a:spcPts val="0"/>
                        </a:spcBef>
                        <a:spcAft>
                          <a:spcPts val="0"/>
                        </a:spcAft>
                        <a:buNone/>
                      </a:pPr>
                      <a:r>
                        <a:rPr lang="en-GB" sz="1800"/>
                        <a:t>rdfs4b</a:t>
                      </a:r>
                      <a:endParaRPr sz="1800"/>
                    </a:p>
                  </a:txBody>
                  <a:tcPr marT="91425" marB="91425" marR="91425" marL="91425"/>
                </a:tc>
                <a:tc>
                  <a:txBody>
                    <a:bodyPr/>
                    <a:lstStyle/>
                    <a:p>
                      <a:pPr indent="0" lvl="0" marL="0" rtl="0" algn="l">
                        <a:spcBef>
                          <a:spcPts val="0"/>
                        </a:spcBef>
                        <a:spcAft>
                          <a:spcPts val="0"/>
                        </a:spcAft>
                        <a:buNone/>
                      </a:pPr>
                      <a:r>
                        <a:rPr lang="en-GB" sz="1800"/>
                        <a:t>xxx aaa yyy.</a:t>
                      </a:r>
                      <a:endParaRPr sz="1800"/>
                    </a:p>
                  </a:txBody>
                  <a:tcPr marT="91425" marB="91425" marR="91425" marL="91425"/>
                </a:tc>
                <a:tc>
                  <a:txBody>
                    <a:bodyPr/>
                    <a:lstStyle/>
                    <a:p>
                      <a:pPr indent="0" lvl="0" marL="0" rtl="0" algn="l">
                        <a:spcBef>
                          <a:spcPts val="0"/>
                        </a:spcBef>
                        <a:spcAft>
                          <a:spcPts val="0"/>
                        </a:spcAft>
                        <a:buNone/>
                      </a:pPr>
                      <a:r>
                        <a:rPr lang="en-GB" sz="1800"/>
                        <a:t>yyy rdf:type rdfs:Resource .</a:t>
                      </a:r>
                      <a:endParaRPr sz="1800"/>
                    </a:p>
                  </a:txBody>
                  <a:tcPr marT="91425" marB="91425" marR="91425" marL="91425"/>
                </a:tc>
              </a:tr>
              <a:tr h="381000">
                <a:tc>
                  <a:txBody>
                    <a:bodyPr/>
                    <a:lstStyle/>
                    <a:p>
                      <a:pPr indent="0" lvl="0" marL="0" rtl="0" algn="l">
                        <a:spcBef>
                          <a:spcPts val="0"/>
                        </a:spcBef>
                        <a:spcAft>
                          <a:spcPts val="0"/>
                        </a:spcAft>
                        <a:buNone/>
                      </a:pPr>
                      <a:r>
                        <a:rPr lang="en-GB" sz="1800"/>
                        <a:t>rdfs5</a:t>
                      </a:r>
                      <a:endParaRPr sz="1800"/>
                    </a:p>
                  </a:txBody>
                  <a:tcPr marT="91425" marB="91425" marR="91425" marL="91425"/>
                </a:tc>
                <a:tc>
                  <a:txBody>
                    <a:bodyPr/>
                    <a:lstStyle/>
                    <a:p>
                      <a:pPr indent="0" lvl="0" marL="0" rtl="0" algn="l">
                        <a:spcBef>
                          <a:spcPts val="0"/>
                        </a:spcBef>
                        <a:spcAft>
                          <a:spcPts val="0"/>
                        </a:spcAft>
                        <a:buNone/>
                      </a:pPr>
                      <a:r>
                        <a:rPr lang="en-GB" sz="1800"/>
                        <a:t>xxx rdfs:subPropertyOf yyy .</a:t>
                      </a:r>
                      <a:endParaRPr sz="1800"/>
                    </a:p>
                    <a:p>
                      <a:pPr indent="0" lvl="0" marL="0" rtl="0" algn="l">
                        <a:spcBef>
                          <a:spcPts val="0"/>
                        </a:spcBef>
                        <a:spcAft>
                          <a:spcPts val="0"/>
                        </a:spcAft>
                        <a:buNone/>
                      </a:pPr>
                      <a:r>
                        <a:rPr lang="en-GB" sz="1800"/>
                        <a:t>yyy rdfs:subPropertyOf zzz .</a:t>
                      </a:r>
                      <a:endParaRPr sz="1800"/>
                    </a:p>
                  </a:txBody>
                  <a:tcPr marT="91425" marB="91425" marR="91425" marL="91425"/>
                </a:tc>
                <a:tc>
                  <a:txBody>
                    <a:bodyPr/>
                    <a:lstStyle/>
                    <a:p>
                      <a:pPr indent="0" lvl="0" marL="0" rtl="0" algn="l">
                        <a:spcBef>
                          <a:spcPts val="0"/>
                        </a:spcBef>
                        <a:spcAft>
                          <a:spcPts val="0"/>
                        </a:spcAft>
                        <a:buNone/>
                      </a:pPr>
                      <a:r>
                        <a:rPr lang="en-GB" sz="1800"/>
                        <a:t>xxx rdfs:subPropertyOf zzz .</a:t>
                      </a:r>
                      <a:endParaRPr sz="1800"/>
                    </a:p>
                  </a:txBody>
                  <a:tcPr marT="91425" marB="91425" marR="91425" marL="91425"/>
                </a:tc>
              </a:tr>
              <a:tr h="381000">
                <a:tc>
                  <a:txBody>
                    <a:bodyPr/>
                    <a:lstStyle/>
                    <a:p>
                      <a:pPr indent="0" lvl="0" marL="0" rtl="0" algn="l">
                        <a:spcBef>
                          <a:spcPts val="0"/>
                        </a:spcBef>
                        <a:spcAft>
                          <a:spcPts val="0"/>
                        </a:spcAft>
                        <a:buNone/>
                      </a:pPr>
                      <a:r>
                        <a:rPr lang="en-GB" sz="1800"/>
                        <a:t>rdfs6</a:t>
                      </a:r>
                      <a:endParaRPr sz="1800"/>
                    </a:p>
                  </a:txBody>
                  <a:tcPr marT="91425" marB="91425" marR="91425" marL="91425"/>
                </a:tc>
                <a:tc>
                  <a:txBody>
                    <a:bodyPr/>
                    <a:lstStyle/>
                    <a:p>
                      <a:pPr indent="0" lvl="0" marL="0" rtl="0" algn="l">
                        <a:spcBef>
                          <a:spcPts val="0"/>
                        </a:spcBef>
                        <a:spcAft>
                          <a:spcPts val="0"/>
                        </a:spcAft>
                        <a:buNone/>
                      </a:pPr>
                      <a:r>
                        <a:rPr lang="en-GB" sz="1800"/>
                        <a:t>xxx rdf:type rdf:Property .</a:t>
                      </a:r>
                      <a:endParaRPr sz="1800"/>
                    </a:p>
                  </a:txBody>
                  <a:tcPr marT="91425" marB="91425" marR="91425" marL="91425"/>
                </a:tc>
                <a:tc>
                  <a:txBody>
                    <a:bodyPr/>
                    <a:lstStyle/>
                    <a:p>
                      <a:pPr indent="0" lvl="0" marL="0" rtl="0" algn="l">
                        <a:spcBef>
                          <a:spcPts val="0"/>
                        </a:spcBef>
                        <a:spcAft>
                          <a:spcPts val="0"/>
                        </a:spcAft>
                        <a:buNone/>
                      </a:pPr>
                      <a:r>
                        <a:rPr lang="en-GB" sz="1800"/>
                        <a:t>xxx rdfs:subPropertyOf xxx .</a:t>
                      </a:r>
                      <a:endParaRPr sz="1800"/>
                    </a:p>
                  </a:txBody>
                  <a:tcPr marT="91425" marB="91425" marR="91425" marL="91425"/>
                </a:tc>
              </a:tr>
              <a:tr h="381000">
                <a:tc>
                  <a:txBody>
                    <a:bodyPr/>
                    <a:lstStyle/>
                    <a:p>
                      <a:pPr indent="0" lvl="0" marL="0" rtl="0" algn="l">
                        <a:spcBef>
                          <a:spcPts val="0"/>
                        </a:spcBef>
                        <a:spcAft>
                          <a:spcPts val="0"/>
                        </a:spcAft>
                        <a:buNone/>
                      </a:pPr>
                      <a:r>
                        <a:rPr lang="en-GB" sz="1800"/>
                        <a:t>rdfs7</a:t>
                      </a:r>
                      <a:endParaRPr sz="1800"/>
                    </a:p>
                  </a:txBody>
                  <a:tcPr marT="91425" marB="91425" marR="91425" marL="91425"/>
                </a:tc>
                <a:tc>
                  <a:txBody>
                    <a:bodyPr/>
                    <a:lstStyle/>
                    <a:p>
                      <a:pPr indent="0" lvl="0" marL="0" rtl="0" algn="l">
                        <a:spcBef>
                          <a:spcPts val="0"/>
                        </a:spcBef>
                        <a:spcAft>
                          <a:spcPts val="0"/>
                        </a:spcAft>
                        <a:buNone/>
                      </a:pPr>
                      <a:r>
                        <a:rPr lang="en-GB" sz="1800"/>
                        <a:t>aaa rdfs:subPropertyOf bbb .</a:t>
                      </a:r>
                      <a:endParaRPr sz="1800"/>
                    </a:p>
                    <a:p>
                      <a:pPr indent="0" lvl="0" marL="0" rtl="0" algn="l">
                        <a:spcBef>
                          <a:spcPts val="0"/>
                        </a:spcBef>
                        <a:spcAft>
                          <a:spcPts val="0"/>
                        </a:spcAft>
                        <a:buNone/>
                      </a:pPr>
                      <a:r>
                        <a:rPr lang="en-GB" sz="1800"/>
                        <a:t>xxx aaa yyy .</a:t>
                      </a:r>
                      <a:endParaRPr sz="1800"/>
                    </a:p>
                  </a:txBody>
                  <a:tcPr marT="91425" marB="91425" marR="91425" marL="91425"/>
                </a:tc>
                <a:tc>
                  <a:txBody>
                    <a:bodyPr/>
                    <a:lstStyle/>
                    <a:p>
                      <a:pPr indent="0" lvl="0" marL="0" rtl="0" algn="l">
                        <a:spcBef>
                          <a:spcPts val="0"/>
                        </a:spcBef>
                        <a:spcAft>
                          <a:spcPts val="0"/>
                        </a:spcAft>
                        <a:buNone/>
                      </a:pPr>
                      <a:r>
                        <a:rPr lang="en-GB" sz="1800"/>
                        <a:t>xxx bbb yyy .</a:t>
                      </a:r>
                      <a:endParaRPr sz="1800"/>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2"/>
          <p:cNvSpPr txBox="1"/>
          <p:nvPr>
            <p:ph idx="4294967295"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mẫu suy diễn RDFS</a:t>
            </a:r>
            <a:r>
              <a:rPr baseline="-25000" lang="en-GB"/>
              <a:t>(</a:t>
            </a:r>
            <a:r>
              <a:rPr baseline="-25000" lang="en-GB"/>
              <a:t>2)</a:t>
            </a:r>
            <a:endParaRPr baseline="-25000"/>
          </a:p>
        </p:txBody>
      </p:sp>
      <p:sp>
        <p:nvSpPr>
          <p:cNvPr id="322" name="Google Shape;322;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323" name="Google Shape;323;p42"/>
          <p:cNvGraphicFramePr/>
          <p:nvPr/>
        </p:nvGraphicFramePr>
        <p:xfrm>
          <a:off x="503275" y="1152150"/>
          <a:ext cx="3000000" cy="3000000"/>
        </p:xfrm>
        <a:graphic>
          <a:graphicData uri="http://schemas.openxmlformats.org/drawingml/2006/table">
            <a:tbl>
              <a:tblPr>
                <a:noFill/>
                <a:tableStyleId>{494DBD49-A438-44D5-B211-3F3E4B296100}</a:tableStyleId>
              </a:tblPr>
              <a:tblGrid>
                <a:gridCol w="859950"/>
                <a:gridCol w="3208775"/>
                <a:gridCol w="4198450"/>
              </a:tblGrid>
              <a:tr h="381000">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b="1" lang="en-GB" sz="1800"/>
                        <a:t>Nếu S chứa</a:t>
                      </a:r>
                      <a:endParaRPr b="1" sz="1800"/>
                    </a:p>
                  </a:txBody>
                  <a:tcPr marT="91425" marB="91425" marR="91425" marL="91425"/>
                </a:tc>
                <a:tc>
                  <a:txBody>
                    <a:bodyPr/>
                    <a:lstStyle/>
                    <a:p>
                      <a:pPr indent="0" lvl="0" marL="0" rtl="0" algn="l">
                        <a:spcBef>
                          <a:spcPts val="0"/>
                        </a:spcBef>
                        <a:spcAft>
                          <a:spcPts val="0"/>
                        </a:spcAft>
                        <a:buNone/>
                      </a:pPr>
                      <a:r>
                        <a:rPr b="1" lang="en-GB" sz="1800"/>
                        <a:t>Thì S theo RDFS nhận diện D suy ra</a:t>
                      </a:r>
                      <a:endParaRPr b="1" sz="1800"/>
                    </a:p>
                  </a:txBody>
                  <a:tcPr marT="91425" marB="91425" marR="91425" marL="91425"/>
                </a:tc>
              </a:tr>
              <a:tr h="381000">
                <a:tc>
                  <a:txBody>
                    <a:bodyPr/>
                    <a:lstStyle/>
                    <a:p>
                      <a:pPr indent="0" lvl="0" marL="0" rtl="0" algn="l">
                        <a:spcBef>
                          <a:spcPts val="0"/>
                        </a:spcBef>
                        <a:spcAft>
                          <a:spcPts val="0"/>
                        </a:spcAft>
                        <a:buNone/>
                      </a:pPr>
                      <a:r>
                        <a:rPr lang="en-GB" sz="1800"/>
                        <a:t>rdfs8</a:t>
                      </a:r>
                      <a:endParaRPr sz="1800"/>
                    </a:p>
                  </a:txBody>
                  <a:tcPr marT="91425" marB="91425" marR="91425" marL="91425"/>
                </a:tc>
                <a:tc>
                  <a:txBody>
                    <a:bodyPr/>
                    <a:lstStyle/>
                    <a:p>
                      <a:pPr indent="0" lvl="0" marL="0" rtl="0" algn="l">
                        <a:spcBef>
                          <a:spcPts val="0"/>
                        </a:spcBef>
                        <a:spcAft>
                          <a:spcPts val="0"/>
                        </a:spcAft>
                        <a:buNone/>
                      </a:pPr>
                      <a:r>
                        <a:rPr lang="en-GB" sz="1800"/>
                        <a:t>xxx rdf:type rdfs:Class .</a:t>
                      </a:r>
                      <a:endParaRPr sz="1800"/>
                    </a:p>
                  </a:txBody>
                  <a:tcPr marT="91425" marB="91425" marR="91425" marL="91425"/>
                </a:tc>
                <a:tc>
                  <a:txBody>
                    <a:bodyPr/>
                    <a:lstStyle/>
                    <a:p>
                      <a:pPr indent="0" lvl="0" marL="0" rtl="0" algn="l">
                        <a:spcBef>
                          <a:spcPts val="0"/>
                        </a:spcBef>
                        <a:spcAft>
                          <a:spcPts val="0"/>
                        </a:spcAft>
                        <a:buNone/>
                      </a:pPr>
                      <a:r>
                        <a:rPr lang="en-GB" sz="1800"/>
                        <a:t>xxx rdfs:subClassOf rdfs:Resource .</a:t>
                      </a:r>
                      <a:endParaRPr sz="1800"/>
                    </a:p>
                  </a:txBody>
                  <a:tcPr marT="91425" marB="91425" marR="91425" marL="91425"/>
                </a:tc>
              </a:tr>
              <a:tr h="381000">
                <a:tc>
                  <a:txBody>
                    <a:bodyPr/>
                    <a:lstStyle/>
                    <a:p>
                      <a:pPr indent="0" lvl="0" marL="0" rtl="0" algn="l">
                        <a:spcBef>
                          <a:spcPts val="0"/>
                        </a:spcBef>
                        <a:spcAft>
                          <a:spcPts val="0"/>
                        </a:spcAft>
                        <a:buNone/>
                      </a:pPr>
                      <a:r>
                        <a:rPr lang="en-GB" sz="1800"/>
                        <a:t>rdfs9</a:t>
                      </a:r>
                      <a:endParaRPr sz="1800"/>
                    </a:p>
                  </a:txBody>
                  <a:tcPr marT="91425" marB="91425" marR="91425" marL="91425"/>
                </a:tc>
                <a:tc>
                  <a:txBody>
                    <a:bodyPr/>
                    <a:lstStyle/>
                    <a:p>
                      <a:pPr indent="0" lvl="0" marL="0" rtl="0" algn="l">
                        <a:spcBef>
                          <a:spcPts val="0"/>
                        </a:spcBef>
                        <a:spcAft>
                          <a:spcPts val="0"/>
                        </a:spcAft>
                        <a:buNone/>
                      </a:pPr>
                      <a:r>
                        <a:rPr lang="en-GB" sz="1800"/>
                        <a:t>xxx rdfs:subClassOf yyy .</a:t>
                      </a:r>
                      <a:endParaRPr sz="1800"/>
                    </a:p>
                    <a:p>
                      <a:pPr indent="0" lvl="0" marL="0" rtl="0" algn="l">
                        <a:spcBef>
                          <a:spcPts val="0"/>
                        </a:spcBef>
                        <a:spcAft>
                          <a:spcPts val="0"/>
                        </a:spcAft>
                        <a:buNone/>
                      </a:pPr>
                      <a:r>
                        <a:rPr lang="en-GB" sz="1800"/>
                        <a:t>zzz rdf:type xxx .</a:t>
                      </a:r>
                      <a:endParaRPr sz="1800"/>
                    </a:p>
                  </a:txBody>
                  <a:tcPr marT="91425" marB="91425" marR="91425" marL="91425"/>
                </a:tc>
                <a:tc>
                  <a:txBody>
                    <a:bodyPr/>
                    <a:lstStyle/>
                    <a:p>
                      <a:pPr indent="0" lvl="0" marL="0" rtl="0" algn="l">
                        <a:spcBef>
                          <a:spcPts val="0"/>
                        </a:spcBef>
                        <a:spcAft>
                          <a:spcPts val="0"/>
                        </a:spcAft>
                        <a:buNone/>
                      </a:pPr>
                      <a:r>
                        <a:rPr lang="en-GB" sz="1800"/>
                        <a:t>zzz rdf:type yyy .</a:t>
                      </a:r>
                      <a:endParaRPr sz="1800"/>
                    </a:p>
                  </a:txBody>
                  <a:tcPr marT="91425" marB="91425" marR="91425" marL="91425"/>
                </a:tc>
              </a:tr>
              <a:tr h="381000">
                <a:tc>
                  <a:txBody>
                    <a:bodyPr/>
                    <a:lstStyle/>
                    <a:p>
                      <a:pPr indent="0" lvl="0" marL="0" rtl="0" algn="l">
                        <a:spcBef>
                          <a:spcPts val="0"/>
                        </a:spcBef>
                        <a:spcAft>
                          <a:spcPts val="0"/>
                        </a:spcAft>
                        <a:buNone/>
                      </a:pPr>
                      <a:r>
                        <a:rPr lang="en-GB" sz="1800"/>
                        <a:t>rdfs10</a:t>
                      </a:r>
                      <a:endParaRPr sz="1800"/>
                    </a:p>
                  </a:txBody>
                  <a:tcPr marT="91425" marB="91425" marR="91425" marL="91425"/>
                </a:tc>
                <a:tc>
                  <a:txBody>
                    <a:bodyPr/>
                    <a:lstStyle/>
                    <a:p>
                      <a:pPr indent="0" lvl="0" marL="0" rtl="0" algn="l">
                        <a:spcBef>
                          <a:spcPts val="0"/>
                        </a:spcBef>
                        <a:spcAft>
                          <a:spcPts val="0"/>
                        </a:spcAft>
                        <a:buNone/>
                      </a:pPr>
                      <a:r>
                        <a:rPr lang="en-GB" sz="1800"/>
                        <a:t>xxx rdf:type rdfs:Class .</a:t>
                      </a:r>
                      <a:endParaRPr sz="1800"/>
                    </a:p>
                  </a:txBody>
                  <a:tcPr marT="91425" marB="91425" marR="91425" marL="91425"/>
                </a:tc>
                <a:tc>
                  <a:txBody>
                    <a:bodyPr/>
                    <a:lstStyle/>
                    <a:p>
                      <a:pPr indent="0" lvl="0" marL="0" rtl="0" algn="l">
                        <a:spcBef>
                          <a:spcPts val="0"/>
                        </a:spcBef>
                        <a:spcAft>
                          <a:spcPts val="0"/>
                        </a:spcAft>
                        <a:buNone/>
                      </a:pPr>
                      <a:r>
                        <a:rPr lang="en-GB" sz="1800"/>
                        <a:t>xxx rdfs:subClassOf xxx .</a:t>
                      </a:r>
                      <a:endParaRPr sz="1800"/>
                    </a:p>
                  </a:txBody>
                  <a:tcPr marT="91425" marB="91425" marR="91425" marL="91425"/>
                </a:tc>
              </a:tr>
              <a:tr h="381000">
                <a:tc>
                  <a:txBody>
                    <a:bodyPr/>
                    <a:lstStyle/>
                    <a:p>
                      <a:pPr indent="0" lvl="0" marL="0" rtl="0" algn="l">
                        <a:spcBef>
                          <a:spcPts val="0"/>
                        </a:spcBef>
                        <a:spcAft>
                          <a:spcPts val="0"/>
                        </a:spcAft>
                        <a:buNone/>
                      </a:pPr>
                      <a:r>
                        <a:rPr lang="en-GB" sz="1800"/>
                        <a:t>rdfs11</a:t>
                      </a:r>
                      <a:endParaRPr sz="1800"/>
                    </a:p>
                  </a:txBody>
                  <a:tcPr marT="91425" marB="91425" marR="91425" marL="91425"/>
                </a:tc>
                <a:tc>
                  <a:txBody>
                    <a:bodyPr/>
                    <a:lstStyle/>
                    <a:p>
                      <a:pPr indent="0" lvl="0" marL="0" rtl="0" algn="l">
                        <a:spcBef>
                          <a:spcPts val="0"/>
                        </a:spcBef>
                        <a:spcAft>
                          <a:spcPts val="0"/>
                        </a:spcAft>
                        <a:buNone/>
                      </a:pPr>
                      <a:r>
                        <a:rPr lang="en-GB" sz="1800"/>
                        <a:t>xxx rdfs:subClassOf yyy .</a:t>
                      </a:r>
                      <a:endParaRPr sz="1800"/>
                    </a:p>
                    <a:p>
                      <a:pPr indent="0" lvl="0" marL="0" rtl="0" algn="l">
                        <a:spcBef>
                          <a:spcPts val="0"/>
                        </a:spcBef>
                        <a:spcAft>
                          <a:spcPts val="0"/>
                        </a:spcAft>
                        <a:buNone/>
                      </a:pPr>
                      <a:r>
                        <a:rPr lang="en-GB" sz="1800"/>
                        <a:t>yyy rdfs:subClassOf zzz .</a:t>
                      </a:r>
                      <a:endParaRPr sz="1800"/>
                    </a:p>
                  </a:txBody>
                  <a:tcPr marT="91425" marB="91425" marR="91425" marL="91425"/>
                </a:tc>
                <a:tc>
                  <a:txBody>
                    <a:bodyPr/>
                    <a:lstStyle/>
                    <a:p>
                      <a:pPr indent="0" lvl="0" marL="0" rtl="0" algn="l">
                        <a:spcBef>
                          <a:spcPts val="0"/>
                        </a:spcBef>
                        <a:spcAft>
                          <a:spcPts val="0"/>
                        </a:spcAft>
                        <a:buNone/>
                      </a:pPr>
                      <a:r>
                        <a:rPr lang="en-GB" sz="1800"/>
                        <a:t>xxx rdfs:subClassOf zzz .</a:t>
                      </a:r>
                      <a:endParaRPr sz="1800"/>
                    </a:p>
                  </a:txBody>
                  <a:tcPr marT="91425" marB="91425" marR="91425" marL="91425"/>
                </a:tc>
              </a:tr>
              <a:tr h="381000">
                <a:tc>
                  <a:txBody>
                    <a:bodyPr/>
                    <a:lstStyle/>
                    <a:p>
                      <a:pPr indent="0" lvl="0" marL="0" rtl="0" algn="l">
                        <a:spcBef>
                          <a:spcPts val="0"/>
                        </a:spcBef>
                        <a:spcAft>
                          <a:spcPts val="0"/>
                        </a:spcAft>
                        <a:buNone/>
                      </a:pPr>
                      <a:r>
                        <a:rPr lang="en-GB" sz="1800"/>
                        <a:t>rdfs12</a:t>
                      </a:r>
                      <a:endParaRPr sz="1800"/>
                    </a:p>
                  </a:txBody>
                  <a:tcPr marT="91425" marB="91425" marR="91425" marL="91425"/>
                </a:tc>
                <a:tc>
                  <a:txBody>
                    <a:bodyPr/>
                    <a:lstStyle/>
                    <a:p>
                      <a:pPr indent="0" lvl="0" marL="0" rtl="0" algn="l">
                        <a:spcBef>
                          <a:spcPts val="0"/>
                        </a:spcBef>
                        <a:spcAft>
                          <a:spcPts val="0"/>
                        </a:spcAft>
                        <a:buNone/>
                      </a:pPr>
                      <a:r>
                        <a:rPr lang="en-GB" sz="1800"/>
                        <a:t>xxx rdf:type </a:t>
                      </a:r>
                      <a:r>
                        <a:rPr lang="en-GB"/>
                        <a:t>rdfs:ContainerMembershipProperty .</a:t>
                      </a:r>
                      <a:endParaRPr/>
                    </a:p>
                  </a:txBody>
                  <a:tcPr marT="91425" marB="91425" marR="91425" marL="91425"/>
                </a:tc>
                <a:tc>
                  <a:txBody>
                    <a:bodyPr/>
                    <a:lstStyle/>
                    <a:p>
                      <a:pPr indent="0" lvl="0" marL="0" rtl="0" algn="l">
                        <a:spcBef>
                          <a:spcPts val="0"/>
                        </a:spcBef>
                        <a:spcAft>
                          <a:spcPts val="0"/>
                        </a:spcAft>
                        <a:buNone/>
                      </a:pPr>
                      <a:r>
                        <a:rPr lang="en-GB" sz="1800"/>
                        <a:t>xxx rdfs:subPropertyOf rdfs:member .</a:t>
                      </a:r>
                      <a:endParaRPr sz="1800"/>
                    </a:p>
                  </a:txBody>
                  <a:tcPr marT="91425" marB="91425" marR="91425" marL="91425"/>
                </a:tc>
              </a:tr>
              <a:tr h="381000">
                <a:tc>
                  <a:txBody>
                    <a:bodyPr/>
                    <a:lstStyle/>
                    <a:p>
                      <a:pPr indent="0" lvl="0" marL="0" rtl="0" algn="l">
                        <a:spcBef>
                          <a:spcPts val="0"/>
                        </a:spcBef>
                        <a:spcAft>
                          <a:spcPts val="0"/>
                        </a:spcAft>
                        <a:buNone/>
                      </a:pPr>
                      <a:r>
                        <a:rPr lang="en-GB" sz="1800"/>
                        <a:t>rdfs13</a:t>
                      </a:r>
                      <a:endParaRPr sz="1800"/>
                    </a:p>
                  </a:txBody>
                  <a:tcPr marT="91425" marB="91425" marR="91425" marL="91425"/>
                </a:tc>
                <a:tc>
                  <a:txBody>
                    <a:bodyPr/>
                    <a:lstStyle/>
                    <a:p>
                      <a:pPr indent="0" lvl="0" marL="0" rtl="0" algn="l">
                        <a:spcBef>
                          <a:spcPts val="0"/>
                        </a:spcBef>
                        <a:spcAft>
                          <a:spcPts val="0"/>
                        </a:spcAft>
                        <a:buNone/>
                      </a:pPr>
                      <a:r>
                        <a:rPr lang="en-GB" sz="1800"/>
                        <a:t>xxx rdf:type rdfs:Datatype .</a:t>
                      </a:r>
                      <a:endParaRPr sz="1800"/>
                    </a:p>
                  </a:txBody>
                  <a:tcPr marT="91425" marB="91425" marR="91425" marL="91425"/>
                </a:tc>
                <a:tc>
                  <a:txBody>
                    <a:bodyPr/>
                    <a:lstStyle/>
                    <a:p>
                      <a:pPr indent="0" lvl="0" marL="0" rtl="0" algn="l">
                        <a:spcBef>
                          <a:spcPts val="0"/>
                        </a:spcBef>
                        <a:spcAft>
                          <a:spcPts val="0"/>
                        </a:spcAft>
                        <a:buNone/>
                      </a:pPr>
                      <a:r>
                        <a:rPr lang="en-GB" sz="1800"/>
                        <a:t>xxx rdfs:subClassOf rdfs:Literal .</a:t>
                      </a:r>
                      <a:endParaRPr sz="1800"/>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329" name="Google Shape;329;p43"/>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4.1. Vai trò của ngữ nghĩa hình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4.2. Ngữ nghĩa lô-gic của RDF(S)</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4.3. Suy diễn dựa trên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4.4. Các hạn chế của RDF(S)</a:t>
            </a:r>
            <a:endParaRPr sz="4000"/>
          </a:p>
        </p:txBody>
      </p:sp>
      <p:sp>
        <p:nvSpPr>
          <p:cNvPr id="330" name="Google Shape;330;p43"/>
          <p:cNvSpPr/>
          <p:nvPr/>
        </p:nvSpPr>
        <p:spPr>
          <a:xfrm>
            <a:off x="318450" y="1722639"/>
            <a:ext cx="5352900" cy="7635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Luật suy diễn</a:t>
            </a:r>
            <a:endParaRPr b="1"/>
          </a:p>
        </p:txBody>
      </p:sp>
      <p:sp>
        <p:nvSpPr>
          <p:cNvPr id="337" name="Google Shape;337;p44"/>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Luật suy diễn cho phép chuyển đổi ngữ nghĩa thành mô hình tính toán</a:t>
            </a:r>
            <a:endParaRPr/>
          </a:p>
          <a:p>
            <a:pPr indent="-381000" lvl="0" marL="457200" rtl="0" algn="l">
              <a:spcBef>
                <a:spcPts val="0"/>
              </a:spcBef>
              <a:spcAft>
                <a:spcPts val="0"/>
              </a:spcAft>
              <a:buSzPts val="2400"/>
              <a:buChar char="●"/>
            </a:pPr>
            <a:r>
              <a:rPr lang="en-GB"/>
              <a:t>Từ G1 có thể suy ra G2 dựa trên 1 tập luật R khi và chỉ khi có thể biến đổi G1 thành G2 bằng cách từng bước áp dụng các luật trong R.</a:t>
            </a:r>
            <a:endParaRPr/>
          </a:p>
          <a:p>
            <a:pPr indent="-381000" lvl="0" marL="457200" rtl="0" algn="l">
              <a:spcBef>
                <a:spcPts val="0"/>
              </a:spcBef>
              <a:spcAft>
                <a:spcPts val="0"/>
              </a:spcAft>
              <a:buSzPts val="2400"/>
              <a:buChar char="●"/>
            </a:pPr>
            <a:r>
              <a:rPr lang="en-GB"/>
              <a:t>Ví dụ, nền tảng Apache Jena triển khai suy diễn RDFS dựa trên 1 tập luật.</a:t>
            </a:r>
            <a:endParaRPr/>
          </a:p>
          <a:p>
            <a:pPr indent="-381000" lvl="0" marL="457200" rtl="0" algn="l">
              <a:spcBef>
                <a:spcPts val="0"/>
              </a:spcBef>
              <a:spcAft>
                <a:spcPts val="0"/>
              </a:spcAft>
              <a:buSzPts val="2400"/>
              <a:buChar char="●"/>
            </a:pPr>
            <a:r>
              <a:rPr lang="en-GB"/>
              <a:t>Một luật suy diễn tiêu biểu bao gồm 3 thành phần: Điều kiện, điều được suy ra, và nhãn - tên luật.</a:t>
            </a:r>
            <a:endParaRPr/>
          </a:p>
          <a:p>
            <a:pPr indent="-381000" lvl="0" marL="457200" rtl="0" algn="l">
              <a:spcBef>
                <a:spcPts val="0"/>
              </a:spcBef>
              <a:spcAft>
                <a:spcPts val="0"/>
              </a:spcAft>
              <a:buSzPts val="2400"/>
              <a:buChar char="●"/>
            </a:pPr>
            <a:r>
              <a:rPr lang="en-GB"/>
              <a:t>Tiếp theo chúng ta sẽ tổng hợp và tái cấu trúc các mẫu suy diễn như các luật theo định dạng:</a:t>
            </a:r>
            <a:endParaRPr/>
          </a:p>
          <a:p>
            <a:pPr indent="0" lvl="0" marL="457200" rtl="0" algn="l">
              <a:spcBef>
                <a:spcPts val="0"/>
              </a:spcBef>
              <a:spcAft>
                <a:spcPts val="0"/>
              </a:spcAft>
              <a:buNone/>
            </a:pPr>
            <a:r>
              <a:rPr lang="en-GB"/>
              <a:t>Nhãn: Điều kiện -&gt; Điều được suy ra.</a:t>
            </a:r>
            <a:endParaRPr/>
          </a:p>
        </p:txBody>
      </p:sp>
      <p:sp>
        <p:nvSpPr>
          <p:cNvPr id="338" name="Google Shape;338;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Mã giả luật suy diễn RDF</a:t>
            </a:r>
            <a:endParaRPr baseline="-25000"/>
          </a:p>
        </p:txBody>
      </p:sp>
      <p:sp>
        <p:nvSpPr>
          <p:cNvPr id="344" name="Google Shape;344;p45"/>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rdfD1: xxx aaa “sss”^^ddd. -&gt; </a:t>
            </a:r>
            <a:endParaRPr/>
          </a:p>
          <a:p>
            <a:pPr indent="0" lvl="0" marL="457200" rtl="0" algn="l">
              <a:spcBef>
                <a:spcPts val="0"/>
              </a:spcBef>
              <a:spcAft>
                <a:spcPts val="0"/>
              </a:spcAft>
              <a:buNone/>
            </a:pPr>
            <a:r>
              <a:rPr lang="en-GB"/>
              <a:t>  xxx aaa _:nnn. _:nnn rdf:type ddd.</a:t>
            </a:r>
            <a:endParaRPr/>
          </a:p>
          <a:p>
            <a:pPr indent="-381000" lvl="0" marL="457200" rtl="0" algn="l">
              <a:spcBef>
                <a:spcPts val="0"/>
              </a:spcBef>
              <a:spcAft>
                <a:spcPts val="0"/>
              </a:spcAft>
              <a:buSzPts val="2400"/>
              <a:buChar char="●"/>
            </a:pPr>
            <a:r>
              <a:rPr lang="en-GB"/>
              <a:t>rdfD2: xxx aaa yyy. -&gt; aaa rdf:type rdf:Property.</a:t>
            </a:r>
            <a:endParaRPr/>
          </a:p>
          <a:p>
            <a:pPr indent="-381000" lvl="0" marL="457200" rtl="0" algn="l">
              <a:spcBef>
                <a:spcPts val="0"/>
              </a:spcBef>
              <a:spcAft>
                <a:spcPts val="0"/>
              </a:spcAft>
              <a:buSzPts val="2400"/>
              <a:buChar char="●"/>
            </a:pPr>
            <a:r>
              <a:rPr lang="en-GB"/>
              <a:t>rdfax: -&gt; u a x. # Suy ra các bộ-3 tiên đề RDF.</a:t>
            </a:r>
            <a:endParaRPr/>
          </a:p>
        </p:txBody>
      </p:sp>
      <p:sp>
        <p:nvSpPr>
          <p:cNvPr id="345" name="Google Shape;345;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Mã giả l</a:t>
            </a:r>
            <a:r>
              <a:rPr lang="en-GB"/>
              <a:t>uật suy diễn RDF</a:t>
            </a:r>
            <a:r>
              <a:rPr lang="en-GB"/>
              <a:t>S</a:t>
            </a:r>
            <a:endParaRPr baseline="-25000"/>
          </a:p>
        </p:txBody>
      </p:sp>
      <p:sp>
        <p:nvSpPr>
          <p:cNvPr id="351" name="Google Shape;351;p46"/>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rdfs1: xxx aaa “sss"^^ddd. -&gt; _:n rdf:type rdfs:Datatype.</a:t>
            </a:r>
            <a:endParaRPr/>
          </a:p>
          <a:p>
            <a:pPr indent="-381000" lvl="0" marL="457200" rtl="0" algn="l">
              <a:spcBef>
                <a:spcPts val="0"/>
              </a:spcBef>
              <a:spcAft>
                <a:spcPts val="0"/>
              </a:spcAft>
              <a:buSzPts val="2400"/>
              <a:buChar char="●"/>
            </a:pPr>
            <a:r>
              <a:rPr lang="en-GB"/>
              <a:t>rdfs2: aaa rdfs:domain xxx. yyy aaa zzz.</a:t>
            </a:r>
            <a:endParaRPr/>
          </a:p>
          <a:p>
            <a:pPr indent="0" lvl="0" marL="457200" rtl="0" algn="l">
              <a:spcBef>
                <a:spcPts val="0"/>
              </a:spcBef>
              <a:spcAft>
                <a:spcPts val="0"/>
              </a:spcAft>
              <a:buNone/>
            </a:pPr>
            <a:r>
              <a:rPr lang="en-GB"/>
              <a:t>  -&gt;yyy rdf:type xxx.</a:t>
            </a:r>
            <a:endParaRPr/>
          </a:p>
          <a:p>
            <a:pPr indent="-381000" lvl="0" marL="457200" rtl="0" algn="l">
              <a:spcBef>
                <a:spcPts val="0"/>
              </a:spcBef>
              <a:spcAft>
                <a:spcPts val="0"/>
              </a:spcAft>
              <a:buSzPts val="2400"/>
              <a:buChar char="●"/>
            </a:pPr>
            <a:r>
              <a:rPr lang="en-GB"/>
              <a:t>rdfs3: aaa rdfs:range xxx. yyy aaa zzz. -&gt; zzz rdf:type xxx.</a:t>
            </a:r>
            <a:endParaRPr/>
          </a:p>
          <a:p>
            <a:pPr indent="-381000" lvl="0" marL="457200" rtl="0" algn="l">
              <a:spcBef>
                <a:spcPts val="0"/>
              </a:spcBef>
              <a:spcAft>
                <a:spcPts val="0"/>
              </a:spcAft>
              <a:buSzPts val="2400"/>
              <a:buChar char="●"/>
            </a:pPr>
            <a:r>
              <a:rPr lang="en-GB"/>
              <a:t>rdfs4a: xxx aaa yyy . -&gt; xxx rdf:type rdfs:Resource .</a:t>
            </a:r>
            <a:endParaRPr/>
          </a:p>
          <a:p>
            <a:pPr indent="-381000" lvl="0" marL="457200" rtl="0" algn="l">
              <a:spcBef>
                <a:spcPts val="0"/>
              </a:spcBef>
              <a:spcAft>
                <a:spcPts val="0"/>
              </a:spcAft>
              <a:buSzPts val="2400"/>
              <a:buChar char="●"/>
            </a:pPr>
            <a:r>
              <a:rPr lang="en-GB"/>
              <a:t>rdfs4b: xxx aaa yyy. -&gt; yyy rdf:type rdfs:Resource .</a:t>
            </a:r>
            <a:endParaRPr/>
          </a:p>
          <a:p>
            <a:pPr indent="-381000" lvl="0" marL="457200" rtl="0" algn="l">
              <a:spcBef>
                <a:spcPts val="0"/>
              </a:spcBef>
              <a:spcAft>
                <a:spcPts val="0"/>
              </a:spcAft>
              <a:buSzPts val="2400"/>
              <a:buChar char="●"/>
            </a:pPr>
            <a:r>
              <a:rPr lang="en-GB"/>
              <a:t>rdfs5: xxx rdfs:subPropertyOf yyy . </a:t>
            </a:r>
            <a:endParaRPr/>
          </a:p>
          <a:p>
            <a:pPr indent="0" lvl="0" marL="457200" rtl="0" algn="l">
              <a:spcBef>
                <a:spcPts val="0"/>
              </a:spcBef>
              <a:spcAft>
                <a:spcPts val="0"/>
              </a:spcAft>
              <a:buNone/>
            </a:pPr>
            <a:r>
              <a:rPr lang="en-GB"/>
              <a:t>yyy rdfs:subPropertyOf zzz . </a:t>
            </a:r>
            <a:endParaRPr/>
          </a:p>
          <a:p>
            <a:pPr indent="0" lvl="0" marL="457200" rtl="0" algn="l">
              <a:spcBef>
                <a:spcPts val="0"/>
              </a:spcBef>
              <a:spcAft>
                <a:spcPts val="0"/>
              </a:spcAft>
              <a:buNone/>
            </a:pPr>
            <a:r>
              <a:rPr lang="en-GB"/>
              <a:t>  -&gt; xxx rdfs:subPropertyOf zzz .</a:t>
            </a:r>
            <a:endParaRPr/>
          </a:p>
          <a:p>
            <a:pPr indent="-381000" lvl="0" marL="457200" rtl="0" algn="l">
              <a:spcBef>
                <a:spcPts val="0"/>
              </a:spcBef>
              <a:spcAft>
                <a:spcPts val="0"/>
              </a:spcAft>
              <a:buSzPts val="2400"/>
              <a:buChar char="●"/>
            </a:pPr>
            <a:r>
              <a:rPr lang="en-GB"/>
              <a:t>rdfs6: xxx rdf:type rdf:Property . </a:t>
            </a:r>
            <a:endParaRPr/>
          </a:p>
          <a:p>
            <a:pPr indent="0" lvl="0" marL="457200" rtl="0" algn="l">
              <a:spcBef>
                <a:spcPts val="0"/>
              </a:spcBef>
              <a:spcAft>
                <a:spcPts val="0"/>
              </a:spcAft>
              <a:buNone/>
            </a:pPr>
            <a:r>
              <a:rPr lang="en-GB"/>
              <a:t>  -&gt; xxx rdfs:subPropertyOf xxx .</a:t>
            </a:r>
            <a:endParaRPr/>
          </a:p>
          <a:p>
            <a:pPr indent="-381000" lvl="0" marL="457200" rtl="0" algn="l">
              <a:spcBef>
                <a:spcPts val="0"/>
              </a:spcBef>
              <a:spcAft>
                <a:spcPts val="0"/>
              </a:spcAft>
              <a:buSzPts val="2400"/>
              <a:buChar char="●"/>
            </a:pPr>
            <a:r>
              <a:rPr lang="en-GB"/>
              <a:t>rdfs7: aaa rdfs:subPropertyOf bbb . xxx aaa yyy .</a:t>
            </a:r>
            <a:endParaRPr/>
          </a:p>
          <a:p>
            <a:pPr indent="0" lvl="0" marL="0" rtl="0" algn="l">
              <a:spcBef>
                <a:spcPts val="0"/>
              </a:spcBef>
              <a:spcAft>
                <a:spcPts val="0"/>
              </a:spcAft>
              <a:buNone/>
            </a:pPr>
            <a:r>
              <a:rPr lang="en-GB"/>
              <a:t>       -&gt; xxx bbb yyy .</a:t>
            </a:r>
            <a:endParaRPr/>
          </a:p>
        </p:txBody>
      </p:sp>
      <p:sp>
        <p:nvSpPr>
          <p:cNvPr id="352" name="Google Shape;352;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Mã giả luật suy diễn RDFS</a:t>
            </a:r>
            <a:r>
              <a:rPr baseline="-25000" lang="en-GB"/>
              <a:t>(</a:t>
            </a:r>
            <a:r>
              <a:rPr baseline="-25000" lang="en-GB"/>
              <a:t>2</a:t>
            </a:r>
            <a:r>
              <a:rPr baseline="-25000" lang="en-GB"/>
              <a:t>)</a:t>
            </a:r>
            <a:endParaRPr baseline="-25000"/>
          </a:p>
        </p:txBody>
      </p:sp>
      <p:sp>
        <p:nvSpPr>
          <p:cNvPr id="358" name="Google Shape;358;p47"/>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rdfs8: xxx rdf:type rdfs:Class . </a:t>
            </a:r>
            <a:endParaRPr/>
          </a:p>
          <a:p>
            <a:pPr indent="0" lvl="0" marL="457200" rtl="0" algn="l">
              <a:spcBef>
                <a:spcPts val="0"/>
              </a:spcBef>
              <a:spcAft>
                <a:spcPts val="0"/>
              </a:spcAft>
              <a:buNone/>
            </a:pPr>
            <a:r>
              <a:rPr lang="en-GB"/>
              <a:t>  -&gt; xxx rdfs:subClassOf rdfs:Resource .</a:t>
            </a:r>
            <a:endParaRPr/>
          </a:p>
          <a:p>
            <a:pPr indent="-381000" lvl="0" marL="457200" rtl="0" algn="l">
              <a:spcBef>
                <a:spcPts val="0"/>
              </a:spcBef>
              <a:spcAft>
                <a:spcPts val="0"/>
              </a:spcAft>
              <a:buSzPts val="2400"/>
              <a:buChar char="●"/>
            </a:pPr>
            <a:r>
              <a:rPr lang="en-GB"/>
              <a:t>rdfs9: xxx rdfs:subClassOf yyy . zzz rdf:type xxx .</a:t>
            </a:r>
            <a:endParaRPr/>
          </a:p>
          <a:p>
            <a:pPr indent="0" lvl="0" marL="457200" rtl="0" algn="l">
              <a:spcBef>
                <a:spcPts val="0"/>
              </a:spcBef>
              <a:spcAft>
                <a:spcPts val="0"/>
              </a:spcAft>
              <a:buNone/>
            </a:pPr>
            <a:r>
              <a:rPr lang="en-GB"/>
              <a:t>  -&gt; zzz rdf:type yyy .</a:t>
            </a:r>
            <a:endParaRPr/>
          </a:p>
          <a:p>
            <a:pPr indent="-381000" lvl="0" marL="457200" rtl="0" algn="l">
              <a:spcBef>
                <a:spcPts val="0"/>
              </a:spcBef>
              <a:spcAft>
                <a:spcPts val="0"/>
              </a:spcAft>
              <a:buSzPts val="2400"/>
              <a:buChar char="●"/>
            </a:pPr>
            <a:r>
              <a:rPr lang="en-GB"/>
              <a:t>rdfs10: xxx rdf:type rdfs:Class . </a:t>
            </a:r>
            <a:endParaRPr/>
          </a:p>
          <a:p>
            <a:pPr indent="0" lvl="0" marL="457200" rtl="0" algn="l">
              <a:spcBef>
                <a:spcPts val="0"/>
              </a:spcBef>
              <a:spcAft>
                <a:spcPts val="0"/>
              </a:spcAft>
              <a:buNone/>
            </a:pPr>
            <a:r>
              <a:rPr lang="en-GB"/>
              <a:t>  -&gt; xxx rdfs:subClassOf xxx .</a:t>
            </a:r>
            <a:endParaRPr/>
          </a:p>
          <a:p>
            <a:pPr indent="-381000" lvl="0" marL="457200" rtl="0" algn="l">
              <a:spcBef>
                <a:spcPts val="0"/>
              </a:spcBef>
              <a:spcAft>
                <a:spcPts val="0"/>
              </a:spcAft>
              <a:buSzPts val="2400"/>
              <a:buChar char="●"/>
            </a:pPr>
            <a:r>
              <a:rPr lang="en-GB"/>
              <a:t>rdfs11: xxx rdfs:subClassOf yyy. yyy rdfs:subClassOf zzz.</a:t>
            </a:r>
            <a:endParaRPr/>
          </a:p>
          <a:p>
            <a:pPr indent="0" lvl="0" marL="457200" rtl="0" algn="l">
              <a:spcBef>
                <a:spcPts val="0"/>
              </a:spcBef>
              <a:spcAft>
                <a:spcPts val="0"/>
              </a:spcAft>
              <a:buNone/>
            </a:pPr>
            <a:r>
              <a:rPr lang="en-GB"/>
              <a:t>  -&gt; xxx rdfs:subClassOf zzz .</a:t>
            </a:r>
            <a:endParaRPr/>
          </a:p>
          <a:p>
            <a:pPr indent="-381000" lvl="0" marL="457200" rtl="0" algn="l">
              <a:spcBef>
                <a:spcPts val="0"/>
              </a:spcBef>
              <a:spcAft>
                <a:spcPts val="0"/>
              </a:spcAft>
              <a:buSzPts val="2400"/>
              <a:buChar char="●"/>
            </a:pPr>
            <a:r>
              <a:rPr lang="en-GB"/>
              <a:t>rdfs12: xxx rdf:type rdfs:ContainerMembershipProperty .</a:t>
            </a:r>
            <a:endParaRPr/>
          </a:p>
          <a:p>
            <a:pPr indent="0" lvl="0" marL="457200" rtl="0" algn="l">
              <a:spcBef>
                <a:spcPts val="0"/>
              </a:spcBef>
              <a:spcAft>
                <a:spcPts val="0"/>
              </a:spcAft>
              <a:buNone/>
            </a:pPr>
            <a:r>
              <a:rPr lang="en-GB"/>
              <a:t>  -&gt; xxx rdfs:subPropertyOf rdfs:member .</a:t>
            </a:r>
            <a:endParaRPr/>
          </a:p>
          <a:p>
            <a:pPr indent="-381000" lvl="0" marL="457200" rtl="0" algn="l">
              <a:spcBef>
                <a:spcPts val="0"/>
              </a:spcBef>
              <a:spcAft>
                <a:spcPts val="0"/>
              </a:spcAft>
              <a:buSzPts val="2400"/>
              <a:buChar char="●"/>
            </a:pPr>
            <a:r>
              <a:rPr lang="en-GB"/>
              <a:t>rdfs13: xxx rdf:type rdfs:Datatype . </a:t>
            </a:r>
            <a:endParaRPr/>
          </a:p>
          <a:p>
            <a:pPr indent="0" lvl="0" marL="457200" rtl="0" algn="l">
              <a:spcBef>
                <a:spcPts val="0"/>
              </a:spcBef>
              <a:spcAft>
                <a:spcPts val="0"/>
              </a:spcAft>
              <a:buNone/>
            </a:pPr>
            <a:r>
              <a:rPr lang="en-GB"/>
              <a:t>  -&gt; xxx rdfs:subClassOf rdfs:Literal .</a:t>
            </a:r>
            <a:endParaRPr/>
          </a:p>
          <a:p>
            <a:pPr indent="0" lvl="0" marL="457200" rtl="0" algn="l">
              <a:spcBef>
                <a:spcPts val="0"/>
              </a:spcBef>
              <a:spcAft>
                <a:spcPts val="0"/>
              </a:spcAft>
              <a:buNone/>
            </a:pPr>
            <a:r>
              <a:rPr lang="en-GB"/>
              <a:t>rdfsax: -&gt; u a x. # Suy ra các bộ-3 tiên đề RDFS.</a:t>
            </a:r>
            <a:endParaRPr/>
          </a:p>
        </p:txBody>
      </p:sp>
      <p:sp>
        <p:nvSpPr>
          <p:cNvPr id="359" name="Google Shape;359;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365" name="Google Shape;365;p48"/>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4.1. Vai trò của ngữ nghĩa hình thức</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4.2. Ngữ nghĩa lô-gic của RDF(S)</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4.3. Suy diễn dựa trên luật</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4.4. Các hạn chế của RDF(S)</a:t>
            </a:r>
            <a:endParaRPr sz="4000"/>
          </a:p>
        </p:txBody>
      </p:sp>
      <p:sp>
        <p:nvSpPr>
          <p:cNvPr id="366" name="Google Shape;366;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67" name="Google Shape;367;p48"/>
          <p:cNvSpPr/>
          <p:nvPr/>
        </p:nvSpPr>
        <p:spPr>
          <a:xfrm>
            <a:off x="318450" y="2100258"/>
            <a:ext cx="53529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Dữ liệu minh họa</a:t>
            </a:r>
            <a:endParaRPr/>
          </a:p>
        </p:txBody>
      </p:sp>
      <p:sp>
        <p:nvSpPr>
          <p:cNvPr id="373" name="Google Shape;373;p49"/>
          <p:cNvSpPr/>
          <p:nvPr/>
        </p:nvSpPr>
        <p:spPr>
          <a:xfrm>
            <a:off x="1371600" y="1091407"/>
            <a:ext cx="1374900" cy="6651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1800"/>
              <a:t>A</a:t>
            </a:r>
            <a:r>
              <a:rPr lang="en-GB" sz="1800"/>
              <a:t>nimal</a:t>
            </a:r>
            <a:endParaRPr sz="1800"/>
          </a:p>
        </p:txBody>
      </p:sp>
      <p:sp>
        <p:nvSpPr>
          <p:cNvPr id="374" name="Google Shape;374;p49"/>
          <p:cNvSpPr/>
          <p:nvPr/>
        </p:nvSpPr>
        <p:spPr>
          <a:xfrm>
            <a:off x="3352800" y="3204369"/>
            <a:ext cx="1374900" cy="663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1800"/>
              <a:t>C</a:t>
            </a:r>
            <a:r>
              <a:rPr lang="en-GB" sz="1800"/>
              <a:t>at</a:t>
            </a:r>
            <a:endParaRPr sz="1800"/>
          </a:p>
        </p:txBody>
      </p:sp>
      <p:sp>
        <p:nvSpPr>
          <p:cNvPr id="375" name="Google Shape;375;p49"/>
          <p:cNvSpPr/>
          <p:nvPr/>
        </p:nvSpPr>
        <p:spPr>
          <a:xfrm>
            <a:off x="1828800" y="3280569"/>
            <a:ext cx="1374900" cy="663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1800"/>
              <a:t>D</a:t>
            </a:r>
            <a:r>
              <a:rPr lang="en-GB" sz="1800"/>
              <a:t>og</a:t>
            </a:r>
            <a:endParaRPr sz="1800"/>
          </a:p>
        </p:txBody>
      </p:sp>
      <p:sp>
        <p:nvSpPr>
          <p:cNvPr id="376" name="Google Shape;376;p49"/>
          <p:cNvSpPr/>
          <p:nvPr/>
        </p:nvSpPr>
        <p:spPr>
          <a:xfrm>
            <a:off x="381000" y="3204369"/>
            <a:ext cx="1374900" cy="663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1800"/>
              <a:t>H</a:t>
            </a:r>
            <a:r>
              <a:rPr lang="en-GB" sz="1800"/>
              <a:t>uman</a:t>
            </a:r>
            <a:endParaRPr sz="1800"/>
          </a:p>
        </p:txBody>
      </p:sp>
      <p:sp>
        <p:nvSpPr>
          <p:cNvPr id="377" name="Google Shape;377;p49"/>
          <p:cNvSpPr/>
          <p:nvPr/>
        </p:nvSpPr>
        <p:spPr>
          <a:xfrm>
            <a:off x="4038600" y="2039144"/>
            <a:ext cx="1374900" cy="663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1800"/>
              <a:t>P</a:t>
            </a:r>
            <a:r>
              <a:rPr lang="en-GB" sz="1800"/>
              <a:t>et</a:t>
            </a:r>
            <a:endParaRPr sz="1800"/>
          </a:p>
        </p:txBody>
      </p:sp>
      <p:cxnSp>
        <p:nvCxnSpPr>
          <p:cNvPr id="378" name="Google Shape;378;p49"/>
          <p:cNvCxnSpPr>
            <a:stCxn id="376" idx="0"/>
            <a:endCxn id="373" idx="3"/>
          </p:cNvCxnSpPr>
          <p:nvPr/>
        </p:nvCxnSpPr>
        <p:spPr>
          <a:xfrm flipH="1" rot="10800000">
            <a:off x="1068450" y="1659069"/>
            <a:ext cx="504600" cy="1545300"/>
          </a:xfrm>
          <a:prstGeom prst="straightConnector1">
            <a:avLst/>
          </a:prstGeom>
          <a:noFill/>
          <a:ln cap="flat" cmpd="sng" w="19050">
            <a:solidFill>
              <a:srgbClr val="000000"/>
            </a:solidFill>
            <a:prstDash val="solid"/>
            <a:round/>
            <a:headEnd len="sm" w="sm" type="none"/>
            <a:tailEnd len="med" w="med" type="stealth"/>
          </a:ln>
          <a:effectLst>
            <a:outerShdw blurRad="40000" rotWithShape="0" dir="5400000" dist="20000">
              <a:srgbClr val="000000">
                <a:alpha val="37650"/>
              </a:srgbClr>
            </a:outerShdw>
          </a:effectLst>
        </p:spPr>
      </p:cxnSp>
      <p:cxnSp>
        <p:nvCxnSpPr>
          <p:cNvPr id="379" name="Google Shape;379;p49"/>
          <p:cNvCxnSpPr>
            <a:stCxn id="375" idx="0"/>
            <a:endCxn id="373" idx="4"/>
          </p:cNvCxnSpPr>
          <p:nvPr/>
        </p:nvCxnSpPr>
        <p:spPr>
          <a:xfrm rot="10800000">
            <a:off x="2059050" y="1756569"/>
            <a:ext cx="457200" cy="1524000"/>
          </a:xfrm>
          <a:prstGeom prst="straightConnector1">
            <a:avLst/>
          </a:prstGeom>
          <a:noFill/>
          <a:ln cap="flat" cmpd="sng" w="19050">
            <a:solidFill>
              <a:srgbClr val="000000"/>
            </a:solidFill>
            <a:prstDash val="solid"/>
            <a:round/>
            <a:headEnd len="sm" w="sm" type="none"/>
            <a:tailEnd len="lg" w="lg" type="triangle"/>
          </a:ln>
          <a:effectLst>
            <a:outerShdw blurRad="40000" rotWithShape="0" dir="5400000" dist="20000">
              <a:srgbClr val="000000">
                <a:alpha val="37650"/>
              </a:srgbClr>
            </a:outerShdw>
          </a:effectLst>
        </p:spPr>
      </p:cxnSp>
      <p:cxnSp>
        <p:nvCxnSpPr>
          <p:cNvPr id="380" name="Google Shape;380;p49"/>
          <p:cNvCxnSpPr>
            <a:endCxn id="373" idx="5"/>
          </p:cNvCxnSpPr>
          <p:nvPr/>
        </p:nvCxnSpPr>
        <p:spPr>
          <a:xfrm rot="10800000">
            <a:off x="2545151" y="1659105"/>
            <a:ext cx="1650600" cy="1545300"/>
          </a:xfrm>
          <a:prstGeom prst="straightConnector1">
            <a:avLst/>
          </a:prstGeom>
          <a:noFill/>
          <a:ln cap="flat" cmpd="sng" w="19050">
            <a:solidFill>
              <a:srgbClr val="000000"/>
            </a:solidFill>
            <a:prstDash val="solid"/>
            <a:round/>
            <a:headEnd len="sm" w="sm" type="none"/>
            <a:tailEnd len="med" w="med" type="stealth"/>
          </a:ln>
          <a:effectLst>
            <a:outerShdw blurRad="40000" rotWithShape="0" dir="5400000" dist="20000">
              <a:srgbClr val="000000">
                <a:alpha val="37650"/>
              </a:srgbClr>
            </a:outerShdw>
          </a:effectLst>
        </p:spPr>
      </p:cxnSp>
      <p:cxnSp>
        <p:nvCxnSpPr>
          <p:cNvPr id="381" name="Google Shape;381;p49"/>
          <p:cNvCxnSpPr>
            <a:stCxn id="375" idx="7"/>
            <a:endCxn id="377" idx="3"/>
          </p:cNvCxnSpPr>
          <p:nvPr/>
        </p:nvCxnSpPr>
        <p:spPr>
          <a:xfrm flipH="1" rot="10800000">
            <a:off x="3002351" y="2605551"/>
            <a:ext cx="1237500" cy="772200"/>
          </a:xfrm>
          <a:prstGeom prst="straightConnector1">
            <a:avLst/>
          </a:prstGeom>
          <a:noFill/>
          <a:ln cap="flat" cmpd="sng" w="19050">
            <a:solidFill>
              <a:srgbClr val="000000"/>
            </a:solidFill>
            <a:prstDash val="solid"/>
            <a:round/>
            <a:headEnd len="sm" w="sm" type="none"/>
            <a:tailEnd len="med" w="med" type="stealth"/>
          </a:ln>
          <a:effectLst>
            <a:outerShdw blurRad="40000" rotWithShape="0" dir="5400000" dist="20000">
              <a:srgbClr val="000000">
                <a:alpha val="37650"/>
              </a:srgbClr>
            </a:outerShdw>
          </a:effectLst>
        </p:spPr>
      </p:cxnSp>
      <p:cxnSp>
        <p:nvCxnSpPr>
          <p:cNvPr id="382" name="Google Shape;382;p49"/>
          <p:cNvCxnSpPr>
            <a:stCxn id="374" idx="7"/>
            <a:endCxn id="377" idx="4"/>
          </p:cNvCxnSpPr>
          <p:nvPr/>
        </p:nvCxnSpPr>
        <p:spPr>
          <a:xfrm flipH="1" rot="10800000">
            <a:off x="4526351" y="2702751"/>
            <a:ext cx="199800" cy="598800"/>
          </a:xfrm>
          <a:prstGeom prst="straightConnector1">
            <a:avLst/>
          </a:prstGeom>
          <a:noFill/>
          <a:ln cap="flat" cmpd="sng" w="19050">
            <a:solidFill>
              <a:srgbClr val="000000"/>
            </a:solidFill>
            <a:prstDash val="solid"/>
            <a:round/>
            <a:headEnd len="sm" w="sm" type="none"/>
            <a:tailEnd len="med" w="med" type="stealth"/>
          </a:ln>
          <a:effectLst>
            <a:outerShdw blurRad="40000" rotWithShape="0" dir="5400000" dist="20000">
              <a:srgbClr val="000000">
                <a:alpha val="37650"/>
              </a:srgbClr>
            </a:outerShdw>
          </a:effectLst>
        </p:spPr>
      </p:cxnSp>
      <p:sp>
        <p:nvSpPr>
          <p:cNvPr id="383" name="Google Shape;383;p49"/>
          <p:cNvSpPr txBox="1"/>
          <p:nvPr/>
        </p:nvSpPr>
        <p:spPr>
          <a:xfrm>
            <a:off x="260950" y="2420150"/>
            <a:ext cx="1110600" cy="3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a:solidFill>
                  <a:srgbClr val="434343"/>
                </a:solidFill>
                <a:latin typeface="Times New Roman"/>
                <a:ea typeface="Times New Roman"/>
                <a:cs typeface="Times New Roman"/>
                <a:sym typeface="Times New Roman"/>
              </a:rPr>
              <a:t>sub</a:t>
            </a:r>
            <a:r>
              <a:rPr lang="en-GB">
                <a:solidFill>
                  <a:srgbClr val="434343"/>
                </a:solidFill>
                <a:latin typeface="Times New Roman"/>
                <a:ea typeface="Times New Roman"/>
                <a:cs typeface="Times New Roman"/>
                <a:sym typeface="Times New Roman"/>
              </a:rPr>
              <a:t>C</a:t>
            </a:r>
            <a:r>
              <a:rPr lang="en-GB">
                <a:solidFill>
                  <a:srgbClr val="434343"/>
                </a:solidFill>
                <a:latin typeface="Times New Roman"/>
                <a:ea typeface="Times New Roman"/>
                <a:cs typeface="Times New Roman"/>
                <a:sym typeface="Times New Roman"/>
              </a:rPr>
              <a:t>lass</a:t>
            </a:r>
            <a:r>
              <a:rPr lang="en-GB">
                <a:solidFill>
                  <a:srgbClr val="434343"/>
                </a:solidFill>
                <a:latin typeface="Times New Roman"/>
                <a:ea typeface="Times New Roman"/>
                <a:cs typeface="Times New Roman"/>
                <a:sym typeface="Times New Roman"/>
              </a:rPr>
              <a:t>Of</a:t>
            </a:r>
            <a:endParaRPr>
              <a:solidFill>
                <a:srgbClr val="434343"/>
              </a:solidFill>
              <a:latin typeface="Times New Roman"/>
              <a:ea typeface="Times New Roman"/>
              <a:cs typeface="Times New Roman"/>
              <a:sym typeface="Times New Roman"/>
            </a:endParaRPr>
          </a:p>
        </p:txBody>
      </p:sp>
      <p:sp>
        <p:nvSpPr>
          <p:cNvPr id="384" name="Google Shape;384;p49"/>
          <p:cNvSpPr/>
          <p:nvPr/>
        </p:nvSpPr>
        <p:spPr>
          <a:xfrm>
            <a:off x="7239000" y="1200944"/>
            <a:ext cx="1603500" cy="663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1800"/>
              <a:t>P</a:t>
            </a:r>
            <a:r>
              <a:rPr lang="en-GB" sz="1800"/>
              <a:t>roperty</a:t>
            </a:r>
            <a:endParaRPr sz="1800"/>
          </a:p>
        </p:txBody>
      </p:sp>
      <p:sp>
        <p:nvSpPr>
          <p:cNvPr id="385" name="Google Shape;385;p49"/>
          <p:cNvSpPr/>
          <p:nvPr/>
        </p:nvSpPr>
        <p:spPr>
          <a:xfrm>
            <a:off x="7388225" y="2343944"/>
            <a:ext cx="1374900" cy="663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1800"/>
              <a:t>hasPet</a:t>
            </a:r>
            <a:endParaRPr sz="1800"/>
          </a:p>
        </p:txBody>
      </p:sp>
      <p:cxnSp>
        <p:nvCxnSpPr>
          <p:cNvPr id="386" name="Google Shape;386;p49"/>
          <p:cNvCxnSpPr>
            <a:stCxn id="385" idx="0"/>
            <a:endCxn id="384" idx="4"/>
          </p:cNvCxnSpPr>
          <p:nvPr/>
        </p:nvCxnSpPr>
        <p:spPr>
          <a:xfrm rot="10800000">
            <a:off x="8040875" y="1864544"/>
            <a:ext cx="34800" cy="479400"/>
          </a:xfrm>
          <a:prstGeom prst="straightConnector1">
            <a:avLst/>
          </a:prstGeom>
          <a:noFill/>
          <a:ln cap="flat" cmpd="sng" w="19050">
            <a:solidFill>
              <a:srgbClr val="000000"/>
            </a:solidFill>
            <a:prstDash val="solid"/>
            <a:round/>
            <a:headEnd len="sm" w="sm" type="none"/>
            <a:tailEnd len="med" w="med" type="stealth"/>
          </a:ln>
          <a:effectLst>
            <a:outerShdw blurRad="40000" rotWithShape="0" dir="5400000" dist="20000">
              <a:srgbClr val="000000">
                <a:alpha val="37650"/>
              </a:srgbClr>
            </a:outerShdw>
          </a:effectLst>
        </p:spPr>
      </p:cxnSp>
      <p:cxnSp>
        <p:nvCxnSpPr>
          <p:cNvPr id="387" name="Google Shape;387;p49"/>
          <p:cNvCxnSpPr>
            <a:stCxn id="385" idx="4"/>
            <a:endCxn id="376" idx="4"/>
          </p:cNvCxnSpPr>
          <p:nvPr/>
        </p:nvCxnSpPr>
        <p:spPr>
          <a:xfrm rot="5400000">
            <a:off x="4141925" y="-65806"/>
            <a:ext cx="860400" cy="7007100"/>
          </a:xfrm>
          <a:prstGeom prst="curvedConnector3">
            <a:avLst>
              <a:gd fmla="val 127679" name="adj1"/>
            </a:avLst>
          </a:prstGeom>
          <a:noFill/>
          <a:ln cap="flat" cmpd="sng" w="19050">
            <a:solidFill>
              <a:srgbClr val="000000"/>
            </a:solidFill>
            <a:prstDash val="solid"/>
            <a:round/>
            <a:headEnd len="sm" w="sm" type="none"/>
            <a:tailEnd len="med" w="med" type="stealth"/>
          </a:ln>
          <a:effectLst>
            <a:outerShdw blurRad="40000" rotWithShape="0" dir="5400000" dist="20000">
              <a:srgbClr val="000000">
                <a:alpha val="37650"/>
              </a:srgbClr>
            </a:outerShdw>
          </a:effectLst>
        </p:spPr>
      </p:cxnSp>
      <p:cxnSp>
        <p:nvCxnSpPr>
          <p:cNvPr id="388" name="Google Shape;388;p49"/>
          <p:cNvCxnSpPr>
            <a:stCxn id="385" idx="3"/>
            <a:endCxn id="377" idx="5"/>
          </p:cNvCxnSpPr>
          <p:nvPr/>
        </p:nvCxnSpPr>
        <p:spPr>
          <a:xfrm flipH="1" rot="5400000">
            <a:off x="6248424" y="1569212"/>
            <a:ext cx="304800" cy="2377500"/>
          </a:xfrm>
          <a:prstGeom prst="curvedConnector3">
            <a:avLst>
              <a:gd fmla="val -110009" name="adj1"/>
            </a:avLst>
          </a:prstGeom>
          <a:noFill/>
          <a:ln cap="flat" cmpd="sng" w="19050">
            <a:solidFill>
              <a:schemeClr val="dk1"/>
            </a:solidFill>
            <a:prstDash val="solid"/>
            <a:round/>
            <a:headEnd len="sm" w="sm" type="none"/>
            <a:tailEnd len="med" w="med" type="stealth"/>
          </a:ln>
          <a:effectLst>
            <a:outerShdw blurRad="40000" rotWithShape="0" dir="5400000" dist="20000">
              <a:srgbClr val="000000">
                <a:alpha val="37650"/>
              </a:srgbClr>
            </a:outerShdw>
          </a:effectLst>
        </p:spPr>
      </p:cxnSp>
      <p:sp>
        <p:nvSpPr>
          <p:cNvPr id="389" name="Google Shape;389;p49"/>
          <p:cNvSpPr txBox="1"/>
          <p:nvPr/>
        </p:nvSpPr>
        <p:spPr>
          <a:xfrm>
            <a:off x="8077200" y="1962944"/>
            <a:ext cx="657300" cy="2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600">
                <a:solidFill>
                  <a:srgbClr val="434343"/>
                </a:solidFill>
                <a:latin typeface="Times New Roman"/>
                <a:ea typeface="Times New Roman"/>
                <a:cs typeface="Times New Roman"/>
                <a:sym typeface="Times New Roman"/>
              </a:rPr>
              <a:t>type</a:t>
            </a:r>
            <a:endParaRPr sz="1600">
              <a:solidFill>
                <a:srgbClr val="434343"/>
              </a:solidFill>
              <a:latin typeface="Times New Roman"/>
              <a:ea typeface="Times New Roman"/>
              <a:cs typeface="Times New Roman"/>
              <a:sym typeface="Times New Roman"/>
            </a:endParaRPr>
          </a:p>
        </p:txBody>
      </p:sp>
      <p:sp>
        <p:nvSpPr>
          <p:cNvPr id="390" name="Google Shape;390;p49"/>
          <p:cNvSpPr txBox="1"/>
          <p:nvPr/>
        </p:nvSpPr>
        <p:spPr>
          <a:xfrm>
            <a:off x="5728327" y="3974224"/>
            <a:ext cx="935100" cy="2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600">
                <a:solidFill>
                  <a:srgbClr val="434343"/>
                </a:solidFill>
                <a:latin typeface="Times New Roman"/>
                <a:ea typeface="Times New Roman"/>
                <a:cs typeface="Times New Roman"/>
                <a:sym typeface="Times New Roman"/>
              </a:rPr>
              <a:t>domain</a:t>
            </a:r>
            <a:endParaRPr sz="1600">
              <a:solidFill>
                <a:srgbClr val="434343"/>
              </a:solidFill>
              <a:latin typeface="Times New Roman"/>
              <a:ea typeface="Times New Roman"/>
              <a:cs typeface="Times New Roman"/>
              <a:sym typeface="Times New Roman"/>
            </a:endParaRPr>
          </a:p>
        </p:txBody>
      </p:sp>
      <p:sp>
        <p:nvSpPr>
          <p:cNvPr id="391" name="Google Shape;391;p49"/>
          <p:cNvSpPr txBox="1"/>
          <p:nvPr/>
        </p:nvSpPr>
        <p:spPr>
          <a:xfrm>
            <a:off x="6172200" y="2877352"/>
            <a:ext cx="838200" cy="3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600">
                <a:solidFill>
                  <a:srgbClr val="434343"/>
                </a:solidFill>
                <a:latin typeface="Times New Roman"/>
                <a:ea typeface="Times New Roman"/>
                <a:cs typeface="Times New Roman"/>
                <a:sym typeface="Times New Roman"/>
              </a:rPr>
              <a:t>range</a:t>
            </a:r>
            <a:endParaRPr sz="1600">
              <a:solidFill>
                <a:srgbClr val="434343"/>
              </a:solidFill>
              <a:latin typeface="Times New Roman"/>
              <a:ea typeface="Times New Roman"/>
              <a:cs typeface="Times New Roman"/>
              <a:sym typeface="Times New Roman"/>
            </a:endParaRPr>
          </a:p>
        </p:txBody>
      </p:sp>
      <p:sp>
        <p:nvSpPr>
          <p:cNvPr id="392" name="Google Shape;392;p49"/>
          <p:cNvSpPr/>
          <p:nvPr/>
        </p:nvSpPr>
        <p:spPr>
          <a:xfrm>
            <a:off x="1460932" y="4370388"/>
            <a:ext cx="1374900" cy="663600"/>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2000">
                <a:solidFill>
                  <a:srgbClr val="000000"/>
                </a:solidFill>
                <a:latin typeface="Times New Roman"/>
                <a:ea typeface="Times New Roman"/>
                <a:cs typeface="Times New Roman"/>
                <a:sym typeface="Times New Roman"/>
              </a:rPr>
              <a:t>j</a:t>
            </a:r>
            <a:r>
              <a:rPr lang="en-GB" sz="2000">
                <a:solidFill>
                  <a:srgbClr val="000000"/>
                </a:solidFill>
                <a:latin typeface="Times New Roman"/>
                <a:ea typeface="Times New Roman"/>
                <a:cs typeface="Times New Roman"/>
                <a:sym typeface="Times New Roman"/>
              </a:rPr>
              <a:t>ohn</a:t>
            </a:r>
            <a:endParaRPr>
              <a:latin typeface="Times New Roman"/>
              <a:ea typeface="Times New Roman"/>
              <a:cs typeface="Times New Roman"/>
              <a:sym typeface="Times New Roman"/>
            </a:endParaRPr>
          </a:p>
        </p:txBody>
      </p:sp>
      <p:sp>
        <p:nvSpPr>
          <p:cNvPr id="393" name="Google Shape;393;p49"/>
          <p:cNvSpPr/>
          <p:nvPr/>
        </p:nvSpPr>
        <p:spPr>
          <a:xfrm>
            <a:off x="4956175" y="4370388"/>
            <a:ext cx="1374900" cy="663600"/>
          </a:xfrm>
          <a:prstGeom prst="ellipse">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2000">
                <a:solidFill>
                  <a:srgbClr val="000000"/>
                </a:solidFill>
                <a:latin typeface="Times New Roman"/>
                <a:ea typeface="Times New Roman"/>
                <a:cs typeface="Times New Roman"/>
                <a:sym typeface="Times New Roman"/>
              </a:rPr>
              <a:t>s</a:t>
            </a:r>
            <a:r>
              <a:rPr lang="en-GB" sz="2000">
                <a:solidFill>
                  <a:srgbClr val="000000"/>
                </a:solidFill>
                <a:latin typeface="Times New Roman"/>
                <a:ea typeface="Times New Roman"/>
                <a:cs typeface="Times New Roman"/>
                <a:sym typeface="Times New Roman"/>
              </a:rPr>
              <a:t>pot</a:t>
            </a:r>
            <a:endParaRPr>
              <a:latin typeface="Times New Roman"/>
              <a:ea typeface="Times New Roman"/>
              <a:cs typeface="Times New Roman"/>
              <a:sym typeface="Times New Roman"/>
            </a:endParaRPr>
          </a:p>
        </p:txBody>
      </p:sp>
      <p:cxnSp>
        <p:nvCxnSpPr>
          <p:cNvPr id="394" name="Google Shape;394;p49"/>
          <p:cNvCxnSpPr>
            <a:stCxn id="392" idx="6"/>
            <a:endCxn id="393" idx="2"/>
          </p:cNvCxnSpPr>
          <p:nvPr/>
        </p:nvCxnSpPr>
        <p:spPr>
          <a:xfrm>
            <a:off x="2835832" y="4702188"/>
            <a:ext cx="2120400" cy="0"/>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7650"/>
              </a:srgbClr>
            </a:outerShdw>
          </a:effectLst>
        </p:spPr>
      </p:cxnSp>
      <p:sp>
        <p:nvSpPr>
          <p:cNvPr id="395" name="Google Shape;395;p49"/>
          <p:cNvSpPr txBox="1"/>
          <p:nvPr/>
        </p:nvSpPr>
        <p:spPr>
          <a:xfrm>
            <a:off x="3456706" y="4370388"/>
            <a:ext cx="812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600">
                <a:solidFill>
                  <a:srgbClr val="434343"/>
                </a:solidFill>
                <a:latin typeface="Times New Roman"/>
                <a:ea typeface="Times New Roman"/>
                <a:cs typeface="Times New Roman"/>
                <a:sym typeface="Times New Roman"/>
              </a:rPr>
              <a:t>hasPet</a:t>
            </a:r>
            <a:endParaRPr sz="1600">
              <a:solidFill>
                <a:srgbClr val="434343"/>
              </a:solidFill>
              <a:latin typeface="Times New Roman"/>
              <a:ea typeface="Times New Roman"/>
              <a:cs typeface="Times New Roman"/>
              <a:sym typeface="Times New Roman"/>
            </a:endParaRPr>
          </a:p>
        </p:txBody>
      </p:sp>
      <p:sp>
        <p:nvSpPr>
          <p:cNvPr id="396" name="Google Shape;396;p49"/>
          <p:cNvSpPr txBox="1"/>
          <p:nvPr/>
        </p:nvSpPr>
        <p:spPr>
          <a:xfrm>
            <a:off x="1784950" y="5151875"/>
            <a:ext cx="4280400" cy="1203600"/>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2400">
                <a:solidFill>
                  <a:srgbClr val="434343"/>
                </a:solidFill>
                <a:latin typeface="Times New Roman"/>
                <a:ea typeface="Times New Roman"/>
                <a:cs typeface="Times New Roman"/>
                <a:sym typeface="Times New Roman"/>
              </a:rPr>
              <a:t>:john :hasPet :spot</a:t>
            </a:r>
            <a:r>
              <a:rPr lang="en-GB" sz="2400">
                <a:solidFill>
                  <a:srgbClr val="434343"/>
                </a:solidFill>
                <a:latin typeface="Times New Roman"/>
                <a:ea typeface="Times New Roman"/>
                <a:cs typeface="Times New Roman"/>
                <a:sym typeface="Times New Roman"/>
              </a:rPr>
              <a:t> =&gt;</a:t>
            </a:r>
            <a:endParaRPr sz="2400">
              <a:solidFill>
                <a:srgbClr val="434343"/>
              </a:solidFill>
              <a:latin typeface="Times New Roman"/>
              <a:ea typeface="Times New Roman"/>
              <a:cs typeface="Times New Roman"/>
              <a:sym typeface="Times New Roman"/>
            </a:endParaRPr>
          </a:p>
          <a:p>
            <a:pPr indent="457200" lvl="0" marL="0" marR="0" rtl="0" algn="l">
              <a:spcBef>
                <a:spcPts val="0"/>
              </a:spcBef>
              <a:spcAft>
                <a:spcPts val="0"/>
              </a:spcAft>
              <a:buNone/>
            </a:pPr>
            <a:r>
              <a:rPr lang="en-GB" sz="2400">
                <a:solidFill>
                  <a:srgbClr val="434343"/>
                </a:solidFill>
                <a:latin typeface="Times New Roman"/>
                <a:ea typeface="Times New Roman"/>
                <a:cs typeface="Times New Roman"/>
                <a:sym typeface="Times New Roman"/>
              </a:rPr>
              <a:t>:john a :Human, :Animal.</a:t>
            </a:r>
            <a:endParaRPr sz="2400">
              <a:solidFill>
                <a:srgbClr val="434343"/>
              </a:solidFill>
              <a:latin typeface="Times New Roman"/>
              <a:ea typeface="Times New Roman"/>
              <a:cs typeface="Times New Roman"/>
              <a:sym typeface="Times New Roman"/>
            </a:endParaRPr>
          </a:p>
          <a:p>
            <a:pPr indent="457200" lvl="0" marL="0" marR="0" rtl="0" algn="l">
              <a:spcBef>
                <a:spcPts val="0"/>
              </a:spcBef>
              <a:spcAft>
                <a:spcPts val="0"/>
              </a:spcAft>
              <a:buNone/>
            </a:pPr>
            <a:r>
              <a:rPr lang="en-GB" sz="2400">
                <a:solidFill>
                  <a:srgbClr val="434343"/>
                </a:solidFill>
                <a:latin typeface="Times New Roman"/>
                <a:ea typeface="Times New Roman"/>
                <a:cs typeface="Times New Roman"/>
                <a:sym typeface="Times New Roman"/>
              </a:rPr>
              <a:t>:spot a :Pet, :Animal.</a:t>
            </a:r>
            <a:endParaRPr sz="2400">
              <a:solidFill>
                <a:srgbClr val="434343"/>
              </a:solidFill>
              <a:latin typeface="Times New Roman"/>
              <a:ea typeface="Times New Roman"/>
              <a:cs typeface="Times New Roman"/>
              <a:sym typeface="Times New Roman"/>
            </a:endParaRPr>
          </a:p>
        </p:txBody>
      </p:sp>
      <p:sp>
        <p:nvSpPr>
          <p:cNvPr id="397" name="Google Shape;397;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98" name="Google Shape;398;p49"/>
          <p:cNvSpPr txBox="1"/>
          <p:nvPr/>
        </p:nvSpPr>
        <p:spPr>
          <a:xfrm>
            <a:off x="1327750" y="2648750"/>
            <a:ext cx="1110600" cy="3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a:solidFill>
                  <a:srgbClr val="434343"/>
                </a:solidFill>
                <a:latin typeface="Times New Roman"/>
                <a:ea typeface="Times New Roman"/>
                <a:cs typeface="Times New Roman"/>
                <a:sym typeface="Times New Roman"/>
              </a:rPr>
              <a:t>subClassOf</a:t>
            </a:r>
            <a:endParaRPr>
              <a:solidFill>
                <a:srgbClr val="434343"/>
              </a:solidFill>
              <a:latin typeface="Times New Roman"/>
              <a:ea typeface="Times New Roman"/>
              <a:cs typeface="Times New Roman"/>
              <a:sym typeface="Times New Roman"/>
            </a:endParaRPr>
          </a:p>
        </p:txBody>
      </p:sp>
      <p:sp>
        <p:nvSpPr>
          <p:cNvPr id="399" name="Google Shape;399;p49"/>
          <p:cNvSpPr txBox="1"/>
          <p:nvPr/>
        </p:nvSpPr>
        <p:spPr>
          <a:xfrm>
            <a:off x="2242150" y="2267750"/>
            <a:ext cx="1110600" cy="3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a:solidFill>
                  <a:srgbClr val="434343"/>
                </a:solidFill>
                <a:latin typeface="Times New Roman"/>
                <a:ea typeface="Times New Roman"/>
                <a:cs typeface="Times New Roman"/>
                <a:sym typeface="Times New Roman"/>
              </a:rPr>
              <a:t>subClassOf</a:t>
            </a:r>
            <a:endParaRPr>
              <a:solidFill>
                <a:srgbClr val="434343"/>
              </a:solidFill>
              <a:latin typeface="Times New Roman"/>
              <a:ea typeface="Times New Roman"/>
              <a:cs typeface="Times New Roman"/>
              <a:sym typeface="Times New Roman"/>
            </a:endParaRPr>
          </a:p>
        </p:txBody>
      </p:sp>
      <p:sp>
        <p:nvSpPr>
          <p:cNvPr id="400" name="Google Shape;400;p49"/>
          <p:cNvSpPr txBox="1"/>
          <p:nvPr/>
        </p:nvSpPr>
        <p:spPr>
          <a:xfrm>
            <a:off x="4604350" y="2953550"/>
            <a:ext cx="1110600" cy="3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a:solidFill>
                  <a:srgbClr val="434343"/>
                </a:solidFill>
                <a:latin typeface="Times New Roman"/>
                <a:ea typeface="Times New Roman"/>
                <a:cs typeface="Times New Roman"/>
                <a:sym typeface="Times New Roman"/>
              </a:rPr>
              <a:t>subClassOf</a:t>
            </a:r>
            <a:endParaRPr>
              <a:solidFill>
                <a:srgbClr val="434343"/>
              </a:solidFill>
              <a:latin typeface="Times New Roman"/>
              <a:ea typeface="Times New Roman"/>
              <a:cs typeface="Times New Roman"/>
              <a:sym typeface="Times New Roman"/>
            </a:endParaRPr>
          </a:p>
        </p:txBody>
      </p:sp>
      <p:sp>
        <p:nvSpPr>
          <p:cNvPr id="401" name="Google Shape;401;p49"/>
          <p:cNvSpPr txBox="1"/>
          <p:nvPr/>
        </p:nvSpPr>
        <p:spPr>
          <a:xfrm>
            <a:off x="2623150" y="2801150"/>
            <a:ext cx="1110600" cy="3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a:solidFill>
                  <a:srgbClr val="434343"/>
                </a:solidFill>
                <a:latin typeface="Times New Roman"/>
                <a:ea typeface="Times New Roman"/>
                <a:cs typeface="Times New Roman"/>
                <a:sym typeface="Times New Roman"/>
              </a:rPr>
              <a:t>subClassOf</a:t>
            </a:r>
            <a:endParaRPr>
              <a:solidFill>
                <a:srgbClr val="434343"/>
              </a:solidFill>
              <a:latin typeface="Times New Roman"/>
              <a:ea typeface="Times New Roman"/>
              <a:cs typeface="Times New Roman"/>
              <a:sym typeface="Times New Roman"/>
            </a:endParaRPr>
          </a:p>
        </p:txBody>
      </p:sp>
      <p:sp>
        <p:nvSpPr>
          <p:cNvPr id="402" name="Google Shape;402;p49"/>
          <p:cNvSpPr/>
          <p:nvPr/>
        </p:nvSpPr>
        <p:spPr>
          <a:xfrm>
            <a:off x="5012250" y="1429550"/>
            <a:ext cx="1693500" cy="663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1800"/>
              <a:t>offSpring</a:t>
            </a:r>
            <a:endParaRPr sz="1800"/>
          </a:p>
        </p:txBody>
      </p:sp>
      <p:cxnSp>
        <p:nvCxnSpPr>
          <p:cNvPr id="403" name="Google Shape;403;p49"/>
          <p:cNvCxnSpPr/>
          <p:nvPr/>
        </p:nvCxnSpPr>
        <p:spPr>
          <a:xfrm rot="10800000">
            <a:off x="2820951" y="1347926"/>
            <a:ext cx="2439300" cy="178800"/>
          </a:xfrm>
          <a:prstGeom prst="straightConnector1">
            <a:avLst/>
          </a:prstGeom>
          <a:noFill/>
          <a:ln cap="flat" cmpd="sng" w="19050">
            <a:solidFill>
              <a:schemeClr val="dk1"/>
            </a:solidFill>
            <a:prstDash val="solid"/>
            <a:round/>
            <a:headEnd len="med" w="med" type="none"/>
            <a:tailEnd len="med" w="med" type="triangle"/>
          </a:ln>
        </p:spPr>
      </p:cxnSp>
      <p:cxnSp>
        <p:nvCxnSpPr>
          <p:cNvPr id="404" name="Google Shape;404;p49"/>
          <p:cNvCxnSpPr/>
          <p:nvPr/>
        </p:nvCxnSpPr>
        <p:spPr>
          <a:xfrm rot="10800000">
            <a:off x="2746466" y="1550146"/>
            <a:ext cx="2297400" cy="211200"/>
          </a:xfrm>
          <a:prstGeom prst="straightConnector1">
            <a:avLst/>
          </a:prstGeom>
          <a:noFill/>
          <a:ln cap="flat" cmpd="sng" w="19050">
            <a:solidFill>
              <a:schemeClr val="dk1"/>
            </a:solidFill>
            <a:prstDash val="solid"/>
            <a:round/>
            <a:headEnd len="med" w="med" type="none"/>
            <a:tailEnd len="med" w="med" type="triangle"/>
          </a:ln>
        </p:spPr>
      </p:cxnSp>
      <p:sp>
        <p:nvSpPr>
          <p:cNvPr id="405" name="Google Shape;405;p49"/>
          <p:cNvSpPr txBox="1"/>
          <p:nvPr/>
        </p:nvSpPr>
        <p:spPr>
          <a:xfrm>
            <a:off x="3975727" y="1078624"/>
            <a:ext cx="935100" cy="2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600">
                <a:solidFill>
                  <a:srgbClr val="434343"/>
                </a:solidFill>
                <a:latin typeface="Times New Roman"/>
                <a:ea typeface="Times New Roman"/>
                <a:cs typeface="Times New Roman"/>
                <a:sym typeface="Times New Roman"/>
              </a:rPr>
              <a:t>domain</a:t>
            </a:r>
            <a:endParaRPr sz="1600">
              <a:solidFill>
                <a:srgbClr val="434343"/>
              </a:solidFill>
              <a:latin typeface="Times New Roman"/>
              <a:ea typeface="Times New Roman"/>
              <a:cs typeface="Times New Roman"/>
              <a:sym typeface="Times New Roman"/>
            </a:endParaRPr>
          </a:p>
        </p:txBody>
      </p:sp>
      <p:sp>
        <p:nvSpPr>
          <p:cNvPr id="406" name="Google Shape;406;p49"/>
          <p:cNvSpPr txBox="1"/>
          <p:nvPr/>
        </p:nvSpPr>
        <p:spPr>
          <a:xfrm>
            <a:off x="3505200" y="1581952"/>
            <a:ext cx="838200" cy="34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600">
                <a:solidFill>
                  <a:srgbClr val="434343"/>
                </a:solidFill>
                <a:latin typeface="Times New Roman"/>
                <a:ea typeface="Times New Roman"/>
                <a:cs typeface="Times New Roman"/>
                <a:sym typeface="Times New Roman"/>
              </a:rPr>
              <a:t>range</a:t>
            </a:r>
            <a:endParaRPr sz="1600">
              <a:solidFill>
                <a:srgbClr val="434343"/>
              </a:solidFill>
              <a:latin typeface="Times New Roman"/>
              <a:ea typeface="Times New Roman"/>
              <a:cs typeface="Times New Roman"/>
              <a:sym typeface="Times New Roman"/>
            </a:endParaRPr>
          </a:p>
        </p:txBody>
      </p:sp>
      <p:cxnSp>
        <p:nvCxnSpPr>
          <p:cNvPr id="407" name="Google Shape;407;p49"/>
          <p:cNvCxnSpPr>
            <a:stCxn id="402" idx="6"/>
            <a:endCxn id="384" idx="2"/>
          </p:cNvCxnSpPr>
          <p:nvPr/>
        </p:nvCxnSpPr>
        <p:spPr>
          <a:xfrm flipH="1" rot="10800000">
            <a:off x="6705750" y="1532750"/>
            <a:ext cx="533400" cy="228600"/>
          </a:xfrm>
          <a:prstGeom prst="straightConnector1">
            <a:avLst/>
          </a:prstGeom>
          <a:noFill/>
          <a:ln cap="flat" cmpd="sng" w="19050">
            <a:solidFill>
              <a:schemeClr val="dk2"/>
            </a:solidFill>
            <a:prstDash val="solid"/>
            <a:round/>
            <a:headEnd len="med" w="med" type="none"/>
            <a:tailEnd len="med" w="med" type="stealth"/>
          </a:ln>
        </p:spPr>
      </p:cxnSp>
      <p:sp>
        <p:nvSpPr>
          <p:cNvPr id="408" name="Google Shape;408;p49"/>
          <p:cNvSpPr txBox="1"/>
          <p:nvPr/>
        </p:nvSpPr>
        <p:spPr>
          <a:xfrm>
            <a:off x="6781800" y="1581944"/>
            <a:ext cx="657300" cy="26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600">
                <a:solidFill>
                  <a:srgbClr val="434343"/>
                </a:solidFill>
                <a:latin typeface="Times New Roman"/>
                <a:ea typeface="Times New Roman"/>
                <a:cs typeface="Times New Roman"/>
                <a:sym typeface="Times New Roman"/>
              </a:rPr>
              <a:t>type</a:t>
            </a:r>
            <a:endParaRPr sz="1600">
              <a:solidFill>
                <a:srgbClr val="434343"/>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h</a:t>
            </a:r>
            <a:r>
              <a:rPr lang="en-GB"/>
              <a:t>ạn chế của RDF(</a:t>
            </a:r>
            <a:r>
              <a:rPr lang="en-GB"/>
              <a:t>S)</a:t>
            </a:r>
            <a:endParaRPr/>
          </a:p>
        </p:txBody>
      </p:sp>
      <p:sp>
        <p:nvSpPr>
          <p:cNvPr id="414" name="Google Shape;414;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15" name="Google Shape;415;p50"/>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Không thể thiết lập ràng buộc dog và cat là 2 lớp tách biệt</a:t>
            </a:r>
            <a:endParaRPr/>
          </a:p>
          <a:p>
            <a:pPr indent="-368300" lvl="1" marL="914400" rtl="0" algn="l">
              <a:spcBef>
                <a:spcPts val="0"/>
              </a:spcBef>
              <a:spcAft>
                <a:spcPts val="0"/>
              </a:spcAft>
              <a:buSzPts val="2200"/>
              <a:buChar char="○"/>
            </a:pPr>
            <a:r>
              <a:rPr lang="en-GB"/>
              <a:t>RDF(S) không thể bác bỏ các giả thuyết tương tự </a:t>
            </a:r>
            <a:endParaRPr/>
          </a:p>
          <a:p>
            <a:pPr indent="-368300" lvl="1" marL="914400" rtl="0" algn="l">
              <a:spcBef>
                <a:spcPts val="0"/>
              </a:spcBef>
              <a:spcAft>
                <a:spcPts val="0"/>
              </a:spcAft>
              <a:buSzPts val="2200"/>
              <a:buChar char="○"/>
            </a:pPr>
            <a:r>
              <a:rPr lang="en-GB"/>
              <a:t>Có thể viết :fido a :Dog, :Cat.</a:t>
            </a:r>
            <a:endParaRPr/>
          </a:p>
          <a:p>
            <a:pPr indent="-368300" lvl="1" marL="914400" rtl="0" algn="l">
              <a:spcBef>
                <a:spcPts val="0"/>
              </a:spcBef>
              <a:spcAft>
                <a:spcPts val="0"/>
              </a:spcAft>
              <a:buSzPts val="2200"/>
              <a:buChar char="○"/>
            </a:pPr>
            <a:r>
              <a:rPr lang="en-GB"/>
              <a:t>:fido a bio:Dog . :milo   a    bio:Cat ;   bio:offspring  :fido .</a:t>
            </a:r>
            <a:endParaRPr/>
          </a:p>
          <a:p>
            <a:pPr indent="-368300" lvl="1" marL="914400" rtl="0" algn="l">
              <a:spcBef>
                <a:spcPts val="0"/>
              </a:spcBef>
              <a:spcAft>
                <a:spcPts val="0"/>
              </a:spcAft>
              <a:buSzPts val="2200"/>
              <a:buChar char="○"/>
            </a:pPr>
            <a:r>
              <a:rPr lang="en-GB"/>
              <a:t>Một con mèo (milo) sinh ra một con chó (fido) =&gt; Vô lý.</a:t>
            </a:r>
            <a:endParaRPr/>
          </a:p>
          <a:p>
            <a:pPr indent="-381000" lvl="0" marL="457200" rtl="0" algn="l">
              <a:spcBef>
                <a:spcPts val="0"/>
              </a:spcBef>
              <a:spcAft>
                <a:spcPts val="0"/>
              </a:spcAft>
              <a:buSzPts val="2400"/>
              <a:buChar char="●"/>
            </a:pPr>
            <a:r>
              <a:rPr lang="en-GB"/>
              <a:t>Không thể thiết lập ràng buộc khoảng theo miền, chi tiết cho nhiều trường hợp khác nhau:</a:t>
            </a:r>
            <a:endParaRPr/>
          </a:p>
          <a:p>
            <a:pPr indent="-368300" lvl="1" marL="914400" rtl="0" algn="l">
              <a:spcBef>
                <a:spcPts val="0"/>
              </a:spcBef>
              <a:spcAft>
                <a:spcPts val="0"/>
              </a:spcAft>
              <a:buSzPts val="2200"/>
              <a:buChar char="○"/>
            </a:pPr>
            <a:r>
              <a:rPr lang="en-GB"/>
              <a:t>Ví dụ, không thiết lập được các ràng buộc để từ bộ-3 dạng xxx :offSpring yyy. Nếu xxx là chó =&gt; yyy là chó, nếu xxx là mèo =&gt; yyy là mèo.</a:t>
            </a:r>
            <a:endParaRPr/>
          </a:p>
          <a:p>
            <a:pPr indent="-368300" lvl="1" marL="914400" rtl="0" algn="l">
              <a:spcBef>
                <a:spcPts val="0"/>
              </a:spcBef>
              <a:spcAft>
                <a:spcPts val="0"/>
              </a:spcAft>
              <a:buSzPts val="2200"/>
              <a:buChar char="○"/>
            </a:pPr>
            <a:r>
              <a:rPr lang="en-GB"/>
              <a:t>Nếu thiết lập:</a:t>
            </a:r>
            <a:endParaRPr/>
          </a:p>
          <a:p>
            <a:pPr indent="-368300" lvl="1" marL="914400" rtl="0" algn="l">
              <a:spcBef>
                <a:spcPts val="0"/>
              </a:spcBef>
              <a:spcAft>
                <a:spcPts val="0"/>
              </a:spcAft>
              <a:buSzPts val="2200"/>
              <a:buChar char="○"/>
            </a:pPr>
            <a:r>
              <a:rPr lang="en-GB"/>
              <a:t>:offSpring rdfs:domain :Dog; rdfs:range :Dog.</a:t>
            </a:r>
            <a:endParaRPr/>
          </a:p>
          <a:p>
            <a:pPr indent="0" lvl="0" marL="914400" rtl="0" algn="l">
              <a:spcBef>
                <a:spcPts val="0"/>
              </a:spcBef>
              <a:spcAft>
                <a:spcPts val="0"/>
              </a:spcAft>
              <a:buNone/>
            </a:pPr>
            <a:r>
              <a:rPr lang="en-GB" sz="2200"/>
              <a:t>:offSpring rdfs:domain :Cat; rdfs:range :Cat.</a:t>
            </a:r>
            <a:endParaRPr sz="2200"/>
          </a:p>
          <a:p>
            <a:pPr indent="-368300" lvl="1" marL="914400" rtl="0" algn="l">
              <a:spcBef>
                <a:spcPts val="0"/>
              </a:spcBef>
              <a:spcAft>
                <a:spcPts val="0"/>
              </a:spcAft>
              <a:buSzPts val="2200"/>
              <a:buChar char="○"/>
            </a:pPr>
            <a:r>
              <a:rPr lang="en-GB"/>
              <a:t>thì từ :milo :offSpring :fido. =&gt; :milo a :Dog, :Cat.</a:t>
            </a:r>
            <a:endParaRPr/>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h</a:t>
            </a:r>
            <a:r>
              <a:rPr lang="en-GB"/>
              <a:t>ạn chế của RDF(S)</a:t>
            </a:r>
            <a:r>
              <a:rPr baseline="-25000" lang="en-GB"/>
              <a:t>(</a:t>
            </a:r>
            <a:r>
              <a:rPr baseline="-25000" lang="en-GB"/>
              <a:t>2)</a:t>
            </a:r>
            <a:endParaRPr baseline="-25000"/>
          </a:p>
        </p:txBody>
      </p:sp>
      <p:sp>
        <p:nvSpPr>
          <p:cNvPr id="421" name="Google Shape;421;p51"/>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Không có ràng buộc cơ số</a:t>
            </a:r>
            <a:endParaRPr/>
          </a:p>
          <a:p>
            <a:pPr indent="-368300" lvl="1" marL="914400" rtl="0" algn="l">
              <a:spcBef>
                <a:spcPts val="0"/>
              </a:spcBef>
              <a:spcAft>
                <a:spcPts val="0"/>
              </a:spcAft>
              <a:buSzPts val="2200"/>
              <a:buChar char="○"/>
            </a:pPr>
            <a:r>
              <a:rPr lang="en-GB"/>
              <a:t>Không thể nói </a:t>
            </a:r>
            <a:r>
              <a:rPr lang="en-GB"/>
              <a:t>mỗi</a:t>
            </a:r>
            <a:r>
              <a:rPr lang="en-GB"/>
              <a:t> chiếc xe đạp có 2 bánh;</a:t>
            </a:r>
            <a:endParaRPr/>
          </a:p>
          <a:p>
            <a:pPr indent="-368300" lvl="1" marL="914400" rtl="0" algn="l">
              <a:spcBef>
                <a:spcPts val="0"/>
              </a:spcBef>
              <a:spcAft>
                <a:spcPts val="0"/>
              </a:spcAft>
              <a:buSzPts val="2200"/>
              <a:buChar char="○"/>
            </a:pPr>
            <a:r>
              <a:rPr lang="en-GB"/>
              <a:t>Mỗi người có đúng 1 bố và 1 mẹ; mỗi khóa học được dạy bởi tối thiểu 1 giảng viên.</a:t>
            </a:r>
            <a:endParaRPr/>
          </a:p>
          <a:p>
            <a:pPr indent="-381000" lvl="0" marL="457200" rtl="0" algn="l">
              <a:spcBef>
                <a:spcPts val="0"/>
              </a:spcBef>
              <a:spcAft>
                <a:spcPts val="0"/>
              </a:spcAft>
              <a:buSzPts val="2400"/>
              <a:buChar char="●"/>
            </a:pPr>
            <a:r>
              <a:rPr lang="en-GB"/>
              <a:t>Không có các tính chất cho thuộc tính:</a:t>
            </a:r>
            <a:endParaRPr/>
          </a:p>
          <a:p>
            <a:pPr indent="-368300" lvl="1" marL="914400" rtl="0" algn="l">
              <a:spcBef>
                <a:spcPts val="0"/>
              </a:spcBef>
              <a:spcAft>
                <a:spcPts val="0"/>
              </a:spcAft>
              <a:buSzPts val="2200"/>
              <a:buChar char="○"/>
            </a:pPr>
            <a:r>
              <a:rPr lang="en-GB"/>
              <a:t>Tính chất bắc cầu (giống hasAncestor)</a:t>
            </a:r>
            <a:endParaRPr/>
          </a:p>
          <a:p>
            <a:pPr indent="-368300" lvl="1" marL="914400" rtl="0" algn="l">
              <a:spcBef>
                <a:spcPts val="0"/>
              </a:spcBef>
              <a:spcAft>
                <a:spcPts val="0"/>
              </a:spcAft>
              <a:buSzPts val="2200"/>
              <a:buChar char="○"/>
            </a:pPr>
            <a:r>
              <a:rPr lang="en-GB"/>
              <a:t>Tính chất hàm (giống hasMother)</a:t>
            </a:r>
            <a:endParaRPr/>
          </a:p>
          <a:p>
            <a:pPr indent="-368300" lvl="1" marL="914400" rtl="0" algn="l">
              <a:spcBef>
                <a:spcPts val="0"/>
              </a:spcBef>
              <a:spcAft>
                <a:spcPts val="0"/>
              </a:spcAft>
              <a:buSzPts val="2200"/>
              <a:buChar char="○"/>
            </a:pPr>
            <a:r>
              <a:rPr lang="en-GB"/>
              <a:t>v.v..</a:t>
            </a:r>
            <a:endParaRPr/>
          </a:p>
          <a:p>
            <a:pPr indent="-381000" lvl="0" marL="457200" rtl="0" algn="l">
              <a:spcBef>
                <a:spcPts val="0"/>
              </a:spcBef>
              <a:spcAft>
                <a:spcPts val="0"/>
              </a:spcAft>
              <a:buSzPts val="2400"/>
              <a:buChar char="●"/>
            </a:pPr>
            <a:r>
              <a:rPr lang="en-GB"/>
              <a:t>Không tạo được cặp thuộc tính đảo ngược (eats và eatenBy).</a:t>
            </a:r>
            <a:endParaRPr/>
          </a:p>
          <a:p>
            <a:pPr indent="-381000" lvl="0" marL="457200" rtl="0" algn="l">
              <a:spcBef>
                <a:spcPts val="0"/>
              </a:spcBef>
              <a:spcAft>
                <a:spcPts val="0"/>
              </a:spcAft>
              <a:buSzPts val="2400"/>
              <a:buChar char="●"/>
            </a:pPr>
            <a:r>
              <a:rPr lang="en-GB"/>
              <a:t>Kh</a:t>
            </a:r>
            <a:r>
              <a:rPr lang="en-GB"/>
              <a:t>ông diễn đạt được câu phủ định</a:t>
            </a:r>
            <a:endParaRPr/>
          </a:p>
          <a:p>
            <a:pPr indent="-368300" lvl="1" marL="914400" rtl="0" algn="l">
              <a:spcBef>
                <a:spcPts val="0"/>
              </a:spcBef>
              <a:spcAft>
                <a:spcPts val="0"/>
              </a:spcAft>
              <a:buSzPts val="2200"/>
              <a:buChar char="○"/>
            </a:pPr>
            <a:r>
              <a:rPr lang="en-GB"/>
              <a:t>Không diễn đạt được x không thuộc lớp C.</a:t>
            </a:r>
            <a:endParaRPr/>
          </a:p>
        </p:txBody>
      </p:sp>
      <p:sp>
        <p:nvSpPr>
          <p:cNvPr id="422" name="Google Shape;422;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h</a:t>
            </a:r>
            <a:r>
              <a:rPr lang="en-GB"/>
              <a:t>ạn chế của RDFS</a:t>
            </a:r>
            <a:r>
              <a:rPr baseline="-25000" lang="en-GB"/>
              <a:t>(</a:t>
            </a:r>
            <a:r>
              <a:rPr baseline="-25000" lang="en-GB"/>
              <a:t>3</a:t>
            </a:r>
            <a:r>
              <a:rPr baseline="-25000" lang="en-GB"/>
              <a:t>)</a:t>
            </a:r>
            <a:endParaRPr baseline="-25000"/>
          </a:p>
        </p:txBody>
      </p:sp>
      <p:sp>
        <p:nvSpPr>
          <p:cNvPr id="428" name="Google Shape;428;p52"/>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Kết</a:t>
            </a:r>
            <a:r>
              <a:rPr lang="en-GB"/>
              <a:t> hợp Boolean của các lớp</a:t>
            </a:r>
            <a:endParaRPr/>
          </a:p>
          <a:p>
            <a:pPr indent="-368300" lvl="1" marL="914400" rtl="0" algn="l">
              <a:spcBef>
                <a:spcPts val="0"/>
              </a:spcBef>
              <a:spcAft>
                <a:spcPts val="0"/>
              </a:spcAft>
              <a:buSzPts val="2200"/>
              <a:buChar char="○"/>
            </a:pPr>
            <a:r>
              <a:rPr lang="en-GB"/>
              <a:t>C</a:t>
            </a:r>
            <a:r>
              <a:rPr lang="en-GB"/>
              <a:t>ó thể định nghĩa các lớp mới bằng cách kết hợp các lớp khác thông qua union, intersection, và complement</a:t>
            </a:r>
            <a:endParaRPr/>
          </a:p>
          <a:p>
            <a:pPr indent="-368300" lvl="1" marL="914400" rtl="0" algn="l">
              <a:spcBef>
                <a:spcPts val="0"/>
              </a:spcBef>
              <a:spcAft>
                <a:spcPts val="0"/>
              </a:spcAft>
              <a:buSzPts val="2200"/>
              <a:buChar char="○"/>
            </a:pPr>
            <a:r>
              <a:rPr lang="en-GB"/>
              <a:t>Ví dụ, </a:t>
            </a:r>
            <a:r>
              <a:rPr lang="en-GB"/>
              <a:t>Động vật lưỡng cư là động vật vừa sống trên cạn, vừa sống trong nước.</a:t>
            </a:r>
            <a:endParaRPr/>
          </a:p>
          <a:p>
            <a:pPr indent="-381000" lvl="0" marL="457200" rtl="0" algn="l">
              <a:spcBef>
                <a:spcPts val="0"/>
              </a:spcBef>
              <a:spcAft>
                <a:spcPts val="0"/>
              </a:spcAft>
              <a:buSzPts val="2400"/>
              <a:buChar char="●"/>
            </a:pPr>
            <a:r>
              <a:rPr lang="en-GB"/>
              <a:t>Định nghĩa lớp bằng cách liệt kê các phần tử</a:t>
            </a:r>
            <a:r>
              <a:rPr lang="en-GB"/>
              <a:t>, </a:t>
            </a:r>
            <a:r>
              <a:rPr lang="en-GB"/>
              <a:t>Ví dụ, </a:t>
            </a:r>
            <a:r>
              <a:rPr lang="en-GB"/>
              <a:t>weekdays bằng tập hợp {:Mondy, ..., :Sunday}</a:t>
            </a:r>
            <a:endParaRPr/>
          </a:p>
          <a:p>
            <a:pPr indent="0" lvl="0" marL="0" rtl="0" algn="l">
              <a:spcBef>
                <a:spcPts val="0"/>
              </a:spcBef>
              <a:spcAft>
                <a:spcPts val="0"/>
              </a:spcAft>
              <a:buNone/>
            </a:pPr>
            <a:r>
              <a:t/>
            </a:r>
            <a:endParaRPr/>
          </a:p>
        </p:txBody>
      </p:sp>
      <p:sp>
        <p:nvSpPr>
          <p:cNvPr id="429" name="Google Shape;429;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30" name="Google Shape;430;p52"/>
          <p:cNvSpPr txBox="1"/>
          <p:nvPr/>
        </p:nvSpPr>
        <p:spPr>
          <a:xfrm>
            <a:off x="528925" y="5102800"/>
            <a:ext cx="8434200" cy="670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Clr>
                <a:schemeClr val="dk1"/>
              </a:buClr>
              <a:buSzPts val="1100"/>
              <a:buFont typeface="Arial"/>
              <a:buNone/>
            </a:pPr>
            <a:r>
              <a:rPr i="1" lang="en-GB" sz="2600">
                <a:solidFill>
                  <a:srgbClr val="0B5394"/>
                </a:solidFill>
              </a:rPr>
              <a:t>Các vấn đề đã n</a:t>
            </a:r>
            <a:r>
              <a:rPr i="1" lang="en-GB" sz="2600">
                <a:solidFill>
                  <a:srgbClr val="0B5394"/>
                </a:solidFill>
              </a:rPr>
              <a:t>ê</a:t>
            </a:r>
            <a:r>
              <a:rPr i="1" lang="en-GB" sz="2600">
                <a:solidFill>
                  <a:srgbClr val="0B5394"/>
                </a:solidFill>
              </a:rPr>
              <a:t>u </a:t>
            </a:r>
            <a:r>
              <a:rPr i="1" lang="en-GB" sz="2600">
                <a:solidFill>
                  <a:srgbClr val="0B5394"/>
                </a:solidFill>
              </a:rPr>
              <a:t>đều </a:t>
            </a:r>
            <a:r>
              <a:rPr i="1" lang="en-GB" sz="2600">
                <a:solidFill>
                  <a:srgbClr val="0B5394"/>
                </a:solidFill>
              </a:rPr>
              <a:t>giải quyết </a:t>
            </a:r>
            <a:r>
              <a:rPr i="1" lang="en-GB" sz="2600">
                <a:solidFill>
                  <a:srgbClr val="0B5394"/>
                </a:solidFill>
              </a:rPr>
              <a:t>được </a:t>
            </a:r>
            <a:r>
              <a:rPr i="1" lang="en-GB" sz="2600">
                <a:solidFill>
                  <a:srgbClr val="0B5394"/>
                </a:solidFill>
              </a:rPr>
              <a:t>trong </a:t>
            </a:r>
            <a:r>
              <a:rPr lang="en-GB" sz="2600">
                <a:solidFill>
                  <a:srgbClr val="0B5394"/>
                </a:solidFill>
              </a:rPr>
              <a:t>OWL</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Khác biệt với các ngôn ngữ HĐT khác</a:t>
            </a:r>
            <a:endParaRPr/>
          </a:p>
        </p:txBody>
      </p:sp>
      <p:sp>
        <p:nvSpPr>
          <p:cNvPr id="436" name="Google Shape;436;p53"/>
          <p:cNvSpPr txBox="1"/>
          <p:nvPr>
            <p:ph idx="1" type="body"/>
          </p:nvPr>
        </p:nvSpPr>
        <p:spPr>
          <a:xfrm>
            <a:off x="311700" y="975875"/>
            <a:ext cx="8520600" cy="5385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khái niệm lớp và phần tử</a:t>
            </a:r>
            <a:endParaRPr/>
          </a:p>
          <a:p>
            <a:pPr indent="-381000" lvl="0" marL="457200" rtl="0" algn="just">
              <a:spcBef>
                <a:spcPts val="0"/>
              </a:spcBef>
              <a:spcAft>
                <a:spcPts val="0"/>
              </a:spcAft>
              <a:buSzPts val="2400"/>
              <a:buChar char="●"/>
            </a:pPr>
            <a:r>
              <a:rPr lang="en-GB"/>
              <a:t>Trong các ngôn ngữ HĐT, lớp và đối tượng là </a:t>
            </a:r>
            <a:r>
              <a:rPr lang="en-GB"/>
              <a:t>2</a:t>
            </a:r>
            <a:r>
              <a:rPr lang="en-GB"/>
              <a:t> khái niệm tách biệt, 1 thứ không thể vừa là lớp vừa là đối tượng</a:t>
            </a:r>
            <a:endParaRPr/>
          </a:p>
          <a:p>
            <a:pPr indent="-368300" lvl="1" marL="914400" rtl="0" algn="l">
              <a:spcBef>
                <a:spcPts val="0"/>
              </a:spcBef>
              <a:spcAft>
                <a:spcPts val="0"/>
              </a:spcAft>
              <a:buSzPts val="2200"/>
              <a:buChar char="○"/>
            </a:pPr>
            <a:r>
              <a:rPr lang="en-GB"/>
              <a:t>Nhi</a:t>
            </a:r>
            <a:r>
              <a:rPr lang="en-GB"/>
              <a:t>ề</a:t>
            </a:r>
            <a:r>
              <a:rPr lang="en-GB"/>
              <a:t>u hệ biểu diễn tri thức cũng </a:t>
            </a:r>
            <a:r>
              <a:rPr lang="en-GB"/>
              <a:t>áp dụng quy tắc</a:t>
            </a:r>
            <a:r>
              <a:rPr lang="en-GB"/>
              <a:t> này</a:t>
            </a:r>
            <a:endParaRPr/>
          </a:p>
          <a:p>
            <a:pPr indent="-381000" lvl="0" marL="457200" rtl="0" algn="l">
              <a:spcBef>
                <a:spcPts val="0"/>
              </a:spcBef>
              <a:spcAft>
                <a:spcPts val="0"/>
              </a:spcAft>
              <a:buSzPts val="2400"/>
              <a:buChar char="●"/>
            </a:pPr>
            <a:r>
              <a:rPr lang="en-GB"/>
              <a:t>Trong RDFS một tài nguyên vừa có thể là lớp vừa có thể là </a:t>
            </a:r>
            <a:r>
              <a:rPr lang="en-GB"/>
              <a:t>đối tượng thuộc </a:t>
            </a:r>
            <a:r>
              <a:rPr lang="en-GB"/>
              <a:t>1 lớp khác</a:t>
            </a:r>
            <a:endParaRPr/>
          </a:p>
          <a:p>
            <a:pPr indent="-368300" lvl="1" marL="914400" rtl="0" algn="l">
              <a:spcBef>
                <a:spcPts val="0"/>
              </a:spcBef>
              <a:spcAft>
                <a:spcPts val="0"/>
              </a:spcAft>
              <a:buSzPts val="2200"/>
              <a:buChar char="○"/>
            </a:pPr>
            <a:r>
              <a:rPr lang="en-GB"/>
              <a:t>Mô hình tập hợp</a:t>
            </a:r>
            <a:endParaRPr/>
          </a:p>
          <a:p>
            <a:pPr indent="0" lvl="0" marL="914400" rtl="0" algn="l">
              <a:spcBef>
                <a:spcPts val="0"/>
              </a:spcBef>
              <a:spcAft>
                <a:spcPts val="0"/>
              </a:spcAft>
              <a:buNone/>
            </a:pPr>
            <a:r>
              <a:rPr lang="en-GB" sz="2200"/>
              <a:t>bio:Species rdf:type rdfs:Class.</a:t>
            </a:r>
            <a:endParaRPr sz="2200"/>
          </a:p>
          <a:p>
            <a:pPr indent="0" lvl="0" marL="914400" rtl="0" algn="l">
              <a:spcBef>
                <a:spcPts val="0"/>
              </a:spcBef>
              <a:spcAft>
                <a:spcPts val="0"/>
              </a:spcAft>
              <a:buNone/>
            </a:pPr>
            <a:r>
              <a:rPr lang="en-GB" sz="2200"/>
              <a:t>bio:Dog rdf:type rdfs:Species;</a:t>
            </a:r>
            <a:endParaRPr sz="2200"/>
          </a:p>
          <a:p>
            <a:pPr indent="0" lvl="0" marL="0" rtl="0" algn="l">
              <a:spcBef>
                <a:spcPts val="0"/>
              </a:spcBef>
              <a:spcAft>
                <a:spcPts val="0"/>
              </a:spcAft>
              <a:buNone/>
            </a:pPr>
            <a:r>
              <a:rPr lang="en-GB" sz="2200"/>
              <a:t>			rdfs:subClassOf bio:Animal.</a:t>
            </a:r>
            <a:endParaRPr sz="2200"/>
          </a:p>
        </p:txBody>
      </p:sp>
      <p:sp>
        <p:nvSpPr>
          <p:cNvPr id="437" name="Google Shape;437;p53"/>
          <p:cNvSpPr/>
          <p:nvPr/>
        </p:nvSpPr>
        <p:spPr>
          <a:xfrm>
            <a:off x="6012600" y="3590025"/>
            <a:ext cx="2573400" cy="1495200"/>
          </a:xfrm>
          <a:prstGeom prst="wedgeRectCallout">
            <a:avLst>
              <a:gd fmla="val -75141" name="adj1"/>
              <a:gd fmla="val -480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GB" sz="2000">
                <a:solidFill>
                  <a:srgbClr val="CC0000"/>
                </a:solidFill>
              </a:rPr>
              <a:t>Dog là phần tử của lớp Species và là lớp con của lớp Animal.</a:t>
            </a:r>
            <a:endParaRPr i="1" sz="2000">
              <a:solidFill>
                <a:srgbClr val="CC0000"/>
              </a:solidFill>
            </a:endParaRPr>
          </a:p>
        </p:txBody>
      </p:sp>
      <p:sp>
        <p:nvSpPr>
          <p:cNvPr id="438" name="Google Shape;438;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a:t>
            </a:r>
            <a:r>
              <a:rPr lang="en-GB"/>
              <a:t>4.2.</a:t>
            </a:r>
            <a:r>
              <a:rPr lang="en-GB"/>
              <a:t> </a:t>
            </a:r>
            <a:r>
              <a:rPr lang="en-GB"/>
              <a:t>Thiết kế </a:t>
            </a:r>
            <a:r>
              <a:rPr lang="en-GB"/>
              <a:t>lớp dựa trên tập hợp</a:t>
            </a:r>
            <a:endParaRPr/>
          </a:p>
        </p:txBody>
      </p:sp>
      <p:sp>
        <p:nvSpPr>
          <p:cNvPr id="444" name="Google Shape;444;p54"/>
          <p:cNvSpPr/>
          <p:nvPr/>
        </p:nvSpPr>
        <p:spPr>
          <a:xfrm>
            <a:off x="5219700" y="1676400"/>
            <a:ext cx="3168600" cy="3456000"/>
          </a:xfrm>
          <a:prstGeom prst="ellipse">
            <a:avLst/>
          </a:prstGeom>
          <a:noFill/>
          <a:ln cap="flat" cmpd="sng" w="9525">
            <a:solidFill>
              <a:srgbClr val="0033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pic>
        <p:nvPicPr>
          <p:cNvPr descr="j0149627" id="445" name="Google Shape;445;p54"/>
          <p:cNvPicPr preferRelativeResize="0"/>
          <p:nvPr/>
        </p:nvPicPr>
        <p:blipFill rotWithShape="1">
          <a:blip r:embed="rId3">
            <a:alphaModFix/>
          </a:blip>
          <a:srcRect b="0" l="0" r="0" t="0"/>
          <a:stretch/>
        </p:blipFill>
        <p:spPr>
          <a:xfrm>
            <a:off x="539750" y="1458913"/>
            <a:ext cx="1439863" cy="1022350"/>
          </a:xfrm>
          <a:prstGeom prst="rect">
            <a:avLst/>
          </a:prstGeom>
          <a:noFill/>
          <a:ln>
            <a:noFill/>
          </a:ln>
        </p:spPr>
      </p:pic>
      <p:pic>
        <p:nvPicPr>
          <p:cNvPr descr="j0195384" id="446" name="Google Shape;446;p54"/>
          <p:cNvPicPr preferRelativeResize="0"/>
          <p:nvPr/>
        </p:nvPicPr>
        <p:blipFill rotWithShape="1">
          <a:blip r:embed="rId4">
            <a:alphaModFix/>
          </a:blip>
          <a:srcRect b="0" l="0" r="0" t="0"/>
          <a:stretch/>
        </p:blipFill>
        <p:spPr>
          <a:xfrm>
            <a:off x="755650" y="2684463"/>
            <a:ext cx="1128714" cy="1152525"/>
          </a:xfrm>
          <a:prstGeom prst="rect">
            <a:avLst/>
          </a:prstGeom>
          <a:noFill/>
          <a:ln>
            <a:noFill/>
          </a:ln>
        </p:spPr>
      </p:pic>
      <p:pic>
        <p:nvPicPr>
          <p:cNvPr descr="j0342987" id="447" name="Google Shape;447;p54"/>
          <p:cNvPicPr preferRelativeResize="0"/>
          <p:nvPr/>
        </p:nvPicPr>
        <p:blipFill rotWithShape="1">
          <a:blip r:embed="rId5">
            <a:alphaModFix/>
          </a:blip>
          <a:srcRect b="0" l="0" r="0" t="0"/>
          <a:stretch/>
        </p:blipFill>
        <p:spPr>
          <a:xfrm>
            <a:off x="755650" y="3979863"/>
            <a:ext cx="1079499" cy="925512"/>
          </a:xfrm>
          <a:prstGeom prst="rect">
            <a:avLst/>
          </a:prstGeom>
          <a:noFill/>
          <a:ln>
            <a:noFill/>
          </a:ln>
        </p:spPr>
      </p:pic>
      <p:sp>
        <p:nvSpPr>
          <p:cNvPr id="448" name="Google Shape;448;p54"/>
          <p:cNvSpPr/>
          <p:nvPr/>
        </p:nvSpPr>
        <p:spPr>
          <a:xfrm>
            <a:off x="7019925" y="2179638"/>
            <a:ext cx="71400" cy="72900"/>
          </a:xfrm>
          <a:prstGeom prst="ellipse">
            <a:avLst/>
          </a:prstGeom>
          <a:solidFill>
            <a:srgbClr val="003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49" name="Google Shape;449;p54"/>
          <p:cNvSpPr/>
          <p:nvPr/>
        </p:nvSpPr>
        <p:spPr>
          <a:xfrm>
            <a:off x="6300788" y="2324100"/>
            <a:ext cx="71400" cy="72900"/>
          </a:xfrm>
          <a:prstGeom prst="ellipse">
            <a:avLst/>
          </a:prstGeom>
          <a:solidFill>
            <a:srgbClr val="003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50" name="Google Shape;450;p54"/>
          <p:cNvSpPr/>
          <p:nvPr/>
        </p:nvSpPr>
        <p:spPr>
          <a:xfrm>
            <a:off x="7164388" y="3332163"/>
            <a:ext cx="71400" cy="72900"/>
          </a:xfrm>
          <a:prstGeom prst="ellipse">
            <a:avLst/>
          </a:prstGeom>
          <a:solidFill>
            <a:srgbClr val="003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51" name="Google Shape;451;p54"/>
          <p:cNvSpPr/>
          <p:nvPr/>
        </p:nvSpPr>
        <p:spPr>
          <a:xfrm>
            <a:off x="6588125" y="3043238"/>
            <a:ext cx="71400" cy="72900"/>
          </a:xfrm>
          <a:prstGeom prst="ellipse">
            <a:avLst/>
          </a:prstGeom>
          <a:solidFill>
            <a:srgbClr val="003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52" name="Google Shape;452;p54"/>
          <p:cNvSpPr/>
          <p:nvPr/>
        </p:nvSpPr>
        <p:spPr>
          <a:xfrm>
            <a:off x="7524750" y="3763963"/>
            <a:ext cx="71400" cy="72900"/>
          </a:xfrm>
          <a:prstGeom prst="ellipse">
            <a:avLst/>
          </a:prstGeom>
          <a:solidFill>
            <a:srgbClr val="003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53" name="Google Shape;453;p54"/>
          <p:cNvSpPr/>
          <p:nvPr/>
        </p:nvSpPr>
        <p:spPr>
          <a:xfrm>
            <a:off x="6156325" y="3908425"/>
            <a:ext cx="71400" cy="72900"/>
          </a:xfrm>
          <a:prstGeom prst="ellipse">
            <a:avLst/>
          </a:prstGeom>
          <a:solidFill>
            <a:srgbClr val="003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54" name="Google Shape;454;p54"/>
          <p:cNvSpPr/>
          <p:nvPr/>
        </p:nvSpPr>
        <p:spPr>
          <a:xfrm>
            <a:off x="7092950" y="4627563"/>
            <a:ext cx="71400" cy="72900"/>
          </a:xfrm>
          <a:prstGeom prst="ellipse">
            <a:avLst/>
          </a:prstGeom>
          <a:solidFill>
            <a:srgbClr val="003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55" name="Google Shape;455;p54"/>
          <p:cNvSpPr/>
          <p:nvPr/>
        </p:nvSpPr>
        <p:spPr>
          <a:xfrm>
            <a:off x="6372225" y="4700588"/>
            <a:ext cx="71400" cy="72900"/>
          </a:xfrm>
          <a:prstGeom prst="ellipse">
            <a:avLst/>
          </a:prstGeom>
          <a:solidFill>
            <a:srgbClr val="003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cxnSp>
        <p:nvCxnSpPr>
          <p:cNvPr id="456" name="Google Shape;456;p54"/>
          <p:cNvCxnSpPr/>
          <p:nvPr/>
        </p:nvCxnSpPr>
        <p:spPr>
          <a:xfrm>
            <a:off x="4140200" y="1963738"/>
            <a:ext cx="1944600" cy="647700"/>
          </a:xfrm>
          <a:prstGeom prst="straightConnector1">
            <a:avLst/>
          </a:prstGeom>
          <a:noFill/>
          <a:ln cap="flat" cmpd="sng" w="9525">
            <a:solidFill>
              <a:srgbClr val="003366"/>
            </a:solidFill>
            <a:prstDash val="solid"/>
            <a:round/>
            <a:headEnd len="med" w="med" type="none"/>
            <a:tailEnd len="med" w="med" type="triangle"/>
          </a:ln>
        </p:spPr>
      </p:cxnSp>
      <p:cxnSp>
        <p:nvCxnSpPr>
          <p:cNvPr id="457" name="Google Shape;457;p54"/>
          <p:cNvCxnSpPr/>
          <p:nvPr/>
        </p:nvCxnSpPr>
        <p:spPr>
          <a:xfrm>
            <a:off x="3059113" y="4411663"/>
            <a:ext cx="3241800" cy="288900"/>
          </a:xfrm>
          <a:prstGeom prst="straightConnector1">
            <a:avLst/>
          </a:prstGeom>
          <a:noFill/>
          <a:ln cap="flat" cmpd="sng" w="9525">
            <a:solidFill>
              <a:srgbClr val="003366"/>
            </a:solidFill>
            <a:prstDash val="solid"/>
            <a:round/>
            <a:headEnd len="med" w="med" type="none"/>
            <a:tailEnd len="med" w="med" type="triangle"/>
          </a:ln>
        </p:spPr>
      </p:cxnSp>
      <p:sp>
        <p:nvSpPr>
          <p:cNvPr id="458" name="Google Shape;458;p54"/>
          <p:cNvSpPr txBox="1"/>
          <p:nvPr/>
        </p:nvSpPr>
        <p:spPr>
          <a:xfrm>
            <a:off x="541450" y="955675"/>
            <a:ext cx="1601700" cy="366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rgbClr val="003366"/>
                </a:solidFill>
              </a:rPr>
              <a:t>Thực tế</a:t>
            </a:r>
            <a:endParaRPr b="1" sz="1800">
              <a:solidFill>
                <a:srgbClr val="003366"/>
              </a:solidFill>
            </a:endParaRPr>
          </a:p>
        </p:txBody>
      </p:sp>
      <p:sp>
        <p:nvSpPr>
          <p:cNvPr id="459" name="Google Shape;459;p54"/>
          <p:cNvSpPr txBox="1"/>
          <p:nvPr/>
        </p:nvSpPr>
        <p:spPr>
          <a:xfrm>
            <a:off x="6156325" y="1027113"/>
            <a:ext cx="1728900" cy="366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rgbClr val="003366"/>
                </a:solidFill>
              </a:rPr>
              <a:t>Biểu diễn</a:t>
            </a:r>
            <a:endParaRPr b="1" sz="1800">
              <a:solidFill>
                <a:srgbClr val="003366"/>
              </a:solidFill>
            </a:endParaRPr>
          </a:p>
        </p:txBody>
      </p:sp>
      <p:sp>
        <p:nvSpPr>
          <p:cNvPr id="460" name="Google Shape;460;p54"/>
          <p:cNvSpPr/>
          <p:nvPr/>
        </p:nvSpPr>
        <p:spPr>
          <a:xfrm>
            <a:off x="5580063" y="1963738"/>
            <a:ext cx="2663700" cy="2376600"/>
          </a:xfrm>
          <a:prstGeom prst="ellipse">
            <a:avLst/>
          </a:prstGeom>
          <a:noFill/>
          <a:ln cap="flat" cmpd="sng" w="9525">
            <a:solidFill>
              <a:srgbClr val="003366"/>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61" name="Google Shape;461;p54"/>
          <p:cNvSpPr/>
          <p:nvPr/>
        </p:nvSpPr>
        <p:spPr>
          <a:xfrm>
            <a:off x="7019925" y="2251075"/>
            <a:ext cx="792300" cy="1800300"/>
          </a:xfrm>
          <a:prstGeom prst="ellipse">
            <a:avLst/>
          </a:prstGeom>
          <a:noFill/>
          <a:ln cap="flat" cmpd="sng" w="9525">
            <a:solidFill>
              <a:srgbClr val="003366"/>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cxnSp>
        <p:nvCxnSpPr>
          <p:cNvPr id="462" name="Google Shape;462;p54"/>
          <p:cNvCxnSpPr/>
          <p:nvPr/>
        </p:nvCxnSpPr>
        <p:spPr>
          <a:xfrm>
            <a:off x="4572000" y="2395538"/>
            <a:ext cx="1079400" cy="288900"/>
          </a:xfrm>
          <a:prstGeom prst="straightConnector1">
            <a:avLst/>
          </a:prstGeom>
          <a:noFill/>
          <a:ln cap="flat" cmpd="sng" w="9525">
            <a:solidFill>
              <a:srgbClr val="003366"/>
            </a:solidFill>
            <a:prstDash val="solid"/>
            <a:round/>
            <a:headEnd len="med" w="med" type="none"/>
            <a:tailEnd len="med" w="med" type="triangle"/>
          </a:ln>
        </p:spPr>
      </p:cxnSp>
      <p:sp>
        <p:nvSpPr>
          <p:cNvPr id="463" name="Google Shape;463;p54"/>
          <p:cNvSpPr txBox="1"/>
          <p:nvPr/>
        </p:nvSpPr>
        <p:spPr>
          <a:xfrm>
            <a:off x="2484438" y="1747838"/>
            <a:ext cx="2232000" cy="779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rPr>
              <a:t>Daisy isA Cow</a:t>
            </a:r>
            <a:endParaRPr sz="1800"/>
          </a:p>
          <a:p>
            <a:pPr indent="0" lvl="0" marL="0" marR="0" rtl="0" algn="l">
              <a:spcBef>
                <a:spcPts val="900"/>
              </a:spcBef>
              <a:spcAft>
                <a:spcPts val="0"/>
              </a:spcAft>
              <a:buNone/>
            </a:pPr>
            <a:r>
              <a:rPr lang="en-GB" sz="1800">
                <a:solidFill>
                  <a:srgbClr val="003366"/>
                </a:solidFill>
              </a:rPr>
              <a:t>Cow kindOf Animal</a:t>
            </a:r>
            <a:endParaRPr sz="1800">
              <a:solidFill>
                <a:srgbClr val="003366"/>
              </a:solidFill>
            </a:endParaRPr>
          </a:p>
        </p:txBody>
      </p:sp>
      <p:sp>
        <p:nvSpPr>
          <p:cNvPr id="464" name="Google Shape;464;p54"/>
          <p:cNvSpPr txBox="1"/>
          <p:nvPr/>
        </p:nvSpPr>
        <p:spPr>
          <a:xfrm>
            <a:off x="2411413" y="2900363"/>
            <a:ext cx="2520900" cy="779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rPr>
              <a:t>Mary isA Person</a:t>
            </a:r>
            <a:endParaRPr sz="1800"/>
          </a:p>
          <a:p>
            <a:pPr indent="0" lvl="0" marL="0" marR="0" rtl="0" algn="l">
              <a:spcBef>
                <a:spcPts val="900"/>
              </a:spcBef>
              <a:spcAft>
                <a:spcPts val="0"/>
              </a:spcAft>
              <a:buNone/>
            </a:pPr>
            <a:r>
              <a:rPr lang="en-GB" sz="1800">
                <a:solidFill>
                  <a:srgbClr val="003366"/>
                </a:solidFill>
              </a:rPr>
              <a:t>Person kindOf Animal</a:t>
            </a:r>
            <a:endParaRPr sz="1800">
              <a:solidFill>
                <a:srgbClr val="003366"/>
              </a:solidFill>
            </a:endParaRPr>
          </a:p>
        </p:txBody>
      </p:sp>
      <p:sp>
        <p:nvSpPr>
          <p:cNvPr id="465" name="Google Shape;465;p54"/>
          <p:cNvSpPr txBox="1"/>
          <p:nvPr/>
        </p:nvSpPr>
        <p:spPr>
          <a:xfrm>
            <a:off x="2555875" y="4051300"/>
            <a:ext cx="2376600" cy="366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rPr>
              <a:t>Z123ABC isA Car</a:t>
            </a:r>
            <a:endParaRPr sz="1800">
              <a:solidFill>
                <a:srgbClr val="003366"/>
              </a:solidFill>
            </a:endParaRPr>
          </a:p>
        </p:txBody>
      </p:sp>
      <p:sp>
        <p:nvSpPr>
          <p:cNvPr id="466" name="Google Shape;466;p54"/>
          <p:cNvSpPr txBox="1"/>
          <p:nvPr/>
        </p:nvSpPr>
        <p:spPr>
          <a:xfrm>
            <a:off x="8172450" y="1387475"/>
            <a:ext cx="504900" cy="366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latin typeface="Noto Sans Symbols"/>
                <a:ea typeface="Noto Sans Symbols"/>
                <a:cs typeface="Noto Sans Symbols"/>
                <a:sym typeface="Noto Sans Symbols"/>
              </a:rPr>
              <a:t>Δ</a:t>
            </a:r>
            <a:endParaRPr/>
          </a:p>
        </p:txBody>
      </p:sp>
      <p:cxnSp>
        <p:nvCxnSpPr>
          <p:cNvPr id="467" name="Google Shape;467;p54"/>
          <p:cNvCxnSpPr/>
          <p:nvPr/>
        </p:nvCxnSpPr>
        <p:spPr>
          <a:xfrm flipH="1">
            <a:off x="7308750" y="1603375"/>
            <a:ext cx="863700" cy="144600"/>
          </a:xfrm>
          <a:prstGeom prst="straightConnector1">
            <a:avLst/>
          </a:prstGeom>
          <a:noFill/>
          <a:ln cap="flat" cmpd="sng" w="9525">
            <a:solidFill>
              <a:srgbClr val="003366"/>
            </a:solidFill>
            <a:prstDash val="solid"/>
            <a:round/>
            <a:headEnd len="med" w="med" type="none"/>
            <a:tailEnd len="med" w="med" type="triangle"/>
          </a:ln>
        </p:spPr>
      </p:cxnSp>
      <p:sp>
        <p:nvSpPr>
          <p:cNvPr id="468" name="Google Shape;468;p54"/>
          <p:cNvSpPr txBox="1"/>
          <p:nvPr/>
        </p:nvSpPr>
        <p:spPr>
          <a:xfrm>
            <a:off x="5423700" y="5407025"/>
            <a:ext cx="3396600" cy="524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rPr>
              <a:t>{... </a:t>
            </a:r>
            <a:r>
              <a:rPr lang="en-GB" sz="1800">
                <a:solidFill>
                  <a:srgbClr val="003366"/>
                </a:solidFill>
              </a:rPr>
              <a:t>D</a:t>
            </a:r>
            <a:r>
              <a:rPr lang="en-GB" sz="1800">
                <a:solidFill>
                  <a:srgbClr val="003366"/>
                </a:solidFill>
              </a:rPr>
              <a:t>ữ kiện về các phần tử ...}</a:t>
            </a:r>
            <a:endParaRPr sz="1800"/>
          </a:p>
        </p:txBody>
      </p:sp>
      <p:sp>
        <p:nvSpPr>
          <p:cNvPr id="469" name="Google Shape;469;p54"/>
          <p:cNvSpPr txBox="1"/>
          <p:nvPr/>
        </p:nvSpPr>
        <p:spPr>
          <a:xfrm>
            <a:off x="7164388" y="3259138"/>
            <a:ext cx="3603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400">
                <a:solidFill>
                  <a:srgbClr val="003366"/>
                </a:solidFill>
                <a:latin typeface="Calibri"/>
                <a:ea typeface="Calibri"/>
                <a:cs typeface="Calibri"/>
                <a:sym typeface="Calibri"/>
              </a:rPr>
              <a:t>a</a:t>
            </a:r>
            <a:endParaRPr baseline="30000" sz="1400">
              <a:solidFill>
                <a:srgbClr val="003366"/>
              </a:solidFill>
              <a:latin typeface="Arial"/>
              <a:ea typeface="Arial"/>
              <a:cs typeface="Arial"/>
              <a:sym typeface="Arial"/>
            </a:endParaRPr>
          </a:p>
        </p:txBody>
      </p:sp>
      <p:sp>
        <p:nvSpPr>
          <p:cNvPr id="470" name="Google Shape;470;p54"/>
          <p:cNvSpPr txBox="1"/>
          <p:nvPr/>
        </p:nvSpPr>
        <p:spPr>
          <a:xfrm>
            <a:off x="6372225" y="4627563"/>
            <a:ext cx="3603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400">
                <a:solidFill>
                  <a:srgbClr val="003366"/>
                </a:solidFill>
                <a:latin typeface="Calibri"/>
                <a:ea typeface="Calibri"/>
                <a:cs typeface="Calibri"/>
                <a:sym typeface="Calibri"/>
              </a:rPr>
              <a:t>b</a:t>
            </a:r>
            <a:endParaRPr baseline="30000" sz="1400">
              <a:solidFill>
                <a:srgbClr val="003366"/>
              </a:solidFill>
              <a:latin typeface="Arial"/>
              <a:ea typeface="Arial"/>
              <a:cs typeface="Arial"/>
              <a:sym typeface="Arial"/>
            </a:endParaRPr>
          </a:p>
        </p:txBody>
      </p:sp>
      <p:sp>
        <p:nvSpPr>
          <p:cNvPr id="471" name="Google Shape;471;p54"/>
          <p:cNvSpPr txBox="1"/>
          <p:nvPr/>
        </p:nvSpPr>
        <p:spPr>
          <a:xfrm>
            <a:off x="3492500" y="1027113"/>
            <a:ext cx="1440000" cy="366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800">
                <a:solidFill>
                  <a:srgbClr val="003366"/>
                </a:solidFill>
              </a:rPr>
              <a:t>Mô tả</a:t>
            </a:r>
            <a:endParaRPr b="1" sz="1800">
              <a:solidFill>
                <a:srgbClr val="003366"/>
              </a:solidFill>
            </a:endParaRPr>
          </a:p>
        </p:txBody>
      </p:sp>
      <p:sp>
        <p:nvSpPr>
          <p:cNvPr id="472" name="Google Shape;472;p54"/>
          <p:cNvSpPr txBox="1"/>
          <p:nvPr/>
        </p:nvSpPr>
        <p:spPr>
          <a:xfrm>
            <a:off x="1870075" y="5272088"/>
            <a:ext cx="2592300" cy="366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rPr>
              <a:t>Mary drives Z123ABC</a:t>
            </a:r>
            <a:endParaRPr sz="1800">
              <a:solidFill>
                <a:srgbClr val="003366"/>
              </a:solidFill>
            </a:endParaRPr>
          </a:p>
        </p:txBody>
      </p:sp>
      <p:sp>
        <p:nvSpPr>
          <p:cNvPr id="473" name="Google Shape;473;p54"/>
          <p:cNvSpPr/>
          <p:nvPr/>
        </p:nvSpPr>
        <p:spPr>
          <a:xfrm>
            <a:off x="6084888" y="2108200"/>
            <a:ext cx="792300" cy="1224000"/>
          </a:xfrm>
          <a:prstGeom prst="ellipse">
            <a:avLst/>
          </a:prstGeom>
          <a:noFill/>
          <a:ln cap="flat" cmpd="sng" w="9525">
            <a:solidFill>
              <a:srgbClr val="003366"/>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74" name="Google Shape;474;p54"/>
          <p:cNvSpPr/>
          <p:nvPr/>
        </p:nvSpPr>
        <p:spPr>
          <a:xfrm>
            <a:off x="2987675" y="1303338"/>
            <a:ext cx="3313113" cy="1020763"/>
          </a:xfrm>
          <a:custGeom>
            <a:rect b="b" l="l" r="r" t="t"/>
            <a:pathLst>
              <a:path extrusionOk="0" h="643" w="2087">
                <a:moveTo>
                  <a:pt x="0" y="325"/>
                </a:moveTo>
                <a:cubicBezTo>
                  <a:pt x="415" y="162"/>
                  <a:pt x="831" y="0"/>
                  <a:pt x="1179" y="53"/>
                </a:cubicBezTo>
                <a:cubicBezTo>
                  <a:pt x="1527" y="106"/>
                  <a:pt x="1807" y="374"/>
                  <a:pt x="2087" y="643"/>
                </a:cubicBezTo>
              </a:path>
            </a:pathLst>
          </a:custGeom>
          <a:noFill/>
          <a:ln cap="flat" cmpd="sng" w="9525">
            <a:solidFill>
              <a:srgbClr val="00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Arial"/>
              <a:ea typeface="Arial"/>
              <a:cs typeface="Arial"/>
              <a:sym typeface="Arial"/>
            </a:endParaRPr>
          </a:p>
        </p:txBody>
      </p:sp>
      <p:cxnSp>
        <p:nvCxnSpPr>
          <p:cNvPr id="475" name="Google Shape;475;p54"/>
          <p:cNvCxnSpPr/>
          <p:nvPr/>
        </p:nvCxnSpPr>
        <p:spPr>
          <a:xfrm>
            <a:off x="4787900" y="3548063"/>
            <a:ext cx="936600" cy="216000"/>
          </a:xfrm>
          <a:prstGeom prst="straightConnector1">
            <a:avLst/>
          </a:prstGeom>
          <a:noFill/>
          <a:ln cap="flat" cmpd="sng" w="9525">
            <a:solidFill>
              <a:srgbClr val="003366"/>
            </a:solidFill>
            <a:prstDash val="solid"/>
            <a:round/>
            <a:headEnd len="med" w="med" type="none"/>
            <a:tailEnd len="med" w="med" type="triangle"/>
          </a:ln>
        </p:spPr>
      </p:cxnSp>
      <p:sp>
        <p:nvSpPr>
          <p:cNvPr id="476" name="Google Shape;476;p54"/>
          <p:cNvSpPr/>
          <p:nvPr/>
        </p:nvSpPr>
        <p:spPr>
          <a:xfrm>
            <a:off x="5940425" y="4411663"/>
            <a:ext cx="1655700" cy="576300"/>
          </a:xfrm>
          <a:prstGeom prst="ellipse">
            <a:avLst/>
          </a:prstGeom>
          <a:noFill/>
          <a:ln cap="flat" cmpd="sng" w="9525">
            <a:solidFill>
              <a:srgbClr val="003366"/>
            </a:solidFill>
            <a:prstDash val="dot"/>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cxnSp>
        <p:nvCxnSpPr>
          <p:cNvPr id="477" name="Google Shape;477;p54"/>
          <p:cNvCxnSpPr/>
          <p:nvPr/>
        </p:nvCxnSpPr>
        <p:spPr>
          <a:xfrm>
            <a:off x="4500563" y="4267200"/>
            <a:ext cx="1728900" cy="217500"/>
          </a:xfrm>
          <a:prstGeom prst="straightConnector1">
            <a:avLst/>
          </a:prstGeom>
          <a:noFill/>
          <a:ln cap="flat" cmpd="sng" w="9525">
            <a:solidFill>
              <a:srgbClr val="003366"/>
            </a:solidFill>
            <a:prstDash val="solid"/>
            <a:round/>
            <a:headEnd len="med" w="med" type="none"/>
            <a:tailEnd len="med" w="med" type="triangle"/>
          </a:ln>
        </p:spPr>
      </p:cxnSp>
      <p:cxnSp>
        <p:nvCxnSpPr>
          <p:cNvPr id="478" name="Google Shape;478;p54"/>
          <p:cNvCxnSpPr/>
          <p:nvPr/>
        </p:nvCxnSpPr>
        <p:spPr>
          <a:xfrm>
            <a:off x="4343400" y="5486400"/>
            <a:ext cx="914400" cy="152400"/>
          </a:xfrm>
          <a:prstGeom prst="straightConnector1">
            <a:avLst/>
          </a:prstGeom>
          <a:noFill/>
          <a:ln cap="flat" cmpd="sng" w="9525">
            <a:solidFill>
              <a:srgbClr val="003366"/>
            </a:solidFill>
            <a:prstDash val="solid"/>
            <a:round/>
            <a:headEnd len="med" w="med" type="none"/>
            <a:tailEnd len="med" w="med" type="triangle"/>
          </a:ln>
        </p:spPr>
      </p:cxnSp>
      <p:cxnSp>
        <p:nvCxnSpPr>
          <p:cNvPr id="479" name="Google Shape;479;p54"/>
          <p:cNvCxnSpPr/>
          <p:nvPr/>
        </p:nvCxnSpPr>
        <p:spPr>
          <a:xfrm>
            <a:off x="4211638" y="3116263"/>
            <a:ext cx="2954400" cy="792300"/>
          </a:xfrm>
          <a:prstGeom prst="straightConnector1">
            <a:avLst/>
          </a:prstGeom>
          <a:noFill/>
          <a:ln cap="flat" cmpd="sng" w="9525">
            <a:solidFill>
              <a:srgbClr val="003366"/>
            </a:solidFill>
            <a:prstDash val="solid"/>
            <a:round/>
            <a:headEnd len="med" w="med" type="none"/>
            <a:tailEnd len="med" w="med" type="triangle"/>
          </a:ln>
        </p:spPr>
      </p:cxnSp>
      <p:sp>
        <p:nvSpPr>
          <p:cNvPr id="480" name="Google Shape;480;p54"/>
          <p:cNvSpPr/>
          <p:nvPr/>
        </p:nvSpPr>
        <p:spPr>
          <a:xfrm>
            <a:off x="7380288" y="2611438"/>
            <a:ext cx="71400" cy="72900"/>
          </a:xfrm>
          <a:prstGeom prst="ellipse">
            <a:avLst/>
          </a:prstGeom>
          <a:solidFill>
            <a:srgbClr val="00336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Calibri"/>
              <a:ea typeface="Calibri"/>
              <a:cs typeface="Calibri"/>
              <a:sym typeface="Calibri"/>
            </a:endParaRPr>
          </a:p>
        </p:txBody>
      </p:sp>
      <p:sp>
        <p:nvSpPr>
          <p:cNvPr id="481" name="Google Shape;481;p54"/>
          <p:cNvSpPr/>
          <p:nvPr/>
        </p:nvSpPr>
        <p:spPr>
          <a:xfrm>
            <a:off x="2771775" y="2624138"/>
            <a:ext cx="4321175" cy="708025"/>
          </a:xfrm>
          <a:custGeom>
            <a:rect b="b" l="l" r="r" t="t"/>
            <a:pathLst>
              <a:path extrusionOk="0" h="446" w="2722">
                <a:moveTo>
                  <a:pt x="0" y="219"/>
                </a:moveTo>
                <a:cubicBezTo>
                  <a:pt x="317" y="109"/>
                  <a:pt x="635" y="0"/>
                  <a:pt x="1089" y="38"/>
                </a:cubicBezTo>
                <a:cubicBezTo>
                  <a:pt x="1543" y="76"/>
                  <a:pt x="2132" y="261"/>
                  <a:pt x="2722" y="446"/>
                </a:cubicBezTo>
              </a:path>
            </a:pathLst>
          </a:custGeom>
          <a:noFill/>
          <a:ln cap="flat" cmpd="sng" w="9525">
            <a:solidFill>
              <a:srgbClr val="0033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3366"/>
              </a:solidFill>
              <a:latin typeface="Arial"/>
              <a:ea typeface="Arial"/>
              <a:cs typeface="Arial"/>
              <a:sym typeface="Arial"/>
            </a:endParaRPr>
          </a:p>
        </p:txBody>
      </p:sp>
      <p:sp>
        <p:nvSpPr>
          <p:cNvPr id="482" name="Google Shape;482;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88" name="Google Shape;488;p5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1</a:t>
            </a:r>
            <a:endParaRPr/>
          </a:p>
        </p:txBody>
      </p:sp>
      <p:sp>
        <p:nvSpPr>
          <p:cNvPr id="489" name="Google Shape;489;p55"/>
          <p:cNvSpPr txBox="1"/>
          <p:nvPr>
            <p:ph idx="4294967295" type="body"/>
          </p:nvPr>
        </p:nvSpPr>
        <p:spPr>
          <a:xfrm>
            <a:off x="311700" y="1052075"/>
            <a:ext cx="85206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Thiết lập 1 Biểu diễn đơn giản I </a:t>
            </a:r>
            <a:r>
              <a:rPr i="1" lang="en-GB" sz="2200">
                <a:solidFill>
                  <a:srgbClr val="434343"/>
                </a:solidFill>
              </a:rPr>
              <a:t>thỏa mãn điều kiện mô hình của đồ thị RDF như trong hình:</a:t>
            </a:r>
            <a:endParaRPr i="1"/>
          </a:p>
        </p:txBody>
      </p:sp>
      <p:grpSp>
        <p:nvGrpSpPr>
          <p:cNvPr id="490" name="Google Shape;490;p55"/>
          <p:cNvGrpSpPr/>
          <p:nvPr/>
        </p:nvGrpSpPr>
        <p:grpSpPr>
          <a:xfrm>
            <a:off x="1438776" y="1928775"/>
            <a:ext cx="5714057" cy="1656916"/>
            <a:chOff x="4794120" y="5434208"/>
            <a:chExt cx="4191650" cy="945081"/>
          </a:xfrm>
        </p:grpSpPr>
        <p:sp>
          <p:nvSpPr>
            <p:cNvPr id="491" name="Google Shape;491;p55"/>
            <p:cNvSpPr/>
            <p:nvPr/>
          </p:nvSpPr>
          <p:spPr>
            <a:xfrm>
              <a:off x="4794120" y="5889989"/>
              <a:ext cx="2039700" cy="489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http://exp.org/SW</a:t>
              </a:r>
              <a:endParaRPr sz="1800"/>
            </a:p>
          </p:txBody>
        </p:sp>
        <p:sp>
          <p:nvSpPr>
            <p:cNvPr id="492" name="Google Shape;492;p55"/>
            <p:cNvSpPr/>
            <p:nvPr/>
          </p:nvSpPr>
          <p:spPr>
            <a:xfrm>
              <a:off x="7081370" y="5889985"/>
              <a:ext cx="1904400" cy="489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t>http://abc.com</a:t>
              </a:r>
              <a:endParaRPr sz="1800"/>
            </a:p>
          </p:txBody>
        </p:sp>
        <p:cxnSp>
          <p:nvCxnSpPr>
            <p:cNvPr id="493" name="Google Shape;493;p55"/>
            <p:cNvCxnSpPr>
              <a:stCxn id="491" idx="0"/>
              <a:endCxn id="492" idx="0"/>
            </p:cNvCxnSpPr>
            <p:nvPr/>
          </p:nvCxnSpPr>
          <p:spPr>
            <a:xfrm flipH="1" rot="-5400000">
              <a:off x="6923670" y="4780289"/>
              <a:ext cx="300" cy="2219700"/>
            </a:xfrm>
            <a:prstGeom prst="curvedConnector3">
              <a:avLst>
                <a:gd fmla="val -45275450" name="adj1"/>
              </a:avLst>
            </a:prstGeom>
            <a:noFill/>
            <a:ln cap="flat" cmpd="sng" w="9525">
              <a:solidFill>
                <a:schemeClr val="dk2"/>
              </a:solidFill>
              <a:prstDash val="solid"/>
              <a:round/>
              <a:headEnd len="med" w="med" type="none"/>
              <a:tailEnd len="med" w="med" type="triangle"/>
            </a:ln>
          </p:spPr>
        </p:cxnSp>
        <p:sp>
          <p:nvSpPr>
            <p:cNvPr id="494" name="Google Shape;494;p55"/>
            <p:cNvSpPr txBox="1"/>
            <p:nvPr/>
          </p:nvSpPr>
          <p:spPr>
            <a:xfrm>
              <a:off x="5950314" y="5434208"/>
              <a:ext cx="2154000" cy="30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t>http://exp.org/publishedBy</a:t>
              </a:r>
              <a:endParaRPr sz="1800"/>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00" name="Google Shape;500;p56"/>
          <p:cNvSpPr txBox="1"/>
          <p:nvPr/>
        </p:nvSpPr>
        <p:spPr>
          <a:xfrm>
            <a:off x="342900" y="942725"/>
            <a:ext cx="8281800" cy="21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GB" sz="2400">
                <a:solidFill>
                  <a:schemeClr val="dk2"/>
                </a:solidFill>
              </a:rPr>
              <a:t>1) Tạo 1 biểu diễn RDFS I cho đồ thị và xác định các tập:</a:t>
            </a:r>
            <a:r>
              <a:rPr lang="en-GB" sz="2400">
                <a:solidFill>
                  <a:schemeClr val="dk2"/>
                </a:solidFill>
              </a:rPr>
              <a:t> </a:t>
            </a:r>
            <a:endParaRPr sz="2400">
              <a:solidFill>
                <a:schemeClr val="dk2"/>
              </a:solidFill>
            </a:endParaRPr>
          </a:p>
          <a:p>
            <a:pPr indent="0" lvl="0" marL="0" rtl="0" algn="l">
              <a:lnSpc>
                <a:spcPct val="115000"/>
              </a:lnSpc>
              <a:spcBef>
                <a:spcPts val="0"/>
              </a:spcBef>
              <a:spcAft>
                <a:spcPts val="0"/>
              </a:spcAft>
              <a:buNone/>
            </a:pPr>
            <a:r>
              <a:rPr lang="en-GB" sz="2400">
                <a:solidFill>
                  <a:schemeClr val="dk2"/>
                </a:solidFill>
              </a:rPr>
              <a:t>ICEXT(I(ex:Nutty)),</a:t>
            </a:r>
            <a:endParaRPr sz="2400">
              <a:solidFill>
                <a:schemeClr val="dk2"/>
              </a:solidFill>
            </a:endParaRPr>
          </a:p>
          <a:p>
            <a:pPr indent="0" lvl="0" marL="0" rtl="0" algn="l">
              <a:lnSpc>
                <a:spcPct val="115000"/>
              </a:lnSpc>
              <a:spcBef>
                <a:spcPts val="0"/>
              </a:spcBef>
              <a:spcAft>
                <a:spcPts val="0"/>
              </a:spcAft>
              <a:buNone/>
            </a:pPr>
            <a:r>
              <a:rPr lang="en-GB" sz="2400">
                <a:solidFill>
                  <a:schemeClr val="dk2"/>
                </a:solidFill>
              </a:rPr>
              <a:t>ICEXT(I(ex:Pitiable)), </a:t>
            </a:r>
            <a:endParaRPr sz="2400">
              <a:solidFill>
                <a:schemeClr val="dk2"/>
              </a:solidFill>
            </a:endParaRPr>
          </a:p>
          <a:p>
            <a:pPr indent="0" lvl="0" marL="0" rtl="0" algn="l">
              <a:lnSpc>
                <a:spcPct val="115000"/>
              </a:lnSpc>
              <a:spcBef>
                <a:spcPts val="0"/>
              </a:spcBef>
              <a:spcAft>
                <a:spcPts val="0"/>
              </a:spcAft>
              <a:buNone/>
            </a:pPr>
            <a:r>
              <a:rPr lang="en-GB" sz="2400">
                <a:solidFill>
                  <a:schemeClr val="dk2"/>
                </a:solidFill>
              </a:rPr>
              <a:t>IEXT(I(ex:thaiDishBasedOn)) ?</a:t>
            </a:r>
            <a:endParaRPr sz="2400">
              <a:solidFill>
                <a:schemeClr val="dk2"/>
              </a:solidFill>
            </a:endParaRPr>
          </a:p>
          <a:p>
            <a:pPr indent="0" lvl="0" marL="0" rtl="0" algn="l">
              <a:lnSpc>
                <a:spcPct val="115000"/>
              </a:lnSpc>
              <a:spcBef>
                <a:spcPts val="0"/>
              </a:spcBef>
              <a:spcAft>
                <a:spcPts val="0"/>
              </a:spcAft>
              <a:buNone/>
            </a:pPr>
            <a:r>
              <a:rPr i="1" lang="en-GB" sz="2400">
                <a:solidFill>
                  <a:schemeClr val="dk2"/>
                </a:solidFill>
              </a:rPr>
              <a:t>2) IC = ?</a:t>
            </a:r>
            <a:endParaRPr i="1" sz="2400">
              <a:solidFill>
                <a:schemeClr val="dk2"/>
              </a:solidFill>
            </a:endParaRPr>
          </a:p>
        </p:txBody>
      </p:sp>
      <p:sp>
        <p:nvSpPr>
          <p:cNvPr id="501" name="Google Shape;501;p5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tập 2</a:t>
            </a:r>
            <a:endParaRPr/>
          </a:p>
        </p:txBody>
      </p:sp>
      <p:sp>
        <p:nvSpPr>
          <p:cNvPr id="502" name="Google Shape;502;p56"/>
          <p:cNvSpPr/>
          <p:nvPr/>
        </p:nvSpPr>
        <p:spPr>
          <a:xfrm>
            <a:off x="4537667" y="1709075"/>
            <a:ext cx="34440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200"/>
              <a:t>rdfs:ContainerMembershipProperty</a:t>
            </a:r>
            <a:endParaRPr sz="1200"/>
          </a:p>
        </p:txBody>
      </p:sp>
      <p:sp>
        <p:nvSpPr>
          <p:cNvPr id="503" name="Google Shape;503;p56"/>
          <p:cNvSpPr/>
          <p:nvPr/>
        </p:nvSpPr>
        <p:spPr>
          <a:xfrm>
            <a:off x="5290002" y="3156875"/>
            <a:ext cx="19965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ex:hasIngredient</a:t>
            </a:r>
            <a:endParaRPr/>
          </a:p>
        </p:txBody>
      </p:sp>
      <p:sp>
        <p:nvSpPr>
          <p:cNvPr id="504" name="Google Shape;504;p56"/>
          <p:cNvSpPr/>
          <p:nvPr/>
        </p:nvSpPr>
        <p:spPr>
          <a:xfrm>
            <a:off x="3785967" y="3156875"/>
            <a:ext cx="12972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ex:Thai</a:t>
            </a:r>
            <a:endParaRPr/>
          </a:p>
        </p:txBody>
      </p:sp>
      <p:sp>
        <p:nvSpPr>
          <p:cNvPr id="505" name="Google Shape;505;p56"/>
          <p:cNvSpPr/>
          <p:nvPr/>
        </p:nvSpPr>
        <p:spPr>
          <a:xfrm>
            <a:off x="7443567" y="3156875"/>
            <a:ext cx="12972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ex:Nutty</a:t>
            </a:r>
            <a:endParaRPr/>
          </a:p>
        </p:txBody>
      </p:sp>
      <p:sp>
        <p:nvSpPr>
          <p:cNvPr id="506" name="Google Shape;506;p56"/>
          <p:cNvSpPr/>
          <p:nvPr/>
        </p:nvSpPr>
        <p:spPr>
          <a:xfrm>
            <a:off x="5125640" y="4223675"/>
            <a:ext cx="23433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ex:thaiDishBasedOn</a:t>
            </a:r>
            <a:endParaRPr/>
          </a:p>
        </p:txBody>
      </p:sp>
      <p:sp>
        <p:nvSpPr>
          <p:cNvPr id="507" name="Google Shape;507;p56"/>
          <p:cNvSpPr/>
          <p:nvPr/>
        </p:nvSpPr>
        <p:spPr>
          <a:xfrm>
            <a:off x="658099" y="3156875"/>
            <a:ext cx="17334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ex:Pitiable</a:t>
            </a:r>
            <a:endParaRPr/>
          </a:p>
        </p:txBody>
      </p:sp>
      <p:sp>
        <p:nvSpPr>
          <p:cNvPr id="508" name="Google Shape;508;p56"/>
          <p:cNvSpPr/>
          <p:nvPr/>
        </p:nvSpPr>
        <p:spPr>
          <a:xfrm>
            <a:off x="494745" y="4299875"/>
            <a:ext cx="20664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ex:AllergicToNuts</a:t>
            </a:r>
            <a:endParaRPr/>
          </a:p>
        </p:txBody>
      </p:sp>
      <p:sp>
        <p:nvSpPr>
          <p:cNvPr id="509" name="Google Shape;509;p56"/>
          <p:cNvSpPr/>
          <p:nvPr/>
        </p:nvSpPr>
        <p:spPr>
          <a:xfrm>
            <a:off x="671741" y="5519075"/>
            <a:ext cx="17334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ex:Sebastian</a:t>
            </a:r>
            <a:endParaRPr/>
          </a:p>
        </p:txBody>
      </p:sp>
      <p:sp>
        <p:nvSpPr>
          <p:cNvPr id="510" name="Google Shape;510;p56"/>
          <p:cNvSpPr/>
          <p:nvPr/>
        </p:nvSpPr>
        <p:spPr>
          <a:xfrm>
            <a:off x="3169400" y="5519075"/>
            <a:ext cx="22761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sz="1200"/>
              <a:t>ex:VegetableThaiCurry</a:t>
            </a:r>
            <a:endParaRPr sz="1200"/>
          </a:p>
        </p:txBody>
      </p:sp>
      <p:sp>
        <p:nvSpPr>
          <p:cNvPr id="511" name="Google Shape;511;p56"/>
          <p:cNvSpPr/>
          <p:nvPr/>
        </p:nvSpPr>
        <p:spPr>
          <a:xfrm>
            <a:off x="7128776" y="5519075"/>
            <a:ext cx="1733400" cy="618900"/>
          </a:xfrm>
          <a:prstGeom prst="ellipse">
            <a:avLst/>
          </a:prstGeom>
          <a:no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ex:coconutMilk</a:t>
            </a:r>
            <a:endParaRPr/>
          </a:p>
        </p:txBody>
      </p:sp>
      <p:cxnSp>
        <p:nvCxnSpPr>
          <p:cNvPr id="512" name="Google Shape;512;p56"/>
          <p:cNvCxnSpPr/>
          <p:nvPr/>
        </p:nvCxnSpPr>
        <p:spPr>
          <a:xfrm>
            <a:off x="230525" y="5173025"/>
            <a:ext cx="8555100" cy="0"/>
          </a:xfrm>
          <a:prstGeom prst="straightConnector1">
            <a:avLst/>
          </a:prstGeom>
          <a:noFill/>
          <a:ln cap="flat" cmpd="sng" w="9525">
            <a:solidFill>
              <a:schemeClr val="dk2"/>
            </a:solidFill>
            <a:prstDash val="dash"/>
            <a:round/>
            <a:headEnd len="med" w="med" type="none"/>
            <a:tailEnd len="med" w="med" type="none"/>
          </a:ln>
        </p:spPr>
      </p:cxnSp>
      <p:cxnSp>
        <p:nvCxnSpPr>
          <p:cNvPr id="513" name="Google Shape;513;p56"/>
          <p:cNvCxnSpPr>
            <a:stCxn id="509" idx="6"/>
            <a:endCxn id="510" idx="2"/>
          </p:cNvCxnSpPr>
          <p:nvPr/>
        </p:nvCxnSpPr>
        <p:spPr>
          <a:xfrm>
            <a:off x="2405141" y="5828525"/>
            <a:ext cx="764400" cy="0"/>
          </a:xfrm>
          <a:prstGeom prst="straightConnector1">
            <a:avLst/>
          </a:prstGeom>
          <a:noFill/>
          <a:ln cap="flat" cmpd="sng" w="9525">
            <a:solidFill>
              <a:schemeClr val="dk2"/>
            </a:solidFill>
            <a:prstDash val="solid"/>
            <a:round/>
            <a:headEnd len="med" w="med" type="none"/>
            <a:tailEnd len="med" w="med" type="triangle"/>
          </a:ln>
        </p:spPr>
      </p:cxnSp>
      <p:cxnSp>
        <p:nvCxnSpPr>
          <p:cNvPr id="514" name="Google Shape;514;p56"/>
          <p:cNvCxnSpPr>
            <a:stCxn id="510" idx="6"/>
            <a:endCxn id="511" idx="2"/>
          </p:cNvCxnSpPr>
          <p:nvPr/>
        </p:nvCxnSpPr>
        <p:spPr>
          <a:xfrm>
            <a:off x="5445500" y="5828525"/>
            <a:ext cx="1683300" cy="0"/>
          </a:xfrm>
          <a:prstGeom prst="straightConnector1">
            <a:avLst/>
          </a:prstGeom>
          <a:noFill/>
          <a:ln cap="flat" cmpd="sng" w="9525">
            <a:solidFill>
              <a:schemeClr val="dk2"/>
            </a:solidFill>
            <a:prstDash val="solid"/>
            <a:round/>
            <a:headEnd len="med" w="med" type="none"/>
            <a:tailEnd len="med" w="med" type="triangle"/>
          </a:ln>
        </p:spPr>
      </p:cxnSp>
      <p:cxnSp>
        <p:nvCxnSpPr>
          <p:cNvPr id="515" name="Google Shape;515;p56"/>
          <p:cNvCxnSpPr>
            <a:stCxn id="509" idx="0"/>
            <a:endCxn id="508" idx="4"/>
          </p:cNvCxnSpPr>
          <p:nvPr/>
        </p:nvCxnSpPr>
        <p:spPr>
          <a:xfrm rot="10800000">
            <a:off x="1527941" y="4918775"/>
            <a:ext cx="10500" cy="600300"/>
          </a:xfrm>
          <a:prstGeom prst="straightConnector1">
            <a:avLst/>
          </a:prstGeom>
          <a:noFill/>
          <a:ln cap="flat" cmpd="sng" w="9525">
            <a:solidFill>
              <a:schemeClr val="dk2"/>
            </a:solidFill>
            <a:prstDash val="solid"/>
            <a:round/>
            <a:headEnd len="med" w="med" type="none"/>
            <a:tailEnd len="med" w="med" type="triangle"/>
          </a:ln>
        </p:spPr>
      </p:cxnSp>
      <p:cxnSp>
        <p:nvCxnSpPr>
          <p:cNvPr id="516" name="Google Shape;516;p56"/>
          <p:cNvCxnSpPr>
            <a:stCxn id="508" idx="0"/>
            <a:endCxn id="507" idx="4"/>
          </p:cNvCxnSpPr>
          <p:nvPr/>
        </p:nvCxnSpPr>
        <p:spPr>
          <a:xfrm rot="10800000">
            <a:off x="1524945" y="3775775"/>
            <a:ext cx="3000" cy="524100"/>
          </a:xfrm>
          <a:prstGeom prst="straightConnector1">
            <a:avLst/>
          </a:prstGeom>
          <a:noFill/>
          <a:ln cap="flat" cmpd="sng" w="9525">
            <a:solidFill>
              <a:schemeClr val="dk2"/>
            </a:solidFill>
            <a:prstDash val="solid"/>
            <a:round/>
            <a:headEnd len="med" w="med" type="none"/>
            <a:tailEnd len="med" w="med" type="triangle"/>
          </a:ln>
        </p:spPr>
      </p:cxnSp>
      <p:cxnSp>
        <p:nvCxnSpPr>
          <p:cNvPr id="517" name="Google Shape;517;p56"/>
          <p:cNvCxnSpPr>
            <a:stCxn id="506" idx="0"/>
            <a:endCxn id="503" idx="4"/>
          </p:cNvCxnSpPr>
          <p:nvPr/>
        </p:nvCxnSpPr>
        <p:spPr>
          <a:xfrm rot="10800000">
            <a:off x="6288290" y="3775775"/>
            <a:ext cx="9000" cy="447900"/>
          </a:xfrm>
          <a:prstGeom prst="straightConnector1">
            <a:avLst/>
          </a:prstGeom>
          <a:noFill/>
          <a:ln cap="flat" cmpd="sng" w="9525">
            <a:solidFill>
              <a:schemeClr val="dk2"/>
            </a:solidFill>
            <a:prstDash val="solid"/>
            <a:round/>
            <a:headEnd len="med" w="med" type="none"/>
            <a:tailEnd len="med" w="med" type="triangle"/>
          </a:ln>
        </p:spPr>
      </p:cxnSp>
      <p:cxnSp>
        <p:nvCxnSpPr>
          <p:cNvPr id="518" name="Google Shape;518;p56"/>
          <p:cNvCxnSpPr>
            <a:stCxn id="506" idx="1"/>
            <a:endCxn id="504" idx="5"/>
          </p:cNvCxnSpPr>
          <p:nvPr/>
        </p:nvCxnSpPr>
        <p:spPr>
          <a:xfrm rot="10800000">
            <a:off x="4893108" y="3685211"/>
            <a:ext cx="575700" cy="629100"/>
          </a:xfrm>
          <a:prstGeom prst="straightConnector1">
            <a:avLst/>
          </a:prstGeom>
          <a:noFill/>
          <a:ln cap="flat" cmpd="sng" w="9525">
            <a:solidFill>
              <a:schemeClr val="dk2"/>
            </a:solidFill>
            <a:prstDash val="solid"/>
            <a:round/>
            <a:headEnd len="med" w="med" type="none"/>
            <a:tailEnd len="med" w="med" type="triangle"/>
          </a:ln>
        </p:spPr>
      </p:cxnSp>
      <p:cxnSp>
        <p:nvCxnSpPr>
          <p:cNvPr id="519" name="Google Shape;519;p56"/>
          <p:cNvCxnSpPr>
            <a:stCxn id="506" idx="7"/>
            <a:endCxn id="505" idx="3"/>
          </p:cNvCxnSpPr>
          <p:nvPr/>
        </p:nvCxnSpPr>
        <p:spPr>
          <a:xfrm flipH="1" rot="10800000">
            <a:off x="7125772" y="3685211"/>
            <a:ext cx="507900" cy="629100"/>
          </a:xfrm>
          <a:prstGeom prst="straightConnector1">
            <a:avLst/>
          </a:prstGeom>
          <a:noFill/>
          <a:ln cap="flat" cmpd="sng" w="9525">
            <a:solidFill>
              <a:schemeClr val="dk2"/>
            </a:solidFill>
            <a:prstDash val="solid"/>
            <a:round/>
            <a:headEnd len="med" w="med" type="none"/>
            <a:tailEnd len="med" w="med" type="triangle"/>
          </a:ln>
        </p:spPr>
      </p:cxnSp>
      <p:cxnSp>
        <p:nvCxnSpPr>
          <p:cNvPr id="520" name="Google Shape;520;p56"/>
          <p:cNvCxnSpPr>
            <a:stCxn id="503" idx="0"/>
            <a:endCxn id="502" idx="4"/>
          </p:cNvCxnSpPr>
          <p:nvPr/>
        </p:nvCxnSpPr>
        <p:spPr>
          <a:xfrm rot="10800000">
            <a:off x="6259752" y="2327975"/>
            <a:ext cx="28500" cy="828900"/>
          </a:xfrm>
          <a:prstGeom prst="straightConnector1">
            <a:avLst/>
          </a:prstGeom>
          <a:noFill/>
          <a:ln cap="flat" cmpd="sng" w="9525">
            <a:solidFill>
              <a:schemeClr val="dk2"/>
            </a:solidFill>
            <a:prstDash val="solid"/>
            <a:round/>
            <a:headEnd len="med" w="med" type="none"/>
            <a:tailEnd len="med" w="med" type="triangle"/>
          </a:ln>
        </p:spPr>
      </p:cxnSp>
      <p:sp>
        <p:nvSpPr>
          <p:cNvPr id="521" name="Google Shape;521;p56"/>
          <p:cNvSpPr txBox="1"/>
          <p:nvPr/>
        </p:nvSpPr>
        <p:spPr>
          <a:xfrm>
            <a:off x="2396750" y="5472490"/>
            <a:ext cx="1207800" cy="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ex:eats</a:t>
            </a:r>
            <a:endParaRPr>
              <a:solidFill>
                <a:schemeClr val="dk2"/>
              </a:solidFill>
            </a:endParaRPr>
          </a:p>
        </p:txBody>
      </p:sp>
      <p:sp>
        <p:nvSpPr>
          <p:cNvPr id="522" name="Google Shape;522;p56"/>
          <p:cNvSpPr txBox="1"/>
          <p:nvPr/>
        </p:nvSpPr>
        <p:spPr>
          <a:xfrm>
            <a:off x="5368550" y="5472500"/>
            <a:ext cx="1851600" cy="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ex:thaiDishBasedOn</a:t>
            </a:r>
            <a:endParaRPr>
              <a:solidFill>
                <a:schemeClr val="dk2"/>
              </a:solidFill>
            </a:endParaRPr>
          </a:p>
        </p:txBody>
      </p:sp>
      <p:cxnSp>
        <p:nvCxnSpPr>
          <p:cNvPr id="523" name="Google Shape;523;p56"/>
          <p:cNvCxnSpPr>
            <a:stCxn id="522" idx="0"/>
            <a:endCxn id="506" idx="4"/>
          </p:cNvCxnSpPr>
          <p:nvPr/>
        </p:nvCxnSpPr>
        <p:spPr>
          <a:xfrm flipH="1" rot="10800000">
            <a:off x="6294350" y="4842500"/>
            <a:ext cx="3000" cy="630000"/>
          </a:xfrm>
          <a:prstGeom prst="straightConnector1">
            <a:avLst/>
          </a:prstGeom>
          <a:noFill/>
          <a:ln cap="flat" cmpd="sng" w="19050">
            <a:solidFill>
              <a:schemeClr val="dk2"/>
            </a:solidFill>
            <a:prstDash val="dash"/>
            <a:round/>
            <a:headEnd len="med" w="med" type="none"/>
            <a:tailEnd len="med" w="med" type="none"/>
          </a:ln>
        </p:spPr>
      </p:cxnSp>
      <p:sp>
        <p:nvSpPr>
          <p:cNvPr id="524" name="Google Shape;524;p56"/>
          <p:cNvSpPr txBox="1"/>
          <p:nvPr/>
        </p:nvSpPr>
        <p:spPr>
          <a:xfrm>
            <a:off x="1558550" y="5091499"/>
            <a:ext cx="833100" cy="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rdf:type</a:t>
            </a:r>
            <a:endParaRPr>
              <a:solidFill>
                <a:schemeClr val="dk2"/>
              </a:solidFill>
            </a:endParaRPr>
          </a:p>
        </p:txBody>
      </p:sp>
      <p:sp>
        <p:nvSpPr>
          <p:cNvPr id="525" name="Google Shape;525;p56"/>
          <p:cNvSpPr txBox="1"/>
          <p:nvPr/>
        </p:nvSpPr>
        <p:spPr>
          <a:xfrm>
            <a:off x="1482350" y="3796100"/>
            <a:ext cx="15432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rdfs:subClassOf</a:t>
            </a:r>
            <a:endParaRPr>
              <a:solidFill>
                <a:schemeClr val="dk2"/>
              </a:solidFill>
            </a:endParaRPr>
          </a:p>
        </p:txBody>
      </p:sp>
      <p:sp>
        <p:nvSpPr>
          <p:cNvPr id="526" name="Google Shape;526;p56"/>
          <p:cNvSpPr txBox="1"/>
          <p:nvPr/>
        </p:nvSpPr>
        <p:spPr>
          <a:xfrm>
            <a:off x="6282950" y="2500699"/>
            <a:ext cx="833100" cy="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rdf:type</a:t>
            </a:r>
            <a:endParaRPr>
              <a:solidFill>
                <a:schemeClr val="dk2"/>
              </a:solidFill>
            </a:endParaRPr>
          </a:p>
        </p:txBody>
      </p:sp>
      <p:sp>
        <p:nvSpPr>
          <p:cNvPr id="527" name="Google Shape;527;p56"/>
          <p:cNvSpPr txBox="1"/>
          <p:nvPr/>
        </p:nvSpPr>
        <p:spPr>
          <a:xfrm>
            <a:off x="3996950" y="3796100"/>
            <a:ext cx="1128600" cy="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rdfs:domain</a:t>
            </a:r>
            <a:endParaRPr>
              <a:solidFill>
                <a:schemeClr val="dk2"/>
              </a:solidFill>
            </a:endParaRPr>
          </a:p>
        </p:txBody>
      </p:sp>
      <p:sp>
        <p:nvSpPr>
          <p:cNvPr id="528" name="Google Shape;528;p56"/>
          <p:cNvSpPr txBox="1"/>
          <p:nvPr/>
        </p:nvSpPr>
        <p:spPr>
          <a:xfrm>
            <a:off x="7425950" y="3796100"/>
            <a:ext cx="1128600" cy="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rdfs:range</a:t>
            </a:r>
            <a:endParaRPr>
              <a:solidFill>
                <a:schemeClr val="dk2"/>
              </a:solidFill>
            </a:endParaRPr>
          </a:p>
        </p:txBody>
      </p:sp>
      <p:sp>
        <p:nvSpPr>
          <p:cNvPr id="529" name="Google Shape;529;p56"/>
          <p:cNvSpPr txBox="1"/>
          <p:nvPr/>
        </p:nvSpPr>
        <p:spPr>
          <a:xfrm>
            <a:off x="5139950" y="3796100"/>
            <a:ext cx="1733400" cy="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rdfs:subPropertyOf</a:t>
            </a:r>
            <a:endParaRPr>
              <a:solidFill>
                <a:schemeClr val="dk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35" name="Google Shape;535;p57"/>
          <p:cNvSpPr txBox="1"/>
          <p:nvPr>
            <p:ph idx="4294967295" type="body"/>
          </p:nvPr>
        </p:nvSpPr>
        <p:spPr>
          <a:xfrm>
            <a:off x="311700" y="975875"/>
            <a:ext cx="8645400" cy="5385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GB" sz="2200"/>
              <a:t>Chuyển các mô tả sau thành 1 CSTT RDF(S)</a:t>
            </a:r>
            <a:endParaRPr b="1" sz="2200"/>
          </a:p>
          <a:p>
            <a:pPr indent="-368300" lvl="0" marL="457200" rtl="0" algn="l">
              <a:lnSpc>
                <a:spcPct val="100000"/>
              </a:lnSpc>
              <a:spcBef>
                <a:spcPts val="0"/>
              </a:spcBef>
              <a:spcAft>
                <a:spcPts val="0"/>
              </a:spcAft>
              <a:buSzPts val="2200"/>
              <a:buAutoNum type="arabicPeriod"/>
            </a:pPr>
            <a:r>
              <a:rPr lang="en-GB" sz="2200"/>
              <a:t>Mèo, Vẹt, Chó là thú cưng.</a:t>
            </a:r>
            <a:endParaRPr sz="2200"/>
          </a:p>
          <a:p>
            <a:pPr indent="-368300" lvl="0" marL="457200" rtl="0" algn="l">
              <a:lnSpc>
                <a:spcPct val="100000"/>
              </a:lnSpc>
              <a:spcBef>
                <a:spcPts val="0"/>
              </a:spcBef>
              <a:spcAft>
                <a:spcPts val="0"/>
              </a:spcAft>
              <a:buSzPts val="2200"/>
              <a:buChar char="-"/>
            </a:pPr>
            <a:r>
              <a:rPr lang="en-GB" sz="2200"/>
              <a:t>Sử dụng các tên Cat, Parrot, Dog, Pet.</a:t>
            </a:r>
            <a:endParaRPr sz="2200"/>
          </a:p>
          <a:p>
            <a:pPr indent="-368300" lvl="0" marL="457200" rtl="0" algn="l">
              <a:lnSpc>
                <a:spcPct val="100000"/>
              </a:lnSpc>
              <a:spcBef>
                <a:spcPts val="0"/>
              </a:spcBef>
              <a:spcAft>
                <a:spcPts val="0"/>
              </a:spcAft>
              <a:buSzPts val="2200"/>
              <a:buAutoNum type="arabicPeriod"/>
            </a:pPr>
            <a:r>
              <a:rPr lang="en-GB" sz="2200"/>
              <a:t>Thuộc tính sở hữu có miền là chủ sở hữu và khoảng là thú cưng</a:t>
            </a:r>
            <a:endParaRPr sz="2200"/>
          </a:p>
          <a:p>
            <a:pPr indent="-368300" lvl="0" marL="457200" rtl="0" algn="l">
              <a:lnSpc>
                <a:spcPct val="100000"/>
              </a:lnSpc>
              <a:spcBef>
                <a:spcPts val="0"/>
              </a:spcBef>
              <a:spcAft>
                <a:spcPts val="0"/>
              </a:spcAft>
              <a:buSzPts val="2200"/>
              <a:buAutoNum type="arabicPeriod"/>
            </a:pPr>
            <a:r>
              <a:rPr lang="en-GB" sz="2200"/>
              <a:t>Chủ sở hữu là người</a:t>
            </a:r>
            <a:endParaRPr sz="2200"/>
          </a:p>
          <a:p>
            <a:pPr indent="-368300" lvl="0" marL="457200" rtl="0" algn="l">
              <a:lnSpc>
                <a:spcPct val="100000"/>
              </a:lnSpc>
              <a:spcBef>
                <a:spcPts val="0"/>
              </a:spcBef>
              <a:spcAft>
                <a:spcPts val="0"/>
              </a:spcAft>
              <a:buSzPts val="2200"/>
              <a:buChar char="-"/>
            </a:pPr>
            <a:r>
              <a:rPr lang="en-GB" sz="2200"/>
              <a:t>Sử dụng các tên Owner, Human, own</a:t>
            </a:r>
            <a:endParaRPr sz="2200"/>
          </a:p>
          <a:p>
            <a:pPr indent="-368300" lvl="0" marL="457200" rtl="0" algn="l">
              <a:lnSpc>
                <a:spcPct val="100000"/>
              </a:lnSpc>
              <a:spcBef>
                <a:spcPts val="0"/>
              </a:spcBef>
              <a:spcAft>
                <a:spcPts val="0"/>
              </a:spcAft>
              <a:buSzPts val="2200"/>
              <a:buAutoNum type="arabicPeriod"/>
            </a:pPr>
            <a:r>
              <a:rPr lang="en-GB" sz="2200"/>
              <a:t>Thuộc tính sinh ra có miền và khoảng đều là thú cưng</a:t>
            </a:r>
            <a:endParaRPr sz="2200"/>
          </a:p>
          <a:p>
            <a:pPr indent="-368300" lvl="0" marL="457200" rtl="0" algn="l">
              <a:lnSpc>
                <a:spcPct val="100000"/>
              </a:lnSpc>
              <a:spcBef>
                <a:spcPts val="0"/>
              </a:spcBef>
              <a:spcAft>
                <a:spcPts val="0"/>
              </a:spcAft>
              <a:buSzPts val="2200"/>
              <a:buChar char="-"/>
            </a:pPr>
            <a:r>
              <a:rPr lang="en-GB" sz="2200"/>
              <a:t>Sử dụng tên offspring.</a:t>
            </a:r>
            <a:endParaRPr sz="2200"/>
          </a:p>
          <a:p>
            <a:pPr indent="-368300" lvl="0" marL="457200" rtl="0" algn="l">
              <a:lnSpc>
                <a:spcPct val="100000"/>
              </a:lnSpc>
              <a:spcBef>
                <a:spcPts val="0"/>
              </a:spcBef>
              <a:spcAft>
                <a:spcPts val="0"/>
              </a:spcAft>
              <a:buSzPts val="2200"/>
              <a:buAutoNum type="arabicPeriod"/>
            </a:pPr>
            <a:r>
              <a:rPr lang="en-GB" sz="2200"/>
              <a:t>Ai sở hữu thú cưng nào thì đồng thời chịu trách nhiệm cho nó</a:t>
            </a:r>
            <a:endParaRPr sz="2200"/>
          </a:p>
          <a:p>
            <a:pPr indent="-368300" lvl="0" marL="457200" rtl="0" algn="l">
              <a:lnSpc>
                <a:spcPct val="100000"/>
              </a:lnSpc>
              <a:spcBef>
                <a:spcPts val="0"/>
              </a:spcBef>
              <a:spcAft>
                <a:spcPts val="0"/>
              </a:spcAft>
              <a:buSzPts val="2200"/>
              <a:buChar char="-"/>
            </a:pPr>
            <a:r>
              <a:rPr lang="en-GB" sz="2200"/>
              <a:t>Sử dụng tên responsibleFor</a:t>
            </a:r>
            <a:endParaRPr sz="2200"/>
          </a:p>
          <a:p>
            <a:pPr indent="-368300" lvl="0" marL="457200" rtl="0" algn="l">
              <a:lnSpc>
                <a:spcPct val="100000"/>
              </a:lnSpc>
              <a:spcBef>
                <a:spcPts val="0"/>
              </a:spcBef>
              <a:spcAft>
                <a:spcPts val="0"/>
              </a:spcAft>
              <a:buSzPts val="2200"/>
              <a:buAutoNum type="arabicPeriod"/>
            </a:pPr>
            <a:r>
              <a:rPr lang="en-GB" sz="2200"/>
              <a:t>Mực là 1 con chó, sinh ra Mun. NVA sở hữu Mực.</a:t>
            </a:r>
            <a:endParaRPr sz="2200"/>
          </a:p>
          <a:p>
            <a:pPr indent="0" lvl="0" marL="0" rtl="0" algn="l">
              <a:lnSpc>
                <a:spcPct val="100000"/>
              </a:lnSpc>
              <a:spcBef>
                <a:spcPts val="0"/>
              </a:spcBef>
              <a:spcAft>
                <a:spcPts val="0"/>
              </a:spcAft>
              <a:buNone/>
            </a:pPr>
            <a:r>
              <a:rPr lang="en-GB" sz="2200"/>
              <a:t>-----------------------------------------------------------------------------------------</a:t>
            </a:r>
            <a:endParaRPr sz="2200"/>
          </a:p>
          <a:p>
            <a:pPr indent="-368300" lvl="0" marL="457200" rtl="0" algn="l">
              <a:lnSpc>
                <a:spcPct val="100000"/>
              </a:lnSpc>
              <a:spcBef>
                <a:spcPts val="0"/>
              </a:spcBef>
              <a:spcAft>
                <a:spcPts val="0"/>
              </a:spcAft>
              <a:buSzPts val="2200"/>
              <a:buAutoNum type="romanUcPeriod"/>
            </a:pPr>
            <a:r>
              <a:rPr lang="en-GB" sz="2200"/>
              <a:t>Viết mô tả bằng Turtle.</a:t>
            </a:r>
            <a:endParaRPr sz="2200"/>
          </a:p>
          <a:p>
            <a:pPr indent="-368300" lvl="0" marL="457200" rtl="0" algn="l">
              <a:lnSpc>
                <a:spcPct val="100000"/>
              </a:lnSpc>
              <a:spcBef>
                <a:spcPts val="0"/>
              </a:spcBef>
              <a:spcAft>
                <a:spcPts val="0"/>
              </a:spcAft>
              <a:buSzPts val="2200"/>
              <a:buAutoNum type="romanUcPeriod"/>
            </a:pPr>
            <a:r>
              <a:rPr lang="en-GB" sz="2200"/>
              <a:t>Tìm 3 bộ 3 có thể được suy diễn dựa trên 1-6.</a:t>
            </a:r>
            <a:endParaRPr sz="2200"/>
          </a:p>
          <a:p>
            <a:pPr indent="-368300" lvl="0" marL="457200" rtl="0" algn="l">
              <a:lnSpc>
                <a:spcPct val="100000"/>
              </a:lnSpc>
              <a:spcBef>
                <a:spcPts val="0"/>
              </a:spcBef>
              <a:spcAft>
                <a:spcPts val="0"/>
              </a:spcAft>
              <a:buSzPts val="2200"/>
              <a:buAutoNum type="romanUcPeriod"/>
            </a:pPr>
            <a:r>
              <a:rPr lang="en-GB" sz="2200"/>
              <a:t>Thiết lập 1 b</a:t>
            </a:r>
            <a:r>
              <a:rPr lang="en-GB" sz="2200"/>
              <a:t>iểu diễn đơn giản</a:t>
            </a:r>
            <a:r>
              <a:rPr lang="en-GB" sz="2200"/>
              <a:t> cho đồ thị thu được theo 1-6?</a:t>
            </a:r>
            <a:endParaRPr sz="2200"/>
          </a:p>
          <a:p>
            <a:pPr indent="-368300" lvl="0" marL="457200" rtl="0" algn="l">
              <a:lnSpc>
                <a:spcPct val="100000"/>
              </a:lnSpc>
              <a:spcBef>
                <a:spcPts val="0"/>
              </a:spcBef>
              <a:spcAft>
                <a:spcPts val="0"/>
              </a:spcAft>
              <a:buSzPts val="2200"/>
              <a:buAutoNum type="romanUcPeriod"/>
            </a:pPr>
            <a:r>
              <a:rPr lang="en-GB" sz="2200"/>
              <a:t>Thử suy diễn với riot?  (riot --rdfs schema.ttl data.ttl)</a:t>
            </a:r>
            <a:endParaRPr sz="2200"/>
          </a:p>
        </p:txBody>
      </p:sp>
      <p:sp>
        <p:nvSpPr>
          <p:cNvPr id="536" name="Google Shape;536;p5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lang="en-GB" sz="3200">
                <a:solidFill>
                  <a:schemeClr val="dk2"/>
                </a:solidFill>
              </a:rPr>
              <a:t>Bài tập 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42" name="Google Shape;542;p58"/>
          <p:cNvSpPr txBox="1"/>
          <p:nvPr>
            <p:ph idx="4294967295" type="body"/>
          </p:nvPr>
        </p:nvSpPr>
        <p:spPr>
          <a:xfrm>
            <a:off x="311700" y="975875"/>
            <a:ext cx="86454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@prefix rdf: &lt;http://www.w3.org/1999/02/22-rdf-syntax-ns#&gt; .</a:t>
            </a:r>
            <a:endParaRPr/>
          </a:p>
          <a:p>
            <a:pPr indent="0" lvl="0" marL="0" rtl="0" algn="l">
              <a:spcBef>
                <a:spcPts val="0"/>
              </a:spcBef>
              <a:spcAft>
                <a:spcPts val="0"/>
              </a:spcAft>
              <a:buNone/>
            </a:pPr>
            <a:r>
              <a:rPr lang="en-GB"/>
              <a:t>@prefix rdfs: &lt;http://www.w3.org/2000/01/rdf-schema#&gt; .</a:t>
            </a:r>
            <a:endParaRPr/>
          </a:p>
          <a:p>
            <a:pPr indent="0" lvl="0" marL="0" rtl="0" algn="l">
              <a:spcBef>
                <a:spcPts val="0"/>
              </a:spcBef>
              <a:spcAft>
                <a:spcPts val="0"/>
              </a:spcAft>
              <a:buNone/>
            </a:pPr>
            <a:r>
              <a:rPr lang="en-GB"/>
              <a:t>@prefix : &lt;http://semweb.edu.vn/pet#&gt; .</a:t>
            </a:r>
            <a:endParaRPr/>
          </a:p>
          <a:p>
            <a:pPr indent="0" lvl="0" marL="0" rtl="0" algn="l">
              <a:spcBef>
                <a:spcPts val="0"/>
              </a:spcBef>
              <a:spcAft>
                <a:spcPts val="0"/>
              </a:spcAft>
              <a:buNone/>
            </a:pPr>
            <a:r>
              <a:rPr lang="en-GB"/>
              <a:t>:Cat rdfs:subClassOf :Pet.</a:t>
            </a:r>
            <a:endParaRPr/>
          </a:p>
          <a:p>
            <a:pPr indent="0" lvl="0" marL="0" rtl="0" algn="l">
              <a:spcBef>
                <a:spcPts val="0"/>
              </a:spcBef>
              <a:spcAft>
                <a:spcPts val="0"/>
              </a:spcAft>
              <a:buNone/>
            </a:pPr>
            <a:r>
              <a:rPr lang="en-GB"/>
              <a:t>:Dog rdfs:subClassOf :Pet.</a:t>
            </a:r>
            <a:endParaRPr/>
          </a:p>
          <a:p>
            <a:pPr indent="0" lvl="0" marL="0" rtl="0" algn="l">
              <a:spcBef>
                <a:spcPts val="0"/>
              </a:spcBef>
              <a:spcAft>
                <a:spcPts val="0"/>
              </a:spcAft>
              <a:buNone/>
            </a:pPr>
            <a:r>
              <a:rPr lang="en-GB"/>
              <a:t>:Parrot rdfs:subClassOf :Pet.</a:t>
            </a:r>
            <a:endParaRPr/>
          </a:p>
          <a:p>
            <a:pPr indent="0" lvl="0" marL="0" rtl="0" algn="l">
              <a:spcBef>
                <a:spcPts val="0"/>
              </a:spcBef>
              <a:spcAft>
                <a:spcPts val="0"/>
              </a:spcAft>
              <a:buNone/>
            </a:pPr>
            <a:r>
              <a:rPr lang="en-GB"/>
              <a:t>:Owner rdfs:subClassOf :Human.</a:t>
            </a:r>
            <a:endParaRPr/>
          </a:p>
          <a:p>
            <a:pPr indent="0" lvl="0" marL="0" rtl="0" algn="l">
              <a:spcBef>
                <a:spcPts val="0"/>
              </a:spcBef>
              <a:spcAft>
                <a:spcPts val="0"/>
              </a:spcAft>
              <a:buNone/>
            </a:pPr>
            <a:r>
              <a:rPr lang="en-GB"/>
              <a:t>:own rdfs:domain :Owner;</a:t>
            </a:r>
            <a:endParaRPr/>
          </a:p>
          <a:p>
            <a:pPr indent="0" lvl="0" marL="0" rtl="0" algn="l">
              <a:spcBef>
                <a:spcPts val="0"/>
              </a:spcBef>
              <a:spcAft>
                <a:spcPts val="0"/>
              </a:spcAft>
              <a:buNone/>
            </a:pPr>
            <a:r>
              <a:rPr lang="en-GB"/>
              <a:t>     rdfs:range :Pet.</a:t>
            </a:r>
            <a:endParaRPr/>
          </a:p>
          <a:p>
            <a:pPr indent="0" lvl="0" marL="0" rtl="0" algn="l">
              <a:spcBef>
                <a:spcPts val="0"/>
              </a:spcBef>
              <a:spcAft>
                <a:spcPts val="0"/>
              </a:spcAft>
              <a:buNone/>
            </a:pPr>
            <a:r>
              <a:rPr lang="en-GB"/>
              <a:t>:offSpring rdfs:domain :Pet;</a:t>
            </a:r>
            <a:endParaRPr/>
          </a:p>
          <a:p>
            <a:pPr indent="0" lvl="0" marL="0" rtl="0" algn="l">
              <a:spcBef>
                <a:spcPts val="0"/>
              </a:spcBef>
              <a:spcAft>
                <a:spcPts val="0"/>
              </a:spcAft>
              <a:buNone/>
            </a:pPr>
            <a:r>
              <a:rPr lang="en-GB"/>
              <a:t>     rdfs:range :Pet.</a:t>
            </a:r>
            <a:endParaRPr/>
          </a:p>
          <a:p>
            <a:pPr indent="0" lvl="0" marL="0" rtl="0" algn="l">
              <a:spcBef>
                <a:spcPts val="0"/>
              </a:spcBef>
              <a:spcAft>
                <a:spcPts val="0"/>
              </a:spcAft>
              <a:buNone/>
            </a:pPr>
            <a:r>
              <a:rPr lang="en-GB"/>
              <a:t>:own rdfs:subPropertyOf :responsibleFor.</a:t>
            </a:r>
            <a:endParaRPr/>
          </a:p>
          <a:p>
            <a:pPr indent="0" lvl="0" marL="457200" rtl="0" algn="l">
              <a:lnSpc>
                <a:spcPct val="100000"/>
              </a:lnSpc>
              <a:spcBef>
                <a:spcPts val="0"/>
              </a:spcBef>
              <a:spcAft>
                <a:spcPts val="0"/>
              </a:spcAft>
              <a:buNone/>
            </a:pPr>
            <a:r>
              <a:t/>
            </a:r>
            <a:endParaRPr sz="2200"/>
          </a:p>
          <a:p>
            <a:pPr indent="0" lvl="0" marL="457200" rtl="0" algn="l">
              <a:lnSpc>
                <a:spcPct val="100000"/>
              </a:lnSpc>
              <a:spcBef>
                <a:spcPts val="0"/>
              </a:spcBef>
              <a:spcAft>
                <a:spcPts val="0"/>
              </a:spcAft>
              <a:buNone/>
            </a:pPr>
            <a:r>
              <a:t/>
            </a:r>
            <a:endParaRPr sz="2200"/>
          </a:p>
        </p:txBody>
      </p:sp>
      <p:sp>
        <p:nvSpPr>
          <p:cNvPr id="543" name="Google Shape;543;p5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lang="en-GB" sz="3200">
                <a:solidFill>
                  <a:schemeClr val="dk2"/>
                </a:solidFill>
              </a:rPr>
              <a:t>pet-schema.ttl</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49" name="Google Shape;549;p59"/>
          <p:cNvSpPr txBox="1"/>
          <p:nvPr>
            <p:ph idx="4294967295" type="body"/>
          </p:nvPr>
        </p:nvSpPr>
        <p:spPr>
          <a:xfrm>
            <a:off x="311700" y="975875"/>
            <a:ext cx="8645400" cy="53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200"/>
              <a:t>@prefix rdf: &lt;http://www.w3.org/1999/02/22-rdf-syntax-ns#&gt; .</a:t>
            </a:r>
            <a:endParaRPr sz="2200"/>
          </a:p>
          <a:p>
            <a:pPr indent="0" lvl="0" marL="0" rtl="0" algn="l">
              <a:spcBef>
                <a:spcPts val="0"/>
              </a:spcBef>
              <a:spcAft>
                <a:spcPts val="0"/>
              </a:spcAft>
              <a:buClr>
                <a:schemeClr val="dk1"/>
              </a:buClr>
              <a:buSzPts val="1100"/>
              <a:buFont typeface="Arial"/>
              <a:buNone/>
            </a:pPr>
            <a:r>
              <a:rPr lang="en-GB" sz="2200"/>
              <a:t>@prefix rdfs: &lt;http://www.w3.org/2000/01/rdf-schema#&gt; .</a:t>
            </a:r>
            <a:endParaRPr sz="2200"/>
          </a:p>
          <a:p>
            <a:pPr indent="0" lvl="0" marL="0" rtl="0" algn="l">
              <a:spcBef>
                <a:spcPts val="0"/>
              </a:spcBef>
              <a:spcAft>
                <a:spcPts val="0"/>
              </a:spcAft>
              <a:buClr>
                <a:schemeClr val="dk1"/>
              </a:buClr>
              <a:buSzPts val="1100"/>
              <a:buFont typeface="Arial"/>
              <a:buNone/>
            </a:pPr>
            <a:r>
              <a:rPr lang="en-GB" sz="2200"/>
              <a:t>@prefix : &lt;http://semweb.edu.vn/pet#&gt; .</a:t>
            </a:r>
            <a:endParaRPr sz="2200"/>
          </a:p>
          <a:p>
            <a:pPr indent="0" lvl="0" marL="0" rtl="0" algn="l">
              <a:spcBef>
                <a:spcPts val="0"/>
              </a:spcBef>
              <a:spcAft>
                <a:spcPts val="0"/>
              </a:spcAft>
              <a:buClr>
                <a:schemeClr val="dk1"/>
              </a:buClr>
              <a:buSzPts val="1100"/>
              <a:buFont typeface="Arial"/>
              <a:buNone/>
            </a:pPr>
            <a:r>
              <a:rPr lang="en-GB" sz="2200"/>
              <a:t>:Muc a :Dog;</a:t>
            </a:r>
            <a:endParaRPr sz="2200"/>
          </a:p>
          <a:p>
            <a:pPr indent="0" lvl="0" marL="0" rtl="0" algn="l">
              <a:spcBef>
                <a:spcPts val="0"/>
              </a:spcBef>
              <a:spcAft>
                <a:spcPts val="0"/>
              </a:spcAft>
              <a:buClr>
                <a:schemeClr val="dk1"/>
              </a:buClr>
              <a:buSzPts val="1100"/>
              <a:buFont typeface="Arial"/>
              <a:buNone/>
            </a:pPr>
            <a:r>
              <a:rPr lang="en-GB" sz="2200"/>
              <a:t>     :offSpring :Mun.</a:t>
            </a:r>
            <a:endParaRPr sz="2200"/>
          </a:p>
          <a:p>
            <a:pPr indent="0" lvl="0" marL="0" rtl="0" algn="l">
              <a:spcBef>
                <a:spcPts val="0"/>
              </a:spcBef>
              <a:spcAft>
                <a:spcPts val="0"/>
              </a:spcAft>
              <a:buClr>
                <a:schemeClr val="dk1"/>
              </a:buClr>
              <a:buSzPts val="1100"/>
              <a:buFont typeface="Arial"/>
              <a:buNone/>
            </a:pPr>
            <a:r>
              <a:rPr lang="en-GB" sz="2200"/>
              <a:t>:NVA :own :Muc.</a:t>
            </a:r>
            <a:endParaRPr sz="2200"/>
          </a:p>
          <a:p>
            <a:pPr indent="0" lvl="0" marL="0" rtl="0" algn="l">
              <a:spcBef>
                <a:spcPts val="0"/>
              </a:spcBef>
              <a:spcAft>
                <a:spcPts val="0"/>
              </a:spcAft>
              <a:buClr>
                <a:schemeClr val="dk1"/>
              </a:buClr>
              <a:buSzPts val="1100"/>
              <a:buFont typeface="Arial"/>
              <a:buNone/>
            </a:pPr>
            <a:r>
              <a:t/>
            </a:r>
            <a:endParaRPr sz="2200"/>
          </a:p>
          <a:p>
            <a:pPr indent="0" lvl="0" marL="0" rtl="0" algn="l">
              <a:spcBef>
                <a:spcPts val="0"/>
              </a:spcBef>
              <a:spcAft>
                <a:spcPts val="0"/>
              </a:spcAft>
              <a:buClr>
                <a:schemeClr val="dk1"/>
              </a:buClr>
              <a:buSzPts val="1100"/>
              <a:buFont typeface="Arial"/>
              <a:buNone/>
            </a:pPr>
            <a:r>
              <a:rPr lang="en-GB" sz="2200"/>
              <a:t># :NVA a :Owner &lt;- :NVA :own :Muc. :own:domain :Owner.</a:t>
            </a:r>
            <a:endParaRPr sz="2200"/>
          </a:p>
          <a:p>
            <a:pPr indent="0" lvl="0" marL="0" rtl="0" algn="l">
              <a:spcBef>
                <a:spcPts val="0"/>
              </a:spcBef>
              <a:spcAft>
                <a:spcPts val="0"/>
              </a:spcAft>
              <a:buClr>
                <a:schemeClr val="dk1"/>
              </a:buClr>
              <a:buSzPts val="1100"/>
              <a:buFont typeface="Arial"/>
              <a:buNone/>
            </a:pPr>
            <a:r>
              <a:rPr lang="en-GB" sz="2200"/>
              <a:t># :Mun a :Pet &lt;- :Muc :offSpring :Mun. :offSpring rdfs:range :Pet.</a:t>
            </a:r>
            <a:endParaRPr sz="2200"/>
          </a:p>
          <a:p>
            <a:pPr indent="0" lvl="0" marL="0" rtl="0" algn="l">
              <a:spcBef>
                <a:spcPts val="0"/>
              </a:spcBef>
              <a:spcAft>
                <a:spcPts val="0"/>
              </a:spcAft>
              <a:buNone/>
            </a:pPr>
            <a:r>
              <a:rPr lang="en-GB" sz="2200"/>
              <a:t># :Muc a :Pet &lt;- :Muc a :Dog. :Dog rdfs:subClassOf :Pet.</a:t>
            </a:r>
            <a:endParaRPr sz="2200"/>
          </a:p>
          <a:p>
            <a:pPr indent="0" lvl="0" marL="0" rtl="0" algn="l">
              <a:spcBef>
                <a:spcPts val="0"/>
              </a:spcBef>
              <a:spcAft>
                <a:spcPts val="0"/>
              </a:spcAft>
              <a:buNone/>
            </a:pPr>
            <a:r>
              <a:rPr lang="en-GB" sz="2200"/>
              <a:t># …</a:t>
            </a:r>
            <a:endParaRPr sz="2200"/>
          </a:p>
        </p:txBody>
      </p:sp>
      <p:sp>
        <p:nvSpPr>
          <p:cNvPr id="550" name="Google Shape;550;p5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lang="en-GB" sz="3200">
                <a:solidFill>
                  <a:schemeClr val="dk2"/>
                </a:solidFill>
              </a:rPr>
              <a:t>pet-data.ttl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556" name="Google Shape;556;p60"/>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