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219E7A-E6AA-4257-86C7-4E65688DD7AC}">
  <a:tblStyle styleId="{76219E7A-E6AA-4257-86C7-4E65688DD7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4" Type="http://schemas.openxmlformats.org/officeDocument/2006/relationships/slide" Target="slides/slide98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43ceb27295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143ceb272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43ceb27295_0_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43ceb2729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b17e440479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b17e4404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b23f66f3ff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b23f66f3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b17e440479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b17e44047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bbd685288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bbd68528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bbd685288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bbd6852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cbbd685288_1_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cbbd685288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eee3d3544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ceee3d35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cbbd685288_1_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cbbd685288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cbbd685288_1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cbbd685288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cbbd685288_1_5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cbbd685288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cbbd685288_1_6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cbbd685288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cbbd685288_1_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cbbd685288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cbbd685288_1_9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cbbd685288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cbbd685288_1_1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cbbd685288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cbbd685288_1_1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cbbd685288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cbbd685288_1_1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cbbd685288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ceee3d3544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ceee3d35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ceee3d3544_0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ceee3d35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ceee3d3544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ceee3d354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ceee3d3544_0_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ceee3d354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cefa57f420_0_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cefa57f42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cefa57f420_0_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cefa57f42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cefa57f420_0_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cefa57f42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cefa6f706b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cefa6f70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cefa6f706b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cefa6f706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cefa6f706b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cefa6f706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cefa6f706b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cefa6f706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cefa6f706b_0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cefa6f706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b23f66f3ff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b23f66f3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b17e440479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b17e44047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a3b3d6a768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a3b3d6a76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cc201b8e12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cc201b8e1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cc201b8e12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cc201b8e1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cc201b8e12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cc201b8e1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cc201b8e12_0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cc201b8e1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cc201b8e12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cc201b8e1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cc201b8e12_0_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cc201b8e1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cc201b8e12_0_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cc201b8e1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cc201b8e12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cc201b8e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cc201b8e12_1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cc201b8e1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cc201b8e12_1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cc201b8e12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cc201b8e12_1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cc201b8e12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cc201b8e12_1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cc201b8e12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d42f2a79aa_0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d42f2a79a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cc201b8e12_1_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cc201b8e12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cc201b8e12_1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cc201b8e12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cc201b8e12_1_7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cc201b8e12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cc201b8e12_1_8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cc201b8e12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43ceb27295_0_1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43ceb2729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cc201b8e12_1_8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cc201b8e12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cc201b8e12_2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cc201b8e1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cc201b8e12_2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cc201b8e12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cc201b8e12_2_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cc201b8e12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cc201b8e12_2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cc201b8e12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cc201b8e12_2_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cc201b8e12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cc201b8e12_2_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cc201b8e12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b23f66f3ff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b23f66f3f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b17e440479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b17e44047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cc201b8e12_2_8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cc201b8e12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cc201b8e12_2_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cc201b8e12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cc201b8e12_2_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cc201b8e12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cc201b8e12_2_1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cc201b8e12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cc201b8e12_2_1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cc201b8e12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cc201b8e12_2_1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cc201b8e12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7db1003a7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27db1003a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7db1003a77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7db1003a7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27db1003a77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27db1003a7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b23f66f3ff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b23f66f3f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b17e440479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b17e44047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cededd4d40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cededd4d4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cededd4d40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cededd4d4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cededd4d40_0_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cededd4d4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cededd4d40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cededd4d4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cededd4d40_0_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cededd4d4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cededd4d40_0_5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cededd4d4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cededd4d40_0_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cededd4d4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cededd4d40_0_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cededd4d4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a8c1ff170a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a8c1ff170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143ceb27295_0_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143ceb2729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7d65586949_0_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7d6558694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7d65586949_0_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7d6558694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143ceb27295_0_1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143ceb27295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143ceb27295_0_1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143ceb2729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a8c1ff170a_0_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a8c1ff170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a3b3d6a768_1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a3b3d6a76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a3b3d6a768_1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a3b3d6a768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a3b3d6a768_1_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a3b3d6a768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a8c1ff170a_0_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a8c1ff170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a8c1ff170a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a8c1ff170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a8c1ff170a_0_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a8c1ff170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a69536245d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a69536245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a69536245d_1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a69536245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a8c1ff170a_0_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a8c1ff170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1ed51a467f1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1ed51a467f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1ed51a467f1_1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1ed51a467f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a8c1ff170a_0_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a8c1ff170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574475"/>
            <a:ext cx="8520600" cy="20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b="1" sz="48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8550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b="1" sz="3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spinrdf.org/spin-shacl.html" TargetMode="External"/><Relationship Id="rId4" Type="http://schemas.openxmlformats.org/officeDocument/2006/relationships/hyperlink" Target="https://www.w3.org/TR/shacl/" TargetMode="External"/><Relationship Id="rId5" Type="http://schemas.openxmlformats.org/officeDocument/2006/relationships/hyperlink" Target="https://jena.apache.org/documentation/shacl/" TargetMode="External"/><Relationship Id="rId6" Type="http://schemas.openxmlformats.org/officeDocument/2006/relationships/hyperlink" Target="https://www.w3.org/TR/shacl-js/" TargetMode="Externa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Relationship Id="rId3" Type="http://schemas.openxmlformats.org/officeDocument/2006/relationships/hyperlink" Target="https://www.w3.org/TR/sparql11-query/" TargetMode="Externa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8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7.xml"/><Relationship Id="rId3" Type="http://schemas.openxmlformats.org/officeDocument/2006/relationships/hyperlink" Target="https://github.com/bangoc/semweb/blob/master/rdf/simpsons.ttl" TargetMode="Externa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8.xml"/><Relationship Id="rId3" Type="http://schemas.openxmlformats.org/officeDocument/2006/relationships/hyperlink" Target="https://dbpedia.org/sparql" TargetMode="External"/><Relationship Id="rId4" Type="http://schemas.openxmlformats.org/officeDocument/2006/relationships/hyperlink" Target="https://lookup.dbpedia.org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idx="4294967295" type="body"/>
          </p:nvPr>
        </p:nvSpPr>
        <p:spPr>
          <a:xfrm>
            <a:off x="464100" y="43553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Soạn bởi: Nguyễn Bá Ngọc</a:t>
            </a:r>
            <a:endParaRPr sz="2600"/>
          </a:p>
        </p:txBody>
      </p:sp>
      <p:sp>
        <p:nvSpPr>
          <p:cNvPr id="59" name="Google Shape;59;p15"/>
          <p:cNvSpPr txBox="1"/>
          <p:nvPr>
            <p:ph type="ctrTitle"/>
          </p:nvPr>
        </p:nvSpPr>
        <p:spPr>
          <a:xfrm>
            <a:off x="311700" y="1574475"/>
            <a:ext cx="8520600" cy="20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Web ngữ nghĩa</a:t>
            </a:r>
            <a:endParaRPr sz="4200"/>
          </a:p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311700" y="38550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Soạn bởi: Nguyễn Bá Ngọc</a:t>
            </a:r>
            <a:endParaRPr sz="2600"/>
          </a:p>
        </p:txBody>
      </p:sp>
      <p:sp>
        <p:nvSpPr>
          <p:cNvPr id="61" name="Google Shape;61;p15"/>
          <p:cNvSpPr txBox="1"/>
          <p:nvPr/>
        </p:nvSpPr>
        <p:spPr>
          <a:xfrm>
            <a:off x="125" y="6116250"/>
            <a:ext cx="91440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Hà Nội-2021</a:t>
            </a:r>
            <a:endParaRPr sz="2600"/>
          </a:p>
        </p:txBody>
      </p:sp>
      <p:sp>
        <p:nvSpPr>
          <p:cNvPr id="62" name="Google Shape;62;p15"/>
          <p:cNvSpPr txBox="1"/>
          <p:nvPr/>
        </p:nvSpPr>
        <p:spPr>
          <a:xfrm>
            <a:off x="491750" y="4667633"/>
            <a:ext cx="26586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Chương 8</a:t>
            </a:r>
            <a:endParaRPr sz="3600"/>
          </a:p>
        </p:txBody>
      </p:sp>
      <p:sp>
        <p:nvSpPr>
          <p:cNvPr id="63" name="Google Shape;63;p15"/>
          <p:cNvSpPr txBox="1"/>
          <p:nvPr>
            <p:ph idx="4294967295" type="title"/>
          </p:nvPr>
        </p:nvSpPr>
        <p:spPr>
          <a:xfrm>
            <a:off x="464100" y="1627233"/>
            <a:ext cx="8520600" cy="26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Web ngữ nghĩa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311700" y="2459625"/>
            <a:ext cx="8520600" cy="16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Chương 8.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SPARQL</a:t>
            </a:r>
            <a:endParaRPr/>
          </a:p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</a:t>
            </a:r>
            <a:r>
              <a:rPr lang="en-GB"/>
              <a:t>ội dung</a:t>
            </a:r>
            <a:endParaRPr/>
          </a:p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8.1. Ngôn ngữ 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8.2. Đại số 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8.3. Biểu diễn luật trong SPARQL: SPIN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8.4. SPARQL và OWL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8.1. Ngôn ngữ 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8.2. Đại số 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8.3. Biểu diễn luật trong SPARQL: SPIN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8.4. SPARQL và OWL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318450" y="818868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ngôn ngữ truy vấn và Web ngữ nghĩa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Làm sao để truy cập dữ liệu RDF(S) và OWL?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Dữ liệu RDF(S)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Suy diễn (Entailment) đơn giản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Suy diễn RDF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Suy diễn RDFS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“Một đồ thị RDF liệu có </a:t>
            </a:r>
            <a:r>
              <a:rPr lang="en-GB"/>
              <a:t>được suy ra </a:t>
            </a:r>
            <a:r>
              <a:rPr lang="en-GB"/>
              <a:t>từ 1 đồ thị </a:t>
            </a:r>
            <a:r>
              <a:rPr lang="en-GB"/>
              <a:t>RDF </a:t>
            </a:r>
            <a:r>
              <a:rPr lang="en-GB"/>
              <a:t>khác?”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ontology OWL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Suy diễn logic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“Có thể suy </a:t>
            </a:r>
            <a:r>
              <a:rPr lang="en-GB"/>
              <a:t>diễn</a:t>
            </a:r>
            <a:r>
              <a:rPr lang="en-GB"/>
              <a:t> quan hệ </a:t>
            </a:r>
            <a:r>
              <a:rPr lang="en-GB"/>
              <a:t>kế thừa</a:t>
            </a:r>
            <a:r>
              <a:rPr lang="en-GB"/>
              <a:t> giữa 2 lớp?”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“Làm s</a:t>
            </a:r>
            <a:r>
              <a:rPr lang="en-GB"/>
              <a:t>ao để</a:t>
            </a:r>
            <a:r>
              <a:rPr lang="en-GB"/>
              <a:t> tìm tất cả các </a:t>
            </a:r>
            <a:r>
              <a:rPr lang="en-GB"/>
              <a:t>phần tử</a:t>
            </a:r>
            <a:r>
              <a:rPr lang="en-GB"/>
              <a:t> của 1 lớp?”</a:t>
            </a:r>
            <a:endParaRPr/>
          </a:p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thành phần cơ bản của SPARQL</a:t>
            </a:r>
            <a:endParaRPr/>
          </a:p>
        </p:txBody>
      </p:sp>
      <p:grpSp>
        <p:nvGrpSpPr>
          <p:cNvPr id="97" name="Google Shape;97;p20"/>
          <p:cNvGrpSpPr/>
          <p:nvPr/>
        </p:nvGrpSpPr>
        <p:grpSpPr>
          <a:xfrm>
            <a:off x="185850" y="884676"/>
            <a:ext cx="4860294" cy="2544385"/>
            <a:chOff x="185844" y="656072"/>
            <a:chExt cx="4748700" cy="2309718"/>
          </a:xfrm>
        </p:grpSpPr>
        <p:sp>
          <p:nvSpPr>
            <p:cNvPr id="98" name="Google Shape;98;p20"/>
            <p:cNvSpPr txBox="1"/>
            <p:nvPr/>
          </p:nvSpPr>
          <p:spPr>
            <a:xfrm>
              <a:off x="185844" y="771290"/>
              <a:ext cx="4748700" cy="2194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18000" spcFirstLastPara="1" rIns="1800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600">
                  <a:solidFill>
                    <a:srgbClr val="666666"/>
                  </a:solidFill>
                </a:rPr>
                <a:t>URIs đầy đủ:</a:t>
              </a:r>
              <a:endParaRPr i="1" sz="1600">
                <a:solidFill>
                  <a:srgbClr val="666666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&lt;http://semweb.edu.vn/example</a:t>
              </a:r>
              <a:r>
                <a:rPr lang="en-GB" sz="1600">
                  <a:solidFill>
                    <a:srgbClr val="666666"/>
                  </a:solidFill>
                </a:rPr>
                <a:t>/ontology</a:t>
              </a:r>
              <a:r>
                <a:rPr lang="en-GB" sz="1600">
                  <a:solidFill>
                    <a:srgbClr val="666666"/>
                  </a:solidFill>
                </a:rPr>
                <a:t>#keyword&gt;</a:t>
              </a:r>
              <a:endParaRPr sz="1600">
                <a:solidFill>
                  <a:srgbClr val="666666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666666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600">
                  <a:solidFill>
                    <a:srgbClr val="666666"/>
                  </a:solidFill>
                </a:rPr>
                <a:t>Viết tắt URIs với các tiền tố:</a:t>
              </a:r>
              <a:endParaRPr i="1" sz="1600">
                <a:solidFill>
                  <a:srgbClr val="666666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PREFIX ex: &lt;http://semweb.edu.vn/example/ontology#&gt;</a:t>
              </a:r>
              <a:endParaRPr sz="1600">
                <a:solidFill>
                  <a:srgbClr val="666666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ex:abc =</a:t>
              </a:r>
              <a:endParaRPr sz="16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     </a:t>
              </a:r>
              <a:r>
                <a:rPr lang="en-GB" sz="1600">
                  <a:solidFill>
                    <a:srgbClr val="666666"/>
                  </a:solidFill>
                </a:rPr>
                <a:t>http://semweb.edu.vn/example/ontology#abc</a:t>
              </a:r>
              <a:endParaRPr sz="1600">
                <a:solidFill>
                  <a:srgbClr val="666666"/>
                </a:solidFill>
              </a:endParaRPr>
            </a:p>
          </p:txBody>
        </p:sp>
        <p:sp>
          <p:nvSpPr>
            <p:cNvPr id="99" name="Google Shape;99;p20"/>
            <p:cNvSpPr txBox="1"/>
            <p:nvPr/>
          </p:nvSpPr>
          <p:spPr>
            <a:xfrm>
              <a:off x="604025" y="656072"/>
              <a:ext cx="835500" cy="334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18000" spcFirstLastPara="1" rIns="1800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/>
                <a:t>URIs</a:t>
              </a:r>
              <a:endParaRPr b="1" sz="1600"/>
            </a:p>
          </p:txBody>
        </p:sp>
      </p:grpSp>
      <p:grpSp>
        <p:nvGrpSpPr>
          <p:cNvPr id="100" name="Google Shape;100;p20"/>
          <p:cNvGrpSpPr/>
          <p:nvPr/>
        </p:nvGrpSpPr>
        <p:grpSpPr>
          <a:xfrm>
            <a:off x="5213200" y="884675"/>
            <a:ext cx="3726220" cy="2544325"/>
            <a:chOff x="185857" y="656075"/>
            <a:chExt cx="4612800" cy="2544325"/>
          </a:xfrm>
        </p:grpSpPr>
        <p:sp>
          <p:nvSpPr>
            <p:cNvPr id="101" name="Google Shape;101;p20"/>
            <p:cNvSpPr txBox="1"/>
            <p:nvPr/>
          </p:nvSpPr>
          <p:spPr>
            <a:xfrm>
              <a:off x="185857" y="771300"/>
              <a:ext cx="4612800" cy="24291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600">
                  <a:solidFill>
                    <a:srgbClr val="666666"/>
                  </a:solidFill>
                </a:rPr>
                <a:t>Chuỗi ký tự:</a:t>
              </a:r>
              <a:endParaRPr i="1" sz="16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"Tháng ba mùa hoa gạo"</a:t>
              </a:r>
              <a:endParaRPr sz="1600">
                <a:solidFill>
                  <a:srgbClr val="666666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600">
                  <a:solidFill>
                    <a:srgbClr val="666666"/>
                  </a:solidFill>
                </a:rPr>
                <a:t>Chuỗi ký tự với thẻ ngôn ngữ:</a:t>
              </a:r>
              <a:endParaRPr i="1" sz="16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"Hà Nội"@vi</a:t>
              </a:r>
              <a:endParaRPr sz="1600">
                <a:solidFill>
                  <a:srgbClr val="666666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600">
                  <a:solidFill>
                    <a:srgbClr val="666666"/>
                  </a:solidFill>
                </a:rPr>
                <a:t>Hằng có định kiểu:</a:t>
              </a:r>
              <a:endParaRPr i="1" sz="16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"99"^^xsd:integer</a:t>
              </a:r>
              <a:endParaRPr sz="1600">
                <a:solidFill>
                  <a:srgbClr val="666666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600">
                  <a:solidFill>
                    <a:srgbClr val="666666"/>
                  </a:solidFill>
                </a:rPr>
                <a:t>Các giản lược:</a:t>
              </a:r>
              <a:endParaRPr i="1" sz="16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true = "true"^^xsd:boolean</a:t>
              </a:r>
              <a:endParaRPr sz="16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3.14 = "3.14"^^xsd:decimal</a:t>
              </a:r>
              <a:endParaRPr sz="1600">
                <a:solidFill>
                  <a:srgbClr val="666666"/>
                </a:solidFill>
              </a:endParaRPr>
            </a:p>
          </p:txBody>
        </p:sp>
        <p:sp>
          <p:nvSpPr>
            <p:cNvPr id="102" name="Google Shape;102;p20"/>
            <p:cNvSpPr txBox="1"/>
            <p:nvPr/>
          </p:nvSpPr>
          <p:spPr>
            <a:xfrm>
              <a:off x="604030" y="656075"/>
              <a:ext cx="1777800" cy="37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/>
                <a:t>Hằng giá trị</a:t>
              </a:r>
              <a:endParaRPr b="1" sz="1600"/>
            </a:p>
          </p:txBody>
        </p:sp>
      </p:grpSp>
      <p:grpSp>
        <p:nvGrpSpPr>
          <p:cNvPr id="103" name="Google Shape;103;p20"/>
          <p:cNvGrpSpPr/>
          <p:nvPr/>
        </p:nvGrpSpPr>
        <p:grpSpPr>
          <a:xfrm>
            <a:off x="185850" y="3704075"/>
            <a:ext cx="4748700" cy="812017"/>
            <a:chOff x="185850" y="656072"/>
            <a:chExt cx="4748700" cy="737125"/>
          </a:xfrm>
        </p:grpSpPr>
        <p:sp>
          <p:nvSpPr>
            <p:cNvPr id="104" name="Google Shape;104;p20"/>
            <p:cNvSpPr txBox="1"/>
            <p:nvPr/>
          </p:nvSpPr>
          <p:spPr>
            <a:xfrm>
              <a:off x="185850" y="771297"/>
              <a:ext cx="4748700" cy="6219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600">
                  <a:solidFill>
                    <a:srgbClr val="666666"/>
                  </a:solidFill>
                </a:rPr>
                <a:t>Dấu ? đứng trước tên biến:</a:t>
              </a:r>
              <a:endParaRPr i="1" sz="16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?x, ?y, ?z</a:t>
              </a:r>
              <a:endParaRPr sz="1600">
                <a:solidFill>
                  <a:srgbClr val="666666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666666"/>
                </a:solidFill>
              </a:endParaRPr>
            </a:p>
          </p:txBody>
        </p:sp>
        <p:sp>
          <p:nvSpPr>
            <p:cNvPr id="105" name="Google Shape;105;p20"/>
            <p:cNvSpPr txBox="1"/>
            <p:nvPr/>
          </p:nvSpPr>
          <p:spPr>
            <a:xfrm>
              <a:off x="604025" y="656072"/>
              <a:ext cx="1131300" cy="334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/>
                <a:t>Các biến</a:t>
              </a:r>
              <a:endParaRPr b="1" sz="1600"/>
            </a:p>
          </p:txBody>
        </p:sp>
      </p:grpSp>
      <p:grpSp>
        <p:nvGrpSpPr>
          <p:cNvPr id="106" name="Google Shape;106;p20"/>
          <p:cNvGrpSpPr/>
          <p:nvPr/>
        </p:nvGrpSpPr>
        <p:grpSpPr>
          <a:xfrm>
            <a:off x="5213354" y="3704066"/>
            <a:ext cx="3726305" cy="812014"/>
            <a:chOff x="185850" y="656076"/>
            <a:chExt cx="4748700" cy="737123"/>
          </a:xfrm>
        </p:grpSpPr>
        <p:sp>
          <p:nvSpPr>
            <p:cNvPr id="107" name="Google Shape;107;p20"/>
            <p:cNvSpPr txBox="1"/>
            <p:nvPr/>
          </p:nvSpPr>
          <p:spPr>
            <a:xfrm>
              <a:off x="185850" y="771298"/>
              <a:ext cx="4748700" cy="6219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600">
                  <a:solidFill>
                    <a:srgbClr val="666666"/>
                  </a:solidFill>
                </a:rPr>
                <a:t>Ghi chú:</a:t>
              </a:r>
              <a:endParaRPr i="1" sz="16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# Ghi chú bắt đầu từ # đến hết dòng</a:t>
              </a:r>
              <a:endParaRPr sz="1600">
                <a:solidFill>
                  <a:srgbClr val="666666"/>
                </a:solidFill>
              </a:endParaRPr>
            </a:p>
          </p:txBody>
        </p:sp>
        <p:sp>
          <p:nvSpPr>
            <p:cNvPr id="108" name="Google Shape;108;p20"/>
            <p:cNvSpPr txBox="1"/>
            <p:nvPr/>
          </p:nvSpPr>
          <p:spPr>
            <a:xfrm>
              <a:off x="604022" y="656076"/>
              <a:ext cx="1399200" cy="334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/>
                <a:t>Ghi chú</a:t>
              </a:r>
              <a:endParaRPr b="1" sz="1600"/>
            </a:p>
          </p:txBody>
        </p:sp>
      </p:grpSp>
      <p:grpSp>
        <p:nvGrpSpPr>
          <p:cNvPr id="109" name="Google Shape;109;p20"/>
          <p:cNvGrpSpPr/>
          <p:nvPr/>
        </p:nvGrpSpPr>
        <p:grpSpPr>
          <a:xfrm>
            <a:off x="185850" y="4618475"/>
            <a:ext cx="8753700" cy="1739668"/>
            <a:chOff x="185850" y="1071105"/>
            <a:chExt cx="8753700" cy="1579219"/>
          </a:xfrm>
        </p:grpSpPr>
        <p:sp>
          <p:nvSpPr>
            <p:cNvPr id="110" name="Google Shape;110;p20"/>
            <p:cNvSpPr txBox="1"/>
            <p:nvPr/>
          </p:nvSpPr>
          <p:spPr>
            <a:xfrm>
              <a:off x="185850" y="1186324"/>
              <a:ext cx="8753700" cy="1464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600">
                  <a:solidFill>
                    <a:srgbClr val="666666"/>
                  </a:solidFill>
                </a:rPr>
                <a:t>So khớp chính xác 1 bộ ba RDF:</a:t>
              </a:r>
              <a:endParaRPr i="1" sz="16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ex:myWidget ex:hasId "abc123" .</a:t>
              </a:r>
              <a:endParaRPr sz="1600">
                <a:solidFill>
                  <a:srgbClr val="666666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600">
                  <a:solidFill>
                    <a:srgbClr val="666666"/>
                  </a:solidFill>
                </a:rPr>
                <a:t>So khớp với 1 biến:</a:t>
              </a:r>
              <a:endParaRPr i="1" sz="16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?person foaf:name "Nguyen Van A" .</a:t>
              </a:r>
              <a:endParaRPr sz="1600">
                <a:solidFill>
                  <a:srgbClr val="666666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600">
                  <a:solidFill>
                    <a:srgbClr val="666666"/>
                  </a:solidFill>
                </a:rPr>
                <a:t>So khớp với nhiều biến:</a:t>
              </a:r>
              <a:endParaRPr i="1" sz="16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666666"/>
                  </a:solidFill>
                </a:rPr>
                <a:t>course:SemTech2021 ?property ?value .</a:t>
              </a:r>
              <a:endParaRPr sz="1600">
                <a:solidFill>
                  <a:srgbClr val="666666"/>
                </a:solidFill>
              </a:endParaRPr>
            </a:p>
          </p:txBody>
        </p:sp>
        <p:sp>
          <p:nvSpPr>
            <p:cNvPr id="111" name="Google Shape;111;p20"/>
            <p:cNvSpPr txBox="1"/>
            <p:nvPr/>
          </p:nvSpPr>
          <p:spPr>
            <a:xfrm>
              <a:off x="604025" y="1071105"/>
              <a:ext cx="1702800" cy="334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/>
                <a:t>C</a:t>
              </a:r>
              <a:r>
                <a:rPr b="1" lang="en-GB" sz="1600"/>
                <a:t>ác mẫu bộ ba</a:t>
              </a:r>
              <a:endParaRPr b="1" sz="1600"/>
            </a:p>
          </p:txBody>
        </p:sp>
      </p:grp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ấu trúc của câu truy vấn</a:t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3131625" y="892100"/>
            <a:ext cx="2964300" cy="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PR</a:t>
            </a:r>
            <a:r>
              <a:rPr lang="en-GB" sz="2400">
                <a:solidFill>
                  <a:srgbClr val="1C4587"/>
                </a:solidFill>
              </a:rPr>
              <a:t>EFIX abc: &lt;...&gt;</a:t>
            </a:r>
            <a:endParaRPr sz="2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PREFIX xyz: &lt;...&gt;</a:t>
            </a:r>
            <a:endParaRPr sz="2400">
              <a:solidFill>
                <a:srgbClr val="1C4587"/>
              </a:solidFill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3131625" y="1730300"/>
            <a:ext cx="29643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SELECT ...</a:t>
            </a:r>
            <a:endParaRPr sz="2400">
              <a:solidFill>
                <a:srgbClr val="1C4587"/>
              </a:solidFill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3131625" y="2139178"/>
            <a:ext cx="2964300" cy="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FROM &lt;...&gt;</a:t>
            </a:r>
            <a:endParaRPr sz="2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FROM NAMED &lt;...&gt;</a:t>
            </a:r>
            <a:endParaRPr sz="2400">
              <a:solidFill>
                <a:srgbClr val="1C4587"/>
              </a:solidFill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3131625" y="2977378"/>
            <a:ext cx="29643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WHERE {</a:t>
            </a:r>
            <a:endParaRPr sz="2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   …</a:t>
            </a:r>
            <a:endParaRPr sz="2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}</a:t>
            </a:r>
            <a:endParaRPr sz="2400">
              <a:solidFill>
                <a:srgbClr val="1C4587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3131625" y="4196578"/>
            <a:ext cx="2964300" cy="2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GROUP BY …</a:t>
            </a:r>
            <a:endParaRPr sz="2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HAVING …</a:t>
            </a:r>
            <a:endParaRPr sz="2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ORDER BY …</a:t>
            </a:r>
            <a:endParaRPr sz="2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LIMIT …</a:t>
            </a:r>
            <a:endParaRPr sz="2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OFFSET …</a:t>
            </a:r>
            <a:endParaRPr sz="2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C4587"/>
                </a:solidFill>
              </a:rPr>
              <a:t>VALUES ...</a:t>
            </a:r>
            <a:endParaRPr sz="2400">
              <a:solidFill>
                <a:srgbClr val="1C4587"/>
              </a:solidFill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2927200" y="1021292"/>
            <a:ext cx="204300" cy="678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321553" y="1000842"/>
            <a:ext cx="1992900" cy="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666666"/>
                </a:solidFill>
              </a:rPr>
              <a:t>Kh</a:t>
            </a:r>
            <a:r>
              <a:rPr i="1" lang="en-GB" sz="1800">
                <a:solidFill>
                  <a:srgbClr val="666666"/>
                </a:solidFill>
              </a:rPr>
              <a:t>ai báo tiền tố, (không bắt buộc)</a:t>
            </a:r>
            <a:endParaRPr i="1" sz="1800">
              <a:solidFill>
                <a:srgbClr val="666666"/>
              </a:solidFill>
            </a:endParaRPr>
          </a:p>
        </p:txBody>
      </p:sp>
      <p:cxnSp>
        <p:nvCxnSpPr>
          <p:cNvPr id="125" name="Google Shape;125;p21"/>
          <p:cNvCxnSpPr/>
          <p:nvPr/>
        </p:nvCxnSpPr>
        <p:spPr>
          <a:xfrm>
            <a:off x="2168719" y="1354009"/>
            <a:ext cx="67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21"/>
          <p:cNvSpPr/>
          <p:nvPr/>
        </p:nvSpPr>
        <p:spPr>
          <a:xfrm>
            <a:off x="5742875" y="1715425"/>
            <a:ext cx="120900" cy="594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6713025" y="1773773"/>
            <a:ext cx="2053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666666"/>
                </a:solidFill>
              </a:rPr>
              <a:t>Biểu thức kết quả</a:t>
            </a:r>
            <a:endParaRPr i="1" sz="1800">
              <a:solidFill>
                <a:srgbClr val="666666"/>
              </a:solidFill>
            </a:endParaRPr>
          </a:p>
        </p:txBody>
      </p:sp>
      <p:cxnSp>
        <p:nvCxnSpPr>
          <p:cNvPr id="128" name="Google Shape;128;p21"/>
          <p:cNvCxnSpPr/>
          <p:nvPr/>
        </p:nvCxnSpPr>
        <p:spPr>
          <a:xfrm flipH="1">
            <a:off x="5913000" y="2013073"/>
            <a:ext cx="849300" cy="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21"/>
          <p:cNvSpPr/>
          <p:nvPr/>
        </p:nvSpPr>
        <p:spPr>
          <a:xfrm>
            <a:off x="2973650" y="2245100"/>
            <a:ext cx="204300" cy="678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381000" y="2094575"/>
            <a:ext cx="1784100" cy="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666666"/>
                </a:solidFill>
              </a:rPr>
              <a:t>Khai báo t</a:t>
            </a:r>
            <a:r>
              <a:rPr i="1" lang="en-GB" sz="1800">
                <a:solidFill>
                  <a:srgbClr val="666666"/>
                </a:solidFill>
              </a:rPr>
              <a:t>ập dữ liệu (không bắt buộc)</a:t>
            </a:r>
            <a:endParaRPr i="1" sz="1800">
              <a:solidFill>
                <a:srgbClr val="666666"/>
              </a:solidFill>
            </a:endParaRPr>
          </a:p>
        </p:txBody>
      </p:sp>
      <p:cxnSp>
        <p:nvCxnSpPr>
          <p:cNvPr id="131" name="Google Shape;131;p21"/>
          <p:cNvCxnSpPr/>
          <p:nvPr/>
        </p:nvCxnSpPr>
        <p:spPr>
          <a:xfrm>
            <a:off x="2118687" y="2584250"/>
            <a:ext cx="808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p21"/>
          <p:cNvSpPr/>
          <p:nvPr/>
        </p:nvSpPr>
        <p:spPr>
          <a:xfrm>
            <a:off x="5055225" y="3090750"/>
            <a:ext cx="204300" cy="1105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 txBox="1"/>
          <p:nvPr/>
        </p:nvSpPr>
        <p:spPr>
          <a:xfrm>
            <a:off x="6629400" y="3303922"/>
            <a:ext cx="20538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666666"/>
                </a:solidFill>
              </a:rPr>
              <a:t>Biểu thức truy xuất dữ liệu</a:t>
            </a:r>
            <a:endParaRPr i="1" sz="1800">
              <a:solidFill>
                <a:srgbClr val="666666"/>
              </a:solidFill>
            </a:endParaRPr>
          </a:p>
        </p:txBody>
      </p:sp>
      <p:cxnSp>
        <p:nvCxnSpPr>
          <p:cNvPr id="134" name="Google Shape;134;p21"/>
          <p:cNvCxnSpPr/>
          <p:nvPr/>
        </p:nvCxnSpPr>
        <p:spPr>
          <a:xfrm rot="10800000">
            <a:off x="5492025" y="3639150"/>
            <a:ext cx="1022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21"/>
          <p:cNvSpPr/>
          <p:nvPr/>
        </p:nvSpPr>
        <p:spPr>
          <a:xfrm>
            <a:off x="2719050" y="4345250"/>
            <a:ext cx="399600" cy="2092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380925" y="4889850"/>
            <a:ext cx="1784100" cy="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666666"/>
                </a:solidFill>
              </a:rPr>
              <a:t>H</a:t>
            </a:r>
            <a:r>
              <a:rPr i="1" lang="en-GB" sz="1800">
                <a:solidFill>
                  <a:srgbClr val="666666"/>
                </a:solidFill>
              </a:rPr>
              <a:t>iệu chỉnh kết quả (không bắt buộc)</a:t>
            </a:r>
            <a:endParaRPr i="1" sz="1800">
              <a:solidFill>
                <a:srgbClr val="666666"/>
              </a:solidFill>
            </a:endParaRPr>
          </a:p>
        </p:txBody>
      </p:sp>
      <p:cxnSp>
        <p:nvCxnSpPr>
          <p:cNvPr id="137" name="Google Shape;137;p21"/>
          <p:cNvCxnSpPr/>
          <p:nvPr/>
        </p:nvCxnSpPr>
        <p:spPr>
          <a:xfrm>
            <a:off x="2211650" y="5386025"/>
            <a:ext cx="4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</a:t>
            </a:r>
            <a:r>
              <a:rPr lang="en-GB"/>
              <a:t>ân loại truy vấn SPARQL</a:t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185850" y="1240200"/>
            <a:ext cx="4302600" cy="2733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rgbClr val="666666"/>
                </a:solidFill>
              </a:rPr>
              <a:t>Xuất các biến và biểu thức cụ thể:</a:t>
            </a:r>
            <a:endParaRPr i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66666"/>
                </a:solidFill>
              </a:rPr>
              <a:t>SELECT ?c ?cap (1000 * ?people AS ?pop)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rgbClr val="666666"/>
                </a:solidFill>
              </a:rPr>
              <a:t>Xuất tất cả các biến:</a:t>
            </a:r>
            <a:endParaRPr i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66666"/>
                </a:solidFill>
              </a:rPr>
              <a:t>SELECT *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rgbClr val="666666"/>
                </a:solidFill>
              </a:rPr>
              <a:t>Xuất các bộ giá trị duy nhất:</a:t>
            </a:r>
            <a:endParaRPr i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66666"/>
                </a:solidFill>
              </a:rPr>
              <a:t>SELECT DISTINCT ?country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rgbClr val="666666"/>
                </a:solidFill>
              </a:rPr>
              <a:t>Kết quả dạng bảng, (XML hoặc JSON):</a:t>
            </a:r>
            <a:endParaRPr i="1" sz="1600">
              <a:solidFill>
                <a:srgbClr val="666666"/>
              </a:solidFill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604025" y="960875"/>
            <a:ext cx="2205300" cy="36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Tr</a:t>
            </a:r>
            <a:r>
              <a:rPr b="1" lang="en-GB" sz="1600"/>
              <a:t>uy vấn SELECT</a:t>
            </a:r>
            <a:endParaRPr b="1" sz="1600"/>
          </a:p>
        </p:txBody>
      </p:sp>
      <p:sp>
        <p:nvSpPr>
          <p:cNvPr id="146" name="Google Shape;146;p22"/>
          <p:cNvSpPr txBox="1"/>
          <p:nvPr/>
        </p:nvSpPr>
        <p:spPr>
          <a:xfrm>
            <a:off x="4683500" y="1240200"/>
            <a:ext cx="4302600" cy="2733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rgbClr val="666666"/>
                </a:solidFill>
              </a:rPr>
              <a:t>Tổng hợp 1 đồ thị RDF:</a:t>
            </a:r>
            <a:endParaRPr i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66666"/>
                </a:solidFill>
              </a:rPr>
              <a:t>CONSTRUCT {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66666"/>
                </a:solidFill>
              </a:rPr>
              <a:t>  ?country a ex:HolidayDestination ;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66666"/>
                </a:solidFill>
              </a:rPr>
              <a:t>      ex:arrive_at ?capital ;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66666"/>
                </a:solidFill>
              </a:rPr>
              <a:t>      ex:population ?population .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66666"/>
                </a:solidFill>
              </a:rPr>
              <a:t>}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rgbClr val="666666"/>
                </a:solidFill>
              </a:rPr>
              <a:t>Kết quả là tài liệu RDF:</a:t>
            </a:r>
            <a:endParaRPr i="1" sz="1600">
              <a:solidFill>
                <a:srgbClr val="666666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023625" y="960875"/>
            <a:ext cx="2554800" cy="36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Truy vấn C</a:t>
            </a:r>
            <a:r>
              <a:rPr b="1" lang="en-GB" sz="1600"/>
              <a:t>ONSTRUCT</a:t>
            </a:r>
            <a:endParaRPr b="1" sz="1600"/>
          </a:p>
        </p:txBody>
      </p:sp>
      <p:sp>
        <p:nvSpPr>
          <p:cNvPr id="148" name="Google Shape;148;p22"/>
          <p:cNvSpPr txBox="1"/>
          <p:nvPr/>
        </p:nvSpPr>
        <p:spPr>
          <a:xfrm>
            <a:off x="185850" y="4516800"/>
            <a:ext cx="4302600" cy="187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rgbClr val="666666"/>
                </a:solidFill>
              </a:rPr>
              <a:t>Kiểm tra liệu xem có hay không bộ ba theo mẫu:</a:t>
            </a:r>
            <a:endParaRPr i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66666"/>
                </a:solidFill>
              </a:rPr>
              <a:t>ASK 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rgbClr val="666666"/>
                </a:solidFill>
              </a:rPr>
              <a:t>Kết quả có thể là true hoặc false:</a:t>
            </a:r>
            <a:endParaRPr i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1155CC"/>
                </a:solidFill>
              </a:rPr>
              <a:t>ask where {</a:t>
            </a:r>
            <a:endParaRPr sz="16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1155CC"/>
                </a:solidFill>
              </a:rPr>
              <a:t>  dbr:Vietnam dbo:capital dbr:Hanoi</a:t>
            </a:r>
            <a:endParaRPr sz="16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155CC"/>
                </a:solidFill>
              </a:rPr>
              <a:t>}  =&gt; true</a:t>
            </a:r>
            <a:endParaRPr sz="1600">
              <a:solidFill>
                <a:srgbClr val="1155CC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604025" y="4237475"/>
            <a:ext cx="1635600" cy="36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Truy vấn </a:t>
            </a:r>
            <a:r>
              <a:rPr b="1" lang="en-GB" sz="1600"/>
              <a:t>ASK</a:t>
            </a:r>
            <a:endParaRPr b="1" sz="1600"/>
          </a:p>
        </p:txBody>
      </p:sp>
      <p:sp>
        <p:nvSpPr>
          <p:cNvPr id="150" name="Google Shape;150;p22"/>
          <p:cNvSpPr txBox="1"/>
          <p:nvPr/>
        </p:nvSpPr>
        <p:spPr>
          <a:xfrm>
            <a:off x="4683500" y="4516800"/>
            <a:ext cx="4302600" cy="187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rgbClr val="666666"/>
                </a:solidFill>
              </a:rPr>
              <a:t>Mô tả tài nguyên khớp với biến được cho:</a:t>
            </a:r>
            <a:endParaRPr i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66666"/>
                </a:solidFill>
              </a:rPr>
              <a:t>DESCRIBE ?c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rgbClr val="666666"/>
                </a:solidFill>
              </a:rPr>
              <a:t>Kết quả là tài liệu RDF:</a:t>
            </a:r>
            <a:endParaRPr i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155CC"/>
                </a:solidFill>
              </a:rPr>
              <a:t>describe dbc:Hanoi</a:t>
            </a:r>
            <a:endParaRPr sz="16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155CC"/>
                </a:solidFill>
              </a:rPr>
              <a:t>=&gt; dbc:Hanoi	rdfs:label	"Hanoi"@en ;</a:t>
            </a:r>
            <a:endParaRPr sz="16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155CC"/>
                </a:solidFill>
              </a:rPr>
              <a:t>	skos:broader dbc:Cities_in_Vietnam ;</a:t>
            </a:r>
            <a:endParaRPr sz="16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155CC"/>
                </a:solidFill>
              </a:rPr>
              <a:t>...</a:t>
            </a:r>
            <a:endParaRPr sz="16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5023625" y="4237475"/>
            <a:ext cx="2436300" cy="36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Truy vấn </a:t>
            </a:r>
            <a:r>
              <a:rPr b="1" lang="en-GB" sz="1600"/>
              <a:t>DESCRIBE</a:t>
            </a:r>
            <a:endParaRPr b="1" sz="1600"/>
          </a:p>
        </p:txBody>
      </p:sp>
      <p:graphicFrame>
        <p:nvGraphicFramePr>
          <p:cNvPr id="152" name="Google Shape;152;p22"/>
          <p:cNvGraphicFramePr/>
          <p:nvPr/>
        </p:nvGraphicFramePr>
        <p:xfrm>
          <a:off x="647700" y="31820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1243675"/>
                <a:gridCol w="1243675"/>
                <a:gridCol w="1243675"/>
              </a:tblGrid>
              <a:tr h="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?c</a:t>
                      </a:r>
                      <a:endParaRPr b="1" sz="1600"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?cap</a:t>
                      </a:r>
                      <a:endParaRPr b="1" sz="1600"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?pop</a:t>
                      </a:r>
                      <a:endParaRPr b="1" sz="1600"/>
                    </a:p>
                  </a:txBody>
                  <a:tcPr marT="54000" marB="54000" marR="91425" marL="91425"/>
                </a:tc>
              </a:tr>
              <a:tr h="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ex:Vietnam</a:t>
                      </a:r>
                      <a:endParaRPr sz="1600"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ex:Hanoi</a:t>
                      </a:r>
                      <a:endParaRPr sz="1600"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95 500 000</a:t>
                      </a:r>
                      <a:endParaRPr sz="1600"/>
                    </a:p>
                  </a:txBody>
                  <a:tcPr marT="54000" marB="54000" marR="91425" marL="91425"/>
                </a:tc>
              </a:tr>
            </a:tbl>
          </a:graphicData>
        </a:graphic>
      </p:graphicFrame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câu lệnh cập nhật trong SPARQL 1.1</a:t>
            </a:r>
            <a:endParaRPr/>
          </a:p>
        </p:txBody>
      </p:sp>
      <p:graphicFrame>
        <p:nvGraphicFramePr>
          <p:cNvPr id="159" name="Google Shape;159;p23"/>
          <p:cNvGraphicFramePr/>
          <p:nvPr/>
        </p:nvGraphicFramePr>
        <p:xfrm>
          <a:off x="459975" y="108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8474925"/>
              </a:tblGrid>
              <a:tr h="53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073763"/>
                          </a:solidFill>
                        </a:rPr>
                        <a:t>Các câu lệnh cập nhật bộ ba</a:t>
                      </a:r>
                      <a:endParaRPr sz="2200">
                        <a:solidFill>
                          <a:srgbClr val="07376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3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INSERT DATA { triples }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53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DELETE DATA {triples}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58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[ DELETE { template } ] [ INSERT { template } ] WHERE { pattern }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53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LOAD &lt;uri&gt; [ INTO GRAPH &lt;uri&gt; ]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53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CLEAR GRAPH &lt;uri&gt;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53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CREATE GRAPH &lt;uri&gt;</a:t>
                      </a:r>
                      <a:endParaRPr sz="2200"/>
                    </a:p>
                  </a:txBody>
                  <a:tcPr marT="91425" marB="91425" marR="91425" marL="91425"/>
                </a:tc>
              </a:tr>
              <a:tr h="53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DROP GRAPH &lt;uri&gt;</a:t>
                      </a:r>
                      <a:endParaRPr sz="2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0" name="Google Shape;160;p23"/>
          <p:cNvSpPr txBox="1"/>
          <p:nvPr/>
        </p:nvSpPr>
        <p:spPr>
          <a:xfrm>
            <a:off x="464625" y="5566325"/>
            <a:ext cx="85206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B5394"/>
                </a:solidFill>
              </a:rPr>
              <a:t>[...] = các thành phần không bắt buộc trong SPARQL 1.1</a:t>
            </a:r>
            <a:endParaRPr sz="2200">
              <a:solidFill>
                <a:srgbClr val="0B5394"/>
              </a:solidFill>
            </a:endParaRPr>
          </a:p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</a:t>
            </a:r>
            <a:r>
              <a:rPr lang="en-GB"/>
              <a:t>ết hợp các mẫu đồ thị SPARQL</a:t>
            </a:r>
            <a:endParaRPr/>
          </a:p>
        </p:txBody>
      </p:sp>
      <p:sp>
        <p:nvSpPr>
          <p:cNvPr id="167" name="Google Shape;167;p24"/>
          <p:cNvSpPr txBox="1"/>
          <p:nvPr>
            <p:ph idx="4294967295" type="body"/>
          </p:nvPr>
        </p:nvSpPr>
        <p:spPr>
          <a:xfrm>
            <a:off x="311700" y="899674"/>
            <a:ext cx="8520600" cy="51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</a:t>
            </a:r>
            <a:r>
              <a:rPr lang="en-GB"/>
              <a:t>o A và B là các mẫu đồ thị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Mẫu đồ thị cơ bản - Basic Graph Pattern (BGP) - bao gồm 1 hoặc nhiều mẫu bộ ba: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Phép giao: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 </a:t>
            </a:r>
            <a:r>
              <a:rPr lang="en-GB"/>
              <a:t>. </a:t>
            </a:r>
            <a:r>
              <a:rPr lang="en-GB" sz="2200"/>
              <a:t>B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Bao gồm các kết quả phân giải A và B bằng cách khớp giá trị của các biến chung.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mẫu không bắt buộc - Optional: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A OPTIONAL { B }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Kết hợp trái (LeftJoin) - Kết hợp các kết quả phân giải A và B bằng cách khớp giá trị cho các biến chung nếu có thể. Lấy tất cả các kết quả từ A dù có kết quả từ B hay không.</a:t>
            </a:r>
            <a:endParaRPr/>
          </a:p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</a:t>
            </a:r>
            <a:r>
              <a:rPr lang="en-GB"/>
              <a:t>ết hợp các mẫu đồ thị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174" name="Google Shape;174;p25"/>
          <p:cNvSpPr txBox="1"/>
          <p:nvPr>
            <p:ph idx="4294967295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Hợp 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{A} Union {B}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Phép hợp - bao gồm các kết quả phân giải A và các kết quả phân giải B.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Trừ (SPARQL 1.1)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A MINUS {B}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Giao với phần bù. Phân giải A. Phân giải B. Chỉ lấy các kết quả phân giải A nhưng không phải là kết quả phân giải B.</a:t>
            </a:r>
            <a:endParaRPr/>
          </a:p>
        </p:txBody>
      </p:sp>
      <p:sp>
        <p:nvSpPr>
          <p:cNvPr id="175" name="Google Shape;175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</a:t>
            </a:r>
            <a:r>
              <a:rPr lang="en-GB"/>
              <a:t>uy vấn con (SPARQL 1.1)</a:t>
            </a:r>
            <a:endParaRPr/>
          </a:p>
        </p:txBody>
      </p:sp>
      <p:sp>
        <p:nvSpPr>
          <p:cNvPr id="181" name="Google Shape;181;p26"/>
          <p:cNvSpPr txBox="1"/>
          <p:nvPr>
            <p:ph idx="4294967295" type="body"/>
          </p:nvPr>
        </p:nvSpPr>
        <p:spPr>
          <a:xfrm>
            <a:off x="311700" y="1040774"/>
            <a:ext cx="8520600" cy="50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</a:t>
            </a:r>
            <a:r>
              <a:rPr lang="en-GB"/>
              <a:t>o A, B và C là các mẫu đồ thị</a:t>
            </a:r>
            <a:endParaRPr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A . {</a:t>
            </a:r>
            <a:endParaRPr>
              <a:solidFill>
                <a:srgbClr val="434343"/>
              </a:solidFill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  SELECT …</a:t>
            </a:r>
            <a:endParaRPr>
              <a:solidFill>
                <a:srgbClr val="1155CC"/>
              </a:solidFill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  WHERE {</a:t>
            </a:r>
            <a:endParaRPr>
              <a:solidFill>
                <a:srgbClr val="1155CC"/>
              </a:solidFill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      B</a:t>
            </a:r>
            <a:endParaRPr>
              <a:solidFill>
                <a:srgbClr val="1155CC"/>
              </a:solidFill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   }</a:t>
            </a:r>
            <a:endParaRPr>
              <a:solidFill>
                <a:srgbClr val="1155CC"/>
              </a:solidFill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}</a:t>
            </a:r>
            <a:endParaRPr>
              <a:solidFill>
                <a:srgbClr val="434343"/>
              </a:solidFill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C 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=&gt; Kết hợp các kết quả của truy vấn con với các kết quả phân giải A và C.</a:t>
            </a:r>
            <a:endParaRPr/>
          </a:p>
        </p:txBody>
      </p:sp>
      <p:sp>
        <p:nvSpPr>
          <p:cNvPr id="182" name="Google Shape;182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bộ lọc SPARQL</a:t>
            </a:r>
            <a:endParaRPr/>
          </a:p>
        </p:txBody>
      </p:sp>
      <p:sp>
        <p:nvSpPr>
          <p:cNvPr id="188" name="Google Shape;188;p27"/>
          <p:cNvSpPr txBox="1"/>
          <p:nvPr>
            <p:ph idx="4294967295" type="body"/>
          </p:nvPr>
        </p:nvSpPr>
        <p:spPr>
          <a:xfrm>
            <a:off x="232850" y="698425"/>
            <a:ext cx="8712900" cy="14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GB">
                <a:solidFill>
                  <a:srgbClr val="434343"/>
                </a:solidFill>
              </a:rPr>
              <a:t>B</a:t>
            </a:r>
            <a:r>
              <a:rPr lang="en-GB">
                <a:solidFill>
                  <a:srgbClr val="434343"/>
                </a:solidFill>
              </a:rPr>
              <a:t>iểu thức lọc (FILTER) lấy những kết quả phân giải thỏa mãn điều kiện lọc (Biểu-thức-lọc = true)</a:t>
            </a:r>
            <a:endParaRPr>
              <a:solidFill>
                <a:srgbClr val="434343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○"/>
            </a:pPr>
            <a:r>
              <a:rPr lang="en-GB">
                <a:solidFill>
                  <a:srgbClr val="434343"/>
                </a:solidFill>
              </a:rPr>
              <a:t>A . B . FILTER (Biểu-thức-lọc)</a:t>
            </a:r>
            <a:endParaRPr>
              <a:solidFill>
                <a:srgbClr val="434343"/>
              </a:solidFill>
            </a:endParaRPr>
          </a:p>
        </p:txBody>
      </p:sp>
      <p:graphicFrame>
        <p:nvGraphicFramePr>
          <p:cNvPr id="189" name="Google Shape;189;p27"/>
          <p:cNvGraphicFramePr/>
          <p:nvPr/>
        </p:nvGraphicFramePr>
        <p:xfrm>
          <a:off x="232700" y="227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2001725"/>
                <a:gridCol w="4181900"/>
                <a:gridCol w="2529225"/>
              </a:tblGrid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rgbClr val="434343"/>
                          </a:solidFill>
                        </a:rPr>
                        <a:t>Danh mục</a:t>
                      </a:r>
                      <a:endParaRPr b="1"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rgbClr val="434343"/>
                          </a:solidFill>
                        </a:rPr>
                        <a:t>H</a:t>
                      </a:r>
                      <a:r>
                        <a:rPr b="1" lang="en-GB" sz="2200">
                          <a:solidFill>
                            <a:srgbClr val="434343"/>
                          </a:solidFill>
                        </a:rPr>
                        <a:t>àm/Toán tử</a:t>
                      </a:r>
                      <a:endParaRPr b="1"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rgbClr val="434343"/>
                          </a:solidFill>
                        </a:rPr>
                        <a:t>V</a:t>
                      </a:r>
                      <a:r>
                        <a:rPr b="1" lang="en-GB" sz="2200">
                          <a:solidFill>
                            <a:srgbClr val="434343"/>
                          </a:solidFill>
                        </a:rPr>
                        <a:t>í dụ</a:t>
                      </a:r>
                      <a:endParaRPr b="1"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</a:tr>
              <a:tr h="59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L</a:t>
                      </a: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ô-gic &amp; so sánh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!, &amp;&amp;, ||, =, !=, &lt;, &lt;=, &gt;, &gt;=, IN, NOT IN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?hasPermit || ?age &lt; 25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</a:tr>
              <a:tr h="59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Điều kiện (SPARQL 1.1)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EXISTS, NOT EXISTS, IF, COALESCE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NOT EXISTS { ?p foaf:mbox ?email }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</a:tr>
              <a:tr h="59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T</a:t>
                      </a: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oán học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+, -, *, /, abs, round, ceil, floor, RAND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?decimal * 10 &gt; ?minPercent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</a:tr>
              <a:tr h="113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Ch</a:t>
                      </a: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uỗi 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(SPARQL 1.1)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STRLEN, SUBSTR, UCASE, LCASE, STRSTARTS, CONCAT, STRENDS, CONTAINS, STRBEFORE, STRAFTER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STRLEN(?desc) &lt; 255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</a:tr>
            </a:tbl>
          </a:graphicData>
        </a:graphic>
      </p:graphicFrame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bộ lọc SPARQL</a:t>
            </a:r>
            <a:r>
              <a:rPr baseline="-25000" lang="en-GB"/>
              <a:t>(2)</a:t>
            </a:r>
            <a:endParaRPr baseline="-25000"/>
          </a:p>
        </p:txBody>
      </p:sp>
      <p:graphicFrame>
        <p:nvGraphicFramePr>
          <p:cNvPr id="196" name="Google Shape;196;p28"/>
          <p:cNvGraphicFramePr/>
          <p:nvPr/>
        </p:nvGraphicFramePr>
        <p:xfrm>
          <a:off x="232700" y="98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1948525"/>
                <a:gridCol w="3789325"/>
                <a:gridCol w="2993100"/>
              </a:tblGrid>
              <a:tr h="40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rgbClr val="434343"/>
                          </a:solidFill>
                        </a:rPr>
                        <a:t>Danh mục</a:t>
                      </a:r>
                      <a:endParaRPr b="1"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rgbClr val="434343"/>
                          </a:solidFill>
                        </a:rPr>
                        <a:t>Hàm/Toán tử</a:t>
                      </a:r>
                      <a:endParaRPr b="1"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rgbClr val="434343"/>
                          </a:solidFill>
                        </a:rPr>
                        <a:t>Ví dụ</a:t>
                      </a:r>
                      <a:endParaRPr b="1"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</a:tr>
              <a:tr h="107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Ngày/giờ (SPARQL 1.1)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now, year, month, day, hours, minutes, seconds, timezone, tz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month(now()) &lt; 4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</a:tr>
              <a:tr h="74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Các kiểm tra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isURI, isBlank, isLiteral, isNumeric, bound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isURI(?person) || !bound(?person)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</a:tr>
              <a:tr h="74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Các hàm tạo (SPARQL 1.1)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URI, BNODE, STRDT, STRLANG, UUID, STRUUID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STRLANG(?text, “en”) = “hello”@en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</a:tr>
              <a:tr h="40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Truy cập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str, lang, datatype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lang(?title) = “en”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</a:tr>
              <a:tr h="74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Hàm băm (SPARQL 1.1)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MD5, SHA1, SHA256, SHA512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BIND(SHA256(?email) AS ?hash)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</a:tr>
              <a:tr h="74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Thành phần khác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sameTerm, langMatches, regex, REPLACE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434343"/>
                          </a:solidFill>
                        </a:rPr>
                        <a:t>regex(?ssn, “\\d{3}-\\d{2}-\\d{4}”)</a:t>
                      </a:r>
                      <a:endParaRPr sz="2200">
                        <a:solidFill>
                          <a:srgbClr val="434343"/>
                        </a:solidFill>
                      </a:endParaRPr>
                    </a:p>
                  </a:txBody>
                  <a:tcPr marT="36000" marB="36000" marR="36000" marL="36000"/>
                </a:tc>
              </a:tr>
            </a:tbl>
          </a:graphicData>
        </a:graphic>
      </p:graphicFrame>
      <p:sp>
        <p:nvSpPr>
          <p:cNvPr id="197" name="Google Shape;197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5200" y="594867"/>
            <a:ext cx="3476400" cy="2040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2400" y="2940650"/>
            <a:ext cx="27717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2400" y="4445600"/>
            <a:ext cx="2781300" cy="933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29"/>
          <p:cNvCxnSpPr>
            <a:stCxn id="202" idx="2"/>
            <a:endCxn id="203" idx="0"/>
          </p:cNvCxnSpPr>
          <p:nvPr/>
        </p:nvCxnSpPr>
        <p:spPr>
          <a:xfrm>
            <a:off x="7253400" y="2635850"/>
            <a:ext cx="105000" cy="30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29"/>
          <p:cNvCxnSpPr>
            <a:endCxn id="204" idx="0"/>
          </p:cNvCxnSpPr>
          <p:nvPr/>
        </p:nvCxnSpPr>
        <p:spPr>
          <a:xfrm>
            <a:off x="7358250" y="4097600"/>
            <a:ext cx="4800" cy="34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2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</a:t>
            </a:r>
            <a:r>
              <a:rPr lang="en-GB"/>
              <a:t>ệnh tổng hợp (SPARQL 1.1)</a:t>
            </a:r>
            <a:endParaRPr/>
          </a:p>
        </p:txBody>
      </p:sp>
      <p:sp>
        <p:nvSpPr>
          <p:cNvPr id="208" name="Google Shape;208;p29"/>
          <p:cNvSpPr txBox="1"/>
          <p:nvPr>
            <p:ph idx="4294967295" type="body"/>
          </p:nvPr>
        </p:nvSpPr>
        <p:spPr>
          <a:xfrm>
            <a:off x="311700" y="975875"/>
            <a:ext cx="5051100" cy="51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Ch</a:t>
            </a:r>
            <a:r>
              <a:rPr lang="en-GB"/>
              <a:t>ia kết quả thành các nhóm dựa trên biểu thức được cung cấp bởi </a:t>
            </a:r>
            <a:r>
              <a:rPr lang="en-GB">
                <a:solidFill>
                  <a:srgbClr val="0B5394"/>
                </a:solidFill>
              </a:rPr>
              <a:t>GROUP BY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Thực hiện các hàm chiếu và tổng hợp trong biểu thức </a:t>
            </a:r>
            <a:r>
              <a:rPr lang="en-GB">
                <a:solidFill>
                  <a:srgbClr val="0B5394"/>
                </a:solidFill>
              </a:rPr>
              <a:t>SELECT</a:t>
            </a:r>
            <a:r>
              <a:rPr lang="en-GB"/>
              <a:t> để lấy từ mỗi nhóm 1 kết quả.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Lọc các kết quả đã tổng hợp theo biểu thức </a:t>
            </a:r>
            <a:r>
              <a:rPr lang="en-GB">
                <a:solidFill>
                  <a:srgbClr val="0B5394"/>
                </a:solidFill>
              </a:rPr>
              <a:t>HAVING</a:t>
            </a:r>
            <a:r>
              <a:rPr lang="en-GB"/>
              <a:t>.</a:t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215650" y="5395875"/>
            <a:ext cx="8775900" cy="981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SPARQL 1.1 bao gồm: </a:t>
            </a:r>
            <a:r>
              <a:rPr lang="en-GB" sz="2600">
                <a:solidFill>
                  <a:srgbClr val="0B5394"/>
                </a:solidFill>
              </a:rPr>
              <a:t>COUNT , SUM , AVG , MIN , MAX, SAMPLE, GROUP_CONCAT</a:t>
            </a:r>
            <a:endParaRPr sz="2600">
              <a:solidFill>
                <a:srgbClr val="0B5394"/>
              </a:solidFill>
            </a:endParaRPr>
          </a:p>
        </p:txBody>
      </p:sp>
      <p:sp>
        <p:nvSpPr>
          <p:cNvPr id="210" name="Google Shape;210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Đường dẫn thuộc tính (SPARQL 1.1)</a:t>
            </a:r>
            <a:endParaRPr/>
          </a:p>
        </p:txBody>
      </p:sp>
      <p:sp>
        <p:nvSpPr>
          <p:cNvPr id="216" name="Google Shape;216;p30"/>
          <p:cNvSpPr txBox="1"/>
          <p:nvPr>
            <p:ph idx="4294967295" type="body"/>
          </p:nvPr>
        </p:nvSpPr>
        <p:spPr>
          <a:xfrm>
            <a:off x="311700" y="850831"/>
            <a:ext cx="8520600" cy="10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GB">
                <a:solidFill>
                  <a:srgbClr val="434343"/>
                </a:solidFill>
              </a:rPr>
              <a:t>Đ</a:t>
            </a:r>
            <a:r>
              <a:rPr lang="en-GB">
                <a:solidFill>
                  <a:srgbClr val="434343"/>
                </a:solidFill>
              </a:rPr>
              <a:t>ường dẫn thuộc tính cho phép khớp mẫu bộ ba với các đường dẫn độ dài tùy ý trong 1 đồ thị</a:t>
            </a:r>
            <a:endParaRPr>
              <a:solidFill>
                <a:srgbClr val="434343"/>
              </a:solidFill>
            </a:endParaRPr>
          </a:p>
        </p:txBody>
      </p:sp>
      <p:graphicFrame>
        <p:nvGraphicFramePr>
          <p:cNvPr id="217" name="Google Shape;217;p30"/>
          <p:cNvGraphicFramePr/>
          <p:nvPr/>
        </p:nvGraphicFramePr>
        <p:xfrm>
          <a:off x="485200" y="196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2174000"/>
                <a:gridCol w="6173100"/>
              </a:tblGrid>
              <a:tr h="4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600">
                          <a:solidFill>
                            <a:srgbClr val="434343"/>
                          </a:solidFill>
                        </a:rPr>
                        <a:t>Biểu thức</a:t>
                      </a:r>
                      <a:endParaRPr b="1"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600">
                          <a:solidFill>
                            <a:srgbClr val="434343"/>
                          </a:solidFill>
                        </a:rPr>
                        <a:t>Ý nghĩa</a:t>
                      </a:r>
                      <a:endParaRPr b="1"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</a:tr>
              <a:tr h="4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path1/path2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path1 được nối tiếp bởi path2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</a:tr>
              <a:tr h="4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^path1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Liên kết ngược (giá trị tới tài nguyên)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</a:tr>
              <a:tr h="4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path1|path2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path1 hoặc path2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</a:tr>
              <a:tr h="51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path1*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path1, được lặp lại nhiều lần hoặc không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</a:tr>
              <a:tr h="4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path1+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path1 được lặp lại 1 hoặc nhiều lần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</a:tr>
              <a:tr h="4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path1?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không bắt buộc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</a:tr>
              <a:tr h="4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!uri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Bất kỳ thuộc tính nào ngoại trừ uri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</a:tr>
              <a:tr h="4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!^uri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rgbClr val="434343"/>
                          </a:solidFill>
                        </a:rPr>
                        <a:t>Bất kỳ liên kết ngược nào ngoại trừ uri</a:t>
                      </a:r>
                      <a:endParaRPr sz="2600">
                        <a:solidFill>
                          <a:srgbClr val="434343"/>
                        </a:solidFill>
                      </a:endParaRPr>
                    </a:p>
                  </a:txBody>
                  <a:tcPr marT="0" marB="0" marR="0" marL="72000"/>
                </a:tc>
              </a:tr>
            </a:tbl>
          </a:graphicData>
        </a:graphic>
      </p:graphicFrame>
      <p:sp>
        <p:nvSpPr>
          <p:cNvPr id="218" name="Google Shape;218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bộ dữ liệu RDF</a:t>
            </a:r>
            <a:endParaRPr/>
          </a:p>
        </p:txBody>
      </p:sp>
      <p:sp>
        <p:nvSpPr>
          <p:cNvPr id="224" name="Google Shape;224;p31"/>
          <p:cNvSpPr txBox="1"/>
          <p:nvPr>
            <p:ph idx="4294967295" type="body"/>
          </p:nvPr>
        </p:nvSpPr>
        <p:spPr>
          <a:xfrm>
            <a:off x="311700" y="774631"/>
            <a:ext cx="8520600" cy="14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434343"/>
                </a:solidFill>
              </a:rPr>
              <a:t>C</a:t>
            </a:r>
            <a:r>
              <a:rPr i="1" lang="en-GB">
                <a:solidFill>
                  <a:srgbClr val="434343"/>
                </a:solidFill>
              </a:rPr>
              <a:t>âu truy vấn SPARQL (thường) được dùng để xuất dữ liệu từ 1 đồ thị mặc định (và có thể được kết hợp với các đồ thị có tên khác)</a:t>
            </a:r>
            <a:endParaRPr i="1">
              <a:solidFill>
                <a:srgbClr val="434343"/>
              </a:solidFill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148675" y="3073750"/>
            <a:ext cx="20385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666666"/>
                </a:solidFill>
              </a:rPr>
              <a:t>Đồ thị mặc định </a:t>
            </a:r>
            <a:endParaRPr sz="2200">
              <a:solidFill>
                <a:srgbClr val="666666"/>
              </a:solidFill>
            </a:endParaRPr>
          </a:p>
        </p:txBody>
      </p:sp>
      <p:sp>
        <p:nvSpPr>
          <p:cNvPr id="226" name="Google Shape;226;p31"/>
          <p:cNvSpPr/>
          <p:nvPr/>
        </p:nvSpPr>
        <p:spPr>
          <a:xfrm>
            <a:off x="2112453" y="2512750"/>
            <a:ext cx="808500" cy="808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ex:g1</a:t>
            </a:r>
            <a:endParaRPr/>
          </a:p>
        </p:txBody>
      </p:sp>
      <p:sp>
        <p:nvSpPr>
          <p:cNvPr id="227" name="Google Shape;227;p31"/>
          <p:cNvSpPr/>
          <p:nvPr/>
        </p:nvSpPr>
        <p:spPr>
          <a:xfrm>
            <a:off x="2112453" y="3397825"/>
            <a:ext cx="808500" cy="808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ex:g2</a:t>
            </a:r>
            <a:endParaRPr/>
          </a:p>
        </p:txBody>
      </p:sp>
      <p:sp>
        <p:nvSpPr>
          <p:cNvPr id="228" name="Google Shape;228;p31"/>
          <p:cNvSpPr/>
          <p:nvPr/>
        </p:nvSpPr>
        <p:spPr>
          <a:xfrm>
            <a:off x="3459903" y="2771075"/>
            <a:ext cx="1133700" cy="1133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9" name="Google Shape;229;p31"/>
          <p:cNvCxnSpPr>
            <a:stCxn id="226" idx="6"/>
          </p:cNvCxnSpPr>
          <p:nvPr/>
        </p:nvCxnSpPr>
        <p:spPr>
          <a:xfrm>
            <a:off x="2920953" y="2917000"/>
            <a:ext cx="594600" cy="22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31"/>
          <p:cNvCxnSpPr>
            <a:stCxn id="227" idx="6"/>
          </p:cNvCxnSpPr>
          <p:nvPr/>
        </p:nvCxnSpPr>
        <p:spPr>
          <a:xfrm flipH="1" rot="10800000">
            <a:off x="2920953" y="3581275"/>
            <a:ext cx="576000" cy="22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31"/>
          <p:cNvCxnSpPr/>
          <p:nvPr/>
        </p:nvCxnSpPr>
        <p:spPr>
          <a:xfrm>
            <a:off x="1589050" y="4308100"/>
            <a:ext cx="348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2" name="Google Shape;232;p31"/>
          <p:cNvSpPr/>
          <p:nvPr/>
        </p:nvSpPr>
        <p:spPr>
          <a:xfrm>
            <a:off x="1939603" y="4337825"/>
            <a:ext cx="808500" cy="808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ex:g1</a:t>
            </a:r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2748103" y="4960425"/>
            <a:ext cx="808500" cy="808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ex:g2</a:t>
            </a:r>
            <a:endParaRPr/>
          </a:p>
        </p:txBody>
      </p:sp>
      <p:sp>
        <p:nvSpPr>
          <p:cNvPr id="234" name="Google Shape;234;p31"/>
          <p:cNvSpPr/>
          <p:nvPr/>
        </p:nvSpPr>
        <p:spPr>
          <a:xfrm>
            <a:off x="3829753" y="4337825"/>
            <a:ext cx="808500" cy="808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ex:g2</a:t>
            </a:r>
            <a:endParaRPr/>
          </a:p>
        </p:txBody>
      </p:sp>
      <p:sp>
        <p:nvSpPr>
          <p:cNvPr id="235" name="Google Shape;235;p31"/>
          <p:cNvSpPr txBox="1"/>
          <p:nvPr/>
        </p:nvSpPr>
        <p:spPr>
          <a:xfrm>
            <a:off x="5850675" y="1732150"/>
            <a:ext cx="2918100" cy="45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PREFIX ex: &lt;...&gt;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SELECT ...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FROM ex:g1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FROM ex:g4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FROM NAMED ex:g1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FROM NAMED ex:g2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FROM NAMED ex:g3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WHERE {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    ... A ...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    GRAPH ex:g3 {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        ... B ...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    }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    GRAPH ?graph {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        ... C ...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    }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B5394"/>
                </a:solidFill>
              </a:rPr>
              <a:t>}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B5394"/>
              </a:solidFill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72475" y="4902550"/>
            <a:ext cx="2174400" cy="1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666666"/>
                </a:solidFill>
              </a:rPr>
              <a:t>Các đồ thị có tên</a:t>
            </a:r>
            <a:endParaRPr sz="2200">
              <a:solidFill>
                <a:srgbClr val="666666"/>
              </a:solidFill>
            </a:endParaRPr>
          </a:p>
        </p:txBody>
      </p:sp>
      <p:sp>
        <p:nvSpPr>
          <p:cNvPr id="237" name="Google Shape;237;p31"/>
          <p:cNvSpPr/>
          <p:nvPr/>
        </p:nvSpPr>
        <p:spPr>
          <a:xfrm>
            <a:off x="4686528" y="3380675"/>
            <a:ext cx="1226625" cy="864225"/>
          </a:xfrm>
          <a:custGeom>
            <a:rect b="b" l="l" r="r" t="t"/>
            <a:pathLst>
              <a:path extrusionOk="0" h="34569" w="49065">
                <a:moveTo>
                  <a:pt x="49065" y="34569"/>
                </a:moveTo>
                <a:cubicBezTo>
                  <a:pt x="46463" y="32834"/>
                  <a:pt x="36861" y="28869"/>
                  <a:pt x="33454" y="24161"/>
                </a:cubicBezTo>
                <a:cubicBezTo>
                  <a:pt x="30047" y="19453"/>
                  <a:pt x="34198" y="10346"/>
                  <a:pt x="28622" y="6319"/>
                </a:cubicBezTo>
                <a:cubicBezTo>
                  <a:pt x="23046" y="2292"/>
                  <a:pt x="4770" y="1053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cxnSp>
        <p:nvCxnSpPr>
          <p:cNvPr id="238" name="Google Shape;238;p31"/>
          <p:cNvCxnSpPr/>
          <p:nvPr/>
        </p:nvCxnSpPr>
        <p:spPr>
          <a:xfrm rot="10800000">
            <a:off x="4805603" y="4783875"/>
            <a:ext cx="1375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" name="Google Shape;239;p31"/>
          <p:cNvSpPr/>
          <p:nvPr/>
        </p:nvSpPr>
        <p:spPr>
          <a:xfrm>
            <a:off x="4602903" y="4923275"/>
            <a:ext cx="1681975" cy="734100"/>
          </a:xfrm>
          <a:custGeom>
            <a:rect b="b" l="l" r="r" t="t"/>
            <a:pathLst>
              <a:path extrusionOk="0" h="29364" w="67279">
                <a:moveTo>
                  <a:pt x="67279" y="29364"/>
                </a:moveTo>
                <a:cubicBezTo>
                  <a:pt x="61827" y="28559"/>
                  <a:pt x="42560" y="28249"/>
                  <a:pt x="34568" y="24532"/>
                </a:cubicBezTo>
                <a:cubicBezTo>
                  <a:pt x="26576" y="20815"/>
                  <a:pt x="25089" y="11151"/>
                  <a:pt x="19328" y="7062"/>
                </a:cubicBezTo>
                <a:cubicBezTo>
                  <a:pt x="13567" y="2973"/>
                  <a:pt x="3221" y="1177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40" name="Google Shape;240;p31"/>
          <p:cNvSpPr/>
          <p:nvPr/>
        </p:nvSpPr>
        <p:spPr>
          <a:xfrm>
            <a:off x="2762953" y="4756000"/>
            <a:ext cx="3540500" cy="901975"/>
          </a:xfrm>
          <a:custGeom>
            <a:rect b="b" l="l" r="r" t="t"/>
            <a:pathLst>
              <a:path extrusionOk="0" h="36079" w="141620">
                <a:moveTo>
                  <a:pt x="141620" y="35684"/>
                </a:moveTo>
                <a:cubicBezTo>
                  <a:pt x="128115" y="35374"/>
                  <a:pt x="77377" y="37604"/>
                  <a:pt x="60588" y="33825"/>
                </a:cubicBezTo>
                <a:cubicBezTo>
                  <a:pt x="43799" y="30046"/>
                  <a:pt x="47144" y="18152"/>
                  <a:pt x="40887" y="13010"/>
                </a:cubicBezTo>
                <a:cubicBezTo>
                  <a:pt x="34630" y="7868"/>
                  <a:pt x="29860" y="5141"/>
                  <a:pt x="23045" y="2973"/>
                </a:cubicBezTo>
                <a:cubicBezTo>
                  <a:pt x="16231" y="805"/>
                  <a:pt x="3841" y="496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41" name="Google Shape;241;p31"/>
          <p:cNvSpPr/>
          <p:nvPr/>
        </p:nvSpPr>
        <p:spPr>
          <a:xfrm>
            <a:off x="3506353" y="5592325"/>
            <a:ext cx="2769225" cy="285775"/>
          </a:xfrm>
          <a:custGeom>
            <a:rect b="b" l="l" r="r" t="t"/>
            <a:pathLst>
              <a:path extrusionOk="0" h="11431" w="110769">
                <a:moveTo>
                  <a:pt x="110769" y="1859"/>
                </a:moveTo>
                <a:cubicBezTo>
                  <a:pt x="103149" y="2664"/>
                  <a:pt x="77439" y="5142"/>
                  <a:pt x="65049" y="6691"/>
                </a:cubicBezTo>
                <a:cubicBezTo>
                  <a:pt x="52659" y="8240"/>
                  <a:pt x="47270" y="12267"/>
                  <a:pt x="36428" y="11152"/>
                </a:cubicBezTo>
                <a:cubicBezTo>
                  <a:pt x="25587" y="10037"/>
                  <a:pt x="6071" y="1859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42" name="Google Shape;242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</a:t>
            </a:r>
            <a:r>
              <a:rPr lang="en-GB"/>
              <a:t>uy vấn liên kết (SPARQL 1.1)</a:t>
            </a:r>
            <a:endParaRPr/>
          </a:p>
        </p:txBody>
      </p:sp>
      <p:sp>
        <p:nvSpPr>
          <p:cNvPr id="248" name="Google Shape;248;p32"/>
          <p:cNvSpPr/>
          <p:nvPr/>
        </p:nvSpPr>
        <p:spPr>
          <a:xfrm>
            <a:off x="473925" y="1157875"/>
            <a:ext cx="3622200" cy="182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2"/>
          <p:cNvSpPr/>
          <p:nvPr/>
        </p:nvSpPr>
        <p:spPr>
          <a:xfrm>
            <a:off x="843775" y="13418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2"/>
          <p:cNvSpPr/>
          <p:nvPr/>
        </p:nvSpPr>
        <p:spPr>
          <a:xfrm>
            <a:off x="1605775" y="13418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2"/>
          <p:cNvSpPr/>
          <p:nvPr/>
        </p:nvSpPr>
        <p:spPr>
          <a:xfrm>
            <a:off x="538975" y="17990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2"/>
          <p:cNvSpPr/>
          <p:nvPr/>
        </p:nvSpPr>
        <p:spPr>
          <a:xfrm>
            <a:off x="1224775" y="20276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2"/>
          <p:cNvSpPr/>
          <p:nvPr/>
        </p:nvSpPr>
        <p:spPr>
          <a:xfrm>
            <a:off x="2062975" y="17990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2"/>
          <p:cNvSpPr/>
          <p:nvPr/>
        </p:nvSpPr>
        <p:spPr>
          <a:xfrm>
            <a:off x="2748775" y="13418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2"/>
          <p:cNvSpPr/>
          <p:nvPr/>
        </p:nvSpPr>
        <p:spPr>
          <a:xfrm>
            <a:off x="2443975" y="23324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2"/>
          <p:cNvSpPr/>
          <p:nvPr/>
        </p:nvSpPr>
        <p:spPr>
          <a:xfrm>
            <a:off x="3040250" y="2103875"/>
            <a:ext cx="935100" cy="665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36000" spcFirstLastPara="1" rIns="36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ex:g1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257" name="Google Shape;257;p32"/>
          <p:cNvSpPr txBox="1"/>
          <p:nvPr/>
        </p:nvSpPr>
        <p:spPr>
          <a:xfrm>
            <a:off x="592875" y="2600100"/>
            <a:ext cx="2818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36000" spcFirstLastPara="1" rIns="36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L</a:t>
            </a:r>
            <a:r>
              <a:rPr lang="en-GB" sz="1800">
                <a:solidFill>
                  <a:srgbClr val="434343"/>
                </a:solidFill>
              </a:rPr>
              <a:t>ưu trữ bộ ba địa phương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258" name="Google Shape;258;p32"/>
          <p:cNvSpPr/>
          <p:nvPr/>
        </p:nvSpPr>
        <p:spPr>
          <a:xfrm>
            <a:off x="473925" y="3291475"/>
            <a:ext cx="3622200" cy="139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2"/>
          <p:cNvSpPr/>
          <p:nvPr/>
        </p:nvSpPr>
        <p:spPr>
          <a:xfrm>
            <a:off x="615175" y="34754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/>
          <p:nvPr/>
        </p:nvSpPr>
        <p:spPr>
          <a:xfrm>
            <a:off x="996175" y="37040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2"/>
          <p:cNvSpPr/>
          <p:nvPr/>
        </p:nvSpPr>
        <p:spPr>
          <a:xfrm>
            <a:off x="996175" y="41612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2"/>
          <p:cNvSpPr/>
          <p:nvPr/>
        </p:nvSpPr>
        <p:spPr>
          <a:xfrm>
            <a:off x="1470788" y="3495900"/>
            <a:ext cx="2497200" cy="665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36000" spcFirstLastPara="1" rIns="36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C</a:t>
            </a:r>
            <a:r>
              <a:rPr lang="en-GB" sz="1800">
                <a:solidFill>
                  <a:srgbClr val="434343"/>
                </a:solidFill>
              </a:rPr>
              <a:t>ổng truy cập SPARQL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ex:s1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473925" y="4815475"/>
            <a:ext cx="3622200" cy="139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2"/>
          <p:cNvSpPr/>
          <p:nvPr/>
        </p:nvSpPr>
        <p:spPr>
          <a:xfrm>
            <a:off x="615175" y="56852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2"/>
          <p:cNvSpPr/>
          <p:nvPr/>
        </p:nvSpPr>
        <p:spPr>
          <a:xfrm>
            <a:off x="1377175" y="56852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2"/>
          <p:cNvSpPr/>
          <p:nvPr/>
        </p:nvSpPr>
        <p:spPr>
          <a:xfrm>
            <a:off x="843775" y="5075675"/>
            <a:ext cx="362400" cy="3624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2"/>
          <p:cNvSpPr/>
          <p:nvPr/>
        </p:nvSpPr>
        <p:spPr>
          <a:xfrm>
            <a:off x="1358575" y="4943700"/>
            <a:ext cx="2618700" cy="59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36000" spcFirstLastPara="1" rIns="36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Cổng truy cập SPARQL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ex:s2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268" name="Google Shape;268;p32"/>
          <p:cNvSpPr/>
          <p:nvPr/>
        </p:nvSpPr>
        <p:spPr>
          <a:xfrm>
            <a:off x="4559000" y="4046025"/>
            <a:ext cx="1300968" cy="1260036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666666"/>
                </a:solidFill>
              </a:rPr>
              <a:t>Web</a:t>
            </a:r>
            <a:endParaRPr sz="2200">
              <a:solidFill>
                <a:srgbClr val="666666"/>
              </a:solidFill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5638800" y="1051925"/>
            <a:ext cx="3117300" cy="51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</a:rPr>
              <a:t>PREFIX ex: &lt;...&gt;</a:t>
            </a:r>
            <a:endParaRPr sz="2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</a:rPr>
              <a:t>SELECT ...</a:t>
            </a:r>
            <a:endParaRPr sz="2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</a:rPr>
              <a:t>FROM ex:g1</a:t>
            </a:r>
            <a:endParaRPr sz="2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</a:rPr>
              <a:t>WHERE {</a:t>
            </a:r>
            <a:endParaRPr sz="2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</a:rPr>
              <a:t>    ... A ...</a:t>
            </a:r>
            <a:endParaRPr sz="2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</a:rPr>
              <a:t>    SERVICE ex:s1 {</a:t>
            </a:r>
            <a:endParaRPr sz="2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</a:rPr>
              <a:t>        ... B ...</a:t>
            </a:r>
            <a:endParaRPr sz="2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</a:rPr>
              <a:t>     }</a:t>
            </a:r>
            <a:endParaRPr sz="2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</a:rPr>
              <a:t>    SERVICE ex:s2 {</a:t>
            </a:r>
            <a:endParaRPr sz="2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</a:rPr>
              <a:t>        ...C ...</a:t>
            </a:r>
            <a:endParaRPr sz="2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0B5394"/>
                </a:solidFill>
              </a:rPr>
              <a:t>    }</a:t>
            </a:r>
            <a:endParaRPr sz="2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</a:rPr>
              <a:t>}</a:t>
            </a:r>
            <a:endParaRPr sz="2600">
              <a:solidFill>
                <a:srgbClr val="0B5394"/>
              </a:solidFill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3975400" y="2438400"/>
            <a:ext cx="2053700" cy="501800"/>
          </a:xfrm>
          <a:custGeom>
            <a:rect b="b" l="l" r="r" t="t"/>
            <a:pathLst>
              <a:path extrusionOk="0" h="20072" w="82148">
                <a:moveTo>
                  <a:pt x="82148" y="20072"/>
                </a:moveTo>
                <a:cubicBezTo>
                  <a:pt x="75953" y="19143"/>
                  <a:pt x="54703" y="17533"/>
                  <a:pt x="44977" y="14497"/>
                </a:cubicBezTo>
                <a:cubicBezTo>
                  <a:pt x="35251" y="11462"/>
                  <a:pt x="31286" y="4275"/>
                  <a:pt x="23790" y="1859"/>
                </a:cubicBezTo>
                <a:cubicBezTo>
                  <a:pt x="16294" y="-557"/>
                  <a:pt x="3965" y="310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71" name="Google Shape;271;p32"/>
          <p:cNvSpPr/>
          <p:nvPr/>
        </p:nvSpPr>
        <p:spPr>
          <a:xfrm>
            <a:off x="5806075" y="3795125"/>
            <a:ext cx="566850" cy="511100"/>
          </a:xfrm>
          <a:custGeom>
            <a:rect b="b" l="l" r="r" t="t"/>
            <a:pathLst>
              <a:path extrusionOk="0" h="20444" w="22674">
                <a:moveTo>
                  <a:pt x="22674" y="0"/>
                </a:moveTo>
                <a:cubicBezTo>
                  <a:pt x="20816" y="805"/>
                  <a:pt x="14187" y="2354"/>
                  <a:pt x="11523" y="4832"/>
                </a:cubicBezTo>
                <a:cubicBezTo>
                  <a:pt x="8859" y="7310"/>
                  <a:pt x="8611" y="12267"/>
                  <a:pt x="6690" y="14869"/>
                </a:cubicBezTo>
                <a:cubicBezTo>
                  <a:pt x="4770" y="17471"/>
                  <a:pt x="1115" y="19515"/>
                  <a:pt x="0" y="2044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72" name="Google Shape;272;p32"/>
          <p:cNvSpPr/>
          <p:nvPr/>
        </p:nvSpPr>
        <p:spPr>
          <a:xfrm>
            <a:off x="5852525" y="4631475"/>
            <a:ext cx="613325" cy="381000"/>
          </a:xfrm>
          <a:custGeom>
            <a:rect b="b" l="l" r="r" t="t"/>
            <a:pathLst>
              <a:path extrusionOk="0" h="15240" w="24533">
                <a:moveTo>
                  <a:pt x="24533" y="15240"/>
                </a:moveTo>
                <a:cubicBezTo>
                  <a:pt x="22365" y="14621"/>
                  <a:pt x="14497" y="13506"/>
                  <a:pt x="11523" y="11523"/>
                </a:cubicBezTo>
                <a:cubicBezTo>
                  <a:pt x="8549" y="9541"/>
                  <a:pt x="8612" y="5266"/>
                  <a:pt x="6691" y="3345"/>
                </a:cubicBezTo>
                <a:cubicBezTo>
                  <a:pt x="4771" y="1425"/>
                  <a:pt x="1115" y="55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cxnSp>
        <p:nvCxnSpPr>
          <p:cNvPr id="273" name="Google Shape;273;p32"/>
          <p:cNvCxnSpPr>
            <a:endCxn id="258" idx="3"/>
          </p:cNvCxnSpPr>
          <p:nvPr/>
        </p:nvCxnSpPr>
        <p:spPr>
          <a:xfrm rot="10800000">
            <a:off x="4096125" y="3986575"/>
            <a:ext cx="669300" cy="32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32"/>
          <p:cNvCxnSpPr>
            <a:endCxn id="263" idx="3"/>
          </p:cNvCxnSpPr>
          <p:nvPr/>
        </p:nvCxnSpPr>
        <p:spPr>
          <a:xfrm flipH="1">
            <a:off x="4096125" y="5114575"/>
            <a:ext cx="715500" cy="39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Minh họa truy vấn SPARQL</a:t>
            </a:r>
            <a:endParaRPr/>
          </a:p>
        </p:txBody>
      </p:sp>
      <p:sp>
        <p:nvSpPr>
          <p:cNvPr id="281" name="Google Shape;281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Apache Jena Fuseki Server: C</a:t>
            </a:r>
            <a:r>
              <a:rPr lang="en-GB"/>
              <a:t>ổng</a:t>
            </a:r>
            <a:r>
              <a:rPr lang="en-GB"/>
              <a:t> SPARQL</a:t>
            </a:r>
            <a:endParaRPr/>
          </a:p>
        </p:txBody>
      </p:sp>
      <p:pic>
        <p:nvPicPr>
          <p:cNvPr id="287" name="Google Shape;2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750" y="896975"/>
            <a:ext cx="6592349" cy="541814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8.1. Dữ liệu RDF</a:t>
            </a:r>
            <a:endParaRPr/>
          </a:p>
        </p:txBody>
      </p:sp>
      <p:sp>
        <p:nvSpPr>
          <p:cNvPr id="294" name="Google Shape;294;p35"/>
          <p:cNvSpPr txBox="1"/>
          <p:nvPr>
            <p:ph idx="4294967295" type="body"/>
          </p:nvPr>
        </p:nvSpPr>
        <p:spPr>
          <a:xfrm>
            <a:off x="311700" y="899675"/>
            <a:ext cx="8520600" cy="57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# filename: ex012.ttl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@prefix ab: &lt;http://learningsparql.com/ns/addressbook#&gt;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@prefix d:  &lt;http://learningsparql.com/ns/data#&gt; 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d:i0432 ab:firstName "Richard" 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d:i0432 ab:lastName  "Mutt" 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d:i0432 ab:homeTel   "(229) 276-5135"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d:i0432 ab:email     "richard49@hotmail.com" 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d:i9771 ab:firstName "Cindy" 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d:i9771 ab:lastName  "Marshall" 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d:i9771 ab:homeTel   "(245) 646-5488" 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d:i9771 ab:email     "cindym@gmail.com" 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d:i8301 ab:firstName "Craig" 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d:i8301 ab:lastName  "Ellis" 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d:i8301 ab:email     "craigellis@yahoo.com" 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d:i8301 ab:email     "c.ellis@usairwaysgroup.com" .</a:t>
            </a:r>
            <a:endParaRPr sz="2000"/>
          </a:p>
        </p:txBody>
      </p:sp>
      <p:sp>
        <p:nvSpPr>
          <p:cNvPr id="295" name="Google Shape;295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8.2. SELECT</a:t>
            </a:r>
            <a:endParaRPr/>
          </a:p>
        </p:txBody>
      </p:sp>
      <p:sp>
        <p:nvSpPr>
          <p:cNvPr id="301" name="Google Shape;301;p36"/>
          <p:cNvSpPr txBox="1"/>
          <p:nvPr>
            <p:ph idx="4294967295" type="body"/>
          </p:nvPr>
        </p:nvSpPr>
        <p:spPr>
          <a:xfrm>
            <a:off x="311700" y="850827"/>
            <a:ext cx="8520600" cy="37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# filename: ex174.rq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PREFIX ab: &lt;http://learningsparql.com/ns/addressbook#&gt;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PREFIX d:  &lt;http://learningsparql.com/ns/data#&gt;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SELECT ?person ?p ?o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WHERE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?person ab:firstName "Craig"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      ab:lastName  "Ellis"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      ?p ?o 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}</a:t>
            </a:r>
            <a:endParaRPr sz="2000"/>
          </a:p>
        </p:txBody>
      </p:sp>
      <p:pic>
        <p:nvPicPr>
          <p:cNvPr id="302" name="Google Shape;30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675" y="4658475"/>
            <a:ext cx="6833825" cy="19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4" name="Google Shape;304;p36"/>
          <p:cNvSpPr txBox="1"/>
          <p:nvPr/>
        </p:nvSpPr>
        <p:spPr>
          <a:xfrm>
            <a:off x="1735875" y="4031325"/>
            <a:ext cx="68490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arq --data=data.ttl --query=q1.rq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8.3. CONSTRUCT</a:t>
            </a:r>
            <a:endParaRPr/>
          </a:p>
        </p:txBody>
      </p:sp>
      <p:sp>
        <p:nvSpPr>
          <p:cNvPr id="310" name="Google Shape;310;p37"/>
          <p:cNvSpPr txBox="1"/>
          <p:nvPr>
            <p:ph idx="4294967295" type="body"/>
          </p:nvPr>
        </p:nvSpPr>
        <p:spPr>
          <a:xfrm>
            <a:off x="311700" y="850827"/>
            <a:ext cx="8520600" cy="37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PREFIX ab: &lt;http://learningsparql.com/ns/addressbook#&gt;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PREFIX d:  &lt;http://learningsparql.com/ns/data#&gt;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CONSTRUCT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{ ?person ?p ?o .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WHERE 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?person ab:firstName "Craig"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  ab:lastName  "Ellis"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  ?p ?o 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}</a:t>
            </a:r>
            <a:endParaRPr sz="2000"/>
          </a:p>
        </p:txBody>
      </p:sp>
      <p:pic>
        <p:nvPicPr>
          <p:cNvPr id="311" name="Google Shape;31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187309"/>
            <a:ext cx="8634025" cy="174676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8.4. DESCRIBE</a:t>
            </a:r>
            <a:endParaRPr/>
          </a:p>
        </p:txBody>
      </p:sp>
      <p:sp>
        <p:nvSpPr>
          <p:cNvPr id="318" name="Google Shape;318;p38"/>
          <p:cNvSpPr txBox="1"/>
          <p:nvPr>
            <p:ph idx="4294967295" type="body"/>
          </p:nvPr>
        </p:nvSpPr>
        <p:spPr>
          <a:xfrm>
            <a:off x="159300" y="1231825"/>
            <a:ext cx="8828100" cy="17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PREFIX d:  &lt;http://learningsparql.com/ns/data#&gt;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PREFIX ab: &lt;http://learningsparql.com/ns/addressbook#&gt;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DESCRIBE ?x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WHERE { ?x ab:email "craigellis@yahoo.com" . }</a:t>
            </a:r>
            <a:endParaRPr sz="2000"/>
          </a:p>
        </p:txBody>
      </p:sp>
      <p:pic>
        <p:nvPicPr>
          <p:cNvPr id="319" name="Google Shape;3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31125"/>
            <a:ext cx="8929601" cy="185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8.5. ASK</a:t>
            </a:r>
            <a:endParaRPr/>
          </a:p>
        </p:txBody>
      </p:sp>
      <p:sp>
        <p:nvSpPr>
          <p:cNvPr id="326" name="Google Shape;326;p39"/>
          <p:cNvSpPr txBox="1"/>
          <p:nvPr>
            <p:ph idx="4294967295" type="body"/>
          </p:nvPr>
        </p:nvSpPr>
        <p:spPr>
          <a:xfrm>
            <a:off x="311700" y="1231825"/>
            <a:ext cx="8520600" cy="27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PREFIX d:  &lt;http://learningsparql.com/ns/data#&gt;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PREFIX ab: &lt;http://learningsparql.com/ns/addressbook#&gt;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ASK WHERE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{ ?x ab:firstName "Craig" .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=&gt; Yes</a:t>
            </a:r>
            <a:endParaRPr sz="2000"/>
          </a:p>
        </p:txBody>
      </p:sp>
      <p:sp>
        <p:nvSpPr>
          <p:cNvPr id="327" name="Google Shape;327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8.6 OPTIONAL</a:t>
            </a:r>
            <a:endParaRPr/>
          </a:p>
        </p:txBody>
      </p:sp>
      <p:sp>
        <p:nvSpPr>
          <p:cNvPr id="333" name="Google Shape;333;p40"/>
          <p:cNvSpPr txBox="1"/>
          <p:nvPr>
            <p:ph idx="4294967295" type="body"/>
          </p:nvPr>
        </p:nvSpPr>
        <p:spPr>
          <a:xfrm>
            <a:off x="311700" y="955300"/>
            <a:ext cx="8520600" cy="12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Bổ xung các bộ ba sau: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/>
              <a:t>d:i88888 ab:email "nva@gmail.com" ; ab:firstName "A" 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    ab:lastName "Nguyen Van" ; ab:nick "Super" .</a:t>
            </a:r>
            <a:endParaRPr sz="2400"/>
          </a:p>
        </p:txBody>
      </p:sp>
      <p:sp>
        <p:nvSpPr>
          <p:cNvPr id="334" name="Google Shape;334;p40"/>
          <p:cNvSpPr txBox="1"/>
          <p:nvPr>
            <p:ph idx="4294967295" type="body"/>
          </p:nvPr>
        </p:nvSpPr>
        <p:spPr>
          <a:xfrm>
            <a:off x="311700" y="2330625"/>
            <a:ext cx="8520600" cy="22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PREFIX ab: &lt;http://learningsparql.com/ns/addressbook#&gt;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SELECT ?first</a:t>
            </a:r>
            <a:r>
              <a:rPr lang="en-GB" sz="2000"/>
              <a:t>Name</a:t>
            </a:r>
            <a:r>
              <a:rPr lang="en-GB" sz="2000"/>
              <a:t> ?last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WHERE { ?s ab:lastName ?last; ab:firstName ?first 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OPTIONAL { ?s ab:nick ?nickname .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BIND (COALESCE(?nickname,?first) AS ?firstName)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335" name="Google Shape;3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4400925"/>
            <a:ext cx="7409275" cy="205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8.7. FILTER</a:t>
            </a:r>
            <a:endParaRPr/>
          </a:p>
        </p:txBody>
      </p:sp>
      <p:sp>
        <p:nvSpPr>
          <p:cNvPr id="342" name="Google Shape;342;p41"/>
          <p:cNvSpPr txBox="1"/>
          <p:nvPr>
            <p:ph idx="4294967295" type="body"/>
          </p:nvPr>
        </p:nvSpPr>
        <p:spPr>
          <a:xfrm>
            <a:off x="311700" y="1035225"/>
            <a:ext cx="8520600" cy="22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PREFIX ab: &lt;http://learningsparql.com/ns/addressbook#&gt;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SELECT *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WHERE 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?s ?p ?o 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FILTER (regex(?o, "yahoo","i"))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343" name="Google Shape;34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10325"/>
            <a:ext cx="8847974" cy="12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2"/>
          <p:cNvSpPr txBox="1"/>
          <p:nvPr>
            <p:ph idx="4294967295" type="body"/>
          </p:nvPr>
        </p:nvSpPr>
        <p:spPr>
          <a:xfrm>
            <a:off x="311700" y="806625"/>
            <a:ext cx="8520600" cy="15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d:i0432 ab:firstName  "Richard" ; ab:lastName   "Mutt"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ab:instrument "sax" ; ab:instrument "clarinet"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d:i8301 ab:firstName  "Craig" ; ab:lastName   "Ellis"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</a:t>
            </a:r>
            <a:r>
              <a:rPr lang="en-GB" sz="2000"/>
              <a:t>ab:instrument "trumpet"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50" name="Google Shape;350;p4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8.8. Union</a:t>
            </a:r>
            <a:endParaRPr/>
          </a:p>
        </p:txBody>
      </p:sp>
      <p:sp>
        <p:nvSpPr>
          <p:cNvPr id="351" name="Google Shape;351;p42"/>
          <p:cNvSpPr txBox="1"/>
          <p:nvPr>
            <p:ph idx="4294967295" type="body"/>
          </p:nvPr>
        </p:nvSpPr>
        <p:spPr>
          <a:xfrm>
            <a:off x="274300" y="2268725"/>
            <a:ext cx="8520600" cy="26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PREFIX ab: &lt;http://learningsparql.com/ns/addressbook#&gt;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SELECT ?first ?last ?instrument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WHERE { { ?person ab:firstName ?first ; ab:lastName ?last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ab:instrument "trumpet" ; ab:instrument ?instrument . 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UNION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{ ?person ab:firstName ?first ; ab:lastName ?last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ab:instrument "sax" ; ab:instrument ?instrument .  }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352" name="Google Shape;35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4921325"/>
            <a:ext cx="6753225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3"/>
          <p:cNvSpPr txBox="1"/>
          <p:nvPr>
            <p:ph idx="4294967295" type="body"/>
          </p:nvPr>
        </p:nvSpPr>
        <p:spPr>
          <a:xfrm>
            <a:off x="311700" y="730425"/>
            <a:ext cx="8520600" cy="19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SELECT ?p ?o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WHERE 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SERVICE &lt;http://DBpedia.org/sparql&gt;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{ &lt;http://dbpedia.org/resource/Joseph_Hocking&gt; ?p ?o .  }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59" name="Google Shape;359;p4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8.9 </a:t>
            </a:r>
            <a:r>
              <a:rPr lang="en-GB"/>
              <a:t>SERVICE (SPARQL 1.1)</a:t>
            </a:r>
            <a:endParaRPr/>
          </a:p>
        </p:txBody>
      </p:sp>
      <p:pic>
        <p:nvPicPr>
          <p:cNvPr id="360" name="Google Shape;36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800" y="2668300"/>
            <a:ext cx="6377200" cy="358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8.10. INSERT (SPARQL 1.1)</a:t>
            </a:r>
            <a:endParaRPr/>
          </a:p>
        </p:txBody>
      </p:sp>
      <p:sp>
        <p:nvSpPr>
          <p:cNvPr id="367" name="Google Shape;367;p44"/>
          <p:cNvSpPr txBox="1"/>
          <p:nvPr>
            <p:ph idx="4294967295" type="body"/>
          </p:nvPr>
        </p:nvSpPr>
        <p:spPr>
          <a:xfrm>
            <a:off x="311700" y="730425"/>
            <a:ext cx="8520600" cy="25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PREFIX d:    &lt;http://learningsparql.com/ns/data#&gt;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PREFIX ab: &lt;http://learningsparql.com/ns/addressbook#&gt;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INSERT DATA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d:99999 ab:firstName "Nguyen"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ab:lastName "VB"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}</a:t>
            </a:r>
            <a:endParaRPr sz="2000"/>
          </a:p>
        </p:txBody>
      </p:sp>
      <p:pic>
        <p:nvPicPr>
          <p:cNvPr id="368" name="Google Shape;3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350" y="3230550"/>
            <a:ext cx="7748501" cy="2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375" name="Google Shape;375;p45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8.1. Ngôn ngữ 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8.2. Đại số 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8.3. Biểu diễn luật trong SPARQL: SPIN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8.4. SPARQL và OWL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5"/>
          <p:cNvSpPr/>
          <p:nvPr/>
        </p:nvSpPr>
        <p:spPr>
          <a:xfrm>
            <a:off x="318450" y="1216179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</a:t>
            </a:r>
            <a:r>
              <a:rPr lang="en-GB"/>
              <a:t>ên dịch sang đại số SPARQL</a:t>
            </a:r>
            <a:endParaRPr/>
          </a:p>
        </p:txBody>
      </p:sp>
      <p:sp>
        <p:nvSpPr>
          <p:cNvPr id="383" name="Google Shape;383;p46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PREFIX</a:t>
            </a:r>
            <a:r>
              <a:rPr lang="en-GB"/>
              <a:t> ex: &lt;http://semweb.edu.vn/example#&gt;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SELECT 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WHERE { ?book ex:price ?price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FILTER (?price &lt; 15)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OPTIONAL { ?book ex:title ?title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{ ?book ex:author ex:Shakespeare } UNION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{ ?book ex:author ex:Marlowe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!Ghi chú:</a:t>
            </a:r>
            <a:r>
              <a:rPr lang="en-GB"/>
              <a:t> Bộ lọc được áp dụng cho nhóm chứa nó.</a:t>
            </a:r>
            <a:endParaRPr/>
          </a:p>
        </p:txBody>
      </p:sp>
      <p:sp>
        <p:nvSpPr>
          <p:cNvPr id="384" name="Google Shape;384;p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Biên dịch </a:t>
            </a:r>
            <a:r>
              <a:rPr lang="en-GB"/>
              <a:t>biểu thức điều kiện</a:t>
            </a:r>
            <a:endParaRPr/>
          </a:p>
        </p:txBody>
      </p:sp>
      <p:sp>
        <p:nvSpPr>
          <p:cNvPr id="390" name="Google Shape;390;p47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{ ?book ex:price ?price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</a:t>
            </a:r>
            <a:r>
              <a:rPr lang="en-GB">
                <a:solidFill>
                  <a:srgbClr val="1155CC"/>
                </a:solidFill>
              </a:rPr>
              <a:t>FILTER (?price &lt; 15)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OPTIONAL { ?book ex:title ?title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{ ?book ex:author ex:Shakespeare } UNION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{ ?book ex:author ex:Marlowe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!Ghi chú:</a:t>
            </a:r>
            <a:r>
              <a:rPr lang="en-GB"/>
              <a:t> Bộ lọc được áp dụng cho nhóm chứa nó.</a:t>
            </a:r>
            <a:endParaRPr/>
          </a:p>
        </p:txBody>
      </p:sp>
      <p:sp>
        <p:nvSpPr>
          <p:cNvPr id="391" name="Google Shape;391;p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Biên dịch sang đại số SPARQL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397" name="Google Shape;397;p48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B1. </a:t>
            </a:r>
            <a:r>
              <a:rPr lang="en-GB">
                <a:solidFill>
                  <a:srgbClr val="434343"/>
                </a:solidFill>
              </a:rPr>
              <a:t>M</a:t>
            </a:r>
            <a:r>
              <a:rPr lang="en-GB">
                <a:solidFill>
                  <a:srgbClr val="434343"/>
                </a:solidFill>
              </a:rPr>
              <a:t>ở rộng các IRIs thành dạng đầy đủ (bước này </a:t>
            </a:r>
            <a:r>
              <a:rPr lang="en-GB">
                <a:solidFill>
                  <a:srgbClr val="1155CC"/>
                </a:solidFill>
              </a:rPr>
              <a:t>không bắt buộc - có thể bỏ qua nếu tiếp tục sử dụng các tiền tố trong biểu thức đại số</a:t>
            </a:r>
            <a:r>
              <a:rPr lang="en-GB">
                <a:solidFill>
                  <a:srgbClr val="434343"/>
                </a:solidFill>
              </a:rPr>
              <a:t>)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{ ?book </a:t>
            </a:r>
            <a:r>
              <a:rPr lang="en-GB">
                <a:solidFill>
                  <a:srgbClr val="0B5394"/>
                </a:solidFill>
              </a:rPr>
              <a:t>&lt;http://ex.org/price&gt;</a:t>
            </a:r>
            <a:r>
              <a:rPr lang="en-GB"/>
              <a:t> ?price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OPTIONAL { ?book </a:t>
            </a:r>
            <a:r>
              <a:rPr lang="en-GB">
                <a:solidFill>
                  <a:srgbClr val="0B5394"/>
                </a:solidFill>
              </a:rPr>
              <a:t>&lt;http://ex.org/title&gt;</a:t>
            </a:r>
            <a:r>
              <a:rPr lang="en-GB"/>
              <a:t> ?title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{ ?book </a:t>
            </a:r>
            <a:r>
              <a:rPr lang="en-GB">
                <a:solidFill>
                  <a:srgbClr val="0B5394"/>
                </a:solidFill>
              </a:rPr>
              <a:t>&lt;http://ex.org/author&gt;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               &lt;http://ex.org/Shakespeare&gt;</a:t>
            </a:r>
            <a:r>
              <a:rPr lang="en-GB"/>
              <a:t> } UNION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{ ?book </a:t>
            </a:r>
            <a:r>
              <a:rPr lang="en-GB">
                <a:solidFill>
                  <a:srgbClr val="0B5394"/>
                </a:solidFill>
              </a:rPr>
              <a:t>&lt;http://ex.org/author&gt;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                &lt;http://ex.org/Marlowe&gt;</a:t>
            </a:r>
            <a:r>
              <a:rPr lang="en-GB"/>
              <a:t>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FILTER (?price &lt; 15)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/>
          </a:p>
        </p:txBody>
      </p:sp>
      <p:sp>
        <p:nvSpPr>
          <p:cNvPr id="398" name="Google Shape;398;p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Biên dịch sang đại số SPARQL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404" name="Google Shape;404;p49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B2. </a:t>
            </a:r>
            <a:r>
              <a:rPr lang="en-GB">
                <a:solidFill>
                  <a:srgbClr val="0B5394"/>
                </a:solidFill>
              </a:rPr>
              <a:t>Đưa các mẫu đồ thị cơ bản vào các biểu thức BGP(.)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{ </a:t>
            </a:r>
            <a:r>
              <a:rPr lang="en-GB">
                <a:solidFill>
                  <a:srgbClr val="0B5394"/>
                </a:solidFill>
              </a:rPr>
              <a:t>BGP</a:t>
            </a:r>
            <a:r>
              <a:rPr lang="en-GB"/>
              <a:t>(?book &lt;http://ex.org/price&gt; ?price)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OPTIONAL {</a:t>
            </a:r>
            <a:r>
              <a:rPr lang="en-GB">
                <a:solidFill>
                  <a:srgbClr val="0B5394"/>
                </a:solidFill>
              </a:rPr>
              <a:t>BGP</a:t>
            </a:r>
            <a:r>
              <a:rPr lang="en-GB"/>
              <a:t>(?book &lt;http://ex.org/title&gt; ?title)}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{</a:t>
            </a:r>
            <a:r>
              <a:rPr lang="en-GB">
                <a:solidFill>
                  <a:srgbClr val="0B5394"/>
                </a:solidFill>
              </a:rPr>
              <a:t>BGP</a:t>
            </a:r>
            <a:r>
              <a:rPr lang="en-GB"/>
              <a:t>(?book &lt;http://ex.org/author&gt;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&lt;http://ex.org/Shakespeare&gt;)} UNION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{</a:t>
            </a:r>
            <a:r>
              <a:rPr lang="en-GB">
                <a:solidFill>
                  <a:srgbClr val="0B5394"/>
                </a:solidFill>
              </a:rPr>
              <a:t>BGP</a:t>
            </a:r>
            <a:r>
              <a:rPr lang="en-GB"/>
              <a:t>(?book &lt;http://ex.org/author&gt;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&lt;http://ex.org/Marlowe&gt;)}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FILTER (?price &lt; 15)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Biên dịch sang đại số SPARQL</a:t>
            </a:r>
            <a:r>
              <a:rPr baseline="-25000" lang="en-GB"/>
              <a:t>(3)</a:t>
            </a:r>
            <a:endParaRPr baseline="-25000"/>
          </a:p>
        </p:txBody>
      </p:sp>
      <p:sp>
        <p:nvSpPr>
          <p:cNvPr id="411" name="Google Shape;411;p50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B3. S</a:t>
            </a:r>
            <a:r>
              <a:rPr lang="en-GB">
                <a:solidFill>
                  <a:srgbClr val="0B5394"/>
                </a:solidFill>
              </a:rPr>
              <a:t>ử dụng toán tử LeftJoin(.) cho các thành phần không bắt buộc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{ LeftJoin(BGP(?book &lt;http://ex.org/price&gt; ?price),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BGP(?book &lt;http://ex.org/title&gt; ?title), true)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{BGP(?book &lt;http://ex.org/author&gt;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&lt;http://ex.org/Shakespeare&gt;)} UNION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{BGP(?book &lt;http://ex.org/author&gt;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&lt;http://ex.org/Marlowe&gt;)}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FILTER (?price &lt; 15)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Biên dịch sang đại số SPARQL</a:t>
            </a:r>
            <a:r>
              <a:rPr baseline="-25000" lang="en-GB"/>
              <a:t>(4)</a:t>
            </a:r>
            <a:endParaRPr baseline="-25000"/>
          </a:p>
        </p:txBody>
      </p:sp>
      <p:sp>
        <p:nvSpPr>
          <p:cNvPr id="418" name="Google Shape;418;p51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B4. K</a:t>
            </a:r>
            <a:r>
              <a:rPr lang="en-GB">
                <a:solidFill>
                  <a:srgbClr val="0B5394"/>
                </a:solidFill>
              </a:rPr>
              <a:t>ết hợp các mẫu đồ thị tương đương bằng toán tử Union(.)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{ LeftJoin(BGP(?book &lt;http://ex.org/price&gt; ?price),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BGP(?book &lt;http://ex.org/title&gt; ?title), true)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</a:t>
            </a:r>
            <a:r>
              <a:rPr lang="en-GB">
                <a:solidFill>
                  <a:srgbClr val="0B5394"/>
                </a:solidFill>
              </a:rPr>
              <a:t>Union</a:t>
            </a:r>
            <a:r>
              <a:rPr lang="en-GB"/>
              <a:t>(BGP(?book &lt;http://ex.org/author&gt;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&lt;http://ex.org/Shakespeare&gt;),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BGP(?book &lt;http://ex.org/author&gt;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&lt;http://ex.org/Marlowe&gt;))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FILTER (?price &lt; 15)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Biên dịch sang đại số SPARQL</a:t>
            </a:r>
            <a:r>
              <a:rPr baseline="-25000" lang="en-GB"/>
              <a:t>(5)</a:t>
            </a:r>
            <a:endParaRPr baseline="-25000"/>
          </a:p>
        </p:txBody>
      </p:sp>
      <p:sp>
        <p:nvSpPr>
          <p:cNvPr id="425" name="Google Shape;425;p52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B5. </a:t>
            </a:r>
            <a:r>
              <a:rPr lang="en-GB">
                <a:solidFill>
                  <a:srgbClr val="0B5394"/>
                </a:solidFill>
              </a:rPr>
              <a:t>Áp dụng toán tử Join</a:t>
            </a:r>
            <a:r>
              <a:rPr lang="en-GB">
                <a:solidFill>
                  <a:srgbClr val="0B5394"/>
                </a:solidFill>
              </a:rPr>
              <a:t>(.) </a:t>
            </a:r>
            <a:r>
              <a:rPr lang="en-GB">
                <a:solidFill>
                  <a:srgbClr val="0B5394"/>
                </a:solidFill>
              </a:rPr>
              <a:t>để liên kết các thành phần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{ J</a:t>
            </a:r>
            <a:r>
              <a:rPr lang="en-GB"/>
              <a:t>oin(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</a:t>
            </a:r>
            <a:r>
              <a:rPr lang="en-GB"/>
              <a:t>LeftJoin(</a:t>
            </a:r>
            <a:r>
              <a:rPr lang="en-GB"/>
              <a:t>BGP</a:t>
            </a:r>
            <a:r>
              <a:rPr lang="en-GB"/>
              <a:t>(?book &lt;http://ex.org/price&gt; ?price),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</a:t>
            </a:r>
            <a:r>
              <a:rPr lang="en-GB"/>
              <a:t>BGP</a:t>
            </a:r>
            <a:r>
              <a:rPr lang="en-GB"/>
              <a:t>(?book &lt;http://ex.org/title&gt; ?title), true)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</a:rPr>
              <a:t>  </a:t>
            </a:r>
            <a:r>
              <a:rPr lang="en-GB">
                <a:solidFill>
                  <a:srgbClr val="666666"/>
                </a:solidFill>
              </a:rPr>
              <a:t>  Union(</a:t>
            </a:r>
            <a:r>
              <a:rPr lang="en-GB"/>
              <a:t>BGP</a:t>
            </a:r>
            <a:r>
              <a:rPr lang="en-GB"/>
              <a:t>(?book &lt;http://ex.org/author&gt;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&lt;http://ex.org/Shakespeare&gt;),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</a:t>
            </a:r>
            <a:r>
              <a:rPr lang="en-GB"/>
              <a:t>BGP</a:t>
            </a:r>
            <a:r>
              <a:rPr lang="en-GB"/>
              <a:t>(?book &lt;http://ex.org/author&gt;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&lt;http://ex.org/Marlowe&gt;)))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FILTER (?price &lt; 15)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iên dịch sang đại số SPARQL</a:t>
            </a:r>
            <a:r>
              <a:rPr baseline="-25000" lang="en-GB"/>
              <a:t>(6)</a:t>
            </a:r>
            <a:endParaRPr baseline="-25000"/>
          </a:p>
        </p:txBody>
      </p:sp>
      <p:sp>
        <p:nvSpPr>
          <p:cNvPr id="432" name="Google Shape;432;p53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B6. </a:t>
            </a:r>
            <a:r>
              <a:rPr lang="en-GB">
                <a:solidFill>
                  <a:srgbClr val="0B5394"/>
                </a:solidFill>
              </a:rPr>
              <a:t>Áp dụng toán tử Filter(.) cho nhóm có bộ lọc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Filter</a:t>
            </a:r>
            <a:r>
              <a:rPr lang="en-GB"/>
              <a:t>(?price &lt; 15,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Join(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LeftJoin(BGP(?book &lt;http://ex.org/price&gt; ?price),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BGP(?book &lt;http://ex.org/title&gt; ?title), true),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Union(BGP(?book &lt;http://ex.org/author&gt;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&lt;http://ex.org/Shakespeare&gt;),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BGP(?book &lt;http://ex.org/author&gt;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&lt;http://ex.org/Marlowe&gt;))))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3"/>
          <p:cNvSpPr txBox="1"/>
          <p:nvPr/>
        </p:nvSpPr>
        <p:spPr>
          <a:xfrm>
            <a:off x="316300" y="5535275"/>
            <a:ext cx="8520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B5394"/>
                </a:solidFill>
              </a:rPr>
              <a:t>Công cụ trực tuyến:</a:t>
            </a:r>
            <a:r>
              <a:rPr lang="en-GB" sz="2600"/>
              <a:t> http://sparql.org/query-validator.html</a:t>
            </a:r>
            <a:endParaRPr sz="2600"/>
          </a:p>
        </p:txBody>
      </p:sp>
      <p:sp>
        <p:nvSpPr>
          <p:cNvPr id="434" name="Google Shape;434;p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</a:t>
            </a:r>
            <a:r>
              <a:rPr lang="en-GB"/>
              <a:t>ực hiện biểu thức đại số SPARQL</a:t>
            </a:r>
            <a:endParaRPr/>
          </a:p>
        </p:txBody>
      </p:sp>
      <p:sp>
        <p:nvSpPr>
          <p:cNvPr id="440" name="Google Shape;440;p5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</a:t>
            </a:r>
            <a:r>
              <a:rPr lang="en-GB"/>
              <a:t>ử lý mẫu đồ thị cơ bản</a:t>
            </a:r>
            <a:endParaRPr/>
          </a:p>
        </p:txBody>
      </p:sp>
      <p:sp>
        <p:nvSpPr>
          <p:cNvPr id="446" name="Google Shape;446;p55"/>
          <p:cNvSpPr/>
          <p:nvPr/>
        </p:nvSpPr>
        <p:spPr>
          <a:xfrm>
            <a:off x="460075" y="1027975"/>
            <a:ext cx="8372100" cy="2925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666666"/>
                </a:solidFill>
              </a:rPr>
              <a:t>Định nghĩa lời giải:</a:t>
            </a:r>
            <a:endParaRPr b="1"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</a:rPr>
              <a:t>Đặt P là một mẫu đồ thị cơ bản. Một hàm thành phần μ là 1 lời giải cho BGP(P) trên đồ thị G nếu: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</a:rPr>
              <a:t>(1) Miền của μ là tập các biến trong P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</a:rPr>
              <a:t>(2) Tồn tại phép gán σ từ các nút rỗng trong P tới IRIs, nút rỗng hoặc hằng giá trị RDF sao cho: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</a:rPr>
              <a:t>(3) Đồ thị RDF μ(σ(P)) là đồ thị con của G</a:t>
            </a:r>
            <a:endParaRPr sz="2400">
              <a:solidFill>
                <a:srgbClr val="666666"/>
              </a:solidFill>
            </a:endParaRPr>
          </a:p>
        </p:txBody>
      </p:sp>
      <p:sp>
        <p:nvSpPr>
          <p:cNvPr id="447" name="Google Shape;447;p55"/>
          <p:cNvSpPr txBox="1"/>
          <p:nvPr/>
        </p:nvSpPr>
        <p:spPr>
          <a:xfrm>
            <a:off x="503200" y="4093225"/>
            <a:ext cx="8267100" cy="1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Char char="●"/>
            </a:pPr>
            <a:r>
              <a:rPr lang="en-GB" sz="2400">
                <a:solidFill>
                  <a:srgbClr val="666666"/>
                </a:solidFill>
              </a:rPr>
              <a:t>Kết quả xử lý BGP(P) trên G được viết là [BGP(P)]</a:t>
            </a:r>
            <a:r>
              <a:rPr baseline="-25000" lang="en-GB" sz="2400">
                <a:solidFill>
                  <a:srgbClr val="666666"/>
                </a:solidFill>
              </a:rPr>
              <a:t>G</a:t>
            </a:r>
            <a:endParaRPr sz="2400">
              <a:solidFill>
                <a:srgbClr val="666666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Char char="●"/>
            </a:pPr>
            <a:r>
              <a:rPr lang="en-GB" sz="2400">
                <a:solidFill>
                  <a:srgbClr val="666666"/>
                </a:solidFill>
              </a:rPr>
              <a:t>Kết quả là 1 tập đa giá trị của μ</a:t>
            </a:r>
            <a:endParaRPr sz="2400">
              <a:solidFill>
                <a:srgbClr val="666666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Char char="●"/>
            </a:pPr>
            <a:r>
              <a:rPr lang="en-GB" sz="2400">
                <a:solidFill>
                  <a:srgbClr val="666666"/>
                </a:solidFill>
              </a:rPr>
              <a:t>Cơ số của μ = số lượng phép gán σ khác nhau để μ là lời giải.</a:t>
            </a:r>
            <a:endParaRPr sz="2400">
              <a:solidFill>
                <a:srgbClr val="666666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Char char="○"/>
            </a:pPr>
            <a:r>
              <a:rPr i="1" lang="en-GB" sz="2200">
                <a:solidFill>
                  <a:srgbClr val="666666"/>
                </a:solidFill>
              </a:rPr>
              <a:t>(σ - Ánh xạ các nút rỗng).</a:t>
            </a:r>
            <a:endParaRPr i="1" sz="2200">
              <a:solidFill>
                <a:srgbClr val="666666"/>
              </a:solidFill>
            </a:endParaRPr>
          </a:p>
        </p:txBody>
      </p:sp>
      <p:sp>
        <p:nvSpPr>
          <p:cNvPr id="448" name="Google Shape;448;p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8.11. Khớp mẫu</a:t>
            </a:r>
            <a:endParaRPr/>
          </a:p>
        </p:txBody>
      </p:sp>
      <p:sp>
        <p:nvSpPr>
          <p:cNvPr id="454" name="Google Shape;454;p56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ex:NVA ex:gives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a ex:Lesson ; ex:hasTopic "SPARQL" ]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ex:NVB ex:gives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a ex:Lesson ; ex:hasTopic "DLs and OWL" ]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BGP</a:t>
            </a:r>
            <a:r>
              <a:rPr lang="en-GB">
                <a:solidFill>
                  <a:srgbClr val="0B5394"/>
                </a:solidFill>
              </a:rPr>
              <a:t>(?who ex:gives _ :x . _ :x ex:hasTopic ?what)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455" name="Google Shape;455;p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8.11. Khớp mẫu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461" name="Google Shape;461;p57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ex:NVA ex:gives _ :a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_ :a rdf:type ex:Lesson; ex:hasTopic "SPARQL"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ex:NVB ex:gives _ :b 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_ :b rdf:type ex:Lesson; ex:hasTopic "DLs and OWL"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</a:rPr>
              <a:t>BGP</a:t>
            </a:r>
            <a:r>
              <a:rPr lang="en-GB">
                <a:solidFill>
                  <a:srgbClr val="666666"/>
                </a:solidFill>
              </a:rPr>
              <a:t>(?who ex:gives _ :x . _ :x ex:hasTopic ?what)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μ</a:t>
            </a:r>
            <a:r>
              <a:rPr baseline="-25000" lang="en-GB">
                <a:solidFill>
                  <a:srgbClr val="0B5394"/>
                </a:solidFill>
              </a:rPr>
              <a:t>1</a:t>
            </a:r>
            <a:r>
              <a:rPr lang="en-GB">
                <a:solidFill>
                  <a:srgbClr val="0B5394"/>
                </a:solidFill>
              </a:rPr>
              <a:t>: ?who → ex:NVA,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σ</a:t>
            </a:r>
            <a:r>
              <a:rPr baseline="-25000" lang="en-GB">
                <a:solidFill>
                  <a:srgbClr val="0B5394"/>
                </a:solidFill>
              </a:rPr>
              <a:t>1</a:t>
            </a:r>
            <a:r>
              <a:rPr lang="en-GB">
                <a:solidFill>
                  <a:srgbClr val="0B5394"/>
                </a:solidFill>
              </a:rPr>
              <a:t>: _ :x →_ :a      ?what →"SPARQL"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μ</a:t>
            </a:r>
            <a:r>
              <a:rPr baseline="-25000" lang="en-GB">
                <a:solidFill>
                  <a:srgbClr val="0B5394"/>
                </a:solidFill>
              </a:rPr>
              <a:t>2</a:t>
            </a:r>
            <a:r>
              <a:rPr lang="en-GB">
                <a:solidFill>
                  <a:srgbClr val="0B5394"/>
                </a:solidFill>
              </a:rPr>
              <a:t>: ?who → ex:NVB,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σ</a:t>
            </a:r>
            <a:r>
              <a:rPr baseline="-25000" lang="en-GB">
                <a:solidFill>
                  <a:srgbClr val="0B5394"/>
                </a:solidFill>
              </a:rPr>
              <a:t>2</a:t>
            </a:r>
            <a:r>
              <a:rPr lang="en-GB">
                <a:solidFill>
                  <a:srgbClr val="0B5394"/>
                </a:solidFill>
              </a:rPr>
              <a:t>: _ :x →_ :b      ?what →"DLs and OWL"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Hai </a:t>
            </a:r>
            <a:r>
              <a:rPr lang="en-GB">
                <a:solidFill>
                  <a:srgbClr val="0B5394"/>
                </a:solidFill>
              </a:rPr>
              <a:t>lời giải</a:t>
            </a:r>
            <a:r>
              <a:rPr lang="en-GB">
                <a:solidFill>
                  <a:srgbClr val="0B5394"/>
                </a:solidFill>
              </a:rPr>
              <a:t> với cơ số = 1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462" name="Google Shape;462;p5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</a:t>
            </a:r>
            <a:r>
              <a:rPr lang="en-GB"/>
              <a:t>ái niệm lời giải tương thích</a:t>
            </a:r>
            <a:endParaRPr/>
          </a:p>
        </p:txBody>
      </p:sp>
      <p:sp>
        <p:nvSpPr>
          <p:cNvPr id="468" name="Google Shape;468;p58"/>
          <p:cNvSpPr/>
          <p:nvPr/>
        </p:nvSpPr>
        <p:spPr>
          <a:xfrm>
            <a:off x="373800" y="1032300"/>
            <a:ext cx="8410800" cy="16533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400">
                <a:solidFill>
                  <a:srgbClr val="434343"/>
                </a:solidFill>
              </a:rPr>
              <a:t>Định nghĩa:</a:t>
            </a:r>
            <a:endParaRPr b="1" i="1" sz="24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Hai lời giải μ</a:t>
            </a:r>
            <a:r>
              <a:rPr baseline="-25000" lang="en-GB" sz="2400">
                <a:solidFill>
                  <a:srgbClr val="434343"/>
                </a:solidFill>
              </a:rPr>
              <a:t>1</a:t>
            </a:r>
            <a:r>
              <a:rPr lang="en-GB" sz="2400">
                <a:solidFill>
                  <a:srgbClr val="434343"/>
                </a:solidFill>
              </a:rPr>
              <a:t> và μ</a:t>
            </a:r>
            <a:r>
              <a:rPr baseline="-25000" lang="en-GB" sz="2400">
                <a:solidFill>
                  <a:srgbClr val="434343"/>
                </a:solidFill>
              </a:rPr>
              <a:t>2</a:t>
            </a:r>
            <a:r>
              <a:rPr lang="en-GB" sz="2400">
                <a:solidFill>
                  <a:srgbClr val="434343"/>
                </a:solidFill>
              </a:rPr>
              <a:t> được gọi là tương thích nếu μ</a:t>
            </a:r>
            <a:r>
              <a:rPr baseline="-25000" lang="en-GB" sz="2400">
                <a:solidFill>
                  <a:srgbClr val="434343"/>
                </a:solidFill>
              </a:rPr>
              <a:t>1</a:t>
            </a:r>
            <a:r>
              <a:rPr lang="en-GB" sz="2400">
                <a:solidFill>
                  <a:srgbClr val="434343"/>
                </a:solidFill>
              </a:rPr>
              <a:t>(x) = μ</a:t>
            </a:r>
            <a:r>
              <a:rPr baseline="-25000" lang="en-GB" sz="2400">
                <a:solidFill>
                  <a:srgbClr val="434343"/>
                </a:solidFill>
              </a:rPr>
              <a:t>2</a:t>
            </a:r>
            <a:r>
              <a:rPr lang="en-GB" sz="2400">
                <a:solidFill>
                  <a:srgbClr val="434343"/>
                </a:solidFill>
              </a:rPr>
              <a:t>(x), với tất cả x là biến chung của </a:t>
            </a:r>
            <a:r>
              <a:rPr lang="en-GB" sz="2400">
                <a:solidFill>
                  <a:srgbClr val="434343"/>
                </a:solidFill>
              </a:rPr>
              <a:t>μ</a:t>
            </a:r>
            <a:r>
              <a:rPr baseline="-25000" lang="en-GB" sz="2400">
                <a:solidFill>
                  <a:srgbClr val="434343"/>
                </a:solidFill>
              </a:rPr>
              <a:t>1</a:t>
            </a:r>
            <a:r>
              <a:rPr lang="en-GB" sz="2400">
                <a:solidFill>
                  <a:srgbClr val="434343"/>
                </a:solidFill>
              </a:rPr>
              <a:t> và μ</a:t>
            </a:r>
            <a:r>
              <a:rPr baseline="-25000" lang="en-GB" sz="2400">
                <a:solidFill>
                  <a:srgbClr val="434343"/>
                </a:solidFill>
              </a:rPr>
              <a:t>2</a:t>
            </a:r>
            <a:r>
              <a:rPr lang="en-GB" sz="2400">
                <a:solidFill>
                  <a:srgbClr val="434343"/>
                </a:solidFill>
              </a:rPr>
              <a:t>.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469" name="Google Shape;469;p58"/>
          <p:cNvSpPr txBox="1"/>
          <p:nvPr/>
        </p:nvSpPr>
        <p:spPr>
          <a:xfrm>
            <a:off x="431325" y="2780575"/>
            <a:ext cx="8400900" cy="3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666666"/>
                </a:solidFill>
              </a:rPr>
              <a:t>μ</a:t>
            </a:r>
            <a:r>
              <a:rPr baseline="-25000" lang="en-GB" sz="2400">
                <a:solidFill>
                  <a:srgbClr val="666666"/>
                </a:solidFill>
              </a:rPr>
              <a:t>1</a:t>
            </a:r>
            <a:r>
              <a:rPr lang="en-GB" sz="2400">
                <a:solidFill>
                  <a:srgbClr val="666666"/>
                </a:solidFill>
              </a:rPr>
              <a:t> : ?x </a:t>
            </a:r>
            <a:r>
              <a:rPr lang="en-GB" sz="2400">
                <a:solidFill>
                  <a:srgbClr val="666666"/>
                </a:solidFill>
              </a:rPr>
              <a:t>→</a:t>
            </a:r>
            <a:r>
              <a:rPr lang="en-GB" sz="2400">
                <a:solidFill>
                  <a:srgbClr val="666666"/>
                </a:solidFill>
              </a:rPr>
              <a:t> ex:a , ?y → ex:b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666666"/>
                </a:solidFill>
              </a:rPr>
              <a:t>μ</a:t>
            </a:r>
            <a:r>
              <a:rPr baseline="-25000" lang="en-GB" sz="2400">
                <a:solidFill>
                  <a:srgbClr val="666666"/>
                </a:solidFill>
              </a:rPr>
              <a:t>2</a:t>
            </a:r>
            <a:r>
              <a:rPr lang="en-GB" sz="2400">
                <a:solidFill>
                  <a:srgbClr val="666666"/>
                </a:solidFill>
              </a:rPr>
              <a:t> : ?y → ex:b , ?z→ ex:c    ✔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666666"/>
                </a:solidFill>
              </a:rPr>
              <a:t>μ</a:t>
            </a:r>
            <a:r>
              <a:rPr baseline="-25000" lang="en-GB" sz="2400">
                <a:solidFill>
                  <a:srgbClr val="666666"/>
                </a:solidFill>
              </a:rPr>
              <a:t>3</a:t>
            </a:r>
            <a:r>
              <a:rPr lang="en-GB" sz="2400">
                <a:solidFill>
                  <a:srgbClr val="666666"/>
                </a:solidFill>
              </a:rPr>
              <a:t> : ?x → ex:a , ?y → ex:b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666666"/>
                </a:solidFill>
              </a:rPr>
              <a:t>μ</a:t>
            </a:r>
            <a:r>
              <a:rPr baseline="-25000" lang="en-GB" sz="2400">
                <a:solidFill>
                  <a:srgbClr val="666666"/>
                </a:solidFill>
              </a:rPr>
              <a:t>4</a:t>
            </a:r>
            <a:r>
              <a:rPr lang="en-GB" sz="2400">
                <a:solidFill>
                  <a:srgbClr val="666666"/>
                </a:solidFill>
              </a:rPr>
              <a:t> : ?x → ex:b , ?z → ex:c   ✗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666666"/>
                </a:solidFill>
              </a:rPr>
              <a:t>μ</a:t>
            </a:r>
            <a:r>
              <a:rPr baseline="-25000" lang="en-GB" sz="2400">
                <a:solidFill>
                  <a:srgbClr val="666666"/>
                </a:solidFill>
              </a:rPr>
              <a:t>5</a:t>
            </a:r>
            <a:r>
              <a:rPr lang="en-GB" sz="2400">
                <a:solidFill>
                  <a:srgbClr val="666666"/>
                </a:solidFill>
              </a:rPr>
              <a:t> : ?x → ex:a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</a:rPr>
              <a:t>μ</a:t>
            </a:r>
            <a:r>
              <a:rPr baseline="-25000" lang="en-GB" sz="2400">
                <a:solidFill>
                  <a:srgbClr val="666666"/>
                </a:solidFill>
              </a:rPr>
              <a:t>6</a:t>
            </a:r>
            <a:r>
              <a:rPr lang="en-GB" sz="2400">
                <a:solidFill>
                  <a:srgbClr val="666666"/>
                </a:solidFill>
              </a:rPr>
              <a:t> : ?y → ex:b ✔</a:t>
            </a:r>
            <a:endParaRPr sz="2400">
              <a:solidFill>
                <a:srgbClr val="666666"/>
              </a:solidFill>
            </a:endParaRPr>
          </a:p>
        </p:txBody>
      </p:sp>
      <p:sp>
        <p:nvSpPr>
          <p:cNvPr id="470" name="Google Shape;470;p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Hợp của 2 lời giải tương thích</a:t>
            </a:r>
            <a:endParaRPr/>
          </a:p>
        </p:txBody>
      </p:sp>
      <p:sp>
        <p:nvSpPr>
          <p:cNvPr id="476" name="Google Shape;476;p5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7" name="Google Shape;477;p59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Hợp của 2 lời giải tương thích μ</a:t>
            </a:r>
            <a:r>
              <a:rPr baseline="-25000" lang="en-GB"/>
              <a:t>1</a:t>
            </a:r>
            <a:r>
              <a:rPr lang="en-GB"/>
              <a:t> và μ</a:t>
            </a:r>
            <a:r>
              <a:rPr baseline="-25000" lang="en-GB"/>
              <a:t>2</a:t>
            </a:r>
            <a:r>
              <a:rPr lang="en-GB"/>
              <a:t> được ký hiệu là : </a:t>
            </a:r>
            <a:r>
              <a:rPr lang="en-GB">
                <a:solidFill>
                  <a:srgbClr val="666666"/>
                </a:solidFill>
              </a:rPr>
              <a:t>μ</a:t>
            </a:r>
            <a:r>
              <a:rPr baseline="-25000" lang="en-GB">
                <a:solidFill>
                  <a:srgbClr val="666666"/>
                </a:solidFill>
              </a:rPr>
              <a:t>1</a:t>
            </a:r>
            <a:r>
              <a:rPr lang="en-GB">
                <a:solidFill>
                  <a:srgbClr val="666666"/>
                </a:solidFill>
              </a:rPr>
              <a:t> ∪ μ</a:t>
            </a:r>
            <a:r>
              <a:rPr baseline="-25000" lang="en-GB">
                <a:solidFill>
                  <a:srgbClr val="666666"/>
                </a:solidFill>
              </a:rPr>
              <a:t>2</a:t>
            </a:r>
            <a:r>
              <a:rPr lang="en-GB">
                <a:solidFill>
                  <a:srgbClr val="666666"/>
                </a:solidFill>
              </a:rPr>
              <a:t> và thỏa mãn: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</a:rPr>
              <a:t>      </a:t>
            </a:r>
            <a:r>
              <a:rPr lang="en-GB">
                <a:solidFill>
                  <a:srgbClr val="666666"/>
                </a:solidFill>
              </a:rPr>
              <a:t>dom(μ</a:t>
            </a:r>
            <a:r>
              <a:rPr baseline="-25000" lang="en-GB">
                <a:solidFill>
                  <a:srgbClr val="666666"/>
                </a:solidFill>
              </a:rPr>
              <a:t>1</a:t>
            </a:r>
            <a:r>
              <a:rPr lang="en-GB">
                <a:solidFill>
                  <a:srgbClr val="666666"/>
                </a:solidFill>
              </a:rPr>
              <a:t> ∪ μ</a:t>
            </a:r>
            <a:r>
              <a:rPr baseline="-25000" lang="en-GB">
                <a:solidFill>
                  <a:srgbClr val="666666"/>
                </a:solidFill>
              </a:rPr>
              <a:t>2</a:t>
            </a:r>
            <a:r>
              <a:rPr lang="en-GB">
                <a:solidFill>
                  <a:srgbClr val="666666"/>
                </a:solidFill>
              </a:rPr>
              <a:t>) = dom(μ</a:t>
            </a:r>
            <a:r>
              <a:rPr baseline="-25000" lang="en-GB">
                <a:solidFill>
                  <a:srgbClr val="666666"/>
                </a:solidFill>
              </a:rPr>
              <a:t>1</a:t>
            </a:r>
            <a:r>
              <a:rPr lang="en-GB">
                <a:solidFill>
                  <a:srgbClr val="666666"/>
                </a:solidFill>
              </a:rPr>
              <a:t>) ∪ dom(μ</a:t>
            </a:r>
            <a:r>
              <a:rPr baseline="-25000" lang="en-GB">
                <a:solidFill>
                  <a:srgbClr val="666666"/>
                </a:solidFill>
              </a:rPr>
              <a:t>2</a:t>
            </a:r>
            <a:r>
              <a:rPr lang="en-GB">
                <a:solidFill>
                  <a:srgbClr val="666666"/>
                </a:solidFill>
              </a:rPr>
              <a:t>), và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</a:rPr>
              <a:t>	 </a:t>
            </a:r>
            <a:r>
              <a:rPr lang="en-GB" sz="2600">
                <a:solidFill>
                  <a:srgbClr val="666666"/>
                </a:solidFill>
              </a:rPr>
              <a:t>với ∀x ∈ dom(μ</a:t>
            </a:r>
            <a:r>
              <a:rPr baseline="-25000" lang="en-GB" sz="2600">
                <a:solidFill>
                  <a:srgbClr val="666666"/>
                </a:solidFill>
              </a:rPr>
              <a:t>1</a:t>
            </a:r>
            <a:r>
              <a:rPr lang="en-GB" sz="2600">
                <a:solidFill>
                  <a:srgbClr val="666666"/>
                </a:solidFill>
              </a:rPr>
              <a:t>) ∪ dom(μ</a:t>
            </a:r>
            <a:r>
              <a:rPr baseline="-25000" lang="en-GB" sz="2600">
                <a:solidFill>
                  <a:srgbClr val="666666"/>
                </a:solidFill>
              </a:rPr>
              <a:t>2</a:t>
            </a:r>
            <a:r>
              <a:rPr lang="en-GB" sz="2600">
                <a:solidFill>
                  <a:srgbClr val="666666"/>
                </a:solidFill>
              </a:rPr>
              <a:t>) </a:t>
            </a:r>
            <a:endParaRPr sz="2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  <p:grpSp>
        <p:nvGrpSpPr>
          <p:cNvPr id="478" name="Google Shape;478;p59"/>
          <p:cNvGrpSpPr/>
          <p:nvPr/>
        </p:nvGrpSpPr>
        <p:grpSpPr>
          <a:xfrm>
            <a:off x="806300" y="2653830"/>
            <a:ext cx="6938400" cy="1161600"/>
            <a:chOff x="805125" y="2313305"/>
            <a:chExt cx="6938400" cy="1161600"/>
          </a:xfrm>
        </p:grpSpPr>
        <p:sp>
          <p:nvSpPr>
            <p:cNvPr id="479" name="Google Shape;479;p59"/>
            <p:cNvSpPr txBox="1"/>
            <p:nvPr/>
          </p:nvSpPr>
          <p:spPr>
            <a:xfrm>
              <a:off x="805125" y="2589350"/>
              <a:ext cx="2300400" cy="70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666666"/>
                  </a:solidFill>
                </a:rPr>
                <a:t>(μ</a:t>
              </a:r>
              <a:r>
                <a:rPr baseline="-25000" lang="en-GB" sz="2600">
                  <a:solidFill>
                    <a:srgbClr val="666666"/>
                  </a:solidFill>
                </a:rPr>
                <a:t>1</a:t>
              </a:r>
              <a:r>
                <a:rPr lang="en-GB" sz="2600">
                  <a:solidFill>
                    <a:srgbClr val="666666"/>
                  </a:solidFill>
                </a:rPr>
                <a:t> ∪ μ</a:t>
              </a:r>
              <a:r>
                <a:rPr baseline="-25000" lang="en-GB" sz="2600">
                  <a:solidFill>
                    <a:srgbClr val="666666"/>
                  </a:solidFill>
                </a:rPr>
                <a:t>2</a:t>
              </a:r>
              <a:r>
                <a:rPr lang="en-GB" sz="2600">
                  <a:solidFill>
                    <a:srgbClr val="666666"/>
                  </a:solidFill>
                </a:rPr>
                <a:t> )(x) = </a:t>
              </a:r>
              <a:endParaRPr sz="2600">
                <a:solidFill>
                  <a:srgbClr val="666666"/>
                </a:solidFill>
              </a:endParaRPr>
            </a:p>
          </p:txBody>
        </p:sp>
        <p:sp>
          <p:nvSpPr>
            <p:cNvPr id="480" name="Google Shape;480;p59"/>
            <p:cNvSpPr txBox="1"/>
            <p:nvPr/>
          </p:nvSpPr>
          <p:spPr>
            <a:xfrm>
              <a:off x="3167325" y="2313305"/>
              <a:ext cx="4576200" cy="70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666666"/>
                  </a:solidFill>
                </a:rPr>
                <a:t>μ</a:t>
              </a:r>
              <a:r>
                <a:rPr baseline="-25000" lang="en-GB" sz="2600">
                  <a:solidFill>
                    <a:srgbClr val="666666"/>
                  </a:solidFill>
                </a:rPr>
                <a:t>1</a:t>
              </a:r>
              <a:r>
                <a:rPr lang="en-GB" sz="2600">
                  <a:solidFill>
                    <a:srgbClr val="666666"/>
                  </a:solidFill>
                </a:rPr>
                <a:t>(x) nếu x ∈ dom(μ</a:t>
              </a:r>
              <a:r>
                <a:rPr baseline="-25000" lang="en-GB" sz="2600">
                  <a:solidFill>
                    <a:srgbClr val="666666"/>
                  </a:solidFill>
                </a:rPr>
                <a:t>1</a:t>
              </a:r>
              <a:r>
                <a:rPr lang="en-GB" sz="2600">
                  <a:solidFill>
                    <a:srgbClr val="666666"/>
                  </a:solidFill>
                </a:rPr>
                <a:t>)</a:t>
              </a:r>
              <a:endParaRPr sz="2600">
                <a:solidFill>
                  <a:srgbClr val="666666"/>
                </a:solidFill>
              </a:endParaRPr>
            </a:p>
          </p:txBody>
        </p:sp>
        <p:sp>
          <p:nvSpPr>
            <p:cNvPr id="481" name="Google Shape;481;p59"/>
            <p:cNvSpPr txBox="1"/>
            <p:nvPr/>
          </p:nvSpPr>
          <p:spPr>
            <a:xfrm>
              <a:off x="3167325" y="2770505"/>
              <a:ext cx="4576200" cy="70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666666"/>
                  </a:solidFill>
                </a:rPr>
                <a:t>μ</a:t>
              </a:r>
              <a:r>
                <a:rPr baseline="-25000" lang="en-GB" sz="2600">
                  <a:solidFill>
                    <a:srgbClr val="666666"/>
                  </a:solidFill>
                </a:rPr>
                <a:t>2</a:t>
              </a:r>
              <a:r>
                <a:rPr lang="en-GB" sz="2600">
                  <a:solidFill>
                    <a:srgbClr val="666666"/>
                  </a:solidFill>
                </a:rPr>
                <a:t>(x) nếu ngược lại</a:t>
              </a:r>
              <a:endParaRPr sz="2600">
                <a:solidFill>
                  <a:srgbClr val="666666"/>
                </a:solidFill>
              </a:endParaRPr>
            </a:p>
          </p:txBody>
        </p:sp>
        <p:sp>
          <p:nvSpPr>
            <p:cNvPr id="482" name="Google Shape;482;p59"/>
            <p:cNvSpPr/>
            <p:nvPr/>
          </p:nvSpPr>
          <p:spPr>
            <a:xfrm>
              <a:off x="2966050" y="2503105"/>
              <a:ext cx="215700" cy="7635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Toán tử Union</a:t>
            </a:r>
            <a:endParaRPr/>
          </a:p>
        </p:txBody>
      </p:sp>
      <p:sp>
        <p:nvSpPr>
          <p:cNvPr id="488" name="Google Shape;488;p60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Kết quả thực hiện Union(A</a:t>
            </a:r>
            <a:r>
              <a:rPr baseline="-25000" lang="en-GB"/>
              <a:t>1</a:t>
            </a:r>
            <a:r>
              <a:rPr lang="en-GB"/>
              <a:t>, A</a:t>
            </a:r>
            <a:r>
              <a:rPr baseline="-25000" lang="en-GB"/>
              <a:t>2</a:t>
            </a:r>
            <a:r>
              <a:rPr lang="en-GB"/>
              <a:t>) trên đồ thị G với các biểu thức A</a:t>
            </a:r>
            <a:r>
              <a:rPr baseline="-25000" lang="en-GB"/>
              <a:t>1</a:t>
            </a:r>
            <a:r>
              <a:rPr lang="en-GB"/>
              <a:t>, A</a:t>
            </a:r>
            <a:r>
              <a:rPr baseline="-25000" lang="en-GB"/>
              <a:t>2</a:t>
            </a:r>
            <a:r>
              <a:rPr lang="en-GB"/>
              <a:t> được ký hiệu là [Union(A</a:t>
            </a:r>
            <a:r>
              <a:rPr baseline="-25000" lang="en-GB"/>
              <a:t>1</a:t>
            </a:r>
            <a:r>
              <a:rPr lang="en-GB"/>
              <a:t>, A</a:t>
            </a:r>
            <a:r>
              <a:rPr baseline="-25000" lang="en-GB"/>
              <a:t>2</a:t>
            </a:r>
            <a:r>
              <a:rPr lang="en-GB"/>
              <a:t>)]</a:t>
            </a:r>
            <a:r>
              <a:rPr baseline="-25000" lang="en-GB"/>
              <a:t>G</a:t>
            </a:r>
            <a:r>
              <a:rPr lang="en-GB"/>
              <a:t> và</a:t>
            </a:r>
            <a:endParaRPr/>
          </a:p>
        </p:txBody>
      </p:sp>
      <p:sp>
        <p:nvSpPr>
          <p:cNvPr id="489" name="Google Shape;489;p6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0" name="Google Shape;490;p60"/>
          <p:cNvSpPr txBox="1"/>
          <p:nvPr/>
        </p:nvSpPr>
        <p:spPr>
          <a:xfrm>
            <a:off x="908550" y="1976275"/>
            <a:ext cx="7111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600">
                <a:solidFill>
                  <a:srgbClr val="434343"/>
                </a:solidFill>
              </a:rPr>
              <a:t>[Union(A</a:t>
            </a:r>
            <a:r>
              <a:rPr baseline="-25000" lang="en-GB" sz="2600">
                <a:solidFill>
                  <a:srgbClr val="434343"/>
                </a:solidFill>
              </a:rPr>
              <a:t>1</a:t>
            </a:r>
            <a:r>
              <a:rPr lang="en-GB" sz="2600">
                <a:solidFill>
                  <a:srgbClr val="434343"/>
                </a:solidFill>
              </a:rPr>
              <a:t>, A</a:t>
            </a:r>
            <a:r>
              <a:rPr baseline="-25000" lang="en-GB" sz="2600">
                <a:solidFill>
                  <a:srgbClr val="434343"/>
                </a:solidFill>
              </a:rPr>
              <a:t>2</a:t>
            </a:r>
            <a:r>
              <a:rPr lang="en-GB" sz="2600">
                <a:solidFill>
                  <a:srgbClr val="434343"/>
                </a:solidFill>
              </a:rPr>
              <a:t>)]</a:t>
            </a:r>
            <a:r>
              <a:rPr baseline="-25000" lang="en-GB" sz="2600">
                <a:solidFill>
                  <a:srgbClr val="434343"/>
                </a:solidFill>
              </a:rPr>
              <a:t>G</a:t>
            </a:r>
            <a:r>
              <a:rPr lang="en-GB" sz="2600">
                <a:solidFill>
                  <a:srgbClr val="434343"/>
                </a:solidFill>
              </a:rPr>
              <a:t> = {μ|μ ∈ [A</a:t>
            </a:r>
            <a:r>
              <a:rPr baseline="-25000" lang="en-GB" sz="2600">
                <a:solidFill>
                  <a:srgbClr val="434343"/>
                </a:solidFill>
              </a:rPr>
              <a:t>1</a:t>
            </a:r>
            <a:r>
              <a:rPr lang="en-GB" sz="2600">
                <a:solidFill>
                  <a:srgbClr val="434343"/>
                </a:solidFill>
              </a:rPr>
              <a:t>]</a:t>
            </a:r>
            <a:r>
              <a:rPr baseline="-25000" lang="en-GB" sz="2600">
                <a:solidFill>
                  <a:srgbClr val="434343"/>
                </a:solidFill>
              </a:rPr>
              <a:t>G</a:t>
            </a:r>
            <a:r>
              <a:rPr lang="en-GB" sz="2600">
                <a:solidFill>
                  <a:srgbClr val="434343"/>
                </a:solidFill>
              </a:rPr>
              <a:t> hoặc μ ∈ [A</a:t>
            </a:r>
            <a:r>
              <a:rPr baseline="-25000" lang="en-GB" sz="2600">
                <a:solidFill>
                  <a:srgbClr val="434343"/>
                </a:solidFill>
              </a:rPr>
              <a:t>2</a:t>
            </a:r>
            <a:r>
              <a:rPr lang="en-GB" sz="2600">
                <a:solidFill>
                  <a:srgbClr val="434343"/>
                </a:solidFill>
              </a:rPr>
              <a:t>]</a:t>
            </a:r>
            <a:r>
              <a:rPr baseline="-25000" lang="en-GB" sz="2600">
                <a:solidFill>
                  <a:srgbClr val="434343"/>
                </a:solidFill>
              </a:rPr>
              <a:t>G</a:t>
            </a:r>
            <a:r>
              <a:rPr lang="en-GB" sz="2600">
                <a:solidFill>
                  <a:srgbClr val="434343"/>
                </a:solidFill>
              </a:rPr>
              <a:t>]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oán tử Join</a:t>
            </a:r>
            <a:endParaRPr/>
          </a:p>
        </p:txBody>
      </p:sp>
      <p:sp>
        <p:nvSpPr>
          <p:cNvPr id="496" name="Google Shape;496;p61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</a:t>
            </a:r>
            <a:r>
              <a:rPr lang="en-GB"/>
              <a:t>Join(A</a:t>
            </a:r>
            <a:r>
              <a:rPr baseline="-25000" lang="en-GB"/>
              <a:t>1</a:t>
            </a:r>
            <a:r>
              <a:rPr lang="en-GB"/>
              <a:t>, A</a:t>
            </a:r>
            <a:r>
              <a:rPr baseline="-25000" lang="en-GB"/>
              <a:t>2</a:t>
            </a:r>
            <a:r>
              <a:rPr lang="en-GB"/>
              <a:t>)]</a:t>
            </a:r>
            <a:r>
              <a:rPr baseline="-25000" lang="en-GB"/>
              <a:t>G</a:t>
            </a:r>
            <a:r>
              <a:rPr lang="en-GB"/>
              <a:t> = {</a:t>
            </a:r>
            <a:r>
              <a:rPr lang="en-GB"/>
              <a:t>μ</a:t>
            </a:r>
            <a:r>
              <a:rPr baseline="-25000" lang="en-GB"/>
              <a:t>1</a:t>
            </a:r>
            <a:r>
              <a:rPr lang="en-GB"/>
              <a:t> ∪ μ</a:t>
            </a:r>
            <a:r>
              <a:rPr baseline="-25000" lang="en-GB"/>
              <a:t>2</a:t>
            </a:r>
            <a:r>
              <a:rPr lang="en-GB"/>
              <a:t>| μ</a:t>
            </a:r>
            <a:r>
              <a:rPr baseline="-25000" lang="en-GB"/>
              <a:t>1</a:t>
            </a:r>
            <a:r>
              <a:rPr lang="en-GB"/>
              <a:t>∈[A</a:t>
            </a:r>
            <a:r>
              <a:rPr baseline="-25000" lang="en-GB"/>
              <a:t>1</a:t>
            </a:r>
            <a:r>
              <a:rPr lang="en-GB"/>
              <a:t>]</a:t>
            </a:r>
            <a:r>
              <a:rPr baseline="-25000" lang="en-GB"/>
              <a:t>G</a:t>
            </a:r>
            <a:r>
              <a:rPr lang="en-GB"/>
              <a:t>, μ</a:t>
            </a:r>
            <a:r>
              <a:rPr baseline="-25000" lang="en-GB"/>
              <a:t>2</a:t>
            </a:r>
            <a:r>
              <a:rPr lang="en-GB"/>
              <a:t>∈[A</a:t>
            </a:r>
            <a:r>
              <a:rPr baseline="-25000" lang="en-GB"/>
              <a:t>2</a:t>
            </a:r>
            <a:r>
              <a:rPr lang="en-GB"/>
              <a:t>]</a:t>
            </a:r>
            <a:r>
              <a:rPr baseline="-25000" lang="en-GB"/>
              <a:t>G</a:t>
            </a:r>
            <a:r>
              <a:rPr lang="en-GB"/>
              <a:t> và </a:t>
            </a:r>
            <a:r>
              <a:rPr lang="en-GB"/>
              <a:t>μ</a:t>
            </a:r>
            <a:r>
              <a:rPr baseline="-25000" lang="en-GB"/>
              <a:t>1</a:t>
            </a:r>
            <a:r>
              <a:rPr lang="en-GB"/>
              <a:t> tương thích với μ</a:t>
            </a:r>
            <a:r>
              <a:rPr baseline="-25000" lang="en-GB"/>
              <a:t>2</a:t>
            </a:r>
            <a:r>
              <a:rPr lang="en-GB"/>
              <a:t>}</a:t>
            </a:r>
            <a:endParaRPr/>
          </a:p>
        </p:txBody>
      </p:sp>
      <p:sp>
        <p:nvSpPr>
          <p:cNvPr id="497" name="Google Shape;497;p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8.12. Join</a:t>
            </a:r>
            <a:endParaRPr/>
          </a:p>
        </p:txBody>
      </p:sp>
      <p:sp>
        <p:nvSpPr>
          <p:cNvPr id="503" name="Google Shape;503;p62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</a:t>
            </a:r>
            <a:r>
              <a:rPr lang="en-GB"/>
              <a:t>úng ta xét Join(A</a:t>
            </a:r>
            <a:r>
              <a:rPr baseline="-25000" lang="en-GB"/>
              <a:t>1</a:t>
            </a:r>
            <a:r>
              <a:rPr lang="en-GB"/>
              <a:t>, A</a:t>
            </a:r>
            <a:r>
              <a:rPr baseline="-25000" lang="en-GB"/>
              <a:t>2</a:t>
            </a:r>
            <a:r>
              <a:rPr lang="en-GB"/>
              <a:t>) trên một đồ thị G với: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[A</a:t>
            </a:r>
            <a:r>
              <a:rPr baseline="-25000" lang="en-GB"/>
              <a:t>1</a:t>
            </a:r>
            <a:r>
              <a:rPr lang="en-GB"/>
              <a:t>]</a:t>
            </a:r>
            <a:r>
              <a:rPr baseline="-25000" lang="en-GB"/>
              <a:t>G</a:t>
            </a:r>
            <a:r>
              <a:rPr lang="en-GB"/>
              <a:t> = {(μ</a:t>
            </a:r>
            <a:r>
              <a:rPr baseline="-25000" lang="en-GB"/>
              <a:t>1</a:t>
            </a:r>
            <a:r>
              <a:rPr lang="en-GB"/>
              <a:t> : ?x → ex:a , ?y → ex : b) , (μ</a:t>
            </a:r>
            <a:r>
              <a:rPr baseline="-25000" lang="en-GB"/>
              <a:t>2</a:t>
            </a:r>
            <a:r>
              <a:rPr lang="en-GB"/>
              <a:t> : ?x → ex: d)}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[A</a:t>
            </a:r>
            <a:r>
              <a:rPr baseline="-25000" lang="en-GB"/>
              <a:t>2</a:t>
            </a:r>
            <a:r>
              <a:rPr lang="en-GB"/>
              <a:t>]</a:t>
            </a:r>
            <a:r>
              <a:rPr baseline="-25000" lang="en-GB"/>
              <a:t>G</a:t>
            </a:r>
            <a:r>
              <a:rPr lang="en-GB"/>
              <a:t> ={(μ</a:t>
            </a:r>
            <a:r>
              <a:rPr baseline="-25000" lang="en-GB"/>
              <a:t>3</a:t>
            </a:r>
            <a:r>
              <a:rPr lang="en-GB"/>
              <a:t> : ?y → ex : b , ?z → ex : c)}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[Join(A</a:t>
            </a:r>
            <a:r>
              <a:rPr baseline="-25000" lang="en-GB"/>
              <a:t>1</a:t>
            </a:r>
            <a:r>
              <a:rPr lang="en-GB"/>
              <a:t>, A</a:t>
            </a:r>
            <a:r>
              <a:rPr baseline="-25000" lang="en-GB"/>
              <a:t>2</a:t>
            </a:r>
            <a:r>
              <a:rPr lang="en-GB"/>
              <a:t>)]</a:t>
            </a:r>
            <a:r>
              <a:rPr baseline="-25000" lang="en-GB"/>
              <a:t>G</a:t>
            </a:r>
            <a:r>
              <a:rPr lang="en-GB"/>
              <a:t>={((μ</a:t>
            </a:r>
            <a:r>
              <a:rPr baseline="-25000" lang="en-GB"/>
              <a:t>1</a:t>
            </a:r>
            <a:r>
              <a:rPr lang="en-GB"/>
              <a:t>∪ μ</a:t>
            </a:r>
            <a:r>
              <a:rPr baseline="-25000" lang="en-GB"/>
              <a:t>3</a:t>
            </a:r>
            <a:r>
              <a:rPr lang="en-GB"/>
              <a:t>): ?x</a:t>
            </a:r>
            <a:r>
              <a:rPr lang="en-GB"/>
              <a:t>→</a:t>
            </a:r>
            <a:r>
              <a:rPr lang="en-GB"/>
              <a:t>ex:a, ?y</a:t>
            </a:r>
            <a:r>
              <a:rPr lang="en-GB"/>
              <a:t>→ex:b, ?z→ex:c),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                 ((μ</a:t>
            </a:r>
            <a:r>
              <a:rPr baseline="-25000" lang="en-GB"/>
              <a:t>2</a:t>
            </a:r>
            <a:r>
              <a:rPr lang="en-GB"/>
              <a:t>∪ μ</a:t>
            </a:r>
            <a:r>
              <a:rPr baseline="-25000" lang="en-GB"/>
              <a:t>3</a:t>
            </a:r>
            <a:r>
              <a:rPr lang="en-GB"/>
              <a:t>): ?x→ex:d, ?y→ex:b, ?z→ex:c)</a:t>
            </a: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6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oán tử Filter</a:t>
            </a:r>
            <a:endParaRPr/>
          </a:p>
        </p:txBody>
      </p:sp>
      <p:sp>
        <p:nvSpPr>
          <p:cNvPr id="510" name="Google Shape;510;p63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Filter(F, A) </a:t>
            </a:r>
            <a:r>
              <a:rPr lang="en-GB"/>
              <a:t>với F là 1 biểu thức điều kiện lọc và A là 1 biểu thức đại số có kết quả là: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[Filter(F, A)]</a:t>
            </a:r>
            <a:r>
              <a:rPr baseline="-25000" lang="en-GB"/>
              <a:t>G</a:t>
            </a:r>
            <a:r>
              <a:rPr lang="en-GB"/>
              <a:t> = {μ| μ</a:t>
            </a:r>
            <a:r>
              <a:rPr baseline="-25000" lang="en-GB"/>
              <a:t> </a:t>
            </a:r>
            <a:r>
              <a:rPr lang="en-GB"/>
              <a:t>∈ [A]</a:t>
            </a:r>
            <a:r>
              <a:rPr baseline="-25000" lang="en-GB"/>
              <a:t>G</a:t>
            </a:r>
            <a:r>
              <a:rPr lang="en-GB"/>
              <a:t> và μ(F) == true},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trong đó μ(F) là giá trị biểu thức F với bộ giá trị từ μ.</a:t>
            </a:r>
            <a:endParaRPr/>
          </a:p>
        </p:txBody>
      </p:sp>
      <p:sp>
        <p:nvSpPr>
          <p:cNvPr id="511" name="Google Shape;511;p6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oán tử LeftJoin</a:t>
            </a:r>
            <a:endParaRPr/>
          </a:p>
        </p:txBody>
      </p:sp>
      <p:sp>
        <p:nvSpPr>
          <p:cNvPr id="517" name="Google Shape;517;p64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</a:rPr>
              <a:t>[</a:t>
            </a:r>
            <a:r>
              <a:rPr lang="en-GB">
                <a:solidFill>
                  <a:srgbClr val="666666"/>
                </a:solidFill>
              </a:rPr>
              <a:t>LeftJoin(A</a:t>
            </a:r>
            <a:r>
              <a:rPr baseline="-25000" lang="en-GB">
                <a:solidFill>
                  <a:srgbClr val="666666"/>
                </a:solidFill>
              </a:rPr>
              <a:t>1</a:t>
            </a:r>
            <a:r>
              <a:rPr lang="en-GB">
                <a:solidFill>
                  <a:srgbClr val="666666"/>
                </a:solidFill>
              </a:rPr>
              <a:t>, A</a:t>
            </a:r>
            <a:r>
              <a:rPr baseline="-25000" lang="en-GB">
                <a:solidFill>
                  <a:srgbClr val="666666"/>
                </a:solidFill>
              </a:rPr>
              <a:t>2</a:t>
            </a:r>
            <a:r>
              <a:rPr lang="en-GB">
                <a:solidFill>
                  <a:srgbClr val="666666"/>
                </a:solidFill>
              </a:rPr>
              <a:t>, F)]</a:t>
            </a:r>
            <a:r>
              <a:rPr baseline="-25000" lang="en-GB">
                <a:solidFill>
                  <a:srgbClr val="666666"/>
                </a:solidFill>
              </a:rPr>
              <a:t>G</a:t>
            </a:r>
            <a:r>
              <a:rPr lang="en-GB">
                <a:solidFill>
                  <a:srgbClr val="666666"/>
                </a:solidFill>
              </a:rPr>
              <a:t> = </a:t>
            </a:r>
            <a:endParaRPr>
              <a:solidFill>
                <a:srgbClr val="666666"/>
              </a:solidFill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{μ</a:t>
            </a:r>
            <a:r>
              <a:rPr baseline="-25000" lang="en-GB"/>
              <a:t>1</a:t>
            </a:r>
            <a:r>
              <a:rPr lang="en-GB"/>
              <a:t> ∪ μ</a:t>
            </a:r>
            <a:r>
              <a:rPr baseline="-25000" lang="en-GB"/>
              <a:t>2</a:t>
            </a:r>
            <a:r>
              <a:rPr lang="en-GB"/>
              <a:t>| μ</a:t>
            </a:r>
            <a:r>
              <a:rPr baseline="-25000" lang="en-GB"/>
              <a:t>1</a:t>
            </a:r>
            <a:r>
              <a:rPr lang="en-GB"/>
              <a:t>∈[A</a:t>
            </a:r>
            <a:r>
              <a:rPr baseline="-25000" lang="en-GB"/>
              <a:t>1</a:t>
            </a:r>
            <a:r>
              <a:rPr lang="en-GB"/>
              <a:t>]</a:t>
            </a:r>
            <a:r>
              <a:rPr baseline="-25000" lang="en-GB"/>
              <a:t>G</a:t>
            </a:r>
            <a:r>
              <a:rPr lang="en-GB"/>
              <a:t>, μ</a:t>
            </a:r>
            <a:r>
              <a:rPr baseline="-25000" lang="en-GB"/>
              <a:t>2</a:t>
            </a:r>
            <a:r>
              <a:rPr lang="en-GB"/>
              <a:t>∈[A</a:t>
            </a:r>
            <a:r>
              <a:rPr baseline="-25000" lang="en-GB"/>
              <a:t>2</a:t>
            </a:r>
            <a:r>
              <a:rPr lang="en-GB"/>
              <a:t>]</a:t>
            </a:r>
            <a:r>
              <a:rPr baseline="-25000" lang="en-GB"/>
              <a:t>G</a:t>
            </a:r>
            <a:r>
              <a:rPr lang="en-GB"/>
              <a:t> và μ</a:t>
            </a:r>
            <a:r>
              <a:rPr baseline="-25000" lang="en-GB"/>
              <a:t>1</a:t>
            </a:r>
            <a:r>
              <a:rPr lang="en-GB"/>
              <a:t> tương thích với μ</a:t>
            </a:r>
            <a:r>
              <a:rPr baseline="-25000" lang="en-GB"/>
              <a:t>2</a:t>
            </a:r>
            <a:r>
              <a:rPr lang="en-GB"/>
              <a:t> và (μ</a:t>
            </a:r>
            <a:r>
              <a:rPr baseline="-25000" lang="en-GB"/>
              <a:t>1</a:t>
            </a:r>
            <a:r>
              <a:rPr lang="en-GB"/>
              <a:t> ∪ μ</a:t>
            </a:r>
            <a:r>
              <a:rPr baseline="-25000" lang="en-GB"/>
              <a:t>2</a:t>
            </a:r>
            <a:r>
              <a:rPr lang="en-GB"/>
              <a:t>)(F) == true}</a:t>
            </a:r>
            <a:r>
              <a:rPr lang="en-GB">
                <a:solidFill>
                  <a:srgbClr val="666666"/>
                </a:solidFill>
              </a:rPr>
              <a:t> </a:t>
            </a:r>
            <a:endParaRPr>
              <a:solidFill>
                <a:srgbClr val="666666"/>
              </a:solidFill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</a:rPr>
              <a:t>∪ </a:t>
            </a:r>
            <a:endParaRPr>
              <a:solidFill>
                <a:srgbClr val="666666"/>
              </a:solidFill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</a:rPr>
              <a:t>{μ</a:t>
            </a:r>
            <a:r>
              <a:rPr baseline="-25000" lang="en-GB">
                <a:solidFill>
                  <a:srgbClr val="666666"/>
                </a:solidFill>
              </a:rPr>
              <a:t>1</a:t>
            </a:r>
            <a:r>
              <a:rPr lang="en-GB">
                <a:solidFill>
                  <a:srgbClr val="666666"/>
                </a:solidFill>
              </a:rPr>
              <a:t>| </a:t>
            </a:r>
            <a:r>
              <a:rPr lang="en-GB"/>
              <a:t>μ</a:t>
            </a:r>
            <a:r>
              <a:rPr baseline="-25000" lang="en-GB"/>
              <a:t>1</a:t>
            </a:r>
            <a:r>
              <a:rPr lang="en-GB"/>
              <a:t>∈[A</a:t>
            </a:r>
            <a:r>
              <a:rPr baseline="-25000" lang="en-GB"/>
              <a:t>1</a:t>
            </a:r>
            <a:r>
              <a:rPr lang="en-GB"/>
              <a:t>]</a:t>
            </a:r>
            <a:r>
              <a:rPr baseline="-25000" lang="en-GB"/>
              <a:t>G </a:t>
            </a:r>
            <a:r>
              <a:rPr lang="en-GB">
                <a:solidFill>
                  <a:srgbClr val="666666"/>
                </a:solidFill>
              </a:rPr>
              <a:t>và với ∀μ</a:t>
            </a:r>
            <a:r>
              <a:rPr baseline="-25000" lang="en-GB">
                <a:solidFill>
                  <a:srgbClr val="666666"/>
                </a:solidFill>
              </a:rPr>
              <a:t>2</a:t>
            </a:r>
            <a:r>
              <a:rPr lang="en-GB"/>
              <a:t>∈[A</a:t>
            </a:r>
            <a:r>
              <a:rPr baseline="-25000" lang="en-GB"/>
              <a:t>2</a:t>
            </a:r>
            <a:r>
              <a:rPr lang="en-GB"/>
              <a:t>]</a:t>
            </a:r>
            <a:r>
              <a:rPr baseline="-25000" lang="en-GB"/>
              <a:t>G</a:t>
            </a:r>
            <a:r>
              <a:rPr lang="en-GB">
                <a:solidFill>
                  <a:srgbClr val="666666"/>
                </a:solidFill>
              </a:rPr>
              <a:t> thì μ</a:t>
            </a:r>
            <a:r>
              <a:rPr baseline="-25000" lang="en-GB">
                <a:solidFill>
                  <a:srgbClr val="666666"/>
                </a:solidFill>
              </a:rPr>
              <a:t>1</a:t>
            </a:r>
            <a:r>
              <a:rPr lang="en-GB">
                <a:solidFill>
                  <a:srgbClr val="666666"/>
                </a:solidFill>
              </a:rPr>
              <a:t> và μ</a:t>
            </a:r>
            <a:r>
              <a:rPr baseline="-25000" lang="en-GB">
                <a:solidFill>
                  <a:srgbClr val="666666"/>
                </a:solidFill>
              </a:rPr>
              <a:t>2</a:t>
            </a:r>
            <a:r>
              <a:rPr lang="en-GB">
                <a:solidFill>
                  <a:srgbClr val="666666"/>
                </a:solidFill>
              </a:rPr>
              <a:t> không tương thích hoặc (μ</a:t>
            </a:r>
            <a:r>
              <a:rPr baseline="-25000" lang="en-GB">
                <a:solidFill>
                  <a:srgbClr val="666666"/>
                </a:solidFill>
              </a:rPr>
              <a:t>1</a:t>
            </a:r>
            <a:r>
              <a:rPr lang="en-GB">
                <a:solidFill>
                  <a:srgbClr val="666666"/>
                </a:solidFill>
              </a:rPr>
              <a:t> ∪ μ</a:t>
            </a:r>
            <a:r>
              <a:rPr baseline="-25000" lang="en-GB">
                <a:solidFill>
                  <a:srgbClr val="666666"/>
                </a:solidFill>
              </a:rPr>
              <a:t>2</a:t>
            </a:r>
            <a:r>
              <a:rPr lang="en-GB">
                <a:solidFill>
                  <a:srgbClr val="666666"/>
                </a:solidFill>
              </a:rPr>
              <a:t>)(F) == false}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518" name="Google Shape;518;p6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8.13. Biểu thức đại số SPARQL</a:t>
            </a:r>
            <a:endParaRPr baseline="-25000"/>
          </a:p>
        </p:txBody>
      </p:sp>
      <p:sp>
        <p:nvSpPr>
          <p:cNvPr id="524" name="Google Shape;524;p65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ex: &lt;http://eg.org/&gt;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xsd: &lt;http://www.w3.org/2001/XMLSchema#&gt;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ex:Hamlet ex:author ex:Shakespeare ; ex:price "10.50"^^xsd:decimal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ex:Macbeth ex:author ex:Shakespeare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ex:Tamburlaine ex:author ex:Marlowe ; ex:price "17"^^xsd:integer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ex:DoctorFaustus ex:author ex:Marlowe ; ex:price "12"^^xsd:integer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ex:title "The Tragical History of Doctor Faustus"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ex:RomeoJulia ex:author ex:Brooke ; ex:price "9"^^xsd:integer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prefix ex: &lt;http://eg.org/&gt;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select ?book ?price ?title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where { ?book ex:price ?price . </a:t>
            </a:r>
            <a:r>
              <a:rPr lang="en-GB" sz="2000"/>
              <a:t>FILTER (?price &lt; 15)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OPTIONAL { ?book ex:title ?title .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{ ?book ex:author ex:Shakespeare . } UNION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{ ?book ex:author ex:Marlowe .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}</a:t>
            </a:r>
            <a:endParaRPr sz="2000"/>
          </a:p>
        </p:txBody>
      </p:sp>
      <p:cxnSp>
        <p:nvCxnSpPr>
          <p:cNvPr id="525" name="Google Shape;525;p65"/>
          <p:cNvCxnSpPr/>
          <p:nvPr/>
        </p:nvCxnSpPr>
        <p:spPr>
          <a:xfrm>
            <a:off x="258800" y="4004347"/>
            <a:ext cx="8525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" name="Google Shape;526;p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8.13. Biểu thức đại số SPARQL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532" name="Google Shape;532;p66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ex: &lt;http://eg.org/&gt;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xsd: &lt;http://www.w3.org/2001/XMLSchema#&gt;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ex:Hamlet ex:author ex:Shakespeare ; ex:price "10.50"^^xsd:decimal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ex:Macbeth ex:author ex:Shakespeare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ex:Tamburlaine ex:author ex:Marlowe ; ex:price "17"^^xsd:integer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ex:DoctorFaustus ex:author ex:Marlowe ; ex:price "12"^^xsd:integer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ex:title "The Tragical History of Doctor Faustus"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ex:RomeoJulia ex:author ex:Brooke ; ex:price "9"^^xsd:integer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{ ?book ex:price ?price . FILTER (?price &lt; 15)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OPTIONAL { ?book ex:title ?title .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{ ?book ex:author ex:Shakespeare . } UNION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{ ?book ex:author ex:Marlowe .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}</a:t>
            </a:r>
            <a:endParaRPr sz="2000"/>
          </a:p>
        </p:txBody>
      </p:sp>
      <p:cxnSp>
        <p:nvCxnSpPr>
          <p:cNvPr id="533" name="Google Shape;533;p66"/>
          <p:cNvCxnSpPr/>
          <p:nvPr/>
        </p:nvCxnSpPr>
        <p:spPr>
          <a:xfrm>
            <a:off x="258800" y="3994494"/>
            <a:ext cx="8525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p6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8.13. Biểu thức đại số SPARQL</a:t>
            </a:r>
            <a:r>
              <a:rPr baseline="-25000" lang="en-GB"/>
              <a:t>(3)</a:t>
            </a:r>
            <a:endParaRPr baseline="-25000"/>
          </a:p>
        </p:txBody>
      </p:sp>
      <p:sp>
        <p:nvSpPr>
          <p:cNvPr id="540" name="Google Shape;540;p67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ex: &lt;http://eg.org/&gt;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xsd: &lt;http://www.w3.org/2001/XMLSchema#&gt;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ex:Hamlet ex:author ex:Shakespeare ; ex:price "10.50"^^xsd:decimal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ex:Macbeth ex:author ex:Shakespeare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ex:Tamburlaine ex:author ex:Marlowe ; ex:price "17"^^xsd:integer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ex:DoctorFaustus ex:author ex:Marlowe ; ex:price "12"^^xsd:integer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ex:title "The Tragical History of Doctor Faustus"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ex:RomeoJulia ex:author ex:Brooke ; ex:price "9"^^xsd:integer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Filter(?price &lt; 15,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Join(LeftJoin(BGP(?book &lt;http://eg.org/price&gt; ?price),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                    BGP(?book &lt;http://eg.org/title&gt; ?title), true),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Union(BGP(?book &lt;http://eg.org/author&gt; &lt;http://eg.org/Shakespeare&gt;),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     BGP(?book &lt;http://eg.org/author&gt; &lt;http://eg.org/Marlowe&gt;))))</a:t>
            </a:r>
            <a:endParaRPr sz="2000"/>
          </a:p>
        </p:txBody>
      </p:sp>
      <p:cxnSp>
        <p:nvCxnSpPr>
          <p:cNvPr id="541" name="Google Shape;541;p67"/>
          <p:cNvCxnSpPr/>
          <p:nvPr/>
        </p:nvCxnSpPr>
        <p:spPr>
          <a:xfrm>
            <a:off x="258800" y="3930775"/>
            <a:ext cx="8525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2" name="Google Shape;542;p6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8.13. Biểu thức đại số SPARQL</a:t>
            </a:r>
            <a:r>
              <a:rPr baseline="-25000" lang="en-GB"/>
              <a:t>(4)</a:t>
            </a:r>
            <a:endParaRPr baseline="-25000"/>
          </a:p>
        </p:txBody>
      </p:sp>
      <p:sp>
        <p:nvSpPr>
          <p:cNvPr id="548" name="Google Shape;548;p68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Filter(?price &lt; 15,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Join(LeftJoin(</a:t>
            </a:r>
            <a:r>
              <a:rPr lang="en-GB" sz="2000"/>
              <a:t>BGP</a:t>
            </a:r>
            <a:r>
              <a:rPr lang="en-GB" sz="2000"/>
              <a:t>(?book &lt;http://eg.org/price&gt; ?price),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                </a:t>
            </a:r>
            <a:r>
              <a:rPr lang="en-GB" sz="2000"/>
              <a:t>BGP</a:t>
            </a:r>
            <a:r>
              <a:rPr lang="en-GB" sz="2000"/>
              <a:t>(?book &lt;http://eg.org/title&gt; ?title), true),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</a:t>
            </a:r>
            <a:r>
              <a:rPr lang="en-GB" sz="2000">
                <a:solidFill>
                  <a:srgbClr val="0B5394"/>
                </a:solidFill>
              </a:rPr>
              <a:t>Union(</a:t>
            </a:r>
            <a:r>
              <a:rPr lang="en-GB" sz="2000">
                <a:solidFill>
                  <a:srgbClr val="0B5394"/>
                </a:solidFill>
              </a:rPr>
              <a:t>BGP</a:t>
            </a:r>
            <a:r>
              <a:rPr lang="en-GB" sz="2000">
                <a:solidFill>
                  <a:srgbClr val="0B5394"/>
                </a:solidFill>
              </a:rPr>
              <a:t>(?book &lt;http://eg.org/author&gt; &lt;http://eg.org/Shakespeare&gt;),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B5394"/>
                </a:solidFill>
              </a:rPr>
              <a:t>             </a:t>
            </a:r>
            <a:r>
              <a:rPr lang="en-GB" sz="2000">
                <a:solidFill>
                  <a:srgbClr val="0B5394"/>
                </a:solidFill>
              </a:rPr>
              <a:t>BGP</a:t>
            </a:r>
            <a:r>
              <a:rPr lang="en-GB" sz="2000">
                <a:solidFill>
                  <a:srgbClr val="0B5394"/>
                </a:solidFill>
              </a:rPr>
              <a:t>(?book &lt;http://eg.org/author&gt; &lt;http://eg.org/Marlowe&gt;)</a:t>
            </a:r>
            <a:r>
              <a:rPr lang="en-GB" sz="2000"/>
              <a:t>)))</a:t>
            </a:r>
            <a:endParaRPr sz="2000"/>
          </a:p>
        </p:txBody>
      </p:sp>
      <p:graphicFrame>
        <p:nvGraphicFramePr>
          <p:cNvPr id="549" name="Google Shape;549;p68"/>
          <p:cNvGraphicFramePr/>
          <p:nvPr/>
        </p:nvGraphicFramePr>
        <p:xfrm>
          <a:off x="1322825" y="45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2774825"/>
              </a:tblGrid>
              <a:tr h="416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/>
                        <a:t>book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1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ex:Tamburlaine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41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ex:DoctorFaustus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50" name="Google Shape;550;p68"/>
          <p:cNvGraphicFramePr/>
          <p:nvPr/>
        </p:nvGraphicFramePr>
        <p:xfrm>
          <a:off x="1322825" y="293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2774825"/>
              </a:tblGrid>
              <a:tr h="416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/>
                        <a:t>book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1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ex:Macbeth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41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ex:Hamlet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51" name="Google Shape;551;p68"/>
          <p:cNvGraphicFramePr/>
          <p:nvPr/>
        </p:nvGraphicFramePr>
        <p:xfrm>
          <a:off x="5264275" y="331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2774825"/>
              </a:tblGrid>
              <a:tr h="416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/>
                        <a:t>book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1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ex:Hamlet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41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ex:Macbeth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41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</a:rPr>
                        <a:t>ex:Tamburlaine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41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</a:rPr>
                        <a:t>ex:DoctorFaustus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2" name="Google Shape;552;p68"/>
          <p:cNvSpPr/>
          <p:nvPr/>
        </p:nvSpPr>
        <p:spPr>
          <a:xfrm>
            <a:off x="4327575" y="4198200"/>
            <a:ext cx="848400" cy="50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8.13. Biểu thức đại số SPARQL</a:t>
            </a:r>
            <a:r>
              <a:rPr baseline="-25000" lang="en-GB"/>
              <a:t>(5)</a:t>
            </a:r>
            <a:endParaRPr baseline="-25000"/>
          </a:p>
        </p:txBody>
      </p:sp>
      <p:sp>
        <p:nvSpPr>
          <p:cNvPr id="559" name="Google Shape;559;p69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</a:rPr>
              <a:t>Filter(?price &lt; 15,</a:t>
            </a:r>
            <a:endParaRPr sz="20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</a:rPr>
              <a:t>  Join(</a:t>
            </a:r>
            <a:r>
              <a:rPr lang="en-GB" sz="2000">
                <a:solidFill>
                  <a:srgbClr val="0B5394"/>
                </a:solidFill>
              </a:rPr>
              <a:t>LeftJoin(</a:t>
            </a:r>
            <a:r>
              <a:rPr lang="en-GB" sz="2000">
                <a:solidFill>
                  <a:srgbClr val="0B5394"/>
                </a:solidFill>
              </a:rPr>
              <a:t>BGP</a:t>
            </a:r>
            <a:r>
              <a:rPr lang="en-GB" sz="2000">
                <a:solidFill>
                  <a:srgbClr val="0B5394"/>
                </a:solidFill>
              </a:rPr>
              <a:t>(?book &lt;http://eg.org/price&gt; ?price),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B5394"/>
                </a:solidFill>
              </a:rPr>
              <a:t>                        </a:t>
            </a:r>
            <a:r>
              <a:rPr lang="en-GB" sz="2000">
                <a:solidFill>
                  <a:srgbClr val="0B5394"/>
                </a:solidFill>
              </a:rPr>
              <a:t>BGP</a:t>
            </a:r>
            <a:r>
              <a:rPr lang="en-GB" sz="2000">
                <a:solidFill>
                  <a:srgbClr val="0B5394"/>
                </a:solidFill>
              </a:rPr>
              <a:t>(?book &lt;http://eg.org/title&gt; ?title), true),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</a:rPr>
              <a:t>  Union(</a:t>
            </a:r>
            <a:r>
              <a:rPr lang="en-GB" sz="2000">
                <a:solidFill>
                  <a:srgbClr val="666666"/>
                </a:solidFill>
              </a:rPr>
              <a:t>BGP</a:t>
            </a:r>
            <a:r>
              <a:rPr lang="en-GB" sz="2000">
                <a:solidFill>
                  <a:srgbClr val="666666"/>
                </a:solidFill>
              </a:rPr>
              <a:t>(?book &lt;http://eg.org/author&gt; &lt;http://eg.org/Shakespeare&gt;),</a:t>
            </a:r>
            <a:endParaRPr sz="20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</a:rPr>
              <a:t>             </a:t>
            </a:r>
            <a:r>
              <a:rPr lang="en-GB" sz="2000">
                <a:solidFill>
                  <a:srgbClr val="666666"/>
                </a:solidFill>
              </a:rPr>
              <a:t>BGP</a:t>
            </a:r>
            <a:r>
              <a:rPr lang="en-GB" sz="2000">
                <a:solidFill>
                  <a:srgbClr val="666666"/>
                </a:solidFill>
              </a:rPr>
              <a:t>(?book &lt;http://eg.org/author&gt; &lt;http://eg.org/Marlowe&gt;))))</a:t>
            </a:r>
            <a:endParaRPr sz="2000">
              <a:solidFill>
                <a:srgbClr val="666666"/>
              </a:solidFill>
            </a:endParaRPr>
          </a:p>
        </p:txBody>
      </p:sp>
      <p:graphicFrame>
        <p:nvGraphicFramePr>
          <p:cNvPr id="560" name="Google Shape;560;p69"/>
          <p:cNvGraphicFramePr/>
          <p:nvPr/>
        </p:nvGraphicFramePr>
        <p:xfrm>
          <a:off x="235500" y="284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2061825"/>
                <a:gridCol w="849575"/>
              </a:tblGrid>
              <a:tr h="20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666666"/>
                          </a:solidFill>
                        </a:rPr>
                        <a:t>book</a:t>
                      </a:r>
                      <a:endParaRPr b="1"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666666"/>
                          </a:solidFill>
                        </a:rPr>
                        <a:t>price</a:t>
                      </a:r>
                      <a:endParaRPr b="1"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</a:tr>
              <a:tr h="20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666666"/>
                          </a:solidFill>
                        </a:rPr>
                        <a:t>ex:Hamlet</a:t>
                      </a:r>
                      <a:endParaRPr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666666"/>
                          </a:solidFill>
                        </a:rPr>
                        <a:t>10.5</a:t>
                      </a:r>
                      <a:endParaRPr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</a:tr>
              <a:tr h="20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666666"/>
                          </a:solidFill>
                        </a:rPr>
                        <a:t>ex:Tamburlaine</a:t>
                      </a:r>
                      <a:endParaRPr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666666"/>
                          </a:solidFill>
                        </a:rPr>
                        <a:t>17</a:t>
                      </a:r>
                      <a:endParaRPr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</a:tr>
              <a:tr h="20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666666"/>
                          </a:solidFill>
                        </a:rPr>
                        <a:t>ex:DoctorFaustus</a:t>
                      </a:r>
                      <a:endParaRPr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666666"/>
                          </a:solidFill>
                        </a:rPr>
                        <a:t>12</a:t>
                      </a:r>
                      <a:endParaRPr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</a:tr>
              <a:tr h="20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666666"/>
                          </a:solidFill>
                        </a:rPr>
                        <a:t>ex:RomeoJulia</a:t>
                      </a:r>
                      <a:endParaRPr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666666"/>
                          </a:solidFill>
                        </a:rPr>
                        <a:t>9</a:t>
                      </a:r>
                      <a:endParaRPr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</a:tr>
            </a:tbl>
          </a:graphicData>
        </a:graphic>
      </p:graphicFrame>
      <p:graphicFrame>
        <p:nvGraphicFramePr>
          <p:cNvPr id="561" name="Google Shape;561;p69"/>
          <p:cNvGraphicFramePr/>
          <p:nvPr/>
        </p:nvGraphicFramePr>
        <p:xfrm>
          <a:off x="3384400" y="284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2271625"/>
                <a:gridCol w="3335575"/>
              </a:tblGrid>
              <a:tr h="2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666666"/>
                          </a:solidFill>
                        </a:rPr>
                        <a:t>book</a:t>
                      </a:r>
                      <a:endParaRPr b="1"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666666"/>
                          </a:solidFill>
                        </a:rPr>
                        <a:t>title</a:t>
                      </a:r>
                      <a:endParaRPr b="1"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</a:tr>
              <a:tr h="3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666666"/>
                          </a:solidFill>
                        </a:rPr>
                        <a:t>ex:DoctorFaustus</a:t>
                      </a:r>
                      <a:endParaRPr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666666"/>
                          </a:solidFill>
                        </a:rPr>
                        <a:t>"The Tragical History of Doctor Faustus"</a:t>
                      </a:r>
                      <a:endParaRPr sz="1800">
                        <a:solidFill>
                          <a:srgbClr val="666666"/>
                        </a:solidFill>
                      </a:endParaRPr>
                    </a:p>
                  </a:txBody>
                  <a:tcPr marT="54000" marB="54000" marR="91425" marL="91425"/>
                </a:tc>
              </a:tr>
            </a:tbl>
          </a:graphicData>
        </a:graphic>
      </p:graphicFrame>
      <p:graphicFrame>
        <p:nvGraphicFramePr>
          <p:cNvPr id="562" name="Google Shape;562;p69"/>
          <p:cNvGraphicFramePr/>
          <p:nvPr/>
        </p:nvGraphicFramePr>
        <p:xfrm>
          <a:off x="3324050" y="411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1992900"/>
                <a:gridCol w="804650"/>
                <a:gridCol w="2879350"/>
              </a:tblGrid>
              <a:tr h="1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155CC"/>
                          </a:solidFill>
                        </a:rPr>
                        <a:t>b</a:t>
                      </a:r>
                      <a:r>
                        <a:rPr b="1" lang="en-GB" sz="1800">
                          <a:solidFill>
                            <a:srgbClr val="1155CC"/>
                          </a:solidFill>
                        </a:rPr>
                        <a:t>ook</a:t>
                      </a:r>
                      <a:endParaRPr b="1"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155CC"/>
                          </a:solidFill>
                        </a:rPr>
                        <a:t>pr</a:t>
                      </a:r>
                      <a:r>
                        <a:rPr b="1" lang="en-GB" sz="1800">
                          <a:solidFill>
                            <a:srgbClr val="1155CC"/>
                          </a:solidFill>
                        </a:rPr>
                        <a:t>ice</a:t>
                      </a:r>
                      <a:endParaRPr b="1"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155CC"/>
                          </a:solidFill>
                        </a:rPr>
                        <a:t>t</a:t>
                      </a:r>
                      <a:r>
                        <a:rPr b="1" lang="en-GB" sz="1800">
                          <a:solidFill>
                            <a:srgbClr val="1155CC"/>
                          </a:solidFill>
                        </a:rPr>
                        <a:t>itle</a:t>
                      </a:r>
                      <a:endParaRPr b="1"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/>
                </a:tc>
              </a:tr>
              <a:tr h="19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ex:Hamlet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10.5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9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ex:Tamburlaine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17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7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ex:DoctorFaustus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12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"The Tragical History of Doctor Faustus"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9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ex:RomeoJulia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9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563" name="Google Shape;563;p6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8.13. Biểu thức đại số SPARQL</a:t>
            </a:r>
            <a:r>
              <a:rPr baseline="-25000" lang="en-GB"/>
              <a:t>(6)</a:t>
            </a:r>
            <a:endParaRPr baseline="-25000"/>
          </a:p>
        </p:txBody>
      </p:sp>
      <p:sp>
        <p:nvSpPr>
          <p:cNvPr id="569" name="Google Shape;569;p70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</a:rPr>
              <a:t>Filter(?price &lt; 15,</a:t>
            </a:r>
            <a:endParaRPr sz="20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</a:rPr>
              <a:t>  </a:t>
            </a:r>
            <a:r>
              <a:rPr lang="en-GB" sz="2000">
                <a:solidFill>
                  <a:srgbClr val="0B5394"/>
                </a:solidFill>
              </a:rPr>
              <a:t>Join(LeftJoin(</a:t>
            </a:r>
            <a:r>
              <a:rPr lang="en-GB" sz="2000">
                <a:solidFill>
                  <a:srgbClr val="0B5394"/>
                </a:solidFill>
              </a:rPr>
              <a:t>BGP</a:t>
            </a:r>
            <a:r>
              <a:rPr lang="en-GB" sz="2000">
                <a:solidFill>
                  <a:srgbClr val="0B5394"/>
                </a:solidFill>
              </a:rPr>
              <a:t>(?book &lt;http://eg.org/price&gt; ?price),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B5394"/>
                </a:solidFill>
              </a:rPr>
              <a:t>                        </a:t>
            </a:r>
            <a:r>
              <a:rPr lang="en-GB" sz="2000">
                <a:solidFill>
                  <a:srgbClr val="0B5394"/>
                </a:solidFill>
              </a:rPr>
              <a:t>BGP</a:t>
            </a:r>
            <a:r>
              <a:rPr lang="en-GB" sz="2000">
                <a:solidFill>
                  <a:srgbClr val="0B5394"/>
                </a:solidFill>
              </a:rPr>
              <a:t>(?book &lt;http://eg.org/title&gt; ?title), true),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B5394"/>
                </a:solidFill>
              </a:rPr>
              <a:t>  Union(</a:t>
            </a:r>
            <a:r>
              <a:rPr lang="en-GB" sz="2000">
                <a:solidFill>
                  <a:srgbClr val="0B5394"/>
                </a:solidFill>
              </a:rPr>
              <a:t>BGP</a:t>
            </a:r>
            <a:r>
              <a:rPr lang="en-GB" sz="2000">
                <a:solidFill>
                  <a:srgbClr val="0B5394"/>
                </a:solidFill>
              </a:rPr>
              <a:t>(?book &lt;http://eg.org/author&gt; &lt;http://eg.org/Shakespeare&gt;),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B5394"/>
                </a:solidFill>
              </a:rPr>
              <a:t>             </a:t>
            </a:r>
            <a:r>
              <a:rPr lang="en-GB" sz="2000">
                <a:solidFill>
                  <a:srgbClr val="0B5394"/>
                </a:solidFill>
              </a:rPr>
              <a:t>BGP</a:t>
            </a:r>
            <a:r>
              <a:rPr lang="en-GB" sz="2000">
                <a:solidFill>
                  <a:srgbClr val="0B5394"/>
                </a:solidFill>
              </a:rPr>
              <a:t>(?book &lt;http://eg.org/author&gt; &lt;http://eg.org/Marlowe&gt;)))</a:t>
            </a:r>
            <a:r>
              <a:rPr lang="en-GB" sz="2000">
                <a:solidFill>
                  <a:srgbClr val="666666"/>
                </a:solidFill>
              </a:rPr>
              <a:t>)</a:t>
            </a:r>
            <a:endParaRPr sz="2000">
              <a:solidFill>
                <a:srgbClr val="666666"/>
              </a:solidFill>
            </a:endParaRPr>
          </a:p>
        </p:txBody>
      </p:sp>
      <p:graphicFrame>
        <p:nvGraphicFramePr>
          <p:cNvPr id="570" name="Google Shape;570;p70"/>
          <p:cNvGraphicFramePr/>
          <p:nvPr/>
        </p:nvGraphicFramePr>
        <p:xfrm>
          <a:off x="479125" y="51181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2643625"/>
                <a:gridCol w="1289650"/>
                <a:gridCol w="4252475"/>
              </a:tblGrid>
              <a:tr h="1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155CC"/>
                          </a:solidFill>
                        </a:rPr>
                        <a:t>book</a:t>
                      </a:r>
                      <a:endParaRPr b="1"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155CC"/>
                          </a:solidFill>
                        </a:rPr>
                        <a:t>price</a:t>
                      </a:r>
                      <a:endParaRPr b="1"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155CC"/>
                          </a:solidFill>
                        </a:rPr>
                        <a:t>title</a:t>
                      </a:r>
                      <a:endParaRPr b="1"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/>
                </a:tc>
              </a:tr>
              <a:tr h="14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ex:Hamlet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10.5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4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ex:Tamburlaine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17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ex:DoctorFaustus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12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"The Tragical History of Doctor Faustus"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571" name="Google Shape;571;p7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572" name="Google Shape;572;p70"/>
          <p:cNvGraphicFramePr/>
          <p:nvPr/>
        </p:nvGraphicFramePr>
        <p:xfrm>
          <a:off x="6699800" y="283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1899975"/>
              </a:tblGrid>
              <a:tr h="19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/>
                        <a:t>book</a:t>
                      </a:r>
                      <a:endParaRPr b="1" sz="1500"/>
                    </a:p>
                  </a:txBody>
                  <a:tcPr marT="91425" marB="91425" marR="91425" marL="91425"/>
                </a:tc>
              </a:tr>
              <a:tr h="1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ex:Hamlet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1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ex:Macbeth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1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</a:rPr>
                        <a:t>ex:Tamburlaine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1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</a:rPr>
                        <a:t>ex:DoctorFaustus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73" name="Google Shape;573;p70"/>
          <p:cNvGraphicFramePr/>
          <p:nvPr/>
        </p:nvGraphicFramePr>
        <p:xfrm>
          <a:off x="733250" y="282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1904700"/>
                <a:gridCol w="983025"/>
                <a:gridCol w="2972150"/>
              </a:tblGrid>
              <a:tr h="17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434343"/>
                          </a:solidFill>
                        </a:rPr>
                        <a:t>book</a:t>
                      </a:r>
                      <a:endParaRPr b="1"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434343"/>
                          </a:solidFill>
                        </a:rPr>
                        <a:t>price</a:t>
                      </a:r>
                      <a:endParaRPr b="1"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434343"/>
                          </a:solidFill>
                        </a:rPr>
                        <a:t>title</a:t>
                      </a:r>
                      <a:endParaRPr b="1"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/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ex:Hamlet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10.5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ex:Tamburlaine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17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0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ex:DoctorFaustus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12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"The Tragical History of Doctor Faustus"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ex:RomeoJulia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9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8.13. Biểu thức đại số SPARQL</a:t>
            </a:r>
            <a:r>
              <a:rPr baseline="-25000" lang="en-GB"/>
              <a:t>(7)</a:t>
            </a:r>
            <a:endParaRPr baseline="-25000"/>
          </a:p>
        </p:txBody>
      </p:sp>
      <p:sp>
        <p:nvSpPr>
          <p:cNvPr id="579" name="Google Shape;579;p71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B5394"/>
                </a:solidFill>
              </a:rPr>
              <a:t>Filter(?price &lt; 15,</a:t>
            </a:r>
            <a:endParaRPr sz="20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B5394"/>
                </a:solidFill>
              </a:rPr>
              <a:t>  </a:t>
            </a:r>
            <a:r>
              <a:rPr lang="en-GB" sz="2000">
                <a:solidFill>
                  <a:srgbClr val="434343"/>
                </a:solidFill>
              </a:rPr>
              <a:t>Join(LeftJoin(</a:t>
            </a:r>
            <a:r>
              <a:rPr lang="en-GB" sz="2000">
                <a:solidFill>
                  <a:srgbClr val="434343"/>
                </a:solidFill>
              </a:rPr>
              <a:t>BGP</a:t>
            </a:r>
            <a:r>
              <a:rPr lang="en-GB" sz="2000">
                <a:solidFill>
                  <a:srgbClr val="434343"/>
                </a:solidFill>
              </a:rPr>
              <a:t>(?book &lt;http://eg.org/price&gt; ?price),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434343"/>
                </a:solidFill>
              </a:rPr>
              <a:t>                        </a:t>
            </a:r>
            <a:r>
              <a:rPr lang="en-GB" sz="2000">
                <a:solidFill>
                  <a:srgbClr val="434343"/>
                </a:solidFill>
              </a:rPr>
              <a:t>BGP</a:t>
            </a:r>
            <a:r>
              <a:rPr lang="en-GB" sz="2000">
                <a:solidFill>
                  <a:srgbClr val="434343"/>
                </a:solidFill>
              </a:rPr>
              <a:t>(?book &lt;http://eg.org/title&gt; ?title), true),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434343"/>
                </a:solidFill>
              </a:rPr>
              <a:t>  Union(</a:t>
            </a:r>
            <a:r>
              <a:rPr lang="en-GB" sz="2000">
                <a:solidFill>
                  <a:srgbClr val="434343"/>
                </a:solidFill>
              </a:rPr>
              <a:t>BGP</a:t>
            </a:r>
            <a:r>
              <a:rPr lang="en-GB" sz="2000">
                <a:solidFill>
                  <a:srgbClr val="434343"/>
                </a:solidFill>
              </a:rPr>
              <a:t>(?book &lt;http://eg.org/author&gt; &lt;http://eg.org/Shakespeare&gt;),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434343"/>
                </a:solidFill>
              </a:rPr>
              <a:t>             </a:t>
            </a:r>
            <a:r>
              <a:rPr lang="en-GB" sz="2000">
                <a:solidFill>
                  <a:srgbClr val="434343"/>
                </a:solidFill>
              </a:rPr>
              <a:t>BGP</a:t>
            </a:r>
            <a:r>
              <a:rPr lang="en-GB" sz="2000">
                <a:solidFill>
                  <a:srgbClr val="434343"/>
                </a:solidFill>
              </a:rPr>
              <a:t>(?book &lt;http://eg.org/author&gt; &lt;http://eg.org/Marlowe&gt;)))</a:t>
            </a:r>
            <a:r>
              <a:rPr lang="en-GB" sz="2000">
                <a:solidFill>
                  <a:srgbClr val="0B5394"/>
                </a:solidFill>
              </a:rPr>
              <a:t>)</a:t>
            </a:r>
            <a:endParaRPr sz="2000">
              <a:solidFill>
                <a:srgbClr val="0B5394"/>
              </a:solidFill>
            </a:endParaRPr>
          </a:p>
        </p:txBody>
      </p:sp>
      <p:graphicFrame>
        <p:nvGraphicFramePr>
          <p:cNvPr id="580" name="Google Shape;580;p71"/>
          <p:cNvGraphicFramePr/>
          <p:nvPr/>
        </p:nvGraphicFramePr>
        <p:xfrm>
          <a:off x="563600" y="51053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2643625"/>
                <a:gridCol w="1289650"/>
                <a:gridCol w="4252475"/>
              </a:tblGrid>
              <a:tr h="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155CC"/>
                          </a:solidFill>
                        </a:rPr>
                        <a:t>book</a:t>
                      </a:r>
                      <a:endParaRPr b="1"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155CC"/>
                          </a:solidFill>
                        </a:rPr>
                        <a:t>price</a:t>
                      </a:r>
                      <a:endParaRPr b="1"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155CC"/>
                          </a:solidFill>
                        </a:rPr>
                        <a:t>title</a:t>
                      </a:r>
                      <a:endParaRPr b="1"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/>
                </a:tc>
              </a:tr>
              <a:tr h="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ex:Hamlet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10.5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ex:DoctorFaustus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12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1155CC"/>
                          </a:solidFill>
                        </a:rPr>
                        <a:t>"The Tragical History of Doctor Faustus"</a:t>
                      </a:r>
                      <a:endParaRPr sz="1800">
                        <a:solidFill>
                          <a:srgbClr val="1155CC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581" name="Google Shape;581;p7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582" name="Google Shape;582;p71"/>
          <p:cNvGraphicFramePr/>
          <p:nvPr/>
        </p:nvGraphicFramePr>
        <p:xfrm>
          <a:off x="555325" y="2984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2643625"/>
                <a:gridCol w="1289650"/>
                <a:gridCol w="4252475"/>
              </a:tblGrid>
              <a:tr h="14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434343"/>
                          </a:solidFill>
                        </a:rPr>
                        <a:t>book</a:t>
                      </a:r>
                      <a:endParaRPr b="1"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434343"/>
                          </a:solidFill>
                        </a:rPr>
                        <a:t>price</a:t>
                      </a:r>
                      <a:endParaRPr b="1"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434343"/>
                          </a:solidFill>
                        </a:rPr>
                        <a:t>title</a:t>
                      </a:r>
                      <a:endParaRPr b="1"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/>
                </a:tc>
              </a:tr>
              <a:tr h="14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ex:Hamlet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10.5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4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ex:Tamburlaine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17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ex:DoctorFaustus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12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34343"/>
                          </a:solidFill>
                        </a:rPr>
                        <a:t>"The Tragical History of Doctor Faustus"</a:t>
                      </a:r>
                      <a:endParaRPr sz="1800">
                        <a:solidFill>
                          <a:srgbClr val="434343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583" name="Google Shape;583;p71"/>
          <p:cNvSpPr/>
          <p:nvPr/>
        </p:nvSpPr>
        <p:spPr>
          <a:xfrm>
            <a:off x="4003150" y="4597475"/>
            <a:ext cx="382200" cy="524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toán tử điều chỉnh</a:t>
            </a:r>
            <a:endParaRPr/>
          </a:p>
        </p:txBody>
      </p:sp>
      <p:graphicFrame>
        <p:nvGraphicFramePr>
          <p:cNvPr id="589" name="Google Shape;589;p72"/>
          <p:cNvGraphicFramePr/>
          <p:nvPr/>
        </p:nvGraphicFramePr>
        <p:xfrm>
          <a:off x="471375" y="100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2574650"/>
                <a:gridCol w="5786275"/>
              </a:tblGrid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>
                          <a:solidFill>
                            <a:srgbClr val="434343"/>
                          </a:solidFill>
                        </a:rPr>
                        <a:t>ToList(M)</a:t>
                      </a:r>
                      <a:endParaRPr b="1" sz="24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434343"/>
                          </a:solidFill>
                        </a:rPr>
                        <a:t>Tạo 1 danh sách từ 1 đa tập với cùng các phần tử và cơ số (thứ tự tùy ý, các trùng lặp không bắt buộc liền nhau)</a:t>
                      </a:r>
                      <a:endParaRPr sz="24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>
                          <a:solidFill>
                            <a:srgbClr val="434343"/>
                          </a:solidFill>
                        </a:rPr>
                        <a:t>OrderBy(M, comparators)</a:t>
                      </a:r>
                      <a:endParaRPr b="1" sz="24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434343"/>
                          </a:solidFill>
                        </a:rPr>
                        <a:t>Sắp xếp lời giải</a:t>
                      </a:r>
                      <a:endParaRPr sz="24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1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>
                          <a:solidFill>
                            <a:srgbClr val="434343"/>
                          </a:solidFill>
                        </a:rPr>
                        <a:t>Distinct(M)</a:t>
                      </a:r>
                      <a:endParaRPr b="1" sz="24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434343"/>
                          </a:solidFill>
                        </a:rPr>
                        <a:t>Loại bỏ các trùng lặp</a:t>
                      </a:r>
                      <a:endParaRPr sz="24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1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>
                          <a:solidFill>
                            <a:srgbClr val="434343"/>
                          </a:solidFill>
                        </a:rPr>
                        <a:t>Reduced(M)</a:t>
                      </a:r>
                      <a:endParaRPr b="1" sz="24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434343"/>
                          </a:solidFill>
                        </a:rPr>
                        <a:t>Giản lược, có thể loại bỏ trùng lặp</a:t>
                      </a:r>
                      <a:endParaRPr sz="24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>
                          <a:solidFill>
                            <a:srgbClr val="434343"/>
                          </a:solidFill>
                        </a:rPr>
                        <a:t>Slice(M, o, l)</a:t>
                      </a:r>
                      <a:endParaRPr b="1" sz="24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434343"/>
                          </a:solidFill>
                        </a:rPr>
                        <a:t>Cắt các lời giải thành một danh sách độ dài l bắt đầu từ vị trị o</a:t>
                      </a:r>
                      <a:endParaRPr sz="24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1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>
                          <a:solidFill>
                            <a:srgbClr val="434343"/>
                          </a:solidFill>
                        </a:rPr>
                        <a:t>Project(M, vars)</a:t>
                      </a:r>
                      <a:endParaRPr b="1" sz="24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434343"/>
                          </a:solidFill>
                        </a:rPr>
                        <a:t>Hình chiếu của M trong không gian với các biến được nhắc tới</a:t>
                      </a:r>
                      <a:endParaRPr sz="24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90" name="Google Shape;590;p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596" name="Google Shape;596;p73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8.1. Ngôn ngữ 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8.2. Đại số 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8.3. Biểu diễn luật trong SPARQL: SPIN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8.4. SPARQL và OWL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p73"/>
          <p:cNvSpPr/>
          <p:nvPr/>
        </p:nvSpPr>
        <p:spPr>
          <a:xfrm>
            <a:off x="318450" y="1616878"/>
            <a:ext cx="56715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7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</a:t>
            </a:r>
            <a:r>
              <a:rPr lang="en-GB"/>
              <a:t>iến trúc SPIN</a:t>
            </a:r>
            <a:endParaRPr/>
          </a:p>
        </p:txBody>
      </p:sp>
      <p:sp>
        <p:nvSpPr>
          <p:cNvPr id="604" name="Google Shape;604;p74"/>
          <p:cNvSpPr/>
          <p:nvPr/>
        </p:nvSpPr>
        <p:spPr>
          <a:xfrm>
            <a:off x="230050" y="4934300"/>
            <a:ext cx="8496900" cy="151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Cú pháp SPARQL SPIN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http://spinrdf.org/sp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Một bộ từ vựng RDF để biểu diễn các truy vấn, các biến, và các biểu thức lọc v.v..</a:t>
            </a:r>
            <a:endParaRPr sz="2200"/>
          </a:p>
        </p:txBody>
      </p:sp>
      <p:sp>
        <p:nvSpPr>
          <p:cNvPr id="605" name="Google Shape;605;p74"/>
          <p:cNvSpPr/>
          <p:nvPr/>
        </p:nvSpPr>
        <p:spPr>
          <a:xfrm>
            <a:off x="1236450" y="2432288"/>
            <a:ext cx="7490400" cy="236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Bộ từ vựng SPIN để mô hình hóa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http://spinrdf.org/spin</a:t>
            </a:r>
            <a:endParaRPr sz="2200"/>
          </a:p>
        </p:txBody>
      </p:sp>
      <p:sp>
        <p:nvSpPr>
          <p:cNvPr id="606" name="Google Shape;606;p74"/>
          <p:cNvSpPr/>
          <p:nvPr/>
        </p:nvSpPr>
        <p:spPr>
          <a:xfrm>
            <a:off x="1388850" y="3239592"/>
            <a:ext cx="3513900" cy="14376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Luật và ràng buộc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Xác định ngữ nghĩa của lớp và các mối quan hệ</a:t>
            </a:r>
            <a:endParaRPr sz="2000"/>
          </a:p>
        </p:txBody>
      </p:sp>
      <p:sp>
        <p:nvSpPr>
          <p:cNvPr id="607" name="Google Shape;607;p74"/>
          <p:cNvSpPr/>
          <p:nvPr/>
        </p:nvSpPr>
        <p:spPr>
          <a:xfrm>
            <a:off x="5046450" y="3239592"/>
            <a:ext cx="3513900" cy="14376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Các hàm và khuôn mẫu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Đóng gói các truy vấn có thể tái sử dụng với các tham số mẫu</a:t>
            </a:r>
            <a:endParaRPr sz="2200"/>
          </a:p>
        </p:txBody>
      </p:sp>
      <p:sp>
        <p:nvSpPr>
          <p:cNvPr id="608" name="Google Shape;608;p74"/>
          <p:cNvSpPr/>
          <p:nvPr/>
        </p:nvSpPr>
        <p:spPr>
          <a:xfrm>
            <a:off x="1725275" y="819500"/>
            <a:ext cx="7001700" cy="151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Các mô-đun thư viện tiêu chuẩn SPIN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http://spinrdf.org/spl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Các cấu trúc mô hình hóa có thể tái sử dụng như cơ số, liên kết thành phần và lớp</a:t>
            </a:r>
            <a:endParaRPr sz="2200"/>
          </a:p>
        </p:txBody>
      </p:sp>
      <p:sp>
        <p:nvSpPr>
          <p:cNvPr id="609" name="Google Shape;609;p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5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1"/>
                </a:solidFill>
              </a:rPr>
              <a:t>SPIN cung cấp 1 bộ từ vựng để biểu diễn các truy vấn SPARQL như những bộ ba RDF.</a:t>
            </a:r>
            <a:endParaRPr/>
          </a:p>
        </p:txBody>
      </p:sp>
      <p:sp>
        <p:nvSpPr>
          <p:cNvPr id="615" name="Google Shape;615;p7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ú pháp SPIN RDF cho SPARQL</a:t>
            </a:r>
            <a:endParaRPr/>
          </a:p>
        </p:txBody>
      </p:sp>
      <p:sp>
        <p:nvSpPr>
          <p:cNvPr id="616" name="Google Shape;616;p75"/>
          <p:cNvSpPr/>
          <p:nvPr/>
        </p:nvSpPr>
        <p:spPr>
          <a:xfrm>
            <a:off x="531950" y="1759800"/>
            <a:ext cx="3752400" cy="16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ASK WHERE 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    ?this ss:width ?width 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    ?this ss:height ?height 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    FILTER (?width != ?height) 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}</a:t>
            </a:r>
            <a:endParaRPr sz="1800"/>
          </a:p>
        </p:txBody>
      </p:sp>
      <p:sp>
        <p:nvSpPr>
          <p:cNvPr id="617" name="Google Shape;617;p75"/>
          <p:cNvSpPr/>
          <p:nvPr/>
        </p:nvSpPr>
        <p:spPr>
          <a:xfrm>
            <a:off x="531950" y="3741000"/>
            <a:ext cx="6254100" cy="2826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[ a sp:Ask 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rdfs:comment "Width and height must not be equal"^^xsd:string 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sp:where ([ sp:object _:b1 ; sp:predicate ss:width 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sp:subject spin:_this]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[ sp:object _:b2 ; sp:predicate ss:height 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sp:subject spin:_this]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[ a sp:Filter ; sp:expression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[ a sp:ne ; sp:arg1 _:b1 ; sp:arg2 _:b2]])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] .</a:t>
            </a:r>
            <a:endParaRPr sz="1800"/>
          </a:p>
        </p:txBody>
      </p:sp>
      <p:sp>
        <p:nvSpPr>
          <p:cNvPr id="618" name="Google Shape;618;p75"/>
          <p:cNvSpPr/>
          <p:nvPr/>
        </p:nvSpPr>
        <p:spPr>
          <a:xfrm>
            <a:off x="4572000" y="1759800"/>
            <a:ext cx="4437000" cy="228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Các lợi ích: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Lưu các truy vấn SPARQL cùng với mô hình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Dễ dàng chia sẻ trên WNN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Tính nhất quán tham chiếu (liên hệ đúng nguồn).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Các không gian tên được thiết lập một lần thay vì cho từng truy vấn.</a:t>
            </a:r>
            <a:endParaRPr sz="1800"/>
          </a:p>
        </p:txBody>
      </p:sp>
      <p:sp>
        <p:nvSpPr>
          <p:cNvPr id="619" name="Google Shape;619;p7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Ng</a:t>
            </a:r>
            <a:r>
              <a:rPr lang="en-GB"/>
              <a:t>ôn ngữ ràng buộc SPIN cho SPARQL</a:t>
            </a:r>
            <a:endParaRPr/>
          </a:p>
        </p:txBody>
      </p:sp>
      <p:sp>
        <p:nvSpPr>
          <p:cNvPr id="625" name="Google Shape;625;p76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Th</a:t>
            </a:r>
            <a:r>
              <a:rPr i="1" lang="en-GB"/>
              <a:t>uộc tính spin:constraint có thể được sử dụng để liên kết một lớp với các truy vấn SPARQL để hình thức hóa các bất biến cho các phần tử của lớp</a:t>
            </a:r>
            <a:endParaRPr i="1"/>
          </a:p>
        </p:txBody>
      </p:sp>
      <p:pic>
        <p:nvPicPr>
          <p:cNvPr id="626" name="Google Shape;62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500" y="2309000"/>
            <a:ext cx="3803150" cy="393077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76"/>
          <p:cNvSpPr/>
          <p:nvPr/>
        </p:nvSpPr>
        <p:spPr>
          <a:xfrm>
            <a:off x="4415325" y="2369400"/>
            <a:ext cx="4417200" cy="264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Các lợi ích: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</a:t>
            </a:r>
            <a:r>
              <a:rPr lang="en-GB" sz="1800"/>
              <a:t>ách tiếp cận mô hình hóa HĐT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SPARQL có tính diễn đạt cao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Các ràng buộc có thể được thực thi bởi chính các mô-tơ SPARQL của CSDL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Dễ dàng kết hợp với các ngôn ngữ dựa trên ràng buộc khác như SKOS SPIN</a:t>
            </a:r>
            <a:endParaRPr sz="1800"/>
          </a:p>
        </p:txBody>
      </p:sp>
      <p:sp>
        <p:nvSpPr>
          <p:cNvPr id="628" name="Google Shape;628;p7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Ng</a:t>
            </a:r>
            <a:r>
              <a:rPr lang="en-GB"/>
              <a:t>ôn ngữ luật SPIN cho SPARQL</a:t>
            </a:r>
            <a:endParaRPr/>
          </a:p>
        </p:txBody>
      </p:sp>
      <p:sp>
        <p:nvSpPr>
          <p:cNvPr id="634" name="Google Shape;634;p77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Th</a:t>
            </a:r>
            <a:r>
              <a:rPr i="1" lang="en-GB"/>
              <a:t>uộc tính spin:rule có thể được sử dụng để liên kết một lớp với các truy vấn SPARQL CONSTRUCT để thiết lập các luật suy diễn cho các phần tử của lớp</a:t>
            </a:r>
            <a:endParaRPr i="1"/>
          </a:p>
        </p:txBody>
      </p:sp>
      <p:sp>
        <p:nvSpPr>
          <p:cNvPr id="635" name="Google Shape;635;p77"/>
          <p:cNvSpPr/>
          <p:nvPr/>
        </p:nvSpPr>
        <p:spPr>
          <a:xfrm>
            <a:off x="4050750" y="2369400"/>
            <a:ext cx="4719900" cy="212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Các lợi ích: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Cách tiếp cận mô hình hóa HĐT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SPARQL có tính diễn đạt cao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Các ràng buộc có thể được thực thi bởi chính các mô-tơ SPARQL của CSDL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Dễ dàng kết hợp với các ngôn ngữ l</a:t>
            </a:r>
            <a:r>
              <a:rPr lang="en-GB" sz="1800"/>
              <a:t>uật khác như OWL RL</a:t>
            </a:r>
            <a:endParaRPr sz="1800"/>
          </a:p>
        </p:txBody>
      </p:sp>
      <p:pic>
        <p:nvPicPr>
          <p:cNvPr id="636" name="Google Shape;63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824" y="2318950"/>
            <a:ext cx="3402324" cy="3955976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7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</a:t>
            </a:r>
            <a:r>
              <a:rPr lang="en-GB"/>
              <a:t>IN có thể định nghĩa các hàm SPARQL</a:t>
            </a:r>
            <a:endParaRPr/>
          </a:p>
        </p:txBody>
      </p:sp>
      <p:sp>
        <p:nvSpPr>
          <p:cNvPr id="643" name="Google Shape;643;p78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sp</a:t>
            </a:r>
            <a:r>
              <a:rPr i="1" lang="en-GB"/>
              <a:t>in:Function có thể được sử dụng để định nghĩa các hàm SPARQL mới với truy vấn SPARQL như thân hàm</a:t>
            </a:r>
            <a:endParaRPr i="1"/>
          </a:p>
        </p:txBody>
      </p:sp>
      <p:sp>
        <p:nvSpPr>
          <p:cNvPr id="644" name="Google Shape;644;p78"/>
          <p:cNvSpPr/>
          <p:nvPr/>
        </p:nvSpPr>
        <p:spPr>
          <a:xfrm>
            <a:off x="4475750" y="2067221"/>
            <a:ext cx="4356600" cy="232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Các lợi ích: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Cách tiếp cận mô hình hóa HĐT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SPARQL có tính diễn đạt cao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Các ràng buộc có thể được thực thi bởi chính các mô-tơ SPARQL của CSDL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Dễ dàng kết hợp với các ngôn ngữ luật khác như OWL RL</a:t>
            </a:r>
            <a:endParaRPr sz="1800"/>
          </a:p>
        </p:txBody>
      </p:sp>
      <p:pic>
        <p:nvPicPr>
          <p:cNvPr id="645" name="Google Shape;64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2063417"/>
            <a:ext cx="3973900" cy="2982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78"/>
          <p:cNvSpPr/>
          <p:nvPr/>
        </p:nvSpPr>
        <p:spPr>
          <a:xfrm>
            <a:off x="4492925" y="4461300"/>
            <a:ext cx="4356600" cy="18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CONSTRUCT 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  ?this ss:area ?area 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WHERE 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  LET (?area := ss:computeArea(?this)) 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7" name="Google Shape;647;p7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</a:t>
            </a:r>
            <a:r>
              <a:rPr lang="en-GB"/>
              <a:t>IN có thể tái sử dụng truy vấn SPARQL </a:t>
            </a:r>
            <a:endParaRPr/>
          </a:p>
        </p:txBody>
      </p:sp>
      <p:sp>
        <p:nvSpPr>
          <p:cNvPr id="653" name="Google Shape;653;p79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sp</a:t>
            </a:r>
            <a:r>
              <a:rPr i="1" lang="en-GB"/>
              <a:t>in:Template có thể được sử dụng để đóng gói các truy vấn SPARQL trong các đơn vị có thể được khởi tạo với các tham số để tái sử dụng</a:t>
            </a:r>
            <a:endParaRPr i="1"/>
          </a:p>
        </p:txBody>
      </p:sp>
      <p:pic>
        <p:nvPicPr>
          <p:cNvPr id="654" name="Google Shape;65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37675"/>
            <a:ext cx="3742726" cy="316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6675" y="4681200"/>
            <a:ext cx="3881453" cy="15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79"/>
          <p:cNvSpPr/>
          <p:nvPr/>
        </p:nvSpPr>
        <p:spPr>
          <a:xfrm>
            <a:off x="4198550" y="2337675"/>
            <a:ext cx="4571700" cy="219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Các lợi ích: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</a:t>
            </a:r>
            <a:r>
              <a:rPr lang="en-GB" sz="1800"/>
              <a:t>ỗ trợ khả năng tái sử dụng các mẫu mô hình hóa theo HĐT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Định nghĩa các ngôn ngữ chuyên dụng cho từng lĩnh vực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Không cần chuyên môn về SPARQL để cung cấp các tham số.</a:t>
            </a:r>
            <a:endParaRPr sz="1800"/>
          </a:p>
        </p:txBody>
      </p:sp>
      <p:sp>
        <p:nvSpPr>
          <p:cNvPr id="657" name="Google Shape;657;p7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</a:t>
            </a:r>
            <a:r>
              <a:rPr lang="en-GB"/>
              <a:t>IN và SHACL</a:t>
            </a:r>
            <a:endParaRPr/>
          </a:p>
        </p:txBody>
      </p:sp>
      <p:sp>
        <p:nvSpPr>
          <p:cNvPr id="663" name="Google Shape;663;p80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</a:t>
            </a:r>
            <a:r>
              <a:rPr lang="en-GB"/>
              <a:t>ACL - </a:t>
            </a:r>
            <a:r>
              <a:rPr b="1" lang="en-GB"/>
              <a:t>SH</a:t>
            </a:r>
            <a:r>
              <a:rPr b="1" lang="en-GB"/>
              <a:t>A</a:t>
            </a:r>
            <a:r>
              <a:rPr lang="en-GB"/>
              <a:t>pes </a:t>
            </a:r>
            <a:r>
              <a:rPr b="1" lang="en-GB"/>
              <a:t>C</a:t>
            </a:r>
            <a:r>
              <a:rPr lang="en-GB"/>
              <a:t>onstraint </a:t>
            </a:r>
            <a:r>
              <a:rPr b="1" lang="en-GB"/>
              <a:t>L</a:t>
            </a:r>
            <a:r>
              <a:rPr lang="en-GB"/>
              <a:t>anguage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Quy chuẩn W3C để định nghĩa hình trạng của dữ liệu RDF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Có thể được hiểu như ngôn ngữ lược đồ cho RDF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hình được định nghĩa như những đồ thị RDF được gọi là các hình đồ thị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Đồ thị được kiểm tra được gọi là "Đồ thị dữ liệu"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Ảnh hưởng nhiều từ SPIN</a:t>
            </a:r>
            <a:endParaRPr/>
          </a:p>
        </p:txBody>
      </p:sp>
      <p:sp>
        <p:nvSpPr>
          <p:cNvPr id="664" name="Google Shape;664;p8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Tham kh</a:t>
            </a:r>
            <a:r>
              <a:rPr lang="en-GB"/>
              <a:t>ảo</a:t>
            </a:r>
            <a:endParaRPr/>
          </a:p>
        </p:txBody>
      </p:sp>
      <p:sp>
        <p:nvSpPr>
          <p:cNvPr id="670" name="Google Shape;670;p81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https://spinrdf.org/spin-shacl.html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https://www.w3.org/TR/shacl/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5"/>
              </a:rPr>
              <a:t>https://jena.apache.org/documentation/shacl/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6"/>
              </a:rPr>
              <a:t>https://www.w3.org/TR/shacl-js/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Thử khảo sát các triển khai SHACL ??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8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Dữ liệu</a:t>
            </a:r>
            <a:endParaRPr/>
          </a:p>
        </p:txBody>
      </p:sp>
      <p:sp>
        <p:nvSpPr>
          <p:cNvPr id="677" name="Google Shape;677;p82"/>
          <p:cNvSpPr txBox="1"/>
          <p:nvPr>
            <p:ph idx="4294967295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@prefix ex: &lt;http://semweb.edu.vn/ex#&gt; .</a:t>
            </a:r>
            <a:endParaRPr sz="22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@prefix xsd: &lt;http://www.w3.org/2001/XMLSchema#&gt; .</a:t>
            </a:r>
            <a:endParaRPr sz="22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ex:Alice</a:t>
            </a:r>
            <a:endParaRPr sz="22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  a ex:Person ;</a:t>
            </a:r>
            <a:endParaRPr sz="22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  ex:ssn "987-65-432A" .</a:t>
            </a:r>
            <a:endParaRPr sz="22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ex:Bob</a:t>
            </a:r>
            <a:endParaRPr sz="22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  a ex:Person ;</a:t>
            </a:r>
            <a:endParaRPr sz="22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  ex:ssn "123-45-6789" ;</a:t>
            </a:r>
            <a:endParaRPr sz="22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  ex:ssn "124-35-6789" .</a:t>
            </a:r>
            <a:endParaRPr sz="22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ex:Calvin</a:t>
            </a:r>
            <a:endParaRPr sz="22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  a ex:Person ;</a:t>
            </a:r>
            <a:endParaRPr sz="22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  ex:birthDate "1971-07-07"^^xsd:date ;</a:t>
            </a:r>
            <a:endParaRPr sz="22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  ex:worksFor ex:UntypedCompany 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678" name="Google Shape;678;p8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Ràng buộc</a:t>
            </a:r>
            <a:endParaRPr/>
          </a:p>
        </p:txBody>
      </p:sp>
      <p:sp>
        <p:nvSpPr>
          <p:cNvPr id="684" name="Google Shape;684;p83"/>
          <p:cNvSpPr txBox="1"/>
          <p:nvPr>
            <p:ph idx="1" type="body"/>
          </p:nvPr>
        </p:nvSpPr>
        <p:spPr>
          <a:xfrm>
            <a:off x="311700" y="899675"/>
            <a:ext cx="8520600" cy="56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@prefix ex: &lt;http://semweb.edu.vn/ex#&gt; .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@prefix sh: &lt;http://www.w3.org/ns/shacl#&gt; .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@prefix xsd: &lt;http://www.w3.org/2001/XMLSchema#&gt; .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@prefix rdf: &lt;http://www.w3.org/1999/02/22-rdf-syntax-ns#&gt; .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ex:PersonShape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a sh:NodeShape ;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sh:targetClass ex:Person ;    # Applies to all persons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sh:property [                 # _:b1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  sh:path ex:ssn ;           # constrains the values of ex:ssn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  sh:maxCount 1 ;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  sh:datatype xsd:string ;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  sh:pattern "^\\d{3}-\\d{2}-\\d{4}$" ;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] ;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sh:property [                 # _:b2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  sh:path ex:worksFor ;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  sh:class ex:Company ;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  sh:nodeKind sh:IRI ;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] ;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sh:closed true ;</a:t>
            </a:r>
            <a:endParaRPr sz="1800">
              <a:solidFill>
                <a:schemeClr val="dk1"/>
              </a:solidFill>
            </a:endParaRPr>
          </a:p>
          <a:p>
            <a:pPr indent="0" lvl="0" marL="127000" marR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sh:ignoredProperties ( rdf:type ) 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85" name="Google Shape;685;p8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8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691" name="Google Shape;691;p84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8.1. Ngôn ngữ 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8.2. Đại số 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8.3. Biểu diễn luật trong SPARQL: SPIN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8.4. SPARQL và OWL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2" name="Google Shape;692;p84"/>
          <p:cNvSpPr/>
          <p:nvPr/>
        </p:nvSpPr>
        <p:spPr>
          <a:xfrm>
            <a:off x="318450" y="2008497"/>
            <a:ext cx="60051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8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</a:t>
            </a:r>
            <a:r>
              <a:rPr lang="en-GB"/>
              <a:t>ử lý truy vấn với các kết quả suy diễn</a:t>
            </a:r>
            <a:endParaRPr/>
          </a:p>
        </p:txBody>
      </p:sp>
      <p:sp>
        <p:nvSpPr>
          <p:cNvPr id="699" name="Google Shape;699;p85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&lt;http://dbpedia.org/resource/Tim_Berners-Lee&gt;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foaf:homepage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&lt;http://www.w3.org/People/Berners-Lee/&gt;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1155CC"/>
                </a:solidFill>
              </a:rPr>
              <a:t>foaf:name rdfs:subPropertyOf rdfs:label .</a:t>
            </a:r>
            <a:endParaRPr sz="20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foaf:homepage a owl:InverseFunctionalProperty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&lt;http://dblp.l3s.de/d2r/page/authors/Tim_Berners-Lee&gt;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foaf:homepage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&lt;http://www.w3.org/People/Berners-Lee/&gt;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foaf:name “Tim Berners-Lee”.</a:t>
            </a:r>
            <a:endParaRPr sz="2000"/>
          </a:p>
        </p:txBody>
      </p:sp>
      <p:sp>
        <p:nvSpPr>
          <p:cNvPr id="700" name="Google Shape;700;p85"/>
          <p:cNvSpPr txBox="1"/>
          <p:nvPr/>
        </p:nvSpPr>
        <p:spPr>
          <a:xfrm>
            <a:off x="316300" y="4290200"/>
            <a:ext cx="8698200" cy="76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SELECT ?P ?O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WHERE { &lt;http://dbpedia.org/resource/Tim_Berners-Lee&gt; rdfs:label ?O}</a:t>
            </a:r>
            <a:endParaRPr sz="2000"/>
          </a:p>
        </p:txBody>
      </p:sp>
      <p:graphicFrame>
        <p:nvGraphicFramePr>
          <p:cNvPr id="701" name="Google Shape;701;p85"/>
          <p:cNvGraphicFramePr/>
          <p:nvPr/>
        </p:nvGraphicFramePr>
        <p:xfrm>
          <a:off x="4621175" y="513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{76219E7A-E6AA-4257-86C7-4E65688DD7AC}</a:tableStyleId>
              </a:tblPr>
              <a:tblGrid>
                <a:gridCol w="3594325"/>
              </a:tblGrid>
              <a:tr h="51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/>
                        <a:t>?O</a:t>
                      </a:r>
                      <a:endParaRPr b="1" sz="2200"/>
                    </a:p>
                  </a:txBody>
                  <a:tcPr marT="91425" marB="91425" marR="91425" marL="91425"/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“Tim Berners-Lee”</a:t>
                      </a:r>
                      <a:endParaRPr sz="2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02" name="Google Shape;702;p8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8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khó khăn</a:t>
            </a:r>
            <a:endParaRPr/>
          </a:p>
        </p:txBody>
      </p:sp>
      <p:sp>
        <p:nvSpPr>
          <p:cNvPr id="708" name="Google Shape;708;p86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</a:t>
            </a:r>
            <a:r>
              <a:rPr lang="en-GB"/>
              <a:t>ó thể có vô số kết quả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Do thuộc tính ContainerMembership (RDFS)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Suy diễn kiểu dữ liệu (OWL)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=&gt; Thiết lập các hạn chế phạm vi đối với kết quả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biến không chính thức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Biến chính là biến có xuất hiện trong đầu ra và được lưu trong toàn bộ tiến trình xử lý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tính năng SPARQL 1.1 khác, ví dụ, tổng hợp</a:t>
            </a:r>
            <a:endParaRPr/>
          </a:p>
        </p:txBody>
      </p:sp>
      <p:sp>
        <p:nvSpPr>
          <p:cNvPr id="709" name="Google Shape;709;p8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</a:t>
            </a:r>
            <a:r>
              <a:rPr lang="en-GB"/>
              <a:t>ả năng có vô số kết quả suy diễn</a:t>
            </a:r>
            <a:endParaRPr/>
          </a:p>
        </p:txBody>
      </p:sp>
      <p:sp>
        <p:nvSpPr>
          <p:cNvPr id="715" name="Google Shape;715;p87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Đồ thị: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:rr2010Proceedings :hasEditors [ a rdf:Seq;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                rdf:_1 :pascal_hitzler.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                rdf:_2 :thomas_lukasiewicz.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]</a:t>
            </a:r>
            <a:endParaRPr/>
          </a:p>
        </p:txBody>
      </p:sp>
      <p:sp>
        <p:nvSpPr>
          <p:cNvPr id="716" name="Google Shape;716;p87"/>
          <p:cNvSpPr txBox="1"/>
          <p:nvPr/>
        </p:nvSpPr>
        <p:spPr>
          <a:xfrm>
            <a:off x="311700" y="3131400"/>
            <a:ext cx="84012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B5394"/>
                </a:solidFill>
              </a:rPr>
              <a:t>Truy vấn với suy diễn RDFS:</a:t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</a:rPr>
              <a:t>SELECT ?CM { ?CM a rdfs:ContainerMembershipProperty}</a:t>
            </a:r>
            <a:endParaRPr sz="2400">
              <a:solidFill>
                <a:srgbClr val="666666"/>
              </a:solidFill>
            </a:endParaRPr>
          </a:p>
        </p:txBody>
      </p:sp>
      <p:sp>
        <p:nvSpPr>
          <p:cNvPr id="717" name="Google Shape;717;p87"/>
          <p:cNvSpPr txBox="1"/>
          <p:nvPr/>
        </p:nvSpPr>
        <p:spPr>
          <a:xfrm>
            <a:off x="519025" y="4109100"/>
            <a:ext cx="8151900" cy="20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Các kết quả suy diễn RDFS (bộ ba mệnh đề):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666666"/>
                </a:solidFill>
              </a:rPr>
              <a:t>rdfs:_1 a rdfs:ContainerMembershipProperty .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666666"/>
                </a:solidFill>
              </a:rPr>
              <a:t>rdfs:_2 a rdfs:ContainerMembershipProperty .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666666"/>
                </a:solidFill>
              </a:rPr>
              <a:t>rdfs:_3 a rdfs:ContainerMembershipProperty .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</a:rPr>
              <a:t>...</a:t>
            </a:r>
            <a:endParaRPr sz="2400">
              <a:solidFill>
                <a:srgbClr val="666666"/>
              </a:solidFill>
            </a:endParaRPr>
          </a:p>
        </p:txBody>
      </p:sp>
      <p:sp>
        <p:nvSpPr>
          <p:cNvPr id="718" name="Google Shape;718;p8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Khả năng có vô số kết quả suy diễn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724" name="Google Shape;724;p88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Đồ thị: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:rr2010Proceedings :hasEditors [ a rdf:Seq;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rdf:_1 :pascal_hitzler.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rdf:_2 :thomas_lukasiewicz.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]</a:t>
            </a:r>
            <a:endParaRPr/>
          </a:p>
        </p:txBody>
      </p:sp>
      <p:sp>
        <p:nvSpPr>
          <p:cNvPr id="725" name="Google Shape;725;p88"/>
          <p:cNvSpPr txBox="1"/>
          <p:nvPr/>
        </p:nvSpPr>
        <p:spPr>
          <a:xfrm>
            <a:off x="311700" y="3131400"/>
            <a:ext cx="84012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B5394"/>
                </a:solidFill>
              </a:rPr>
              <a:t>Truy vấn với suy diễn RDFS:</a:t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</a:rPr>
              <a:t>SELECT ?CM { ?CM a rdfs:ContainerMembershipProperty}</a:t>
            </a:r>
            <a:endParaRPr sz="2400">
              <a:solidFill>
                <a:srgbClr val="666666"/>
              </a:solidFill>
            </a:endParaRPr>
          </a:p>
        </p:txBody>
      </p:sp>
      <p:sp>
        <p:nvSpPr>
          <p:cNvPr id="726" name="Google Shape;726;p88"/>
          <p:cNvSpPr txBox="1"/>
          <p:nvPr/>
        </p:nvSpPr>
        <p:spPr>
          <a:xfrm>
            <a:off x="311700" y="5062275"/>
            <a:ext cx="8359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Các kết quả tr</a:t>
            </a:r>
            <a:r>
              <a:rPr lang="en-GB" sz="2400"/>
              <a:t>ong SPARQL 1.1 là: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66666"/>
                </a:solidFill>
              </a:rPr>
              <a:t>{ ?CM/rdfs:_1, ?CM/rdfs:_2, }</a:t>
            </a:r>
            <a:endParaRPr sz="2400">
              <a:solidFill>
                <a:srgbClr val="666666"/>
              </a:solidFill>
            </a:endParaRPr>
          </a:p>
        </p:txBody>
      </p:sp>
      <p:sp>
        <p:nvSpPr>
          <p:cNvPr id="727" name="Google Shape;727;p88"/>
          <p:cNvSpPr txBox="1"/>
          <p:nvPr/>
        </p:nvSpPr>
        <p:spPr>
          <a:xfrm>
            <a:off x="431200" y="4103300"/>
            <a:ext cx="84012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B5394"/>
                </a:solidFill>
              </a:rPr>
              <a:t>SPARQL 1.1 lọc các từ rdf:_1, rdf:_2, ..., rdf:_n không xuất hiện trong đồ thị dữ liệu.</a:t>
            </a:r>
            <a:endParaRPr sz="2400">
              <a:solidFill>
                <a:srgbClr val="0B5394"/>
              </a:solidFill>
            </a:endParaRPr>
          </a:p>
        </p:txBody>
      </p:sp>
      <p:sp>
        <p:nvSpPr>
          <p:cNvPr id="728" name="Google Shape;728;p8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kết quả suy diễn kiểu dữ liệu trong OWL</a:t>
            </a:r>
            <a:endParaRPr/>
          </a:p>
        </p:txBody>
      </p:sp>
      <p:sp>
        <p:nvSpPr>
          <p:cNvPr id="734" name="Google Shape;734;p89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M</a:t>
            </a:r>
            <a:r>
              <a:rPr lang="en-GB" sz="2200"/>
              <a:t>ột cách phức tạp để mô tả Peter 50 tuổi trong OWL:</a:t>
            </a:r>
            <a:endParaRPr sz="2200"/>
          </a:p>
        </p:txBody>
      </p:sp>
      <p:sp>
        <p:nvSpPr>
          <p:cNvPr id="735" name="Google Shape;735;p89"/>
          <p:cNvSpPr txBox="1"/>
          <p:nvPr>
            <p:ph idx="1" type="body"/>
          </p:nvPr>
        </p:nvSpPr>
        <p:spPr>
          <a:xfrm>
            <a:off x="226925" y="2688025"/>
            <a:ext cx="86055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Một tr</a:t>
            </a:r>
            <a:r>
              <a:rPr lang="en-GB" sz="2200"/>
              <a:t>uy vấn phức tạp để tìm các giá trị số không phải tuổi của Peter:</a:t>
            </a:r>
            <a:endParaRPr sz="2200"/>
          </a:p>
        </p:txBody>
      </p:sp>
      <p:sp>
        <p:nvSpPr>
          <p:cNvPr id="736" name="Google Shape;736;p89"/>
          <p:cNvSpPr txBox="1"/>
          <p:nvPr>
            <p:ph idx="1" type="body"/>
          </p:nvPr>
        </p:nvSpPr>
        <p:spPr>
          <a:xfrm>
            <a:off x="311700" y="3615325"/>
            <a:ext cx="8520600" cy="16209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SELECT ?x WHERE 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ex:Peter a [ a owl:Restriction ; owl:onProperty ex:age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owl:allValuesFrom [ a rdfs:Datatype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owl:datatypeComplementOf [ a rdfs:Datatype ; owl:oneOf (?x) ] ] ] }</a:t>
            </a:r>
            <a:endParaRPr sz="2000"/>
          </a:p>
        </p:txBody>
      </p:sp>
      <p:sp>
        <p:nvSpPr>
          <p:cNvPr id="737" name="Google Shape;737;p89"/>
          <p:cNvSpPr txBox="1"/>
          <p:nvPr>
            <p:ph idx="1" type="body"/>
          </p:nvPr>
        </p:nvSpPr>
        <p:spPr>
          <a:xfrm>
            <a:off x="311700" y="1386550"/>
            <a:ext cx="8520600" cy="12231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ex:Peter a [ a owl:Restriction ; owl:onProperty ex:age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     owl:allValuesFrom [ rdf:type rdfs:Datatype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     owl:oneOf ("50"^^xsd:integer) ] ]</a:t>
            </a:r>
            <a:endParaRPr sz="2000"/>
          </a:p>
        </p:txBody>
      </p:sp>
      <p:sp>
        <p:nvSpPr>
          <p:cNvPr id="738" name="Google Shape;738;p89"/>
          <p:cNvSpPr txBox="1"/>
          <p:nvPr/>
        </p:nvSpPr>
        <p:spPr>
          <a:xfrm>
            <a:off x="330675" y="5326800"/>
            <a:ext cx="85206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Về mặt lý thuyết: </a:t>
            </a:r>
            <a:r>
              <a:rPr lang="en-GB" sz="2200">
                <a:solidFill>
                  <a:srgbClr val="666666"/>
                </a:solidFill>
              </a:rPr>
              <a:t>Có vô số giá trị khác 50</a:t>
            </a:r>
            <a:endParaRPr sz="2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SPARQL 1.1 </a:t>
            </a:r>
            <a:r>
              <a:rPr lang="en-GB" sz="2200">
                <a:solidFill>
                  <a:srgbClr val="666666"/>
                </a:solidFill>
              </a:rPr>
              <a:t>giới hạn kết quả trong phạm vi {bộ từ vựng rdf + rdfs + owl} - {rdf:_1, ...rdf:_n} + {các từ xuất hiện trong đồ thị dữ liệu}</a:t>
            </a:r>
            <a:endParaRPr sz="2200">
              <a:solidFill>
                <a:srgbClr val="666666"/>
              </a:solidFill>
            </a:endParaRPr>
          </a:p>
        </p:txBody>
      </p:sp>
      <p:sp>
        <p:nvSpPr>
          <p:cNvPr id="739" name="Google Shape;739;p8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biến không chính thức</a:t>
            </a:r>
            <a:endParaRPr/>
          </a:p>
        </p:txBody>
      </p:sp>
      <p:sp>
        <p:nvSpPr>
          <p:cNvPr id="745" name="Google Shape;745;p90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</a:t>
            </a:r>
            <a:r>
              <a:rPr lang="en-GB"/>
              <a:t>o đồ thị:</a:t>
            </a:r>
            <a:endParaRPr/>
          </a:p>
        </p:txBody>
      </p:sp>
      <p:sp>
        <p:nvSpPr>
          <p:cNvPr id="746" name="Google Shape;746;p90"/>
          <p:cNvSpPr txBox="1"/>
          <p:nvPr>
            <p:ph idx="1" type="body"/>
          </p:nvPr>
        </p:nvSpPr>
        <p:spPr>
          <a:xfrm>
            <a:off x="311700" y="1369823"/>
            <a:ext cx="8520600" cy="33660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foaf:Person rdfs:subClassOf foaf:Agent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foaf:Person rdfs:subclassOf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[ a owl:Restriction ; owl:onProperty :hasFather 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owl:someValuesFrom foaf:Person.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foaf:knows rdfs:range foaf:Person.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:jeff a Person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:jeff foaf:knows :aidan</a:t>
            </a:r>
            <a:endParaRPr/>
          </a:p>
        </p:txBody>
      </p:sp>
      <p:sp>
        <p:nvSpPr>
          <p:cNvPr id="747" name="Google Shape;747;p90"/>
          <p:cNvSpPr txBox="1"/>
          <p:nvPr>
            <p:ph idx="1" type="body"/>
          </p:nvPr>
        </p:nvSpPr>
        <p:spPr>
          <a:xfrm>
            <a:off x="311700" y="4660832"/>
            <a:ext cx="8520600" cy="6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SELECT ?X ?Y { ?X :hasFather ?Y }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8" name="Google Shape;748;p90"/>
          <p:cNvSpPr txBox="1"/>
          <p:nvPr>
            <p:ph idx="1" type="body"/>
          </p:nvPr>
        </p:nvSpPr>
        <p:spPr>
          <a:xfrm>
            <a:off x="311700" y="5129771"/>
            <a:ext cx="85206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</a:t>
            </a:r>
            <a:r>
              <a:rPr lang="en-GB"/>
              <a:t>ông có kết quả, biến ?Y là biến chính thức trong trường hợp này.</a:t>
            </a:r>
            <a:endParaRPr/>
          </a:p>
        </p:txBody>
      </p:sp>
      <p:sp>
        <p:nvSpPr>
          <p:cNvPr id="749" name="Google Shape;749;p9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biến không chính thức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755" name="Google Shape;755;p91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 đồ thị:</a:t>
            </a:r>
            <a:endParaRPr/>
          </a:p>
        </p:txBody>
      </p:sp>
      <p:sp>
        <p:nvSpPr>
          <p:cNvPr id="756" name="Google Shape;756;p91"/>
          <p:cNvSpPr txBox="1"/>
          <p:nvPr>
            <p:ph idx="1" type="body"/>
          </p:nvPr>
        </p:nvSpPr>
        <p:spPr>
          <a:xfrm>
            <a:off x="311700" y="1369825"/>
            <a:ext cx="8520600" cy="26430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foaf:Person rdfs:subClassOf foaf:Agent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foaf:Person rdfs:subclassOf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[ a owl:Restriction ; owl:onProperty :hasFather 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owl:someValuesFrom foaf:Person.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foaf:knows rdfs:range foaf:Person.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:jeff a Person . :jeff foaf:knows :aidan .</a:t>
            </a:r>
            <a:endParaRPr/>
          </a:p>
        </p:txBody>
      </p:sp>
      <p:sp>
        <p:nvSpPr>
          <p:cNvPr id="757" name="Google Shape;757;p91"/>
          <p:cNvSpPr txBox="1"/>
          <p:nvPr>
            <p:ph idx="1" type="body"/>
          </p:nvPr>
        </p:nvSpPr>
        <p:spPr>
          <a:xfrm>
            <a:off x="311700" y="3975026"/>
            <a:ext cx="85206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SELECT ?X  { ?X :hasFather ?Y }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58" name="Google Shape;758;p91"/>
          <p:cNvSpPr txBox="1"/>
          <p:nvPr>
            <p:ph idx="1" type="body"/>
          </p:nvPr>
        </p:nvSpPr>
        <p:spPr>
          <a:xfrm>
            <a:off x="311700" y="4443975"/>
            <a:ext cx="8520600" cy="18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?Y </a:t>
            </a:r>
            <a:r>
              <a:rPr lang="en-GB"/>
              <a:t>giống như biến không chính thức trong</a:t>
            </a:r>
            <a:r>
              <a:rPr lang="en-GB"/>
              <a:t> trường hợp này.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Ph</a:t>
            </a:r>
            <a:r>
              <a:rPr lang="en-GB">
                <a:solidFill>
                  <a:srgbClr val="0B5394"/>
                </a:solidFill>
              </a:rPr>
              <a:t>ép chiếu được thực hiện cuối cùng trên các kết quả xử lý BGP. SPARQL 1.1 coi tất cả biến như các biến chính thức. 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  =&gt; Vẫn không có kết quả.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759" name="Google Shape;759;p9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9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uy diễn SPARQL 1.1 &amp; các mẫu phức tạp</a:t>
            </a:r>
            <a:endParaRPr/>
          </a:p>
        </p:txBody>
      </p:sp>
      <p:sp>
        <p:nvSpPr>
          <p:cNvPr id="765" name="Google Shape;765;p92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:person1 rdf:type [ owl:unionOf (:male :female) ]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SELECT ?X {  {?X rdf:type :male } 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                        UNION 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434343"/>
                </a:solidFill>
              </a:rPr>
              <a:t>                    {?X rdf:type :female } }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Suy diễn SPARQL được định nghĩa sau so khớp BGP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=&gt; Không có kết quả</a:t>
            </a:r>
            <a:endParaRPr/>
          </a:p>
        </p:txBody>
      </p:sp>
      <p:sp>
        <p:nvSpPr>
          <p:cNvPr id="766" name="Google Shape;766;p9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uy diễn SPARQL 1.1 và các tổng hợp</a:t>
            </a:r>
            <a:endParaRPr/>
          </a:p>
        </p:txBody>
      </p:sp>
      <p:sp>
        <p:nvSpPr>
          <p:cNvPr id="772" name="Google Shape;772;p93"/>
          <p:cNvSpPr txBox="1"/>
          <p:nvPr>
            <p:ph idx="4294967295" type="body"/>
          </p:nvPr>
        </p:nvSpPr>
        <p:spPr>
          <a:xfrm>
            <a:off x="311700" y="968226"/>
            <a:ext cx="6852900" cy="34776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foaf:Person rdfs:subClassOf foaf:Agent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foaf:Person rdfs:subclassOf  [ a owl:Restriction 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owl:onProperty :hasFather 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owl:someValuesFrom foaf:Person.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:jeff a Person .  :jeff foaf:knows :aidan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foaf:knows rdfs:range foaf:Person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:jeff :hasFather [a Person]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:jeff owl:sameAs :aidan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93"/>
          <p:cNvSpPr txBox="1"/>
          <p:nvPr>
            <p:ph idx="4294967295" type="body"/>
          </p:nvPr>
        </p:nvSpPr>
        <p:spPr>
          <a:xfrm>
            <a:off x="311700" y="4499775"/>
            <a:ext cx="8520600" cy="17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tổng hợp được thực hiện sau so khớp BGP, vì vậy không có tác dụng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(Count(?X) AS ?Y) { ?X a foaf:Person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Với ngữ nghĩa RDFS/OWL kết quả trả về là: {</a:t>
            </a:r>
            <a:r>
              <a:rPr lang="en-GB">
                <a:solidFill>
                  <a:srgbClr val="0B5394"/>
                </a:solidFill>
              </a:rPr>
              <a:t>?Y/3</a:t>
            </a: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93"/>
          <p:cNvSpPr/>
          <p:nvPr/>
        </p:nvSpPr>
        <p:spPr>
          <a:xfrm>
            <a:off x="6170350" y="1701950"/>
            <a:ext cx="2901900" cy="2098200"/>
          </a:xfrm>
          <a:prstGeom prst="wedgeEllipseCallout">
            <a:avLst>
              <a:gd fmla="val -113533" name="adj1"/>
              <a:gd fmla="val 5964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</a:rPr>
              <a:t>S</a:t>
            </a:r>
            <a:r>
              <a:rPr lang="en-GB" sz="1800">
                <a:solidFill>
                  <a:srgbClr val="666666"/>
                </a:solidFill>
              </a:rPr>
              <a:t>uy diễn owl:sameAs không ảnh hưởng đến thống kê, nhưng các nút rỗng có ảnh hưởng.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775" name="Google Shape;775;p93"/>
          <p:cNvSpPr/>
          <p:nvPr/>
        </p:nvSpPr>
        <p:spPr>
          <a:xfrm>
            <a:off x="4144925" y="3668450"/>
            <a:ext cx="120900" cy="7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9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9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Tham kh</a:t>
            </a:r>
            <a:r>
              <a:rPr lang="en-GB"/>
              <a:t>ảo</a:t>
            </a:r>
            <a:endParaRPr/>
          </a:p>
        </p:txBody>
      </p:sp>
      <p:sp>
        <p:nvSpPr>
          <p:cNvPr id="782" name="Google Shape;782;p94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https://www.w3.org/TR/sparql11-query/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9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9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89" name="Google Shape;789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9680" y="1531800"/>
            <a:ext cx="3565079" cy="410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9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95" name="Google Shape;795;p9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Thử nghiệm</a:t>
            </a:r>
            <a:endParaRPr/>
          </a:p>
        </p:txBody>
      </p:sp>
      <p:sp>
        <p:nvSpPr>
          <p:cNvPr id="796" name="Google Shape;796;p96"/>
          <p:cNvSpPr txBox="1"/>
          <p:nvPr>
            <p:ph idx="4294967295" type="body"/>
          </p:nvPr>
        </p:nvSpPr>
        <p:spPr>
          <a:xfrm>
            <a:off x="311700" y="850832"/>
            <a:ext cx="85206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Viết các truy vấn SPARQL dựa trên đồ thị</a:t>
            </a:r>
            <a:endParaRPr/>
          </a:p>
        </p:txBody>
      </p:sp>
      <p:pic>
        <p:nvPicPr>
          <p:cNvPr id="797" name="Google Shape;79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86200"/>
            <a:ext cx="8839201" cy="2417332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96"/>
          <p:cNvSpPr txBox="1"/>
          <p:nvPr/>
        </p:nvSpPr>
        <p:spPr>
          <a:xfrm>
            <a:off x="222475" y="4216975"/>
            <a:ext cx="8379600" cy="16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400"/>
              <a:t>1. Stefan </a:t>
            </a:r>
            <a:r>
              <a:rPr lang="en-GB" sz="2400"/>
              <a:t>biết những ai</a:t>
            </a:r>
            <a:r>
              <a:rPr lang="en-GB" sz="2400"/>
              <a:t>?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400"/>
              <a:t>2. </a:t>
            </a:r>
            <a:r>
              <a:rPr lang="en-GB" sz="2400"/>
              <a:t>Ai là con của</a:t>
            </a:r>
            <a:r>
              <a:rPr lang="en-GB" sz="2400"/>
              <a:t> Julia?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400"/>
              <a:t>3. Claudia </a:t>
            </a:r>
            <a:r>
              <a:rPr lang="en-GB" sz="2400"/>
              <a:t>có anh chị em nào</a:t>
            </a:r>
            <a:r>
              <a:rPr lang="en-GB" sz="2400"/>
              <a:t>?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400"/>
              <a:t>4. </a:t>
            </a:r>
            <a:r>
              <a:rPr lang="en-GB" sz="2400"/>
              <a:t>Julia kết hôn với ai</a:t>
            </a:r>
            <a:r>
              <a:rPr lang="en-GB" sz="2400"/>
              <a:t>?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99" name="Google Shape;799;p96"/>
          <p:cNvSpPr txBox="1"/>
          <p:nvPr>
            <p:ph idx="4294967295" type="body"/>
          </p:nvPr>
        </p:nvSpPr>
        <p:spPr>
          <a:xfrm>
            <a:off x="235500" y="5795875"/>
            <a:ext cx="852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rgbClr val="1155CC"/>
                </a:solidFill>
              </a:rPr>
              <a:t>Chuyển đồ thị thành tài liệu RDF và thực hiện các truy vấn với ARQ hoặc Apache Jena Fuseki?</a:t>
            </a:r>
            <a:endParaRPr i="1" sz="24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05" name="Google Shape;805;p9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Thử nghiệm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806" name="Google Shape;806;p9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@prefix : &lt;http://semweb.edu.vn/eg#&gt;.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:Peter :fatherOf :Caludia;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:marriedTo :Julia.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:Julia :motherOf :Caludia.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:Caludia :sisterOf :Stefan.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:Stefan :childOf :Julia;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:knows :Marc.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:Marc :knows :Julia.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98"/>
          <p:cNvSpPr txBox="1"/>
          <p:nvPr/>
        </p:nvSpPr>
        <p:spPr>
          <a:xfrm>
            <a:off x="684250" y="225500"/>
            <a:ext cx="7827900" cy="6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434343"/>
                </a:solidFill>
              </a:rPr>
              <a:t># filename: ex187.ttl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@prefix d: &lt;http://learningsparql.com/ns/data#&gt; .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@prefix ab: &lt;http://learningsparql.com/ns/addressbook#&gt; .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d:jane ab:hasParent d:gene .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d:jane ab:hasParent d:peter .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d:peter ab:gender d:male;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            ab:hasParent d:vlad.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d:vlad ab:gender d:male.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d:gene ab:hasParent d:pat ;</a:t>
            </a:r>
            <a:endParaRPr sz="2400">
              <a:solidFill>
                <a:srgbClr val="434343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ab:gender	d:female .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d:joan ab:hasParent d:pat ;</a:t>
            </a:r>
            <a:endParaRPr sz="2400">
              <a:solidFill>
                <a:srgbClr val="434343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ab:gender d:female .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d:pat ab:gender	d:male .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d:mike ab:hasParent d:joan .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------------------------------------------------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Viết câu truy vấn tìm ông của jane?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Viết câu truy vấn tìm ông nội của jane?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Kiểm tra xem gene và joan có phải chị em không?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Đếm số lượng anh chị em của gene?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812" name="Google Shape;812;p9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99"/>
          <p:cNvSpPr txBox="1"/>
          <p:nvPr/>
        </p:nvSpPr>
        <p:spPr>
          <a:xfrm>
            <a:off x="684250" y="225500"/>
            <a:ext cx="8195400" cy="6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@prefix ex: &lt;http://semweb.edu.vn/example#&gt;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@prefix xsd: &lt;http://www.w3.org/2001/XMLSchema#&gt;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ex:Hamlet ex:author ex:Shakespeare ; ex:price "10.50"^^xsd:decimal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ex:Macbeth ex:author ex:Shakespeare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ex:Tamburlaine ex:author ex:Marlowe ; ex:price "17"^^xsd:integer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ex:DoctorFaustus ex:author ex:Marlowe ; ex:price "12"^^xsd:integer ;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    ex:title "The Tragical History of Doctor Faustus"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ex:RomeoJulia ex:author ex:Brooke ; ex:price "9"^^xsd:integer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--------------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a. </a:t>
            </a:r>
            <a:r>
              <a:rPr lang="en-GB" sz="2200">
                <a:solidFill>
                  <a:srgbClr val="434343"/>
                </a:solidFill>
              </a:rPr>
              <a:t>Thống kê số lượng sách được viết bởi mỗi tác giả?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b. Tìm tất cả sách được viết bởi Shakespeare hoặc Brooke.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434343"/>
                </a:solidFill>
              </a:rPr>
              <a:t>c. Tìm tất cả sách được viết bởi Shakespeare hoặc Brooke và có giá &lt; 15.</a:t>
            </a:r>
            <a:endParaRPr i="1"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434343"/>
                </a:solidFill>
              </a:rPr>
              <a:t>d. Thực hiện từng bước biểu thức đại số cho ý c.</a:t>
            </a:r>
            <a:endParaRPr b="1"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e. Tìm tất cả sách được viết bởi Shakespeare, sử dụng thuộc tính </a:t>
            </a:r>
            <a:r>
              <a:rPr b="1" lang="en-GB" sz="2200">
                <a:solidFill>
                  <a:srgbClr val="434343"/>
                </a:solidFill>
              </a:rPr>
              <a:t>:writtenBy </a:t>
            </a:r>
            <a:r>
              <a:rPr lang="en-GB" sz="2200">
                <a:solidFill>
                  <a:srgbClr val="434343"/>
                </a:solidFill>
              </a:rPr>
              <a:t>(sử dụng cấu trúc construct).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18" name="Google Shape;818;p9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00"/>
          <p:cNvSpPr txBox="1"/>
          <p:nvPr/>
        </p:nvSpPr>
        <p:spPr>
          <a:xfrm>
            <a:off x="684250" y="225500"/>
            <a:ext cx="8195400" cy="6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@prefix ex: &lt;http://semweb.edu.vn/example#&gt;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@prefix xsd: &lt;http://www.w3.org/2001/XMLSchema#&gt;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ex:Hamlet ex:author ex:Shakespeare ; ex:price "10.50"^^xsd:decimal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ex:Macbeth ex:author ex:Shakespeare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ex:Tamburlaine ex:author ex:Marlowe ; ex:price "17"^^xsd:integer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ex:DoctorFaustus ex:author ex:Marlowe ; ex:price "12"^^xsd:integer ;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    ex:title "The Tragical History of Doctor Faustus"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ex:RomeoJulia ex:author ex:Brooke ; ex:price "9"^^xsd:integer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--------------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a. Thống kê số lượng sách được viết bởi mỗi tác giả?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prefix ex: &lt;http://semweb.edu.vn/example#&gt;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select ?author (COUNT(?book) as ?Number_Of_Books)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WHERE { ?book ex:author ?author }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group by (?author)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24" name="Google Shape;824;p10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01"/>
          <p:cNvSpPr txBox="1"/>
          <p:nvPr/>
        </p:nvSpPr>
        <p:spPr>
          <a:xfrm>
            <a:off x="684250" y="225500"/>
            <a:ext cx="8195400" cy="6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…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ex:Hamlet ex:author ex:Shakespeare ; ex:price "10.50"^^xsd:decimal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ex:Macbeth ex:author ex:Shakespeare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ex:Tamburlaine ex:author ex:Marlowe ; ex:price "17"^^xsd:integer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ex:DoctorFaustus ex:author ex:Marlowe ; ex:price "12"^^xsd:integer ;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    ex:title "The Tragical History of Doctor Faustus"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ex:RomeoJulia ex:author ex:Brooke ; ex:price "9"^^xsd:integer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--------------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434343"/>
                </a:solidFill>
              </a:rPr>
              <a:t>c. Tìm tất cả sách được viết bởi Shakespeare hoặc Brooke và có giá &lt; 15.</a:t>
            </a:r>
            <a:endParaRPr i="1"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SELECT *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WHERE {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  {{?book ex:author ex:Shakespeare} union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      {?book ex:author ex:Brooke}} . {?book ex:price ?price.}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      filter (?price &lt; 15).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}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30" name="Google Shape;830;p10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2"/>
          <p:cNvSpPr txBox="1"/>
          <p:nvPr/>
        </p:nvSpPr>
        <p:spPr>
          <a:xfrm>
            <a:off x="684250" y="225500"/>
            <a:ext cx="8195400" cy="6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434343"/>
                </a:solidFill>
              </a:rPr>
              <a:t>c. Tìm tất cả sách được viết bởi Shakespeare hoặc Brooke và có giá &lt; 15.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WHERE {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{{?book ex:author ex:Shakespeare} union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{?book ex:author ex:Brooke}} . {?book ex:price ?price.}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filter (?price &lt; 15).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}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FILTER(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</a:t>
            </a:r>
            <a:r>
              <a:rPr lang="en-GB" sz="2200">
                <a:solidFill>
                  <a:srgbClr val="434343"/>
                </a:solidFill>
              </a:rPr>
              <a:t>?price &lt; 15)</a:t>
            </a:r>
            <a:endParaRPr sz="2200">
              <a:solidFill>
                <a:srgbClr val="434343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(</a:t>
            </a:r>
            <a:r>
              <a:rPr lang="en-GB" sz="2200">
                <a:solidFill>
                  <a:srgbClr val="434343"/>
                </a:solidFill>
              </a:rPr>
              <a:t>JOIN (UNION BGP(</a:t>
            </a:r>
            <a:r>
              <a:rPr lang="en-GB" sz="2200">
                <a:solidFill>
                  <a:srgbClr val="434343"/>
                </a:solidFill>
              </a:rPr>
              <a:t>?book ex:author ex:Shakespeare) 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		                    BGP(?book ex:author ex:Brooke)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          )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        BGP(?book ex:price ?price)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)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)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36" name="Google Shape;836;p10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03"/>
          <p:cNvSpPr txBox="1"/>
          <p:nvPr/>
        </p:nvSpPr>
        <p:spPr>
          <a:xfrm>
            <a:off x="684250" y="225425"/>
            <a:ext cx="8195400" cy="6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434343"/>
                </a:solidFill>
              </a:rPr>
              <a:t>c. Tìm tất cả sách được viết bởi Shakespeare hoặc Brooke và có giá &lt; 15.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ex:Hamlet ex:author ex:Shakespeare ; ex:price "10.50"^^xsd:decimal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ex:Macbeth ex:author ex:Shakespeare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ex:Tamburlaine ex:author ex:Marlowe ; ex:price "17"^^xsd:integer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ex:DoctorFaustus ex:author ex:Marlowe ; ex:price "12"^^xsd:integer ;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ex:title "The Tragical History of Doctor Faustus"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ex:RomeoJulia ex:author ex:Brooke ; ex:price "9"^^xsd:integer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----------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UNION(BGP(?book ex:author ex:Shakespeare) 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		 BGP(?book ex:author ex:Brooke))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{?book -&gt; ex:Hamlet; ?book -&gt;ex:Macbeth; ex:RomeoJulia}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…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42" name="Google Shape;842;p10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04"/>
          <p:cNvSpPr txBox="1"/>
          <p:nvPr/>
        </p:nvSpPr>
        <p:spPr>
          <a:xfrm>
            <a:off x="684250" y="225500"/>
            <a:ext cx="8195400" cy="6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                BGP(?book ex:price ?price)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------------------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{{</a:t>
            </a:r>
            <a:r>
              <a:rPr lang="en-GB" sz="2200">
                <a:solidFill>
                  <a:srgbClr val="434343"/>
                </a:solidFill>
              </a:rPr>
              <a:t>?book -&gt; ex:Hamlet; ?price -&gt;10.5</a:t>
            </a:r>
            <a:r>
              <a:rPr lang="en-GB" sz="2200">
                <a:solidFill>
                  <a:srgbClr val="434343"/>
                </a:solidFill>
              </a:rPr>
              <a:t>}, {</a:t>
            </a:r>
            <a:r>
              <a:rPr lang="en-GB" sz="2200">
                <a:solidFill>
                  <a:srgbClr val="434343"/>
                </a:solidFill>
              </a:rPr>
              <a:t>?book -&gt; ex:Tamburlaine; ?price -&gt;17</a:t>
            </a:r>
            <a:r>
              <a:rPr lang="en-GB" sz="2200">
                <a:solidFill>
                  <a:srgbClr val="434343"/>
                </a:solidFill>
              </a:rPr>
              <a:t>}, {</a:t>
            </a:r>
            <a:r>
              <a:rPr lang="en-GB" sz="2200">
                <a:solidFill>
                  <a:srgbClr val="434343"/>
                </a:solidFill>
              </a:rPr>
              <a:t>?book -&gt; ex:DoctorFaustus; ?price -&gt;12} {?book -&gt; ex:RomeoJulia; ?price -&gt; 9}}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48" name="Google Shape;848;p10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05"/>
          <p:cNvSpPr txBox="1"/>
          <p:nvPr/>
        </p:nvSpPr>
        <p:spPr>
          <a:xfrm>
            <a:off x="684250" y="225500"/>
            <a:ext cx="8195400" cy="6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(JOIN (UNION BGP(?book ex:author ex:Shakespeare) 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		                    BGP(?book ex:author ex:Brooke)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          )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        BGP(?book ex:price ?price)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)</a:t>
            </a:r>
            <a:endParaRPr i="1"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----------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JOIN ({?book -&gt; ex:Hamlet; ?book -&gt;ex:Macbeth; ex:RomeoJulia},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{{?book -&gt; ex:Hamlet; ?price -&gt;10.5}, {?book -&gt; ex:Tamburlaine; ?price -&gt;17}, {?book -&gt; ex:DoctorFaustus; ?price -&gt;12} {?book -&gt; ex:RomeoJulia; ?price -&gt; 9}}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-----------</a:t>
            </a:r>
            <a:endParaRPr sz="2200">
              <a:solidFill>
                <a:srgbClr val="434343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{{?book -&gt; ex:Hamlet; ?price -&gt;10.5}, 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	 {?book -&gt; ex:RomeoJulia; ?price -&gt; 9}}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54" name="Google Shape;854;p10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06"/>
          <p:cNvSpPr txBox="1"/>
          <p:nvPr/>
        </p:nvSpPr>
        <p:spPr>
          <a:xfrm>
            <a:off x="684250" y="225500"/>
            <a:ext cx="8195400" cy="6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@prefix ex: &lt;http://semweb.edu.vn/example#&gt;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@prefix xsd: &lt;http://www.w3.org/2001/XMLSchema#&gt;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ex:Hamlet ex:author ex:Shakespeare ; ex:price "10.50"^^xsd:decimal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ex:Macbeth ex:author ex:Shakespeare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ex:Tamburlaine ex:author ex:Marlowe ; ex:price "17"^^xsd:integer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ex:DoctorFaustus ex:author ex:Marlowe ; ex:price "12"^^xsd:integer ;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    </a:t>
            </a:r>
            <a:r>
              <a:rPr lang="en-GB" sz="2200">
                <a:solidFill>
                  <a:srgbClr val="434343"/>
                </a:solidFill>
              </a:rPr>
              <a:t>ex:title "The Tragical History of Doctor Faustus"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ex:RomeoJulia ex:author ex:Brooke ; ex:price "9"^^xsd:integer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--------------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e. Tìm tất cả sách được viết bởi Shakespeare, sử dụng thuộc tính </a:t>
            </a:r>
            <a:r>
              <a:rPr b="1" lang="en-GB" sz="2200">
                <a:solidFill>
                  <a:srgbClr val="434343"/>
                </a:solidFill>
              </a:rPr>
              <a:t>:writtenBy </a:t>
            </a:r>
            <a:r>
              <a:rPr lang="en-GB" sz="2200">
                <a:solidFill>
                  <a:srgbClr val="434343"/>
                </a:solidFill>
              </a:rPr>
              <a:t>(sử dụng cấu trúc construct).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prefix ex: &lt;http://semweb.edu.vn/example#&gt;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construct { ?book ex:writtenBy ?author}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WHERE {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  ?book ex:author ?author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}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60" name="Google Shape;860;p10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0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6" name="Google Shape;866;p10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8.1. Truy vấn SPARQL</a:t>
            </a:r>
            <a:endParaRPr/>
          </a:p>
        </p:txBody>
      </p:sp>
      <p:sp>
        <p:nvSpPr>
          <p:cNvPr id="867" name="Google Shape;867;p107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@prefix ex: &lt;http://example.org/&gt; 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@prefix xsd: &lt;http://www.w3.org/2001/XMLSchema#&gt; 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ex:Sun ex:radius "1.392e6"^^xsd:double 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ex:satellite ex:Mercury, ex:Venus, ex:Earth, ex:Mars 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ex:Mercury ex:radius "2439.7"^^xsd:double 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ex:Venus ex:radius "6051.9"^^xsd:double 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ex:Earth ex:radius "6372.8"^^xsd:double 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ex:satellite ex:Moon 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ex:Mars ex:radius "3402.5"^^xsd:double 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ex:satellite ex:Phobos, ex:Deimos 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ex:Moon ex:name "Mond"@de, "Moon"@en 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ex:radius "1737.1"^^xsd:double 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ex:Phobos ex:name "Phobos" 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ex:Deimos ex:name "Deimos" 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viết truy vấn SPARQL để lấy những dữ liệu sau: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Các vật thể xoay quanh mặt trời hoặc vệ tinh của mặt trời.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Vật thể với thể tích &gt; 2 * 10</a:t>
            </a:r>
            <a:r>
              <a:rPr baseline="30000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(km3 ) cùng với tên vật thể  mà nó là vệ tinh - nếu tồn tại. Giả sử các vật thể có hình cầu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Vật thể có tên tiếng Anh và là vệ tinh của 1 vật thể có đường kính &gt; 3000 (km).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Vật thể có từ 2 vệ tinh trở lên. Giả sử các URI khác nhau được dùng cho các vật thể khác nhau.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0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3" name="Google Shape;873;p10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8.1. Truy vấn SPARQL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874" name="Google Shape;874;p108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Viết truy vấn SELECT để lấy những dữ liệu sau: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Các vật thể xoay quanh mặt trời hoặc vệ tinh của mặt trời.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 ex: &lt;http://example.org/&gt;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 xsd: &lt;http://www.w3.org/2001/XMLSchema#&gt;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?obj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{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{ ex:Sun ex:satellite ?obj} union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{ ex:Sun ex:satellite ?x . ?x ex:satellite ?obj}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Vật thể với thể tích &gt; 2 10</a:t>
            </a:r>
            <a:r>
              <a:rPr baseline="30000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(km</a:t>
            </a:r>
            <a:r>
              <a:rPr baseline="30000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 cùng với tên vật thể  mà nó là vệ tinh - nếu tồn tại. Giả sử các vật thể có hình cầu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 ex: &lt;http://example.org/&gt;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 xsd: &lt;http://www.w3.org/2001/XMLSchema#&gt;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?x ?y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{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{?x ex:radius ?r } optional {?y ex:satellite ?x}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filter (4.0 / 3.0 * 3.1415 * ?r * ?r * ?r &gt; 20 * 1000 * 1000 * 1000)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Vật thể có tên tiếng Anh và là vệ tinh của 1 vật thể có đường kính &gt; 3000 (km).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Vật thể có từ 2 vệ tinh trở lên. Giả sử các URI khác nhau được dùng cho các vật thể khác nhau.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0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80" name="Google Shape;880;p10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8.1. Truy vấn SPARQL</a:t>
            </a:r>
            <a:r>
              <a:rPr baseline="-25000" lang="en-GB"/>
              <a:t>(3)</a:t>
            </a:r>
            <a:endParaRPr baseline="-25000"/>
          </a:p>
        </p:txBody>
      </p:sp>
      <p:sp>
        <p:nvSpPr>
          <p:cNvPr id="881" name="Google Shape;881;p109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Viết truy vấn SELECT để lấy những dữ liệu sau: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Các vật thể xoay quanh mặt trời hoặc vệ tinh của mặt trời.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Vật thể với thể tích &gt; 2 10</a:t>
            </a:r>
            <a:r>
              <a:rPr baseline="30000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(km</a:t>
            </a:r>
            <a:r>
              <a:rPr baseline="30000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 cùng với tên vật thể  mà nó là vệ tinh - nếu tồn tại. Giả sử các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Vật thể có tên tiếng Anh và là vệ tinh của 1 vật thể có đường kính &gt; 3000 (km).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 ex: &lt;http://semweb.edu.vn/example#&gt;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?sat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{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?obj ex:satellite ?sat; ex:radius ?r.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?sat ex:name ?name.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filter ((?r &gt; 1500) &amp;&amp; (lang(?name) = "en"))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Vật thể có từ 2 vệ tinh trở lên. Giả sử các URI khác nhau được dùng cho các vật thể khác nhau.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 ex: &lt;http://semweb.edu.vn/example#&gt;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?obj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{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?obj ex:satellite ?sat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group by(?obj) having (count(?sat) &gt;= 2)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1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8.2</a:t>
            </a:r>
            <a:endParaRPr/>
          </a:p>
        </p:txBody>
      </p:sp>
      <p:sp>
        <p:nvSpPr>
          <p:cNvPr id="887" name="Google Shape;887;p110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Sử dụng tài liệu RDF sau: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@prefix ex: &lt;http://example.org/&gt; .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ex:a ex:value "1"^^xsd:integer ;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        ex:value "3"^^xsd:integer .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ex:b ex:value "2"^^xsd:integer .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Xác định kết quả của các truy vấn sau?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1. SELECT ?s ?v WHERE { ?s &lt;http://example.org/value&gt; ?v }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                             ORDER BY ?v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2. SELECT ?s WHERE { ?s &lt;http://example.org/value&gt; ?v }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                             ORDER BY ?v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3. SELECT ?s WHERE { ?s &lt;http://example.org/value&gt; ?v }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                              ORDER BY DESC(?v) LIMIT 2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4. SELECT DISTINCT ?s WHERE { ?s &lt;http://example.org/value&gt; ?v }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 			        ORDER BY ?v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</a:rPr>
              <a:t>Kết quả thu được là gì nếu bổ xung LIMIT 1?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888" name="Google Shape;888;p1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1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8.3.</a:t>
            </a:r>
            <a:endParaRPr/>
          </a:p>
        </p:txBody>
      </p:sp>
      <p:sp>
        <p:nvSpPr>
          <p:cNvPr id="894" name="Google Shape;894;p111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S</a:t>
            </a:r>
            <a:r>
              <a:rPr lang="en-GB" sz="2200"/>
              <a:t>ử dụng dữ liệu về gia đình Simpsons và hoàn thành các truy vấn theo yêu cầu như sau: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u="sng">
                <a:solidFill>
                  <a:schemeClr val="hlink"/>
                </a:solidFill>
                <a:hlinkClick r:id="rId3"/>
              </a:rPr>
              <a:t>https://github.com/bangoc/semweb/blob/master/rdf/simpsons.ttl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200"/>
              <a:t>Liệt kê tất cả mọi người cùng với số lượng anh chị em của họ?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200"/>
              <a:t>Tìm người nhiều tuổi nhất?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200"/>
              <a:t>Tìm người ít tuổi nhất?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200"/>
              <a:t>Tìm tất cả các cặp (x, y) trong đó y là ông bà của x?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200"/>
              <a:t>Tìm tất cả các cặp (x, y) trong đó y là chú bác của x?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200"/>
              <a:t>Tìm tất cả các cặp (x, y) trong đó y là thế hệ trước của x?</a:t>
            </a:r>
            <a:endParaRPr sz="2200"/>
          </a:p>
        </p:txBody>
      </p:sp>
      <p:sp>
        <p:nvSpPr>
          <p:cNvPr id="895" name="Google Shape;895;p1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1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Thử</a:t>
            </a:r>
            <a:endParaRPr/>
          </a:p>
        </p:txBody>
      </p:sp>
      <p:sp>
        <p:nvSpPr>
          <p:cNvPr id="901" name="Google Shape;901;p112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Sử dụng SPARQL để tra cứu các thông tin về GS. Leslie Valiant trên dbpedia.org, sử dụng cổng sparql: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https://dbpedia.org/sparql</a:t>
            </a:r>
            <a:r>
              <a:rPr lang="en-GB"/>
              <a:t>]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Trước tiên có thể tìm URI bằng giao diện tìm kiếm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https://lookup.dbpedia.org/index.html</a:t>
            </a:r>
            <a:r>
              <a:rPr lang="en-GB"/>
              <a:t>]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