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827ab7c81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827ab7c8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827ab7c81c_0_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827ab7c81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827ab7c81c_0_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827ab7c81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827ab7c81c_0_2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827ab7c81c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827ab7c81c_0_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827ab7c81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827ab7c81c_0_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827ab7c81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827ab7c81c_0_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827ab7c81c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827ab7c81c_0_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827ab7c81c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827ab7c81c_0_1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827ab7c81c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827ab7c81c_0_1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827ab7c81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827ab7c81c_0_1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827ab7c81c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827ab7c81c_0_1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827ab7c81c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827ab7c81c_0_1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827ab7c81c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827ab7c81c_0_16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827ab7c81c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827ab7c81c_0_1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827ab7c81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827ab7c81c_0_1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827ab7c81c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827ab7c81c_0_1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827ab7c81c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827ab7c81c_0_19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827ab7c81c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827ab7c81c_0_20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827ab7c81c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827ab7c81c_0_2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827ab7c81c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827ab7c81c_0_2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827ab7c81c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827ab7c81c_0_2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827ab7c81c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18" name="Google Shape;18;p4"/>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12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400"/>
              <a:buNone/>
              <a:defRPr sz="3400">
                <a:solidFill>
                  <a:schemeClr val="dk1"/>
                </a:solidFill>
              </a:defRPr>
            </a:lvl1pPr>
            <a:lvl2pPr lvl="1">
              <a:spcBef>
                <a:spcPts val="0"/>
              </a:spcBef>
              <a:spcAft>
                <a:spcPts val="0"/>
              </a:spcAft>
              <a:buClr>
                <a:schemeClr val="dk1"/>
              </a:buClr>
              <a:buSzPts val="3400"/>
              <a:buNone/>
              <a:defRPr sz="3400">
                <a:solidFill>
                  <a:schemeClr val="dk1"/>
                </a:solidFill>
              </a:defRPr>
            </a:lvl2pPr>
            <a:lvl3pPr lvl="2">
              <a:spcBef>
                <a:spcPts val="0"/>
              </a:spcBef>
              <a:spcAft>
                <a:spcPts val="0"/>
              </a:spcAft>
              <a:buClr>
                <a:schemeClr val="dk1"/>
              </a:buClr>
              <a:buSzPts val="3400"/>
              <a:buNone/>
              <a:defRPr sz="3400">
                <a:solidFill>
                  <a:schemeClr val="dk1"/>
                </a:solidFill>
              </a:defRPr>
            </a:lvl3pPr>
            <a:lvl4pPr lvl="3">
              <a:spcBef>
                <a:spcPts val="0"/>
              </a:spcBef>
              <a:spcAft>
                <a:spcPts val="0"/>
              </a:spcAft>
              <a:buClr>
                <a:schemeClr val="dk1"/>
              </a:buClr>
              <a:buSzPts val="3400"/>
              <a:buNone/>
              <a:defRPr sz="3400">
                <a:solidFill>
                  <a:schemeClr val="dk1"/>
                </a:solidFill>
              </a:defRPr>
            </a:lvl4pPr>
            <a:lvl5pPr lvl="4">
              <a:spcBef>
                <a:spcPts val="0"/>
              </a:spcBef>
              <a:spcAft>
                <a:spcPts val="0"/>
              </a:spcAft>
              <a:buClr>
                <a:schemeClr val="dk1"/>
              </a:buClr>
              <a:buSzPts val="3400"/>
              <a:buNone/>
              <a:defRPr sz="3400">
                <a:solidFill>
                  <a:schemeClr val="dk1"/>
                </a:solidFill>
              </a:defRPr>
            </a:lvl5pPr>
            <a:lvl6pPr lvl="5">
              <a:spcBef>
                <a:spcPts val="0"/>
              </a:spcBef>
              <a:spcAft>
                <a:spcPts val="0"/>
              </a:spcAft>
              <a:buClr>
                <a:schemeClr val="dk1"/>
              </a:buClr>
              <a:buSzPts val="3400"/>
              <a:buNone/>
              <a:defRPr sz="3400">
                <a:solidFill>
                  <a:schemeClr val="dk1"/>
                </a:solidFill>
              </a:defRPr>
            </a:lvl6pPr>
            <a:lvl7pPr lvl="6">
              <a:spcBef>
                <a:spcPts val="0"/>
              </a:spcBef>
              <a:spcAft>
                <a:spcPts val="0"/>
              </a:spcAft>
              <a:buClr>
                <a:schemeClr val="dk1"/>
              </a:buClr>
              <a:buSzPts val="3400"/>
              <a:buNone/>
              <a:defRPr sz="3400">
                <a:solidFill>
                  <a:schemeClr val="dk1"/>
                </a:solidFill>
              </a:defRPr>
            </a:lvl7pPr>
            <a:lvl8pPr lvl="7">
              <a:spcBef>
                <a:spcPts val="0"/>
              </a:spcBef>
              <a:spcAft>
                <a:spcPts val="0"/>
              </a:spcAft>
              <a:buClr>
                <a:schemeClr val="dk1"/>
              </a:buClr>
              <a:buSzPts val="3400"/>
              <a:buNone/>
              <a:defRPr sz="3400">
                <a:solidFill>
                  <a:schemeClr val="dk1"/>
                </a:solidFill>
              </a:defRPr>
            </a:lvl8pPr>
            <a:lvl9pPr lvl="8">
              <a:spcBef>
                <a:spcPts val="0"/>
              </a:spcBef>
              <a:spcAft>
                <a:spcPts val="0"/>
              </a:spcAft>
              <a:buClr>
                <a:schemeClr val="dk1"/>
              </a:buClr>
              <a:buSzPts val="3400"/>
              <a:buNone/>
              <a:defRPr sz="3400">
                <a:solidFill>
                  <a:schemeClr val="dk1"/>
                </a:solidFill>
              </a:defRPr>
            </a:lvl9pPr>
          </a:lstStyle>
          <a:p/>
        </p:txBody>
      </p:sp>
      <p:sp>
        <p:nvSpPr>
          <p:cNvPr id="7" name="Google Shape;7;p1"/>
          <p:cNvSpPr txBox="1"/>
          <p:nvPr>
            <p:ph idx="1" type="body"/>
          </p:nvPr>
        </p:nvSpPr>
        <p:spPr>
          <a:xfrm>
            <a:off x="311700" y="975875"/>
            <a:ext cx="8520600" cy="53853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68300" lvl="1" marL="914400">
              <a:lnSpc>
                <a:spcPct val="115000"/>
              </a:lnSpc>
              <a:spcBef>
                <a:spcPts val="0"/>
              </a:spcBef>
              <a:spcAft>
                <a:spcPts val="0"/>
              </a:spcAft>
              <a:buClr>
                <a:schemeClr val="dk2"/>
              </a:buClr>
              <a:buSzPts val="2200"/>
              <a:buChar char="○"/>
              <a:defRPr sz="2200">
                <a:solidFill>
                  <a:schemeClr val="dk2"/>
                </a:solidFill>
              </a:defRPr>
            </a:lvl2pPr>
            <a:lvl3pPr indent="-342900" lvl="2" marL="1371600">
              <a:lnSpc>
                <a:spcPct val="115000"/>
              </a:lnSpc>
              <a:spcBef>
                <a:spcPts val="0"/>
              </a:spcBef>
              <a:spcAft>
                <a:spcPts val="0"/>
              </a:spcAft>
              <a:buClr>
                <a:schemeClr val="dk2"/>
              </a:buClr>
              <a:buSzPts val="1800"/>
              <a:buChar char="■"/>
              <a:defRPr sz="1800">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T</a:t>
            </a:r>
            <a:r>
              <a:rPr lang="en-GB"/>
              <a:t>ừ XML tới RDF</a:t>
            </a:r>
            <a:endParaRPr/>
          </a:p>
        </p:txBody>
      </p:sp>
      <p:sp>
        <p:nvSpPr>
          <p:cNvPr id="55" name="Google Shape;55;p13"/>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a:t>
            </a:r>
            <a:r>
              <a:rPr lang="en-GB"/>
              <a:t>Sưu tầm &amp; biên dịch bởi Nguyễn Bá Ngọc)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XML →</a:t>
            </a:r>
            <a:r>
              <a:rPr lang="en-GB"/>
              <a:t> RDF</a:t>
            </a:r>
            <a:endParaRPr/>
          </a:p>
        </p:txBody>
      </p:sp>
      <p:sp>
        <p:nvSpPr>
          <p:cNvPr id="61" name="Google Shape;61;p14"/>
          <p:cNvSpPr txBox="1"/>
          <p:nvPr>
            <p:ph idx="4294967295" type="body"/>
          </p:nvPr>
        </p:nvSpPr>
        <p:spPr>
          <a:xfrm>
            <a:off x="311700" y="850832"/>
            <a:ext cx="8520600" cy="62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a:t>Hiệu chỉnh tài liệu XML sau thành 1 tài liệu RDF hợp lệ</a:t>
            </a:r>
            <a:endParaRPr/>
          </a:p>
        </p:txBody>
      </p:sp>
      <p:sp>
        <p:nvSpPr>
          <p:cNvPr id="62" name="Google Shape;62;p14"/>
          <p:cNvSpPr/>
          <p:nvPr/>
        </p:nvSpPr>
        <p:spPr>
          <a:xfrm>
            <a:off x="1241975" y="1326638"/>
            <a:ext cx="7292100" cy="1845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600"/>
              <a:t>&lt;?xml version="1.0"?&gt;</a:t>
            </a:r>
            <a:endParaRPr sz="1600"/>
          </a:p>
          <a:p>
            <a:pPr indent="0" lvl="0" marL="0" rtl="0" algn="just">
              <a:spcBef>
                <a:spcPts val="0"/>
              </a:spcBef>
              <a:spcAft>
                <a:spcPts val="0"/>
              </a:spcAft>
              <a:buNone/>
            </a:pPr>
            <a:r>
              <a:rPr lang="en-GB" sz="1600"/>
              <a:t>&lt;</a:t>
            </a:r>
            <a:r>
              <a:rPr lang="en-GB" sz="1600"/>
              <a:t>River id="Mekong"</a:t>
            </a:r>
            <a:endParaRPr sz="1600"/>
          </a:p>
          <a:p>
            <a:pPr indent="0" lvl="0" marL="0" rtl="0" algn="just">
              <a:spcBef>
                <a:spcPts val="0"/>
              </a:spcBef>
              <a:spcAft>
                <a:spcPts val="0"/>
              </a:spcAft>
              <a:buNone/>
            </a:pPr>
            <a:r>
              <a:rPr lang="en-GB" sz="1600"/>
              <a:t>           xmlns="http://www.geography.org/river"&gt;</a:t>
            </a:r>
            <a:endParaRPr sz="1600"/>
          </a:p>
          <a:p>
            <a:pPr indent="0" lvl="0" marL="0" rtl="0" algn="just">
              <a:spcBef>
                <a:spcPts val="0"/>
              </a:spcBef>
              <a:spcAft>
                <a:spcPts val="0"/>
              </a:spcAft>
              <a:buNone/>
            </a:pPr>
            <a:r>
              <a:rPr lang="en-GB" sz="1600"/>
              <a:t>  &lt;length&gt;4350 km&lt;/length&gt;</a:t>
            </a:r>
            <a:endParaRPr sz="1600"/>
          </a:p>
          <a:p>
            <a:pPr indent="0" lvl="0" marL="0" rtl="0" algn="just">
              <a:spcBef>
                <a:spcPts val="0"/>
              </a:spcBef>
              <a:spcAft>
                <a:spcPts val="0"/>
              </a:spcAft>
              <a:buNone/>
            </a:pPr>
            <a:r>
              <a:rPr lang="en-GB" sz="1600"/>
              <a:t>  &lt;startingLocation&gt;Thanh Hải, Trung Quốc&lt;/startingLocation&gt;</a:t>
            </a:r>
            <a:endParaRPr sz="1600"/>
          </a:p>
          <a:p>
            <a:pPr indent="0" lvl="0" marL="0" rtl="0" algn="just">
              <a:spcBef>
                <a:spcPts val="0"/>
              </a:spcBef>
              <a:spcAft>
                <a:spcPts val="0"/>
              </a:spcAft>
              <a:buNone/>
            </a:pPr>
            <a:r>
              <a:rPr lang="en-GB" sz="1600"/>
              <a:t>  &lt;endingLocation&gt;Đồng bằng sông Cửu Long, Việt Nam&lt;/endingLocation&gt;</a:t>
            </a:r>
            <a:endParaRPr sz="1600"/>
          </a:p>
          <a:p>
            <a:pPr indent="0" lvl="0" marL="0" rtl="0" algn="just">
              <a:spcBef>
                <a:spcPts val="0"/>
              </a:spcBef>
              <a:spcAft>
                <a:spcPts val="0"/>
              </a:spcAft>
              <a:buNone/>
            </a:pPr>
            <a:r>
              <a:rPr lang="en-GB" sz="1600"/>
              <a:t>&lt;/River&gt;</a:t>
            </a:r>
            <a:endParaRPr sz="1600"/>
          </a:p>
          <a:p>
            <a:pPr indent="0" lvl="0" marL="0" rtl="0" algn="just">
              <a:spcBef>
                <a:spcPts val="0"/>
              </a:spcBef>
              <a:spcAft>
                <a:spcPts val="0"/>
              </a:spcAft>
              <a:buNone/>
            </a:pPr>
            <a:r>
              <a:t/>
            </a:r>
            <a:endParaRPr sz="1600"/>
          </a:p>
        </p:txBody>
      </p:sp>
      <p:sp>
        <p:nvSpPr>
          <p:cNvPr id="63" name="Google Shape;63;p14"/>
          <p:cNvSpPr txBox="1"/>
          <p:nvPr>
            <p:ph idx="4294967295" type="body"/>
          </p:nvPr>
        </p:nvSpPr>
        <p:spPr>
          <a:xfrm>
            <a:off x="311700" y="1993825"/>
            <a:ext cx="930300" cy="62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GB"/>
              <a:t>XML</a:t>
            </a:r>
            <a:endParaRPr b="1"/>
          </a:p>
        </p:txBody>
      </p:sp>
      <p:sp>
        <p:nvSpPr>
          <p:cNvPr id="64" name="Google Shape;64;p14"/>
          <p:cNvSpPr txBox="1"/>
          <p:nvPr/>
        </p:nvSpPr>
        <p:spPr>
          <a:xfrm>
            <a:off x="3233400" y="3179725"/>
            <a:ext cx="2079300" cy="38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t>Mekong.xml</a:t>
            </a:r>
            <a:endParaRPr b="1" sz="1800"/>
          </a:p>
        </p:txBody>
      </p:sp>
      <p:sp>
        <p:nvSpPr>
          <p:cNvPr id="65" name="Google Shape;65;p14"/>
          <p:cNvSpPr/>
          <p:nvPr/>
        </p:nvSpPr>
        <p:spPr>
          <a:xfrm>
            <a:off x="1241975" y="4015193"/>
            <a:ext cx="7292100" cy="2312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600"/>
              <a:t>&lt;?xml version="1.0"?&gt;</a:t>
            </a:r>
            <a:endParaRPr sz="1600"/>
          </a:p>
          <a:p>
            <a:pPr indent="0" lvl="0" marL="0" rtl="0" algn="just">
              <a:spcBef>
                <a:spcPts val="0"/>
              </a:spcBef>
              <a:spcAft>
                <a:spcPts val="0"/>
              </a:spcAft>
              <a:buNone/>
            </a:pPr>
            <a:r>
              <a:rPr b="1" lang="en-GB" sz="1600"/>
              <a:t>&lt;</a:t>
            </a:r>
            <a:r>
              <a:rPr b="1" lang="en-GB" sz="1600"/>
              <a:t>rdf:RDF</a:t>
            </a:r>
            <a:r>
              <a:rPr lang="en-GB" sz="1600"/>
              <a:t> </a:t>
            </a:r>
            <a:r>
              <a:rPr lang="en-GB" sz="1600">
                <a:solidFill>
                  <a:schemeClr val="dk1"/>
                </a:solidFill>
              </a:rPr>
              <a:t>xmlns="http://www.geography.org/river#"</a:t>
            </a:r>
            <a:endParaRPr sz="1600"/>
          </a:p>
          <a:p>
            <a:pPr indent="0" lvl="0" marL="0" rtl="0" algn="just">
              <a:spcBef>
                <a:spcPts val="0"/>
              </a:spcBef>
              <a:spcAft>
                <a:spcPts val="0"/>
              </a:spcAft>
              <a:buNone/>
            </a:pPr>
            <a:r>
              <a:rPr lang="en-GB" sz="1600"/>
              <a:t>          </a:t>
            </a:r>
            <a:r>
              <a:rPr b="1" lang="en-GB" sz="1600"/>
              <a:t>xmlns:rdf="http://www.w3.org/1999/02/22-rdf-syntax-ns#"</a:t>
            </a:r>
            <a:r>
              <a:rPr lang="en-GB" sz="1600"/>
              <a:t>&gt; </a:t>
            </a:r>
            <a:endParaRPr sz="1600"/>
          </a:p>
          <a:p>
            <a:pPr indent="0" lvl="0" marL="0" rtl="0" algn="just">
              <a:spcBef>
                <a:spcPts val="0"/>
              </a:spcBef>
              <a:spcAft>
                <a:spcPts val="0"/>
              </a:spcAft>
              <a:buNone/>
            </a:pPr>
            <a:r>
              <a:rPr lang="en-GB" sz="1600"/>
              <a:t>&lt;</a:t>
            </a:r>
            <a:r>
              <a:rPr lang="en-GB" sz="1600">
                <a:solidFill>
                  <a:schemeClr val="dk1"/>
                </a:solidFill>
              </a:rPr>
              <a:t>River </a:t>
            </a:r>
            <a:r>
              <a:rPr b="1" lang="en-GB" sz="1600">
                <a:solidFill>
                  <a:schemeClr val="dk1"/>
                </a:solidFill>
              </a:rPr>
              <a:t>rdf:ID</a:t>
            </a:r>
            <a:r>
              <a:rPr lang="en-GB" sz="1600">
                <a:solidFill>
                  <a:schemeClr val="dk1"/>
                </a:solidFill>
              </a:rPr>
              <a:t>="Mekong"&gt;</a:t>
            </a:r>
            <a:endParaRPr sz="1600"/>
          </a:p>
          <a:p>
            <a:pPr indent="0" lvl="0" marL="0" rtl="0" algn="just">
              <a:spcBef>
                <a:spcPts val="0"/>
              </a:spcBef>
              <a:spcAft>
                <a:spcPts val="0"/>
              </a:spcAft>
              <a:buNone/>
            </a:pPr>
            <a:r>
              <a:rPr lang="en-GB" sz="1600"/>
              <a:t>  &lt;length&gt;4350 km&lt;/length&gt;</a:t>
            </a:r>
            <a:endParaRPr sz="1600"/>
          </a:p>
          <a:p>
            <a:pPr indent="0" lvl="0" marL="0" rtl="0" algn="just">
              <a:spcBef>
                <a:spcPts val="0"/>
              </a:spcBef>
              <a:spcAft>
                <a:spcPts val="0"/>
              </a:spcAft>
              <a:buNone/>
            </a:pPr>
            <a:r>
              <a:rPr lang="en-GB" sz="1600"/>
              <a:t>  &lt;startingLocation&gt;Thanh Hải, Trung Quốc&lt;/startingLocation&gt;</a:t>
            </a:r>
            <a:endParaRPr sz="1600"/>
          </a:p>
          <a:p>
            <a:pPr indent="0" lvl="0" marL="0" rtl="0" algn="just">
              <a:spcBef>
                <a:spcPts val="0"/>
              </a:spcBef>
              <a:spcAft>
                <a:spcPts val="0"/>
              </a:spcAft>
              <a:buNone/>
            </a:pPr>
            <a:r>
              <a:rPr lang="en-GB" sz="1600"/>
              <a:t>  &lt;endingLocation&gt;Đồng bằng sông Cửu Long, Việt Nam&lt;/endingLocation&gt;</a:t>
            </a:r>
            <a:endParaRPr sz="1600"/>
          </a:p>
          <a:p>
            <a:pPr indent="0" lvl="0" marL="0" rtl="0" algn="just">
              <a:spcBef>
                <a:spcPts val="0"/>
              </a:spcBef>
              <a:spcAft>
                <a:spcPts val="0"/>
              </a:spcAft>
              <a:buNone/>
            </a:pPr>
            <a:r>
              <a:rPr lang="en-GB" sz="1600"/>
              <a:t>&lt;/River&gt; </a:t>
            </a:r>
            <a:endParaRPr sz="1600"/>
          </a:p>
          <a:p>
            <a:pPr indent="0" lvl="0" marL="0" rtl="0" algn="just">
              <a:spcBef>
                <a:spcPts val="0"/>
              </a:spcBef>
              <a:spcAft>
                <a:spcPts val="0"/>
              </a:spcAft>
              <a:buNone/>
            </a:pPr>
            <a:r>
              <a:rPr b="1" lang="en-GB" sz="1600"/>
              <a:t>&lt;/</a:t>
            </a:r>
            <a:r>
              <a:rPr b="1" lang="en-GB" sz="1600"/>
              <a:t>rdf:RDF&gt;</a:t>
            </a:r>
            <a:endParaRPr b="1" sz="1600"/>
          </a:p>
          <a:p>
            <a:pPr indent="0" lvl="0" marL="0" rtl="0" algn="just">
              <a:spcBef>
                <a:spcPts val="0"/>
              </a:spcBef>
              <a:spcAft>
                <a:spcPts val="0"/>
              </a:spcAft>
              <a:buNone/>
            </a:pPr>
            <a:r>
              <a:t/>
            </a:r>
            <a:endParaRPr sz="1600"/>
          </a:p>
        </p:txBody>
      </p:sp>
      <p:cxnSp>
        <p:nvCxnSpPr>
          <p:cNvPr id="66" name="Google Shape;66;p14"/>
          <p:cNvCxnSpPr>
            <a:stCxn id="64" idx="2"/>
          </p:cNvCxnSpPr>
          <p:nvPr/>
        </p:nvCxnSpPr>
        <p:spPr>
          <a:xfrm>
            <a:off x="4273050" y="3564325"/>
            <a:ext cx="0" cy="467700"/>
          </a:xfrm>
          <a:prstGeom prst="straightConnector1">
            <a:avLst/>
          </a:prstGeom>
          <a:noFill/>
          <a:ln cap="flat" cmpd="sng" w="9525">
            <a:solidFill>
              <a:schemeClr val="dk2"/>
            </a:solidFill>
            <a:prstDash val="solid"/>
            <a:round/>
            <a:headEnd len="med" w="med" type="none"/>
            <a:tailEnd len="med" w="med" type="triangle"/>
          </a:ln>
        </p:spPr>
      </p:cxnSp>
      <p:sp>
        <p:nvSpPr>
          <p:cNvPr id="67" name="Google Shape;67;p14"/>
          <p:cNvSpPr txBox="1"/>
          <p:nvPr/>
        </p:nvSpPr>
        <p:spPr>
          <a:xfrm>
            <a:off x="3390600" y="6227725"/>
            <a:ext cx="1536000" cy="38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t>Mekong.</a:t>
            </a:r>
            <a:r>
              <a:rPr b="1" lang="en-GB" sz="1800"/>
              <a:t>rdf</a:t>
            </a:r>
            <a:endParaRPr b="1" sz="1800"/>
          </a:p>
        </p:txBody>
      </p:sp>
      <p:sp>
        <p:nvSpPr>
          <p:cNvPr id="68" name="Google Shape;68;p14"/>
          <p:cNvSpPr txBox="1"/>
          <p:nvPr/>
        </p:nvSpPr>
        <p:spPr>
          <a:xfrm>
            <a:off x="4306350" y="3556125"/>
            <a:ext cx="2129100" cy="3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a:t>
            </a:r>
            <a:r>
              <a:rPr lang="en-GB" sz="1800"/>
              <a:t>chuyển thành"</a:t>
            </a:r>
            <a:endParaRPr sz="1800"/>
          </a:p>
        </p:txBody>
      </p:sp>
      <p:sp>
        <p:nvSpPr>
          <p:cNvPr id="69" name="Google Shape;69;p14"/>
          <p:cNvSpPr txBox="1"/>
          <p:nvPr>
            <p:ph idx="4294967295" type="body"/>
          </p:nvPr>
        </p:nvSpPr>
        <p:spPr>
          <a:xfrm>
            <a:off x="311700" y="4737025"/>
            <a:ext cx="930300" cy="62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GB"/>
              <a:t>RDF</a:t>
            </a:r>
            <a:endParaRPr b="1"/>
          </a:p>
        </p:txBody>
      </p:sp>
      <p:sp>
        <p:nvSpPr>
          <p:cNvPr id="70" name="Google Shape;70;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p:nvPr/>
        </p:nvSpPr>
        <p:spPr>
          <a:xfrm>
            <a:off x="1089575" y="2358500"/>
            <a:ext cx="7326300" cy="2387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600"/>
              <a:t>&lt;?xml version="1.0"?&gt;</a:t>
            </a:r>
            <a:endParaRPr sz="1600"/>
          </a:p>
          <a:p>
            <a:pPr indent="0" lvl="0" marL="0" rtl="0" algn="just">
              <a:spcBef>
                <a:spcPts val="0"/>
              </a:spcBef>
              <a:spcAft>
                <a:spcPts val="0"/>
              </a:spcAft>
              <a:buNone/>
            </a:pPr>
            <a:r>
              <a:rPr b="1" lang="en-GB" sz="1600"/>
              <a:t>&lt;rdf:RDF</a:t>
            </a:r>
            <a:r>
              <a:rPr lang="en-GB" sz="1600"/>
              <a:t> </a:t>
            </a:r>
            <a:r>
              <a:rPr lang="en-GB" sz="1600">
                <a:solidFill>
                  <a:schemeClr val="dk1"/>
                </a:solidFill>
              </a:rPr>
              <a:t>xmlns="http://www.geography.org/river#"</a:t>
            </a:r>
            <a:endParaRPr sz="1600"/>
          </a:p>
          <a:p>
            <a:pPr indent="0" lvl="0" marL="0" rtl="0" algn="just">
              <a:spcBef>
                <a:spcPts val="0"/>
              </a:spcBef>
              <a:spcAft>
                <a:spcPts val="0"/>
              </a:spcAft>
              <a:buNone/>
            </a:pPr>
            <a:r>
              <a:rPr lang="en-GB" sz="1600"/>
              <a:t>         </a:t>
            </a:r>
            <a:r>
              <a:rPr b="1" lang="en-GB" sz="1600"/>
              <a:t>xmlns:</a:t>
            </a:r>
            <a:r>
              <a:rPr b="1" lang="en-GB" sz="1600"/>
              <a:t>rdf="http://www.w3.org/1999/02/22-rdf-syntax-ns#"</a:t>
            </a:r>
            <a:r>
              <a:rPr lang="en-GB" sz="1600"/>
              <a:t>&gt; </a:t>
            </a:r>
            <a:endParaRPr sz="1600"/>
          </a:p>
          <a:p>
            <a:pPr indent="0" lvl="0" marL="0" rtl="0" algn="just">
              <a:spcBef>
                <a:spcPts val="0"/>
              </a:spcBef>
              <a:spcAft>
                <a:spcPts val="0"/>
              </a:spcAft>
              <a:buNone/>
            </a:pPr>
            <a:r>
              <a:rPr lang="en-GB" sz="1600"/>
              <a:t>&lt;</a:t>
            </a:r>
            <a:r>
              <a:rPr lang="en-GB" sz="1600">
                <a:solidFill>
                  <a:schemeClr val="dk1"/>
                </a:solidFill>
              </a:rPr>
              <a:t>River </a:t>
            </a:r>
            <a:r>
              <a:rPr b="1" lang="en-GB" sz="1600">
                <a:solidFill>
                  <a:schemeClr val="dk1"/>
                </a:solidFill>
              </a:rPr>
              <a:t>rdf:ID</a:t>
            </a:r>
            <a:r>
              <a:rPr lang="en-GB" sz="1600">
                <a:solidFill>
                  <a:schemeClr val="dk1"/>
                </a:solidFill>
              </a:rPr>
              <a:t>="Mekong"&gt;</a:t>
            </a:r>
            <a:endParaRPr sz="1600"/>
          </a:p>
          <a:p>
            <a:pPr indent="0" lvl="0" marL="0" rtl="0" algn="just">
              <a:spcBef>
                <a:spcPts val="0"/>
              </a:spcBef>
              <a:spcAft>
                <a:spcPts val="0"/>
              </a:spcAft>
              <a:buNone/>
            </a:pPr>
            <a:r>
              <a:rPr lang="en-GB" sz="1600"/>
              <a:t>  &lt;length&gt;4350 km&lt;/length&gt;</a:t>
            </a:r>
            <a:endParaRPr sz="1600"/>
          </a:p>
          <a:p>
            <a:pPr indent="0" lvl="0" marL="0" rtl="0" algn="just">
              <a:spcBef>
                <a:spcPts val="0"/>
              </a:spcBef>
              <a:spcAft>
                <a:spcPts val="0"/>
              </a:spcAft>
              <a:buNone/>
            </a:pPr>
            <a:r>
              <a:rPr lang="en-GB" sz="1600"/>
              <a:t>  &lt;startingLocation&gt;Thanh Hải, Trung Quốc&lt;/startingLocation&gt;</a:t>
            </a:r>
            <a:endParaRPr sz="1600"/>
          </a:p>
          <a:p>
            <a:pPr indent="0" lvl="0" marL="0" rtl="0" algn="just">
              <a:spcBef>
                <a:spcPts val="0"/>
              </a:spcBef>
              <a:spcAft>
                <a:spcPts val="0"/>
              </a:spcAft>
              <a:buNone/>
            </a:pPr>
            <a:r>
              <a:rPr lang="en-GB" sz="1600"/>
              <a:t>  &lt;endingLocation&gt;Đồng bằng sông Cửu Long, Việt Nam&lt;/endingLocation&gt;</a:t>
            </a:r>
            <a:endParaRPr sz="1600"/>
          </a:p>
          <a:p>
            <a:pPr indent="0" lvl="0" marL="0" rtl="0" algn="just">
              <a:spcBef>
                <a:spcPts val="0"/>
              </a:spcBef>
              <a:spcAft>
                <a:spcPts val="0"/>
              </a:spcAft>
              <a:buNone/>
            </a:pPr>
            <a:r>
              <a:rPr lang="en-GB" sz="1600"/>
              <a:t>&lt;/River&gt;</a:t>
            </a:r>
            <a:endParaRPr sz="1600"/>
          </a:p>
          <a:p>
            <a:pPr indent="0" lvl="0" marL="0" rtl="0" algn="just">
              <a:spcBef>
                <a:spcPts val="0"/>
              </a:spcBef>
              <a:spcAft>
                <a:spcPts val="0"/>
              </a:spcAft>
              <a:buNone/>
            </a:pPr>
            <a:r>
              <a:rPr b="1" lang="en-GB" sz="1600"/>
              <a:t>&lt;/rdf:RDF&gt;</a:t>
            </a:r>
            <a:endParaRPr b="1" sz="1600"/>
          </a:p>
          <a:p>
            <a:pPr indent="0" lvl="0" marL="0" rtl="0" algn="just">
              <a:spcBef>
                <a:spcPts val="0"/>
              </a:spcBef>
              <a:spcAft>
                <a:spcPts val="0"/>
              </a:spcAft>
              <a:buNone/>
            </a:pPr>
            <a:r>
              <a:t/>
            </a:r>
            <a:endParaRPr sz="1600"/>
          </a:p>
        </p:txBody>
      </p:sp>
      <p:sp>
        <p:nvSpPr>
          <p:cNvPr id="76" name="Google Shape;76;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 name="Google Shape;77;p15"/>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Định dạng RDF</a:t>
            </a:r>
            <a:endParaRPr/>
          </a:p>
        </p:txBody>
      </p:sp>
      <p:sp>
        <p:nvSpPr>
          <p:cNvPr id="78" name="Google Shape;78;p15"/>
          <p:cNvSpPr txBox="1"/>
          <p:nvPr/>
        </p:nvSpPr>
        <p:spPr>
          <a:xfrm>
            <a:off x="5243050" y="1247775"/>
            <a:ext cx="34704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(1) Khai báo không gian tên</a:t>
            </a:r>
            <a:endParaRPr sz="1800"/>
          </a:p>
        </p:txBody>
      </p:sp>
      <p:sp>
        <p:nvSpPr>
          <p:cNvPr id="79" name="Google Shape;79;p15"/>
          <p:cNvSpPr txBox="1"/>
          <p:nvPr/>
        </p:nvSpPr>
        <p:spPr>
          <a:xfrm>
            <a:off x="428150" y="5141200"/>
            <a:ext cx="66510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(2) Thuộc tính ID </a:t>
            </a:r>
            <a:r>
              <a:rPr lang="en-GB" sz="1800"/>
              <a:t>được định nghĩa trong không gian tên RDF</a:t>
            </a:r>
            <a:endParaRPr sz="1800"/>
          </a:p>
        </p:txBody>
      </p:sp>
      <p:cxnSp>
        <p:nvCxnSpPr>
          <p:cNvPr id="80" name="Google Shape;80;p15"/>
          <p:cNvCxnSpPr/>
          <p:nvPr/>
        </p:nvCxnSpPr>
        <p:spPr>
          <a:xfrm>
            <a:off x="6612675" y="1738875"/>
            <a:ext cx="1800" cy="1124700"/>
          </a:xfrm>
          <a:prstGeom prst="straightConnector1">
            <a:avLst/>
          </a:prstGeom>
          <a:noFill/>
          <a:ln cap="flat" cmpd="sng" w="9525">
            <a:solidFill>
              <a:schemeClr val="dk2"/>
            </a:solidFill>
            <a:prstDash val="solid"/>
            <a:round/>
            <a:headEnd len="med" w="med" type="none"/>
            <a:tailEnd len="med" w="med" type="triangle"/>
          </a:ln>
        </p:spPr>
      </p:cxnSp>
      <p:cxnSp>
        <p:nvCxnSpPr>
          <p:cNvPr id="81" name="Google Shape;81;p15"/>
          <p:cNvCxnSpPr/>
          <p:nvPr/>
        </p:nvCxnSpPr>
        <p:spPr>
          <a:xfrm flipH="1" rot="10800000">
            <a:off x="651325" y="3391575"/>
            <a:ext cx="640500" cy="1724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7" name="Google Shape;87;p16"/>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Định dạng RDF</a:t>
            </a:r>
            <a:r>
              <a:rPr baseline="-25000" lang="en-GB"/>
              <a:t>(2)</a:t>
            </a:r>
            <a:endParaRPr baseline="-25000"/>
          </a:p>
        </p:txBody>
      </p:sp>
      <p:sp>
        <p:nvSpPr>
          <p:cNvPr id="88" name="Google Shape;88;p16"/>
          <p:cNvSpPr txBox="1"/>
          <p:nvPr/>
        </p:nvSpPr>
        <p:spPr>
          <a:xfrm>
            <a:off x="559425" y="2053700"/>
            <a:ext cx="1707600" cy="7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(1) </a:t>
            </a:r>
            <a:r>
              <a:rPr lang="en-GB" sz="1600"/>
              <a:t>Phân lớp tài nguyên.</a:t>
            </a:r>
            <a:endParaRPr sz="1600"/>
          </a:p>
        </p:txBody>
      </p:sp>
      <p:sp>
        <p:nvSpPr>
          <p:cNvPr id="89" name="Google Shape;89;p16"/>
          <p:cNvSpPr txBox="1"/>
          <p:nvPr/>
        </p:nvSpPr>
        <p:spPr>
          <a:xfrm>
            <a:off x="2984675" y="1714825"/>
            <a:ext cx="60606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(2) </a:t>
            </a:r>
            <a:r>
              <a:rPr b="1" lang="en-GB" sz="1600"/>
              <a:t>T</a:t>
            </a:r>
            <a:r>
              <a:rPr b="1" lang="en-GB" sz="1600"/>
              <a:t>ài nguyên</a:t>
            </a:r>
            <a:r>
              <a:rPr lang="en-GB" sz="1600"/>
              <a:t> đang được mô tả.</a:t>
            </a:r>
            <a:endParaRPr sz="1600"/>
          </a:p>
        </p:txBody>
      </p:sp>
      <p:sp>
        <p:nvSpPr>
          <p:cNvPr id="90" name="Google Shape;90;p16"/>
          <p:cNvSpPr txBox="1"/>
          <p:nvPr/>
        </p:nvSpPr>
        <p:spPr>
          <a:xfrm>
            <a:off x="3874900" y="4534225"/>
            <a:ext cx="29697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(4) </a:t>
            </a:r>
            <a:r>
              <a:rPr lang="en-GB" sz="1600"/>
              <a:t>Các giá trị </a:t>
            </a:r>
            <a:endParaRPr sz="1600"/>
          </a:p>
        </p:txBody>
      </p:sp>
      <p:cxnSp>
        <p:nvCxnSpPr>
          <p:cNvPr id="91" name="Google Shape;91;p16"/>
          <p:cNvCxnSpPr/>
          <p:nvPr/>
        </p:nvCxnSpPr>
        <p:spPr>
          <a:xfrm rot="10800000">
            <a:off x="3538050" y="3429075"/>
            <a:ext cx="947700" cy="1177800"/>
          </a:xfrm>
          <a:prstGeom prst="straightConnector1">
            <a:avLst/>
          </a:prstGeom>
          <a:noFill/>
          <a:ln cap="flat" cmpd="sng" w="9525">
            <a:solidFill>
              <a:schemeClr val="dk2"/>
            </a:solidFill>
            <a:prstDash val="solid"/>
            <a:round/>
            <a:headEnd len="med" w="med" type="none"/>
            <a:tailEnd len="med" w="med" type="triangle"/>
          </a:ln>
        </p:spPr>
      </p:cxnSp>
      <p:cxnSp>
        <p:nvCxnSpPr>
          <p:cNvPr id="92" name="Google Shape;92;p16"/>
          <p:cNvCxnSpPr/>
          <p:nvPr/>
        </p:nvCxnSpPr>
        <p:spPr>
          <a:xfrm flipH="1">
            <a:off x="3921650" y="2055075"/>
            <a:ext cx="657900" cy="966300"/>
          </a:xfrm>
          <a:prstGeom prst="straightConnector1">
            <a:avLst/>
          </a:prstGeom>
          <a:noFill/>
          <a:ln cap="flat" cmpd="sng" w="9525">
            <a:solidFill>
              <a:schemeClr val="dk2"/>
            </a:solidFill>
            <a:prstDash val="solid"/>
            <a:round/>
            <a:headEnd len="med" w="med" type="none"/>
            <a:tailEnd len="med" w="med" type="triangle"/>
          </a:ln>
        </p:spPr>
      </p:cxnSp>
      <p:cxnSp>
        <p:nvCxnSpPr>
          <p:cNvPr id="93" name="Google Shape;93;p16"/>
          <p:cNvCxnSpPr/>
          <p:nvPr/>
        </p:nvCxnSpPr>
        <p:spPr>
          <a:xfrm>
            <a:off x="1962075" y="2449100"/>
            <a:ext cx="730500" cy="600300"/>
          </a:xfrm>
          <a:prstGeom prst="straightConnector1">
            <a:avLst/>
          </a:prstGeom>
          <a:noFill/>
          <a:ln cap="flat" cmpd="sng" w="9525">
            <a:solidFill>
              <a:schemeClr val="dk2"/>
            </a:solidFill>
            <a:prstDash val="solid"/>
            <a:round/>
            <a:headEnd len="med" w="med" type="none"/>
            <a:tailEnd len="med" w="med" type="triangle"/>
          </a:ln>
        </p:spPr>
      </p:cxnSp>
      <p:sp>
        <p:nvSpPr>
          <p:cNvPr id="94" name="Google Shape;94;p16"/>
          <p:cNvSpPr txBox="1"/>
          <p:nvPr/>
        </p:nvSpPr>
        <p:spPr>
          <a:xfrm>
            <a:off x="178425" y="3501500"/>
            <a:ext cx="1877400" cy="8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(3) </a:t>
            </a:r>
            <a:r>
              <a:rPr lang="en-GB" sz="1600"/>
              <a:t>Các thuộc tính.</a:t>
            </a:r>
            <a:endParaRPr sz="1600"/>
          </a:p>
        </p:txBody>
      </p:sp>
      <p:cxnSp>
        <p:nvCxnSpPr>
          <p:cNvPr id="95" name="Google Shape;95;p16"/>
          <p:cNvCxnSpPr/>
          <p:nvPr/>
        </p:nvCxnSpPr>
        <p:spPr>
          <a:xfrm flipH="1" rot="10800000">
            <a:off x="1933925" y="3368525"/>
            <a:ext cx="591000" cy="347100"/>
          </a:xfrm>
          <a:prstGeom prst="straightConnector1">
            <a:avLst/>
          </a:prstGeom>
          <a:noFill/>
          <a:ln cap="flat" cmpd="sng" w="9525">
            <a:solidFill>
              <a:schemeClr val="dk2"/>
            </a:solidFill>
            <a:prstDash val="solid"/>
            <a:round/>
            <a:headEnd len="med" w="med" type="none"/>
            <a:tailEnd len="med" w="med" type="triangle"/>
          </a:ln>
        </p:spPr>
      </p:cxnSp>
      <p:cxnSp>
        <p:nvCxnSpPr>
          <p:cNvPr id="96" name="Google Shape;96;p16"/>
          <p:cNvCxnSpPr/>
          <p:nvPr/>
        </p:nvCxnSpPr>
        <p:spPr>
          <a:xfrm flipH="1" rot="10800000">
            <a:off x="1933925" y="3584225"/>
            <a:ext cx="628500" cy="131400"/>
          </a:xfrm>
          <a:prstGeom prst="straightConnector1">
            <a:avLst/>
          </a:prstGeom>
          <a:noFill/>
          <a:ln cap="flat" cmpd="sng" w="9525">
            <a:solidFill>
              <a:schemeClr val="dk2"/>
            </a:solidFill>
            <a:prstDash val="solid"/>
            <a:round/>
            <a:headEnd len="med" w="med" type="none"/>
            <a:tailEnd len="med" w="med" type="triangle"/>
          </a:ln>
        </p:spPr>
      </p:cxnSp>
      <p:cxnSp>
        <p:nvCxnSpPr>
          <p:cNvPr id="97" name="Google Shape;97;p16"/>
          <p:cNvCxnSpPr/>
          <p:nvPr/>
        </p:nvCxnSpPr>
        <p:spPr>
          <a:xfrm>
            <a:off x="1933925" y="3715625"/>
            <a:ext cx="619200" cy="18900"/>
          </a:xfrm>
          <a:prstGeom prst="straightConnector1">
            <a:avLst/>
          </a:prstGeom>
          <a:noFill/>
          <a:ln cap="flat" cmpd="sng" w="9525">
            <a:solidFill>
              <a:schemeClr val="dk2"/>
            </a:solidFill>
            <a:prstDash val="solid"/>
            <a:round/>
            <a:headEnd len="med" w="med" type="none"/>
            <a:tailEnd len="med" w="med" type="triangle"/>
          </a:ln>
        </p:spPr>
      </p:cxnSp>
      <p:cxnSp>
        <p:nvCxnSpPr>
          <p:cNvPr id="98" name="Google Shape;98;p16"/>
          <p:cNvCxnSpPr/>
          <p:nvPr/>
        </p:nvCxnSpPr>
        <p:spPr>
          <a:xfrm flipH="1" rot="10800000">
            <a:off x="4485750" y="3640725"/>
            <a:ext cx="243900" cy="947400"/>
          </a:xfrm>
          <a:prstGeom prst="straightConnector1">
            <a:avLst/>
          </a:prstGeom>
          <a:noFill/>
          <a:ln cap="flat" cmpd="sng" w="9525">
            <a:solidFill>
              <a:schemeClr val="dk2"/>
            </a:solidFill>
            <a:prstDash val="solid"/>
            <a:round/>
            <a:headEnd len="med" w="med" type="none"/>
            <a:tailEnd len="med" w="med" type="triangle"/>
          </a:ln>
        </p:spPr>
      </p:cxnSp>
      <p:cxnSp>
        <p:nvCxnSpPr>
          <p:cNvPr id="99" name="Google Shape;99;p16"/>
          <p:cNvCxnSpPr/>
          <p:nvPr/>
        </p:nvCxnSpPr>
        <p:spPr>
          <a:xfrm flipH="1" rot="10800000">
            <a:off x="4476375" y="3837675"/>
            <a:ext cx="938100" cy="769200"/>
          </a:xfrm>
          <a:prstGeom prst="straightConnector1">
            <a:avLst/>
          </a:prstGeom>
          <a:noFill/>
          <a:ln cap="flat" cmpd="sng" w="9525">
            <a:solidFill>
              <a:schemeClr val="dk2"/>
            </a:solidFill>
            <a:prstDash val="solid"/>
            <a:round/>
            <a:headEnd len="med" w="med" type="none"/>
            <a:tailEnd len="med" w="med" type="triangle"/>
          </a:ln>
        </p:spPr>
      </p:cxnSp>
      <p:sp>
        <p:nvSpPr>
          <p:cNvPr id="100" name="Google Shape;100;p16"/>
          <p:cNvSpPr/>
          <p:nvPr/>
        </p:nvSpPr>
        <p:spPr>
          <a:xfrm>
            <a:off x="2299400" y="2301076"/>
            <a:ext cx="6413700" cy="2028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a:t>&lt;?xml version="1.0"?&gt;</a:t>
            </a:r>
            <a:endParaRPr/>
          </a:p>
          <a:p>
            <a:pPr indent="0" lvl="0" marL="0" rtl="0" algn="just">
              <a:spcBef>
                <a:spcPts val="0"/>
              </a:spcBef>
              <a:spcAft>
                <a:spcPts val="0"/>
              </a:spcAft>
              <a:buNone/>
            </a:pPr>
            <a:r>
              <a:rPr b="1" lang="en-GB"/>
              <a:t>&lt;rdf:RDF</a:t>
            </a:r>
            <a:r>
              <a:rPr lang="en-GB"/>
              <a:t> </a:t>
            </a:r>
            <a:r>
              <a:rPr lang="en-GB">
                <a:solidFill>
                  <a:schemeClr val="dk1"/>
                </a:solidFill>
              </a:rPr>
              <a:t>xmlns="http://www.geography.org/river#"</a:t>
            </a:r>
            <a:endParaRPr/>
          </a:p>
          <a:p>
            <a:pPr indent="0" lvl="0" marL="0" rtl="0" algn="just">
              <a:spcBef>
                <a:spcPts val="0"/>
              </a:spcBef>
              <a:spcAft>
                <a:spcPts val="0"/>
              </a:spcAft>
              <a:buNone/>
            </a:pPr>
            <a:r>
              <a:rPr lang="en-GB"/>
              <a:t>          </a:t>
            </a:r>
            <a:r>
              <a:rPr b="1" lang="en-GB"/>
              <a:t>xmlns:rdf="http://www.w3.org/1999/02/22-rdf-syntax-ns#"</a:t>
            </a:r>
            <a:r>
              <a:rPr lang="en-GB"/>
              <a:t>&gt; </a:t>
            </a:r>
            <a:endParaRPr/>
          </a:p>
          <a:p>
            <a:pPr indent="0" lvl="0" marL="0" rtl="0" algn="just">
              <a:spcBef>
                <a:spcPts val="0"/>
              </a:spcBef>
              <a:spcAft>
                <a:spcPts val="0"/>
              </a:spcAft>
              <a:buNone/>
            </a:pPr>
            <a:r>
              <a:rPr lang="en-GB"/>
              <a:t>&lt;</a:t>
            </a:r>
            <a:r>
              <a:rPr lang="en-GB">
                <a:solidFill>
                  <a:schemeClr val="dk1"/>
                </a:solidFill>
              </a:rPr>
              <a:t>River </a:t>
            </a:r>
            <a:r>
              <a:rPr b="1" lang="en-GB">
                <a:solidFill>
                  <a:schemeClr val="dk1"/>
                </a:solidFill>
              </a:rPr>
              <a:t>rdf:ID</a:t>
            </a:r>
            <a:r>
              <a:rPr lang="en-GB">
                <a:solidFill>
                  <a:schemeClr val="dk1"/>
                </a:solidFill>
              </a:rPr>
              <a:t>="Mekong"&gt;</a:t>
            </a:r>
            <a:endParaRPr/>
          </a:p>
          <a:p>
            <a:pPr indent="0" lvl="0" marL="0" rtl="0" algn="just">
              <a:spcBef>
                <a:spcPts val="0"/>
              </a:spcBef>
              <a:spcAft>
                <a:spcPts val="0"/>
              </a:spcAft>
              <a:buNone/>
            </a:pPr>
            <a:r>
              <a:rPr lang="en-GB"/>
              <a:t>  &lt;length&gt;4350 km&lt;/length&gt;</a:t>
            </a:r>
            <a:endParaRPr/>
          </a:p>
          <a:p>
            <a:pPr indent="0" lvl="0" marL="0" rtl="0" algn="just">
              <a:spcBef>
                <a:spcPts val="0"/>
              </a:spcBef>
              <a:spcAft>
                <a:spcPts val="0"/>
              </a:spcAft>
              <a:buNone/>
            </a:pPr>
            <a:r>
              <a:rPr lang="en-GB"/>
              <a:t>  &lt;startingLocation&gt;Thanh Hải, Trung Quốc&lt;/startingLocation&gt;</a:t>
            </a:r>
            <a:endParaRPr/>
          </a:p>
          <a:p>
            <a:pPr indent="0" lvl="0" marL="0" rtl="0" algn="just">
              <a:spcBef>
                <a:spcPts val="0"/>
              </a:spcBef>
              <a:spcAft>
                <a:spcPts val="0"/>
              </a:spcAft>
              <a:buNone/>
            </a:pPr>
            <a:r>
              <a:rPr lang="en-GB"/>
              <a:t>  &lt;endingLocation&gt;Đồng bằng sông Cửu Long, Việt Nam&lt;/endingLocation&gt;</a:t>
            </a:r>
            <a:endParaRPr/>
          </a:p>
          <a:p>
            <a:pPr indent="0" lvl="0" marL="0" rtl="0" algn="just">
              <a:spcBef>
                <a:spcPts val="0"/>
              </a:spcBef>
              <a:spcAft>
                <a:spcPts val="0"/>
              </a:spcAft>
              <a:buNone/>
            </a:pPr>
            <a:r>
              <a:rPr lang="en-GB"/>
              <a:t>&lt;/River&gt;</a:t>
            </a:r>
            <a:endParaRPr/>
          </a:p>
          <a:p>
            <a:pPr indent="0" lvl="0" marL="0" rtl="0" algn="just">
              <a:spcBef>
                <a:spcPts val="0"/>
              </a:spcBef>
              <a:spcAft>
                <a:spcPts val="0"/>
              </a:spcAft>
              <a:buNone/>
            </a:pPr>
            <a:r>
              <a:rPr b="1" lang="en-GB"/>
              <a:t>&lt;/rdf:RDF&gt;</a:t>
            </a:r>
            <a:endParaRPr b="1"/>
          </a:p>
          <a:p>
            <a:pPr indent="0" lvl="0" marL="0" rtl="0" algn="just">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6" name="Google Shape;106;p17"/>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Nút gốc </a:t>
            </a:r>
            <a:r>
              <a:rPr lang="en-GB"/>
              <a:t>rdf:RDF</a:t>
            </a:r>
            <a:endParaRPr baseline="-25000"/>
          </a:p>
        </p:txBody>
      </p:sp>
      <p:sp>
        <p:nvSpPr>
          <p:cNvPr id="107" name="Google Shape;107;p17"/>
          <p:cNvSpPr/>
          <p:nvPr/>
        </p:nvSpPr>
        <p:spPr>
          <a:xfrm>
            <a:off x="1010675" y="1998550"/>
            <a:ext cx="6413700" cy="2005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a:t>&lt;?xml version="1.0"?&gt;</a:t>
            </a:r>
            <a:endParaRPr/>
          </a:p>
          <a:p>
            <a:pPr indent="0" lvl="0" marL="0" rtl="0" algn="just">
              <a:spcBef>
                <a:spcPts val="0"/>
              </a:spcBef>
              <a:spcAft>
                <a:spcPts val="0"/>
              </a:spcAft>
              <a:buNone/>
            </a:pPr>
            <a:r>
              <a:rPr lang="en-GB"/>
              <a:t>&lt;</a:t>
            </a:r>
            <a:r>
              <a:rPr lang="en-GB"/>
              <a:t>r</a:t>
            </a:r>
            <a:r>
              <a:rPr b="1" lang="en-GB"/>
              <a:t>df:RDF</a:t>
            </a:r>
            <a:r>
              <a:rPr lang="en-GB"/>
              <a:t> </a:t>
            </a:r>
            <a:r>
              <a:rPr lang="en-GB">
                <a:solidFill>
                  <a:schemeClr val="dk1"/>
                </a:solidFill>
              </a:rPr>
              <a:t>xmlns:rdf="http://www.w3.org/1999/02/22-rdf-syntax-ns#"</a:t>
            </a:r>
            <a:endParaRPr>
              <a:solidFill>
                <a:schemeClr val="dk1"/>
              </a:solidFill>
            </a:endParaRPr>
          </a:p>
          <a:p>
            <a:pPr indent="0" lvl="0" marL="0" rtl="0" algn="just">
              <a:spcBef>
                <a:spcPts val="0"/>
              </a:spcBef>
              <a:spcAft>
                <a:spcPts val="0"/>
              </a:spcAft>
              <a:buClr>
                <a:schemeClr val="dk1"/>
              </a:buClr>
              <a:buSzPts val="1100"/>
              <a:buFont typeface="Arial"/>
              <a:buNone/>
            </a:pPr>
            <a:r>
              <a:rPr lang="en-GB">
                <a:solidFill>
                  <a:schemeClr val="dk1"/>
                </a:solidFill>
              </a:rPr>
              <a:t>                xmlns="http://www.geography.org/river#"&gt;</a:t>
            </a:r>
            <a:endParaRPr/>
          </a:p>
          <a:p>
            <a:pPr indent="0" lvl="0" marL="0" rtl="0" algn="just">
              <a:spcBef>
                <a:spcPts val="0"/>
              </a:spcBef>
              <a:spcAft>
                <a:spcPts val="0"/>
              </a:spcAft>
              <a:buNone/>
            </a:pPr>
            <a:r>
              <a:rPr lang="en-GB"/>
              <a:t>&lt;River </a:t>
            </a:r>
            <a:r>
              <a:rPr lang="en-GB"/>
              <a:t>rdf:ID="Mekong"</a:t>
            </a:r>
            <a:r>
              <a:rPr lang="en-GB"/>
              <a:t>&gt;</a:t>
            </a:r>
            <a:endParaRPr/>
          </a:p>
          <a:p>
            <a:pPr indent="0" lvl="0" marL="0" rtl="0" algn="just">
              <a:spcBef>
                <a:spcPts val="0"/>
              </a:spcBef>
              <a:spcAft>
                <a:spcPts val="0"/>
              </a:spcAft>
              <a:buNone/>
            </a:pPr>
            <a:r>
              <a:rPr lang="en-GB"/>
              <a:t>  &lt;length&gt;4350 km&lt;/length&gt;</a:t>
            </a:r>
            <a:endParaRPr/>
          </a:p>
          <a:p>
            <a:pPr indent="0" lvl="0" marL="0" rtl="0" algn="just">
              <a:spcBef>
                <a:spcPts val="0"/>
              </a:spcBef>
              <a:spcAft>
                <a:spcPts val="0"/>
              </a:spcAft>
              <a:buNone/>
            </a:pPr>
            <a:r>
              <a:rPr lang="en-GB"/>
              <a:t>  &lt;startingLocation&gt;Thanh Hải, Trung Quốc&lt;/startingLocation&gt;</a:t>
            </a:r>
            <a:endParaRPr/>
          </a:p>
          <a:p>
            <a:pPr indent="0" lvl="0" marL="0" rtl="0" algn="just">
              <a:spcBef>
                <a:spcPts val="0"/>
              </a:spcBef>
              <a:spcAft>
                <a:spcPts val="0"/>
              </a:spcAft>
              <a:buNone/>
            </a:pPr>
            <a:r>
              <a:rPr lang="en-GB"/>
              <a:t>  &lt;endingLocation&gt;Đồng bằng sông Cửu Long, Việt Nam&lt;/endingLocation&gt;</a:t>
            </a:r>
            <a:endParaRPr/>
          </a:p>
          <a:p>
            <a:pPr indent="0" lvl="0" marL="0" rtl="0" algn="just">
              <a:spcBef>
                <a:spcPts val="0"/>
              </a:spcBef>
              <a:spcAft>
                <a:spcPts val="0"/>
              </a:spcAft>
              <a:buNone/>
            </a:pPr>
            <a:r>
              <a:rPr lang="en-GB"/>
              <a:t>&lt;/River&gt;</a:t>
            </a:r>
            <a:endParaRPr/>
          </a:p>
          <a:p>
            <a:pPr indent="0" lvl="0" marL="0" rtl="0" algn="just">
              <a:spcBef>
                <a:spcPts val="0"/>
              </a:spcBef>
              <a:spcAft>
                <a:spcPts val="0"/>
              </a:spcAft>
              <a:buNone/>
            </a:pPr>
            <a:r>
              <a:rPr lang="en-GB"/>
              <a:t>&lt;/</a:t>
            </a:r>
            <a:r>
              <a:rPr b="1" lang="en-GB"/>
              <a:t>rdf:RDF</a:t>
            </a:r>
            <a:r>
              <a:rPr lang="en-GB"/>
              <a:t>&gt;</a:t>
            </a:r>
            <a:endParaRPr/>
          </a:p>
        </p:txBody>
      </p:sp>
      <p:sp>
        <p:nvSpPr>
          <p:cNvPr id="108" name="Google Shape;108;p17"/>
          <p:cNvSpPr txBox="1"/>
          <p:nvPr/>
        </p:nvSpPr>
        <p:spPr>
          <a:xfrm>
            <a:off x="384800" y="898701"/>
            <a:ext cx="8413800" cy="1053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i="1" lang="en-GB" sz="1800">
                <a:solidFill>
                  <a:srgbClr val="434343"/>
                </a:solidFill>
              </a:rPr>
              <a:t>T</a:t>
            </a:r>
            <a:r>
              <a:rPr i="1" lang="en-GB" sz="1800">
                <a:solidFill>
                  <a:srgbClr val="434343"/>
                </a:solidFill>
              </a:rPr>
              <a:t>ài liệu </a:t>
            </a:r>
            <a:r>
              <a:rPr lang="en-GB" sz="1800">
                <a:solidFill>
                  <a:srgbClr val="434343"/>
                </a:solidFill>
              </a:rPr>
              <a:t>RDF</a:t>
            </a:r>
            <a:r>
              <a:rPr i="1" lang="en-GB" sz="1800">
                <a:solidFill>
                  <a:srgbClr val="434343"/>
                </a:solidFill>
              </a:rPr>
              <a:t> theo định dạng </a:t>
            </a:r>
            <a:r>
              <a:rPr lang="en-GB" sz="1800">
                <a:solidFill>
                  <a:srgbClr val="434343"/>
                </a:solidFill>
              </a:rPr>
              <a:t>XML</a:t>
            </a:r>
            <a:r>
              <a:rPr i="1" lang="en-GB" sz="1800">
                <a:solidFill>
                  <a:srgbClr val="434343"/>
                </a:solidFill>
              </a:rPr>
              <a:t> chỉ được có 1 nút gốc, thường là nút </a:t>
            </a:r>
            <a:r>
              <a:rPr lang="en-GB" sz="1800">
                <a:solidFill>
                  <a:srgbClr val="434343"/>
                </a:solidFill>
              </a:rPr>
              <a:t>rdf:RDF</a:t>
            </a:r>
            <a:r>
              <a:rPr i="1" lang="en-GB" sz="1800">
                <a:solidFill>
                  <a:srgbClr val="434343"/>
                </a:solidFill>
              </a:rPr>
              <a:t> chứa các khai báo không gian tên được sử dụng trong tài liệu. Trong trường hợp chỉ có 1 nút con trực tiếp thì có thể lược bỏ nút </a:t>
            </a:r>
            <a:r>
              <a:rPr lang="en-GB" sz="1800">
                <a:solidFill>
                  <a:srgbClr val="434343"/>
                </a:solidFill>
              </a:rPr>
              <a:t>rdf:RDF</a:t>
            </a:r>
            <a:r>
              <a:rPr i="1" lang="en-GB" sz="1800">
                <a:solidFill>
                  <a:srgbClr val="434343"/>
                </a:solidFill>
              </a:rPr>
              <a:t>.</a:t>
            </a:r>
            <a:endParaRPr i="1" sz="1800">
              <a:solidFill>
                <a:srgbClr val="434343"/>
              </a:solidFill>
            </a:endParaRPr>
          </a:p>
        </p:txBody>
      </p:sp>
      <p:sp>
        <p:nvSpPr>
          <p:cNvPr id="109" name="Google Shape;109;p17"/>
          <p:cNvSpPr/>
          <p:nvPr/>
        </p:nvSpPr>
        <p:spPr>
          <a:xfrm>
            <a:off x="1848875" y="4446332"/>
            <a:ext cx="6413700" cy="1811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a:t>&lt;?xml version="1.0"?&gt;</a:t>
            </a:r>
            <a:endParaRPr/>
          </a:p>
          <a:p>
            <a:pPr indent="0" lvl="0" marL="0" rtl="0" algn="just">
              <a:spcBef>
                <a:spcPts val="0"/>
              </a:spcBef>
              <a:spcAft>
                <a:spcPts val="0"/>
              </a:spcAft>
              <a:buNone/>
            </a:pPr>
            <a:r>
              <a:rPr lang="en-GB"/>
              <a:t>&lt;River rdf:ID="Mekong"</a:t>
            </a:r>
            <a:endParaRPr/>
          </a:p>
          <a:p>
            <a:pPr indent="0" lvl="0" marL="0" rtl="0" algn="just">
              <a:spcBef>
                <a:spcPts val="0"/>
              </a:spcBef>
              <a:spcAft>
                <a:spcPts val="0"/>
              </a:spcAft>
              <a:buNone/>
            </a:pPr>
            <a:r>
              <a:rPr lang="en-GB"/>
              <a:t>           xmlns:rdf="http://www.w3.org/1999/02/22-rdf-syntax-ns#"</a:t>
            </a:r>
            <a:endParaRPr/>
          </a:p>
          <a:p>
            <a:pPr indent="0" lvl="0" marL="0" rtl="0" algn="just">
              <a:spcBef>
                <a:spcPts val="0"/>
              </a:spcBef>
              <a:spcAft>
                <a:spcPts val="0"/>
              </a:spcAft>
              <a:buNone/>
            </a:pPr>
            <a:r>
              <a:rPr lang="en-GB"/>
              <a:t>           xmlns="http://www.geography.org/river#"&gt;</a:t>
            </a:r>
            <a:endParaRPr/>
          </a:p>
          <a:p>
            <a:pPr indent="0" lvl="0" marL="0" rtl="0" algn="just">
              <a:spcBef>
                <a:spcPts val="0"/>
              </a:spcBef>
              <a:spcAft>
                <a:spcPts val="0"/>
              </a:spcAft>
              <a:buNone/>
            </a:pPr>
            <a:r>
              <a:rPr lang="en-GB"/>
              <a:t>  &lt;length&gt;4350 km&lt;/length&gt;</a:t>
            </a:r>
            <a:endParaRPr/>
          </a:p>
          <a:p>
            <a:pPr indent="0" lvl="0" marL="0" rtl="0" algn="just">
              <a:spcBef>
                <a:spcPts val="0"/>
              </a:spcBef>
              <a:spcAft>
                <a:spcPts val="0"/>
              </a:spcAft>
              <a:buNone/>
            </a:pPr>
            <a:r>
              <a:rPr lang="en-GB"/>
              <a:t>  &lt;startingLocation&gt;Thanh Hải, Trung Quốc&lt;/startingLocation&gt;</a:t>
            </a:r>
            <a:endParaRPr/>
          </a:p>
          <a:p>
            <a:pPr indent="0" lvl="0" marL="0" rtl="0" algn="just">
              <a:spcBef>
                <a:spcPts val="0"/>
              </a:spcBef>
              <a:spcAft>
                <a:spcPts val="0"/>
              </a:spcAft>
              <a:buNone/>
            </a:pPr>
            <a:r>
              <a:rPr lang="en-GB"/>
              <a:t>  &lt;endingLocation&gt;Đồng bằng sông Cửu Long, Việt Nam&lt;/endingLocation&gt;</a:t>
            </a:r>
            <a:endParaRPr/>
          </a:p>
          <a:p>
            <a:pPr indent="0" lvl="0" marL="0" rtl="0" algn="just">
              <a:spcBef>
                <a:spcPts val="0"/>
              </a:spcBef>
              <a:spcAft>
                <a:spcPts val="0"/>
              </a:spcAft>
              <a:buNone/>
            </a:pPr>
            <a:r>
              <a:rPr lang="en-GB"/>
              <a:t>&lt;/River&gt;</a:t>
            </a:r>
            <a:endParaRPr/>
          </a:p>
        </p:txBody>
      </p:sp>
      <p:cxnSp>
        <p:nvCxnSpPr>
          <p:cNvPr id="110" name="Google Shape;110;p17"/>
          <p:cNvCxnSpPr/>
          <p:nvPr/>
        </p:nvCxnSpPr>
        <p:spPr>
          <a:xfrm flipH="1">
            <a:off x="4212425" y="4013432"/>
            <a:ext cx="5100" cy="421200"/>
          </a:xfrm>
          <a:prstGeom prst="straightConnector1">
            <a:avLst/>
          </a:prstGeom>
          <a:noFill/>
          <a:ln cap="flat" cmpd="sng" w="9525">
            <a:solidFill>
              <a:schemeClr val="dk2"/>
            </a:solidFill>
            <a:prstDash val="solid"/>
            <a:round/>
            <a:headEnd len="med" w="med" type="none"/>
            <a:tailEnd len="med" w="med" type="triangle"/>
          </a:ln>
        </p:spPr>
      </p:cxnSp>
      <p:sp>
        <p:nvSpPr>
          <p:cNvPr id="111" name="Google Shape;111;p17"/>
          <p:cNvSpPr txBox="1"/>
          <p:nvPr/>
        </p:nvSpPr>
        <p:spPr>
          <a:xfrm>
            <a:off x="4268825" y="3965482"/>
            <a:ext cx="3630600" cy="38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Có thể lược bỏ nút rdf:RDF</a:t>
            </a:r>
            <a:endParaRPr i="1"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7" name="Google Shape;117;p1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rdf:ID</a:t>
            </a:r>
            <a:endParaRPr/>
          </a:p>
        </p:txBody>
      </p:sp>
      <p:sp>
        <p:nvSpPr>
          <p:cNvPr id="118" name="Google Shape;118;p18"/>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Giá trị của rdf:ID là 1 "URI tương đối".</a:t>
            </a:r>
            <a:endParaRPr/>
          </a:p>
          <a:p>
            <a:pPr indent="-381000" lvl="0" marL="457200" rtl="0" algn="l">
              <a:spcBef>
                <a:spcPts val="0"/>
              </a:spcBef>
              <a:spcAft>
                <a:spcPts val="0"/>
              </a:spcAft>
              <a:buSzPts val="2400"/>
              <a:buChar char="●"/>
            </a:pPr>
            <a:r>
              <a:rPr lang="en-GB"/>
              <a:t>"URI hoàn thiện" thu được bằng cách ghép URL của tài liệu XML với "#" và sau đó là giá trị của rdf:ID, ví dụ:</a:t>
            </a:r>
            <a:endParaRPr/>
          </a:p>
        </p:txBody>
      </p:sp>
      <p:sp>
        <p:nvSpPr>
          <p:cNvPr id="119" name="Google Shape;119;p18"/>
          <p:cNvSpPr txBox="1"/>
          <p:nvPr/>
        </p:nvSpPr>
        <p:spPr>
          <a:xfrm>
            <a:off x="328525" y="4991525"/>
            <a:ext cx="8593500" cy="103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Giả sử tài liệu RDF/XML nằm ở địa chỉ URL: </a:t>
            </a:r>
            <a:endParaRPr sz="1800"/>
          </a:p>
          <a:p>
            <a:pPr indent="0" lvl="0" marL="0" rtl="0" algn="r">
              <a:spcBef>
                <a:spcPts val="0"/>
              </a:spcBef>
              <a:spcAft>
                <a:spcPts val="0"/>
              </a:spcAft>
              <a:buNone/>
            </a:pPr>
            <a:r>
              <a:rPr lang="en-GB" sz="1800"/>
              <a:t>http://www.vietnam.org/dialy/song-suoi</a:t>
            </a:r>
            <a:endParaRPr sz="1800"/>
          </a:p>
          <a:p>
            <a:pPr indent="0" lvl="0" marL="0" rtl="0" algn="l">
              <a:spcBef>
                <a:spcPts val="0"/>
              </a:spcBef>
              <a:spcAft>
                <a:spcPts val="0"/>
              </a:spcAft>
              <a:buNone/>
            </a:pPr>
            <a:r>
              <a:rPr lang="en-GB" sz="1800"/>
              <a:t>Thì URI đầy đủ cho tài nguyên này là: </a:t>
            </a:r>
            <a:endParaRPr sz="1800"/>
          </a:p>
        </p:txBody>
      </p:sp>
      <p:sp>
        <p:nvSpPr>
          <p:cNvPr id="120" name="Google Shape;120;p18"/>
          <p:cNvSpPr/>
          <p:nvPr/>
        </p:nvSpPr>
        <p:spPr>
          <a:xfrm>
            <a:off x="860975" y="2327467"/>
            <a:ext cx="7229700" cy="2345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600"/>
              <a:t>&lt;?xml version="1.0"?&gt;</a:t>
            </a:r>
            <a:endParaRPr sz="1600"/>
          </a:p>
          <a:p>
            <a:pPr indent="0" lvl="0" marL="0" rtl="0" algn="just">
              <a:spcBef>
                <a:spcPts val="0"/>
              </a:spcBef>
              <a:spcAft>
                <a:spcPts val="0"/>
              </a:spcAft>
              <a:buNone/>
            </a:pPr>
            <a:r>
              <a:rPr lang="en-GB" sz="1600"/>
              <a:t>&lt;</a:t>
            </a:r>
            <a:r>
              <a:rPr lang="en-GB" sz="1600"/>
              <a:t>rdf:RDF </a:t>
            </a:r>
            <a:r>
              <a:rPr lang="en-GB" sz="1600">
                <a:solidFill>
                  <a:schemeClr val="dk1"/>
                </a:solidFill>
              </a:rPr>
              <a:t>xmlns="http://www.geography.org/river#"</a:t>
            </a:r>
            <a:endParaRPr sz="1600">
              <a:solidFill>
                <a:schemeClr val="dk1"/>
              </a:solidFill>
            </a:endParaRPr>
          </a:p>
          <a:p>
            <a:pPr indent="0" lvl="0" marL="0" rtl="0" algn="just">
              <a:spcBef>
                <a:spcPts val="0"/>
              </a:spcBef>
              <a:spcAft>
                <a:spcPts val="0"/>
              </a:spcAft>
              <a:buNone/>
            </a:pPr>
            <a:r>
              <a:rPr lang="en-GB" sz="1600">
                <a:solidFill>
                  <a:schemeClr val="dk1"/>
                </a:solidFill>
              </a:rPr>
              <a:t>                </a:t>
            </a:r>
            <a:r>
              <a:rPr b="1" lang="en-GB" sz="1600">
                <a:solidFill>
                  <a:schemeClr val="dk1"/>
                </a:solidFill>
              </a:rPr>
              <a:t>xmlns:rdf="http://www.w3.org/1999/02/22-rdf-syntax-ns#"</a:t>
            </a:r>
            <a:endParaRPr sz="1600">
              <a:solidFill>
                <a:schemeClr val="dk1"/>
              </a:solidFill>
            </a:endParaRPr>
          </a:p>
          <a:p>
            <a:pPr indent="0" lvl="0" marL="0" rtl="0" algn="just">
              <a:spcBef>
                <a:spcPts val="0"/>
              </a:spcBef>
              <a:spcAft>
                <a:spcPts val="0"/>
              </a:spcAft>
              <a:buNone/>
            </a:pPr>
            <a:r>
              <a:rPr lang="en-GB" sz="1600"/>
              <a:t>&lt;</a:t>
            </a:r>
            <a:r>
              <a:rPr lang="en-GB" sz="1600"/>
              <a:t>River </a:t>
            </a:r>
            <a:r>
              <a:rPr b="1" lang="en-GB" sz="1600"/>
              <a:t>rdf:ID</a:t>
            </a:r>
            <a:r>
              <a:rPr lang="en-GB" sz="1600"/>
              <a:t>="Mekong"&gt;</a:t>
            </a:r>
            <a:endParaRPr sz="1600"/>
          </a:p>
          <a:p>
            <a:pPr indent="0" lvl="0" marL="0" rtl="0" algn="just">
              <a:spcBef>
                <a:spcPts val="0"/>
              </a:spcBef>
              <a:spcAft>
                <a:spcPts val="0"/>
              </a:spcAft>
              <a:buNone/>
            </a:pPr>
            <a:r>
              <a:rPr lang="en-GB" sz="1600"/>
              <a:t>  &lt;length&gt;4350 km&lt;/length&gt;</a:t>
            </a:r>
            <a:endParaRPr sz="1600"/>
          </a:p>
          <a:p>
            <a:pPr indent="0" lvl="0" marL="0" rtl="0" algn="just">
              <a:spcBef>
                <a:spcPts val="0"/>
              </a:spcBef>
              <a:spcAft>
                <a:spcPts val="0"/>
              </a:spcAft>
              <a:buNone/>
            </a:pPr>
            <a:r>
              <a:rPr lang="en-GB" sz="1600"/>
              <a:t>  &lt;startingLocation&gt;Thanh Hải, Trung Quốc&lt;/startingLocation&gt;</a:t>
            </a:r>
            <a:endParaRPr sz="1600"/>
          </a:p>
          <a:p>
            <a:pPr indent="0" lvl="0" marL="0" rtl="0" algn="just">
              <a:spcBef>
                <a:spcPts val="0"/>
              </a:spcBef>
              <a:spcAft>
                <a:spcPts val="0"/>
              </a:spcAft>
              <a:buNone/>
            </a:pPr>
            <a:r>
              <a:rPr lang="en-GB" sz="1600"/>
              <a:t>  &lt;endingLocation&gt;Đồng bằng sông Cửu Long, Việt Nam&lt;/endingLocation&gt;</a:t>
            </a:r>
            <a:endParaRPr sz="1600"/>
          </a:p>
          <a:p>
            <a:pPr indent="0" lvl="0" marL="0" rtl="0" algn="just">
              <a:spcBef>
                <a:spcPts val="0"/>
              </a:spcBef>
              <a:spcAft>
                <a:spcPts val="0"/>
              </a:spcAft>
              <a:buNone/>
            </a:pPr>
            <a:r>
              <a:rPr lang="en-GB" sz="1600"/>
              <a:t>&lt;/River&gt;</a:t>
            </a:r>
            <a:endParaRPr sz="1600"/>
          </a:p>
          <a:p>
            <a:pPr indent="0" lvl="0" marL="0" rtl="0" algn="just">
              <a:spcBef>
                <a:spcPts val="0"/>
              </a:spcBef>
              <a:spcAft>
                <a:spcPts val="0"/>
              </a:spcAft>
              <a:buNone/>
            </a:pPr>
            <a:r>
              <a:rPr lang="en-GB" sz="1600"/>
              <a:t>&lt;/</a:t>
            </a:r>
            <a:r>
              <a:rPr lang="en-GB" sz="1600"/>
              <a:t>rdf:RDF&gt;</a:t>
            </a:r>
            <a:endParaRPr sz="1600"/>
          </a:p>
          <a:p>
            <a:pPr indent="0" lvl="0" marL="0" rtl="0" algn="just">
              <a:spcBef>
                <a:spcPts val="0"/>
              </a:spcBef>
              <a:spcAft>
                <a:spcPts val="0"/>
              </a:spcAft>
              <a:buNone/>
            </a:pPr>
            <a:r>
              <a:t/>
            </a:r>
            <a:endParaRPr sz="1600"/>
          </a:p>
        </p:txBody>
      </p:sp>
      <p:sp>
        <p:nvSpPr>
          <p:cNvPr id="121" name="Google Shape;121;p18"/>
          <p:cNvSpPr txBox="1"/>
          <p:nvPr/>
        </p:nvSpPr>
        <p:spPr>
          <a:xfrm>
            <a:off x="3385800" y="4647232"/>
            <a:ext cx="1388400" cy="3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t>Mekong.rdf</a:t>
            </a:r>
            <a:endParaRPr b="1" sz="1600"/>
          </a:p>
        </p:txBody>
      </p:sp>
      <p:sp>
        <p:nvSpPr>
          <p:cNvPr id="122" name="Google Shape;122;p18"/>
          <p:cNvSpPr/>
          <p:nvPr/>
        </p:nvSpPr>
        <p:spPr>
          <a:xfrm>
            <a:off x="2585125" y="6002450"/>
            <a:ext cx="5197500" cy="478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http://www.vietnam.org/dialy/song-suoi</a:t>
            </a:r>
            <a:r>
              <a:rPr lang="en-GB" sz="1800">
                <a:solidFill>
                  <a:schemeClr val="dk1"/>
                </a:solidFill>
              </a:rPr>
              <a:t>#Mekong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xml:base</a:t>
            </a:r>
            <a:endParaRPr/>
          </a:p>
        </p:txBody>
      </p:sp>
      <p:sp>
        <p:nvSpPr>
          <p:cNvPr id="128" name="Google Shape;128;p19"/>
          <p:cNvSpPr txBox="1"/>
          <p:nvPr>
            <p:ph idx="4294967295" type="body"/>
          </p:nvPr>
        </p:nvSpPr>
        <p:spPr>
          <a:xfrm>
            <a:off x="311700" y="850825"/>
            <a:ext cx="8709600" cy="1811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Định danh phụ thuộc vào địa chỉ của tài liệu sẽ không còn hiệu lực khi tài liệu được di chuyển, hoặc sao chép sang địa chỉ khác.</a:t>
            </a:r>
            <a:endParaRPr/>
          </a:p>
          <a:p>
            <a:pPr indent="-381000" lvl="0" marL="457200" rtl="0" algn="l">
              <a:spcBef>
                <a:spcPts val="0"/>
              </a:spcBef>
              <a:spcAft>
                <a:spcPts val="0"/>
              </a:spcAft>
              <a:buSzPts val="2400"/>
              <a:buChar char="●"/>
            </a:pPr>
            <a:r>
              <a:rPr lang="en-GB"/>
              <a:t>Giải pháp ổn định hơn là xác định gốc của URI trong tài liệu</a:t>
            </a:r>
            <a:endParaRPr/>
          </a:p>
        </p:txBody>
      </p:sp>
      <p:sp>
        <p:nvSpPr>
          <p:cNvPr id="129" name="Google Shape;129;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0" name="Google Shape;130;p19"/>
          <p:cNvSpPr/>
          <p:nvPr/>
        </p:nvSpPr>
        <p:spPr>
          <a:xfrm>
            <a:off x="1089575" y="2739500"/>
            <a:ext cx="7237500" cy="2652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600">
                <a:solidFill>
                  <a:srgbClr val="434343"/>
                </a:solidFill>
              </a:rPr>
              <a:t>&lt;?xml version="1.0"?&gt;</a:t>
            </a:r>
            <a:endParaRPr sz="1600">
              <a:solidFill>
                <a:srgbClr val="434343"/>
              </a:solidFill>
            </a:endParaRPr>
          </a:p>
          <a:p>
            <a:pPr indent="0" lvl="0" marL="0" rtl="0" algn="just">
              <a:spcBef>
                <a:spcPts val="0"/>
              </a:spcBef>
              <a:spcAft>
                <a:spcPts val="0"/>
              </a:spcAft>
              <a:buNone/>
            </a:pPr>
            <a:r>
              <a:rPr lang="en-GB" sz="1600">
                <a:solidFill>
                  <a:srgbClr val="434343"/>
                </a:solidFill>
              </a:rPr>
              <a:t>&lt;</a:t>
            </a:r>
            <a:r>
              <a:rPr lang="en-GB" sz="1600">
                <a:solidFill>
                  <a:srgbClr val="434343"/>
                </a:solidFill>
              </a:rPr>
              <a:t>rdf:RDF xmlns="http://www.geography.org/river#"</a:t>
            </a:r>
            <a:endParaRPr sz="1600">
              <a:solidFill>
                <a:srgbClr val="434343"/>
              </a:solidFill>
            </a:endParaRPr>
          </a:p>
          <a:p>
            <a:pPr indent="0" lvl="0" marL="0" rtl="0" algn="just">
              <a:spcBef>
                <a:spcPts val="0"/>
              </a:spcBef>
              <a:spcAft>
                <a:spcPts val="0"/>
              </a:spcAft>
              <a:buNone/>
            </a:pPr>
            <a:r>
              <a:rPr lang="en-GB" sz="1600">
                <a:solidFill>
                  <a:srgbClr val="434343"/>
                </a:solidFill>
              </a:rPr>
              <a:t>         xmlns:rdf="http://www.w3.org/1999/02/22-rdf-syntax-ns#"</a:t>
            </a:r>
            <a:endParaRPr sz="1600">
              <a:solidFill>
                <a:srgbClr val="434343"/>
              </a:solidFill>
            </a:endParaRPr>
          </a:p>
          <a:p>
            <a:pPr indent="0" lvl="0" marL="0" rtl="0" algn="just">
              <a:spcBef>
                <a:spcPts val="0"/>
              </a:spcBef>
              <a:spcAft>
                <a:spcPts val="0"/>
              </a:spcAft>
              <a:buNone/>
            </a:pPr>
            <a:r>
              <a:rPr lang="en-GB" sz="1600">
                <a:solidFill>
                  <a:srgbClr val="434343"/>
                </a:solidFill>
              </a:rPr>
              <a:t>	</a:t>
            </a:r>
            <a:r>
              <a:rPr b="1" lang="en-GB" sz="1600">
                <a:solidFill>
                  <a:srgbClr val="434343"/>
                </a:solidFill>
              </a:rPr>
              <a:t>xml:base="http://www.vietnam.org/dialy/song-suoi#"</a:t>
            </a:r>
            <a:r>
              <a:rPr lang="en-GB" sz="1600">
                <a:solidFill>
                  <a:srgbClr val="434343"/>
                </a:solidFill>
              </a:rPr>
              <a:t>&gt;</a:t>
            </a:r>
            <a:endParaRPr sz="1600">
              <a:solidFill>
                <a:srgbClr val="434343"/>
              </a:solidFill>
            </a:endParaRPr>
          </a:p>
          <a:p>
            <a:pPr indent="0" lvl="0" marL="0" rtl="0" algn="just">
              <a:spcBef>
                <a:spcPts val="0"/>
              </a:spcBef>
              <a:spcAft>
                <a:spcPts val="0"/>
              </a:spcAft>
              <a:buNone/>
            </a:pPr>
            <a:r>
              <a:rPr lang="en-GB" sz="1600">
                <a:solidFill>
                  <a:srgbClr val="434343"/>
                </a:solidFill>
              </a:rPr>
              <a:t>&lt;River</a:t>
            </a:r>
            <a:r>
              <a:rPr lang="en-GB" sz="1600">
                <a:solidFill>
                  <a:srgbClr val="434343"/>
                </a:solidFill>
              </a:rPr>
              <a:t> rdf:ID</a:t>
            </a:r>
            <a:r>
              <a:rPr lang="en-GB" sz="1600">
                <a:solidFill>
                  <a:srgbClr val="434343"/>
                </a:solidFill>
              </a:rPr>
              <a:t>="Mekong"&gt;</a:t>
            </a:r>
            <a:endParaRPr sz="1600">
              <a:solidFill>
                <a:srgbClr val="434343"/>
              </a:solidFill>
            </a:endParaRPr>
          </a:p>
          <a:p>
            <a:pPr indent="0" lvl="0" marL="0" rtl="0" algn="just">
              <a:spcBef>
                <a:spcPts val="0"/>
              </a:spcBef>
              <a:spcAft>
                <a:spcPts val="0"/>
              </a:spcAft>
              <a:buNone/>
            </a:pPr>
            <a:r>
              <a:rPr lang="en-GB" sz="1600">
                <a:solidFill>
                  <a:srgbClr val="434343"/>
                </a:solidFill>
              </a:rPr>
              <a:t>  &lt;length&gt;4350 km&lt;/length&gt;</a:t>
            </a:r>
            <a:endParaRPr sz="1600">
              <a:solidFill>
                <a:srgbClr val="434343"/>
              </a:solidFill>
            </a:endParaRPr>
          </a:p>
          <a:p>
            <a:pPr indent="0" lvl="0" marL="0" rtl="0" algn="just">
              <a:spcBef>
                <a:spcPts val="0"/>
              </a:spcBef>
              <a:spcAft>
                <a:spcPts val="0"/>
              </a:spcAft>
              <a:buNone/>
            </a:pPr>
            <a:r>
              <a:rPr lang="en-GB" sz="1600">
                <a:solidFill>
                  <a:srgbClr val="434343"/>
                </a:solidFill>
              </a:rPr>
              <a:t>  &lt;startingLocation&gt;Thanh Hải, Trung Quốc&lt;/startingLocation&gt;</a:t>
            </a:r>
            <a:endParaRPr sz="1600">
              <a:solidFill>
                <a:srgbClr val="434343"/>
              </a:solidFill>
            </a:endParaRPr>
          </a:p>
          <a:p>
            <a:pPr indent="0" lvl="0" marL="0" rtl="0" algn="just">
              <a:spcBef>
                <a:spcPts val="0"/>
              </a:spcBef>
              <a:spcAft>
                <a:spcPts val="0"/>
              </a:spcAft>
              <a:buNone/>
            </a:pPr>
            <a:r>
              <a:rPr lang="en-GB" sz="1600">
                <a:solidFill>
                  <a:srgbClr val="434343"/>
                </a:solidFill>
              </a:rPr>
              <a:t>  &lt;endingLocation&gt;Đồng bằng sông Cửu Long, Việt Nam&lt;/endingLocation&gt;</a:t>
            </a:r>
            <a:endParaRPr sz="1600">
              <a:solidFill>
                <a:srgbClr val="434343"/>
              </a:solidFill>
            </a:endParaRPr>
          </a:p>
          <a:p>
            <a:pPr indent="0" lvl="0" marL="0" rtl="0" algn="just">
              <a:spcBef>
                <a:spcPts val="0"/>
              </a:spcBef>
              <a:spcAft>
                <a:spcPts val="0"/>
              </a:spcAft>
              <a:buNone/>
            </a:pPr>
            <a:r>
              <a:rPr lang="en-GB" sz="1600">
                <a:solidFill>
                  <a:srgbClr val="434343"/>
                </a:solidFill>
              </a:rPr>
              <a:t>&lt;/River&gt;</a:t>
            </a:r>
            <a:endParaRPr sz="1600">
              <a:solidFill>
                <a:srgbClr val="434343"/>
              </a:solidFill>
            </a:endParaRPr>
          </a:p>
          <a:p>
            <a:pPr indent="0" lvl="0" marL="0" rtl="0" algn="just">
              <a:spcBef>
                <a:spcPts val="0"/>
              </a:spcBef>
              <a:spcAft>
                <a:spcPts val="0"/>
              </a:spcAft>
              <a:buNone/>
            </a:pPr>
            <a:r>
              <a:rPr lang="en-GB" sz="1600">
                <a:solidFill>
                  <a:srgbClr val="434343"/>
                </a:solidFill>
              </a:rPr>
              <a:t>&lt;/rdf:RDF&gt;</a:t>
            </a:r>
            <a:endParaRPr sz="1600">
              <a:solidFill>
                <a:srgbClr val="434343"/>
              </a:solidFill>
            </a:endParaRPr>
          </a:p>
          <a:p>
            <a:pPr indent="0" lvl="0" marL="0" rtl="0" algn="just">
              <a:spcBef>
                <a:spcPts val="0"/>
              </a:spcBef>
              <a:spcAft>
                <a:spcPts val="0"/>
              </a:spcAft>
              <a:buNone/>
            </a:pPr>
            <a:r>
              <a:t/>
            </a:r>
            <a:endParaRPr sz="1600">
              <a:solidFill>
                <a:srgbClr val="434343"/>
              </a:solidFill>
            </a:endParaRPr>
          </a:p>
        </p:txBody>
      </p:sp>
      <p:sp>
        <p:nvSpPr>
          <p:cNvPr id="131" name="Google Shape;131;p19"/>
          <p:cNvSpPr txBox="1"/>
          <p:nvPr/>
        </p:nvSpPr>
        <p:spPr>
          <a:xfrm>
            <a:off x="675650" y="5400875"/>
            <a:ext cx="7880700" cy="108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434343"/>
                </a:solidFill>
              </a:rPr>
              <a:t>URI tài nguyên = Nối tiếp(xml:base, ‘#’, rdf:ID) </a:t>
            </a:r>
            <a:r>
              <a:rPr i="1" lang="en-GB" sz="1800">
                <a:solidFill>
                  <a:srgbClr val="434343"/>
                </a:solidFill>
              </a:rPr>
              <a:t>*</a:t>
            </a:r>
            <a:endParaRPr i="1" sz="1800">
              <a:solidFill>
                <a:srgbClr val="434343"/>
              </a:solidFill>
            </a:endParaRPr>
          </a:p>
          <a:p>
            <a:pPr indent="0" lvl="0" marL="0" rtl="0" algn="l">
              <a:spcBef>
                <a:spcPts val="0"/>
              </a:spcBef>
              <a:spcAft>
                <a:spcPts val="0"/>
              </a:spcAft>
              <a:buNone/>
            </a:pPr>
            <a:r>
              <a:rPr lang="en-GB" sz="1800">
                <a:solidFill>
                  <a:srgbClr val="434343"/>
                </a:solidFill>
              </a:rPr>
              <a:t>   = Nối tiếp(</a:t>
            </a:r>
            <a:r>
              <a:rPr lang="en-GB" sz="1800">
                <a:solidFill>
                  <a:srgbClr val="434343"/>
                </a:solidFill>
              </a:rPr>
              <a:t>http://www.vietnam.org/dialy/song-suoi, ‘#’, "Mekong")</a:t>
            </a:r>
            <a:endParaRPr sz="1800">
              <a:solidFill>
                <a:srgbClr val="434343"/>
              </a:solidFill>
            </a:endParaRPr>
          </a:p>
          <a:p>
            <a:pPr indent="0" lvl="0" marL="0" rtl="0" algn="l">
              <a:spcBef>
                <a:spcPts val="0"/>
              </a:spcBef>
              <a:spcAft>
                <a:spcPts val="0"/>
              </a:spcAft>
              <a:buNone/>
            </a:pPr>
            <a:r>
              <a:rPr lang="en-GB" sz="1800">
                <a:solidFill>
                  <a:srgbClr val="434343"/>
                </a:solidFill>
              </a:rPr>
              <a:t>   = http://www.vietnam.org/dialy/song-suoi#Mekong</a:t>
            </a:r>
            <a:endParaRPr sz="1800">
              <a:solidFill>
                <a:srgbClr val="434343"/>
              </a:solidFill>
            </a:endParaRPr>
          </a:p>
          <a:p>
            <a:pPr indent="0" lvl="0" marL="0" rtl="0" algn="l">
              <a:spcBef>
                <a:spcPts val="0"/>
              </a:spcBef>
              <a:spcAft>
                <a:spcPts val="0"/>
              </a:spcAft>
              <a:buNone/>
            </a:pPr>
            <a:r>
              <a:rPr i="1" lang="en-GB" sz="1800">
                <a:solidFill>
                  <a:srgbClr val="434343"/>
                </a:solidFill>
              </a:rPr>
              <a:t>* - Apache Jena sử dụng 1 dấu # nếu base được kết thúc bằng dấu #</a:t>
            </a:r>
            <a:endParaRPr i="1" sz="1800">
              <a:solidFill>
                <a:srgbClr val="43434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7" name="Google Shape;137;p2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rdf:about</a:t>
            </a:r>
            <a:endParaRPr/>
          </a:p>
        </p:txBody>
      </p:sp>
      <p:sp>
        <p:nvSpPr>
          <p:cNvPr id="138" name="Google Shape;138;p20"/>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Thay vì xác định tài nguyên với URI tương đối (và bổ xung địa chỉ cơ sở), chúng ta có thể sử dụng định danh đầy đủ của tài nguyên. Tuy nhiên chúng ta sử dụng rdf:about thay cho rdf:ID trong trường hợp này:</a:t>
            </a:r>
            <a:endParaRPr/>
          </a:p>
        </p:txBody>
      </p:sp>
      <p:sp>
        <p:nvSpPr>
          <p:cNvPr id="139" name="Google Shape;139;p20"/>
          <p:cNvSpPr/>
          <p:nvPr/>
        </p:nvSpPr>
        <p:spPr>
          <a:xfrm>
            <a:off x="403775" y="2815700"/>
            <a:ext cx="8068800" cy="2645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800"/>
              <a:t>&lt;?xml </a:t>
            </a:r>
            <a:r>
              <a:rPr lang="en-GB" sz="1800"/>
              <a:t>version</a:t>
            </a:r>
            <a:r>
              <a:rPr lang="en-GB" sz="1800"/>
              <a:t>="1.0"?&gt;</a:t>
            </a:r>
            <a:endParaRPr sz="1800"/>
          </a:p>
          <a:p>
            <a:pPr indent="0" lvl="0" marL="0" rtl="0" algn="just">
              <a:spcBef>
                <a:spcPts val="0"/>
              </a:spcBef>
              <a:spcAft>
                <a:spcPts val="0"/>
              </a:spcAft>
              <a:buNone/>
            </a:pPr>
            <a:r>
              <a:rPr lang="en-GB" sz="1800"/>
              <a:t>&lt;rdf:RDF </a:t>
            </a:r>
            <a:r>
              <a:rPr lang="en-GB" sz="1800">
                <a:solidFill>
                  <a:schemeClr val="dk1"/>
                </a:solidFill>
              </a:rPr>
              <a:t>xmlns="http://www.geography.org/river#"</a:t>
            </a:r>
            <a:endParaRPr sz="1800">
              <a:solidFill>
                <a:schemeClr val="dk1"/>
              </a:solidFill>
            </a:endParaRPr>
          </a:p>
          <a:p>
            <a:pPr indent="0" lvl="0" marL="0" rtl="0" algn="just">
              <a:spcBef>
                <a:spcPts val="0"/>
              </a:spcBef>
              <a:spcAft>
                <a:spcPts val="0"/>
              </a:spcAft>
              <a:buNone/>
            </a:pPr>
            <a:r>
              <a:rPr lang="en-GB" sz="1800">
                <a:solidFill>
                  <a:schemeClr val="dk1"/>
                </a:solidFill>
              </a:rPr>
              <a:t>                xmlns:rdf="http://www.w3.org/1999/02/22-rdf-syntax-ns#"&gt;</a:t>
            </a:r>
            <a:endParaRPr sz="1800">
              <a:solidFill>
                <a:schemeClr val="dk1"/>
              </a:solidFill>
            </a:endParaRPr>
          </a:p>
          <a:p>
            <a:pPr indent="0" lvl="0" marL="0" rtl="0" algn="just">
              <a:spcBef>
                <a:spcPts val="0"/>
              </a:spcBef>
              <a:spcAft>
                <a:spcPts val="0"/>
              </a:spcAft>
              <a:buNone/>
            </a:pPr>
            <a:r>
              <a:rPr lang="en-GB" sz="1800"/>
              <a:t>&lt;River </a:t>
            </a:r>
            <a:r>
              <a:rPr b="1" lang="en-GB" sz="1800"/>
              <a:t>rdf:</a:t>
            </a:r>
            <a:r>
              <a:rPr b="1" lang="en-GB" sz="1800"/>
              <a:t>about</a:t>
            </a:r>
            <a:r>
              <a:rPr b="1" lang="en-GB" sz="1800"/>
              <a:t>="</a:t>
            </a:r>
            <a:r>
              <a:rPr b="1" lang="en-GB" sz="1800">
                <a:solidFill>
                  <a:schemeClr val="dk1"/>
                </a:solidFill>
              </a:rPr>
              <a:t>http://www.vietnam.org/dialy/song-suoi#Mekong</a:t>
            </a:r>
            <a:r>
              <a:rPr b="1" lang="en-GB" sz="1800"/>
              <a:t>"</a:t>
            </a:r>
            <a:r>
              <a:rPr lang="en-GB" sz="1800"/>
              <a:t>&gt;</a:t>
            </a:r>
            <a:endParaRPr sz="1800"/>
          </a:p>
          <a:p>
            <a:pPr indent="0" lvl="0" marL="0" rtl="0" algn="just">
              <a:spcBef>
                <a:spcPts val="0"/>
              </a:spcBef>
              <a:spcAft>
                <a:spcPts val="0"/>
              </a:spcAft>
              <a:buNone/>
            </a:pPr>
            <a:r>
              <a:rPr lang="en-GB" sz="1800"/>
              <a:t>  &lt;length&gt;4350 km&lt;/length&gt;</a:t>
            </a:r>
            <a:endParaRPr sz="1800"/>
          </a:p>
          <a:p>
            <a:pPr indent="0" lvl="0" marL="0" rtl="0" algn="just">
              <a:spcBef>
                <a:spcPts val="0"/>
              </a:spcBef>
              <a:spcAft>
                <a:spcPts val="0"/>
              </a:spcAft>
              <a:buNone/>
            </a:pPr>
            <a:r>
              <a:rPr lang="en-GB" sz="1800"/>
              <a:t>  &lt;startingLocation&gt;Thanh Hải, Trung Quốc&lt;/startingLocation&gt;</a:t>
            </a:r>
            <a:endParaRPr sz="1800"/>
          </a:p>
          <a:p>
            <a:pPr indent="0" lvl="0" marL="0" rtl="0" algn="just">
              <a:spcBef>
                <a:spcPts val="0"/>
              </a:spcBef>
              <a:spcAft>
                <a:spcPts val="0"/>
              </a:spcAft>
              <a:buNone/>
            </a:pPr>
            <a:r>
              <a:rPr lang="en-GB" sz="1800"/>
              <a:t>  &lt;endingLocation&gt;Đồng bằng sông Cửu Long, Việt Nam&lt;/endingLocation&gt;</a:t>
            </a:r>
            <a:endParaRPr sz="1800"/>
          </a:p>
          <a:p>
            <a:pPr indent="0" lvl="0" marL="0" rtl="0" algn="just">
              <a:spcBef>
                <a:spcPts val="0"/>
              </a:spcBef>
              <a:spcAft>
                <a:spcPts val="0"/>
              </a:spcAft>
              <a:buNone/>
            </a:pPr>
            <a:r>
              <a:rPr lang="en-GB" sz="1800"/>
              <a:t>&lt;/River&gt;</a:t>
            </a:r>
            <a:endParaRPr sz="1800"/>
          </a:p>
          <a:p>
            <a:pPr indent="0" lvl="0" marL="0" rtl="0" algn="just">
              <a:spcBef>
                <a:spcPts val="0"/>
              </a:spcBef>
              <a:spcAft>
                <a:spcPts val="0"/>
              </a:spcAft>
              <a:buNone/>
            </a:pPr>
            <a:r>
              <a:rPr lang="en-GB" sz="1800"/>
              <a:t>&lt;/rdf:RDF&gt;</a:t>
            </a:r>
            <a:endParaRPr sz="1800"/>
          </a:p>
          <a:p>
            <a:pPr indent="0" lvl="0" marL="0" rtl="0" algn="just">
              <a:spcBef>
                <a:spcPts val="0"/>
              </a:spcBef>
              <a:spcAft>
                <a:spcPts val="0"/>
              </a:spcAft>
              <a:buNone/>
            </a:pPr>
            <a:r>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bộ ba trong định dạng RDF</a:t>
            </a:r>
            <a:endParaRPr/>
          </a:p>
        </p:txBody>
      </p:sp>
      <p:sp>
        <p:nvSpPr>
          <p:cNvPr id="145" name="Google Shape;145;p21"/>
          <p:cNvSpPr txBox="1"/>
          <p:nvPr>
            <p:ph idx="4294967295" type="body"/>
          </p:nvPr>
        </p:nvSpPr>
        <p:spPr>
          <a:xfrm>
            <a:off x="311700" y="774631"/>
            <a:ext cx="8520600" cy="1099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2200"/>
              <a:t>Mẫu thiết kế cơ bản của RDF/XML biểu diễn các bộ-3 Tài nguyên - thuộc tính - giá trị với các cặp thuộc tính - giá trị luân phiên liên tiếp theo các tầng lồng nhau.</a:t>
            </a:r>
            <a:endParaRPr sz="2200"/>
          </a:p>
        </p:txBody>
      </p:sp>
      <p:sp>
        <p:nvSpPr>
          <p:cNvPr id="146" name="Google Shape;146;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7" name="Google Shape;147;p21"/>
          <p:cNvSpPr/>
          <p:nvPr/>
        </p:nvSpPr>
        <p:spPr>
          <a:xfrm>
            <a:off x="2467551" y="2061294"/>
            <a:ext cx="2822400" cy="2673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&lt;</a:t>
            </a:r>
            <a:r>
              <a:rPr lang="en-GB"/>
              <a:t>Tài nguyên A&gt;</a:t>
            </a:r>
            <a:endParaRPr/>
          </a:p>
        </p:txBody>
      </p:sp>
      <p:sp>
        <p:nvSpPr>
          <p:cNvPr id="148" name="Google Shape;148;p21"/>
          <p:cNvSpPr/>
          <p:nvPr/>
        </p:nvSpPr>
        <p:spPr>
          <a:xfrm>
            <a:off x="2467551" y="2333422"/>
            <a:ext cx="2822400" cy="267300"/>
          </a:xfrm>
          <a:prstGeom prst="rect">
            <a:avLst/>
          </a:prstGeom>
          <a:no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     &lt;</a:t>
            </a:r>
            <a:r>
              <a:rPr lang="en-GB"/>
              <a:t>thuộc tính A&gt;</a:t>
            </a:r>
            <a:endParaRPr/>
          </a:p>
        </p:txBody>
      </p:sp>
      <p:sp>
        <p:nvSpPr>
          <p:cNvPr id="149" name="Google Shape;149;p21"/>
          <p:cNvSpPr/>
          <p:nvPr/>
        </p:nvSpPr>
        <p:spPr>
          <a:xfrm>
            <a:off x="2467551" y="2604642"/>
            <a:ext cx="2822400" cy="2673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          &lt;</a:t>
            </a:r>
            <a:r>
              <a:rPr lang="en-GB"/>
              <a:t>Tài nguyên B&gt;</a:t>
            </a:r>
            <a:endParaRPr/>
          </a:p>
        </p:txBody>
      </p:sp>
      <p:sp>
        <p:nvSpPr>
          <p:cNvPr id="150" name="Google Shape;150;p21"/>
          <p:cNvSpPr/>
          <p:nvPr/>
        </p:nvSpPr>
        <p:spPr>
          <a:xfrm>
            <a:off x="2467551" y="2876770"/>
            <a:ext cx="2822400" cy="267300"/>
          </a:xfrm>
          <a:prstGeom prst="rect">
            <a:avLst/>
          </a:prstGeom>
          <a:no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               &lt;</a:t>
            </a:r>
            <a:r>
              <a:rPr lang="en-GB"/>
              <a:t>thuộc tính B&gt;</a:t>
            </a:r>
            <a:endParaRPr/>
          </a:p>
        </p:txBody>
      </p:sp>
      <p:sp>
        <p:nvSpPr>
          <p:cNvPr id="151" name="Google Shape;151;p21"/>
          <p:cNvSpPr/>
          <p:nvPr/>
        </p:nvSpPr>
        <p:spPr>
          <a:xfrm>
            <a:off x="2467551" y="3147989"/>
            <a:ext cx="2822400" cy="2673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                    &lt;</a:t>
            </a:r>
            <a:r>
              <a:rPr lang="en-GB"/>
              <a:t>Tài nguyên C&gt;</a:t>
            </a:r>
            <a:endParaRPr/>
          </a:p>
        </p:txBody>
      </p:sp>
      <p:sp>
        <p:nvSpPr>
          <p:cNvPr id="152" name="Google Shape;152;p21"/>
          <p:cNvSpPr/>
          <p:nvPr/>
        </p:nvSpPr>
        <p:spPr>
          <a:xfrm>
            <a:off x="2467551" y="3420117"/>
            <a:ext cx="2822400" cy="267300"/>
          </a:xfrm>
          <a:prstGeom prst="rect">
            <a:avLst/>
          </a:prstGeom>
          <a:no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                           &lt;</a:t>
            </a:r>
            <a:r>
              <a:rPr lang="en-GB"/>
              <a:t>thuộc tính C&gt;</a:t>
            </a:r>
            <a:endParaRPr/>
          </a:p>
        </p:txBody>
      </p:sp>
      <p:sp>
        <p:nvSpPr>
          <p:cNvPr id="153" name="Google Shape;153;p21"/>
          <p:cNvSpPr/>
          <p:nvPr/>
        </p:nvSpPr>
        <p:spPr>
          <a:xfrm>
            <a:off x="2467551" y="3691336"/>
            <a:ext cx="2822400" cy="2673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                                 </a:t>
            </a:r>
            <a:r>
              <a:rPr lang="en-GB"/>
              <a:t>Giá trị C</a:t>
            </a:r>
            <a:endParaRPr/>
          </a:p>
        </p:txBody>
      </p:sp>
      <p:sp>
        <p:nvSpPr>
          <p:cNvPr id="154" name="Google Shape;154;p21"/>
          <p:cNvSpPr/>
          <p:nvPr/>
        </p:nvSpPr>
        <p:spPr>
          <a:xfrm>
            <a:off x="2467551" y="3963464"/>
            <a:ext cx="2822400" cy="267300"/>
          </a:xfrm>
          <a:prstGeom prst="rect">
            <a:avLst/>
          </a:prstGeom>
          <a:no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                           &lt;/</a:t>
            </a:r>
            <a:r>
              <a:rPr lang="en-GB"/>
              <a:t>thuộc tính C&gt;</a:t>
            </a:r>
            <a:endParaRPr/>
          </a:p>
        </p:txBody>
      </p:sp>
      <p:sp>
        <p:nvSpPr>
          <p:cNvPr id="155" name="Google Shape;155;p21"/>
          <p:cNvSpPr/>
          <p:nvPr/>
        </p:nvSpPr>
        <p:spPr>
          <a:xfrm>
            <a:off x="2467551" y="4234683"/>
            <a:ext cx="2822400" cy="2673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                    &lt;/</a:t>
            </a:r>
            <a:r>
              <a:rPr lang="en-GB"/>
              <a:t>Tài nguyên C&gt;</a:t>
            </a:r>
            <a:endParaRPr/>
          </a:p>
        </p:txBody>
      </p:sp>
      <p:sp>
        <p:nvSpPr>
          <p:cNvPr id="156" name="Google Shape;156;p21"/>
          <p:cNvSpPr/>
          <p:nvPr/>
        </p:nvSpPr>
        <p:spPr>
          <a:xfrm>
            <a:off x="2467551" y="4506811"/>
            <a:ext cx="2822400" cy="267300"/>
          </a:xfrm>
          <a:prstGeom prst="rect">
            <a:avLst/>
          </a:prstGeom>
          <a:no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                &lt;/</a:t>
            </a:r>
            <a:r>
              <a:rPr lang="en-GB"/>
              <a:t>thuộc tính B&gt;</a:t>
            </a:r>
            <a:endParaRPr/>
          </a:p>
        </p:txBody>
      </p:sp>
      <p:sp>
        <p:nvSpPr>
          <p:cNvPr id="157" name="Google Shape;157;p21"/>
          <p:cNvSpPr/>
          <p:nvPr/>
        </p:nvSpPr>
        <p:spPr>
          <a:xfrm>
            <a:off x="2476103" y="4778031"/>
            <a:ext cx="2822400" cy="2673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            &lt;/</a:t>
            </a:r>
            <a:r>
              <a:rPr lang="en-GB"/>
              <a:t>Tài nguyên B&gt;</a:t>
            </a:r>
            <a:endParaRPr/>
          </a:p>
        </p:txBody>
      </p:sp>
      <p:sp>
        <p:nvSpPr>
          <p:cNvPr id="158" name="Google Shape;158;p21"/>
          <p:cNvSpPr/>
          <p:nvPr/>
        </p:nvSpPr>
        <p:spPr>
          <a:xfrm>
            <a:off x="2476103" y="5050159"/>
            <a:ext cx="2822400" cy="267300"/>
          </a:xfrm>
          <a:prstGeom prst="rect">
            <a:avLst/>
          </a:prstGeom>
          <a:no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       &lt;/</a:t>
            </a:r>
            <a:r>
              <a:rPr lang="en-GB"/>
              <a:t>thuộc tính A&gt;</a:t>
            </a:r>
            <a:endParaRPr/>
          </a:p>
        </p:txBody>
      </p:sp>
      <p:sp>
        <p:nvSpPr>
          <p:cNvPr id="159" name="Google Shape;159;p21"/>
          <p:cNvSpPr/>
          <p:nvPr/>
        </p:nvSpPr>
        <p:spPr>
          <a:xfrm>
            <a:off x="2476103" y="5302050"/>
            <a:ext cx="2822400" cy="2673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54000" lIns="90000" spcFirstLastPara="1" rIns="91425" wrap="square" tIns="54000">
            <a:noAutofit/>
          </a:bodyPr>
          <a:lstStyle/>
          <a:p>
            <a:pPr indent="0" lvl="0" marL="0" rtl="0" algn="l">
              <a:spcBef>
                <a:spcPts val="0"/>
              </a:spcBef>
              <a:spcAft>
                <a:spcPts val="0"/>
              </a:spcAft>
              <a:buNone/>
            </a:pPr>
            <a:r>
              <a:rPr lang="en-GB"/>
              <a:t>&lt;/Tài nguyên A&gt;</a:t>
            </a:r>
            <a:endParaRPr/>
          </a:p>
        </p:txBody>
      </p:sp>
      <p:sp>
        <p:nvSpPr>
          <p:cNvPr id="160" name="Google Shape;160;p21"/>
          <p:cNvSpPr txBox="1"/>
          <p:nvPr/>
        </p:nvSpPr>
        <p:spPr>
          <a:xfrm>
            <a:off x="5401700" y="2240400"/>
            <a:ext cx="3619500" cy="18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rgbClr val="434343"/>
                </a:solidFill>
              </a:rPr>
              <a:t>Mẫu thiết kế RDF/XML với chuỗi luân phiên tài nguyên-thuộc tính còn được biết đến là mẫu "phân tầng" (</a:t>
            </a:r>
            <a:r>
              <a:rPr b="1" i="1" lang="en-GB" sz="1800">
                <a:solidFill>
                  <a:srgbClr val="434343"/>
                </a:solidFill>
              </a:rPr>
              <a:t>striping</a:t>
            </a:r>
            <a:r>
              <a:rPr i="1" lang="en-GB" sz="1800">
                <a:solidFill>
                  <a:srgbClr val="434343"/>
                </a:solidFill>
              </a:rPr>
              <a:t>)</a:t>
            </a:r>
            <a:endParaRPr i="1" sz="1800">
              <a:solidFill>
                <a:srgbClr val="434343"/>
              </a:solidFill>
            </a:endParaRPr>
          </a:p>
        </p:txBody>
      </p:sp>
      <p:sp>
        <p:nvSpPr>
          <p:cNvPr id="161" name="Google Shape;161;p21"/>
          <p:cNvSpPr/>
          <p:nvPr/>
        </p:nvSpPr>
        <p:spPr>
          <a:xfrm>
            <a:off x="2231855" y="3159800"/>
            <a:ext cx="178200" cy="12990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1"/>
          <p:cNvSpPr txBox="1"/>
          <p:nvPr/>
        </p:nvSpPr>
        <p:spPr>
          <a:xfrm>
            <a:off x="1398025" y="3276600"/>
            <a:ext cx="957900" cy="81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Giá trị của thuộc tính B</a:t>
            </a:r>
            <a:endParaRPr/>
          </a:p>
        </p:txBody>
      </p:sp>
      <p:sp>
        <p:nvSpPr>
          <p:cNvPr id="163" name="Google Shape;163;p21"/>
          <p:cNvSpPr/>
          <p:nvPr/>
        </p:nvSpPr>
        <p:spPr>
          <a:xfrm>
            <a:off x="1263450" y="2604650"/>
            <a:ext cx="215700" cy="24456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1"/>
          <p:cNvSpPr txBox="1"/>
          <p:nvPr/>
        </p:nvSpPr>
        <p:spPr>
          <a:xfrm>
            <a:off x="407425" y="3352800"/>
            <a:ext cx="957900" cy="81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Giá trị của thuộc tính A</a:t>
            </a:r>
            <a:endParaRPr/>
          </a:p>
        </p:txBody>
      </p:sp>
      <p:sp>
        <p:nvSpPr>
          <p:cNvPr id="165" name="Google Shape;165;p21"/>
          <p:cNvSpPr txBox="1"/>
          <p:nvPr/>
        </p:nvSpPr>
        <p:spPr>
          <a:xfrm>
            <a:off x="394200" y="5490150"/>
            <a:ext cx="8274600" cy="10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rgbClr val="434343"/>
                </a:solidFill>
              </a:rPr>
              <a:t>Giá trị của thuộc tính có thể là hằng (ví dụ, giá trị của thuộc tính </a:t>
            </a:r>
            <a:r>
              <a:rPr lang="en-GB" sz="1800">
                <a:solidFill>
                  <a:srgbClr val="434343"/>
                </a:solidFill>
              </a:rPr>
              <a:t>length</a:t>
            </a:r>
            <a:r>
              <a:rPr i="1" lang="en-GB" sz="1800">
                <a:solidFill>
                  <a:srgbClr val="434343"/>
                </a:solidFill>
              </a:rPr>
              <a:t> là 4350 km), và cũng có thể là tài nguyên (ví dụ giá trị của thuộc tính A là Tài nguyên B, giá trị của thuộc tính B là tài nguyên C).</a:t>
            </a:r>
            <a:endParaRPr i="1" sz="1800">
              <a:solidFill>
                <a:srgbClr val="43434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1" name="Google Shape;171;p2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Quy tắc đặt tên</a:t>
            </a:r>
            <a:endParaRPr/>
          </a:p>
        </p:txBody>
      </p:sp>
      <p:sp>
        <p:nvSpPr>
          <p:cNvPr id="172" name="Google Shape;172;p22"/>
          <p:cNvSpPr txBox="1"/>
          <p:nvPr>
            <p:ph idx="4294967295" type="body"/>
          </p:nvPr>
        </p:nvSpPr>
        <p:spPr>
          <a:xfrm>
            <a:off x="311700" y="850826"/>
            <a:ext cx="8520600" cy="1437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Tuân thủ quy tắc đặt tên: Viết hoa chữ cái đầu của tên lớp, và viết thường chữ cái đầu của thuộc tính.</a:t>
            </a:r>
            <a:endParaRPr/>
          </a:p>
          <a:p>
            <a:pPr indent="-368300" lvl="1" marL="914400" rtl="0" algn="l">
              <a:spcBef>
                <a:spcPts val="0"/>
              </a:spcBef>
              <a:spcAft>
                <a:spcPts val="0"/>
              </a:spcAft>
              <a:buSzPts val="2200"/>
              <a:buChar char="○"/>
            </a:pPr>
            <a:r>
              <a:rPr lang="en-GB"/>
              <a:t>Có thể hỗ trợ phân biệt các thành phần của bộ 3.</a:t>
            </a:r>
            <a:endParaRPr/>
          </a:p>
        </p:txBody>
      </p:sp>
      <p:sp>
        <p:nvSpPr>
          <p:cNvPr id="173" name="Google Shape;173;p22"/>
          <p:cNvSpPr/>
          <p:nvPr/>
        </p:nvSpPr>
        <p:spPr>
          <a:xfrm>
            <a:off x="439275" y="2435825"/>
            <a:ext cx="8301900" cy="2739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800">
                <a:solidFill>
                  <a:srgbClr val="434343"/>
                </a:solidFill>
              </a:rPr>
              <a:t>&lt;?xml version="1.0"?&gt;</a:t>
            </a:r>
            <a:endParaRPr sz="1800">
              <a:solidFill>
                <a:srgbClr val="434343"/>
              </a:solidFill>
            </a:endParaRPr>
          </a:p>
          <a:p>
            <a:pPr indent="0" lvl="0" marL="0" rtl="0" algn="just">
              <a:spcBef>
                <a:spcPts val="0"/>
              </a:spcBef>
              <a:spcAft>
                <a:spcPts val="0"/>
              </a:spcAft>
              <a:buNone/>
            </a:pPr>
            <a:r>
              <a:rPr lang="en-GB" sz="1800">
                <a:solidFill>
                  <a:srgbClr val="434343"/>
                </a:solidFill>
              </a:rPr>
              <a:t>&lt;rdf:RDF </a:t>
            </a:r>
            <a:r>
              <a:rPr lang="en-GB" sz="1800">
                <a:solidFill>
                  <a:srgbClr val="434343"/>
                </a:solidFill>
              </a:rPr>
              <a:t>xmlns="http://www.geography.org/river#"</a:t>
            </a:r>
            <a:endParaRPr sz="1800">
              <a:solidFill>
                <a:srgbClr val="434343"/>
              </a:solidFill>
            </a:endParaRPr>
          </a:p>
          <a:p>
            <a:pPr indent="0" lvl="0" marL="0" rtl="0" algn="just">
              <a:spcBef>
                <a:spcPts val="0"/>
              </a:spcBef>
              <a:spcAft>
                <a:spcPts val="0"/>
              </a:spcAft>
              <a:buNone/>
            </a:pPr>
            <a:r>
              <a:rPr lang="en-GB" sz="1800">
                <a:solidFill>
                  <a:srgbClr val="434343"/>
                </a:solidFill>
              </a:rPr>
              <a:t>                xmlns:rdf="http://www.w3.org/1999/02/22-rdf-syntax-ns#"&gt;</a:t>
            </a:r>
            <a:endParaRPr sz="1800">
              <a:solidFill>
                <a:srgbClr val="434343"/>
              </a:solidFill>
            </a:endParaRPr>
          </a:p>
          <a:p>
            <a:pPr indent="0" lvl="0" marL="0" rtl="0" algn="just">
              <a:spcBef>
                <a:spcPts val="0"/>
              </a:spcBef>
              <a:spcAft>
                <a:spcPts val="0"/>
              </a:spcAft>
              <a:buNone/>
            </a:pPr>
            <a:r>
              <a:rPr lang="en-GB" sz="1800">
                <a:solidFill>
                  <a:srgbClr val="434343"/>
                </a:solidFill>
              </a:rPr>
              <a:t>&lt;River </a:t>
            </a:r>
            <a:r>
              <a:rPr b="1" lang="en-GB" sz="1800">
                <a:solidFill>
                  <a:srgbClr val="434343"/>
                </a:solidFill>
              </a:rPr>
              <a:t>rdf:about="</a:t>
            </a:r>
            <a:r>
              <a:rPr b="1" lang="en-GB" sz="1800">
                <a:solidFill>
                  <a:srgbClr val="434343"/>
                </a:solidFill>
              </a:rPr>
              <a:t>http://www.vietnam.org/dialy/song-suoi#Mekong</a:t>
            </a:r>
            <a:r>
              <a:rPr b="1" lang="en-GB" sz="1800">
                <a:solidFill>
                  <a:srgbClr val="434343"/>
                </a:solidFill>
              </a:rPr>
              <a:t>"</a:t>
            </a:r>
            <a:r>
              <a:rPr lang="en-GB" sz="1800">
                <a:solidFill>
                  <a:srgbClr val="434343"/>
                </a:solidFill>
              </a:rPr>
              <a:t>&gt;</a:t>
            </a:r>
            <a:endParaRPr sz="1800">
              <a:solidFill>
                <a:srgbClr val="434343"/>
              </a:solidFill>
            </a:endParaRPr>
          </a:p>
          <a:p>
            <a:pPr indent="0" lvl="0" marL="0" rtl="0" algn="just">
              <a:spcBef>
                <a:spcPts val="0"/>
              </a:spcBef>
              <a:spcAft>
                <a:spcPts val="0"/>
              </a:spcAft>
              <a:buNone/>
            </a:pPr>
            <a:r>
              <a:rPr lang="en-GB" sz="1800">
                <a:solidFill>
                  <a:srgbClr val="434343"/>
                </a:solidFill>
              </a:rPr>
              <a:t>  &lt;length&gt;4350 km&lt;/length&gt;</a:t>
            </a:r>
            <a:endParaRPr sz="1800">
              <a:solidFill>
                <a:srgbClr val="434343"/>
              </a:solidFill>
            </a:endParaRPr>
          </a:p>
          <a:p>
            <a:pPr indent="0" lvl="0" marL="0" rtl="0" algn="just">
              <a:spcBef>
                <a:spcPts val="0"/>
              </a:spcBef>
              <a:spcAft>
                <a:spcPts val="0"/>
              </a:spcAft>
              <a:buNone/>
            </a:pPr>
            <a:r>
              <a:rPr lang="en-GB" sz="1800">
                <a:solidFill>
                  <a:srgbClr val="434343"/>
                </a:solidFill>
              </a:rPr>
              <a:t>  &lt;startingLocation&gt;Thanh Hải, Trung Quốc&lt;/startingLocation&gt;</a:t>
            </a:r>
            <a:endParaRPr sz="1800">
              <a:solidFill>
                <a:srgbClr val="434343"/>
              </a:solidFill>
            </a:endParaRPr>
          </a:p>
          <a:p>
            <a:pPr indent="0" lvl="0" marL="0" rtl="0" algn="just">
              <a:spcBef>
                <a:spcPts val="0"/>
              </a:spcBef>
              <a:spcAft>
                <a:spcPts val="0"/>
              </a:spcAft>
              <a:buNone/>
            </a:pPr>
            <a:r>
              <a:rPr lang="en-GB" sz="1800">
                <a:solidFill>
                  <a:srgbClr val="434343"/>
                </a:solidFill>
              </a:rPr>
              <a:t>  &lt;endingLocation&gt;Đồng bằng sông Cửu Long, Việt Nam&lt;/endingLocation&gt;</a:t>
            </a:r>
            <a:endParaRPr sz="1800">
              <a:solidFill>
                <a:srgbClr val="434343"/>
              </a:solidFill>
            </a:endParaRPr>
          </a:p>
          <a:p>
            <a:pPr indent="0" lvl="0" marL="0" rtl="0" algn="just">
              <a:spcBef>
                <a:spcPts val="0"/>
              </a:spcBef>
              <a:spcAft>
                <a:spcPts val="0"/>
              </a:spcAft>
              <a:buNone/>
            </a:pPr>
            <a:r>
              <a:rPr lang="en-GB" sz="1800">
                <a:solidFill>
                  <a:srgbClr val="434343"/>
                </a:solidFill>
              </a:rPr>
              <a:t>&lt;/River&gt;</a:t>
            </a:r>
            <a:endParaRPr sz="1800">
              <a:solidFill>
                <a:srgbClr val="434343"/>
              </a:solidFill>
            </a:endParaRPr>
          </a:p>
          <a:p>
            <a:pPr indent="0" lvl="0" marL="0" rtl="0" algn="just">
              <a:spcBef>
                <a:spcPts val="0"/>
              </a:spcBef>
              <a:spcAft>
                <a:spcPts val="0"/>
              </a:spcAft>
              <a:buNone/>
            </a:pPr>
            <a:r>
              <a:rPr lang="en-GB" sz="1800">
                <a:solidFill>
                  <a:srgbClr val="434343"/>
                </a:solidFill>
              </a:rPr>
              <a:t>&lt;/rdf:RDF&gt;</a:t>
            </a:r>
            <a:endParaRPr sz="1800">
              <a:solidFill>
                <a:srgbClr val="43434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9" name="Google Shape;179;p2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rdf:Description + rdf:type</a:t>
            </a:r>
            <a:endParaRPr/>
          </a:p>
        </p:txBody>
      </p:sp>
      <p:sp>
        <p:nvSpPr>
          <p:cNvPr id="180" name="Google Shape;180;p23"/>
          <p:cNvSpPr txBox="1"/>
          <p:nvPr>
            <p:ph idx="4294967295" type="body"/>
          </p:nvPr>
        </p:nvSpPr>
        <p:spPr>
          <a:xfrm>
            <a:off x="311700" y="850825"/>
            <a:ext cx="8666700" cy="52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Diễn đạt chi tiết:</a:t>
            </a:r>
            <a:endParaRPr/>
          </a:p>
        </p:txBody>
      </p:sp>
      <p:sp>
        <p:nvSpPr>
          <p:cNvPr id="181" name="Google Shape;181;p23"/>
          <p:cNvSpPr/>
          <p:nvPr/>
        </p:nvSpPr>
        <p:spPr>
          <a:xfrm>
            <a:off x="471025" y="1394675"/>
            <a:ext cx="8191200" cy="2745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600"/>
              <a:t>&lt;?xml version="1.0"?&gt;</a:t>
            </a:r>
            <a:endParaRPr sz="1600"/>
          </a:p>
          <a:p>
            <a:pPr indent="0" lvl="0" marL="0" rtl="0" algn="just">
              <a:spcBef>
                <a:spcPts val="0"/>
              </a:spcBef>
              <a:spcAft>
                <a:spcPts val="0"/>
              </a:spcAft>
              <a:buNone/>
            </a:pPr>
            <a:r>
              <a:rPr lang="en-GB" sz="1600"/>
              <a:t>&lt;rdf:RDF </a:t>
            </a:r>
            <a:r>
              <a:rPr lang="en-GB" sz="1600">
                <a:solidFill>
                  <a:schemeClr val="dk1"/>
                </a:solidFill>
              </a:rPr>
              <a:t>xmlns="http://www.geography.org/river#"</a:t>
            </a:r>
            <a:endParaRPr sz="1600">
              <a:solidFill>
                <a:schemeClr val="dk1"/>
              </a:solidFill>
            </a:endParaRPr>
          </a:p>
          <a:p>
            <a:pPr indent="0" lvl="0" marL="0" rtl="0" algn="just">
              <a:spcBef>
                <a:spcPts val="0"/>
              </a:spcBef>
              <a:spcAft>
                <a:spcPts val="0"/>
              </a:spcAft>
              <a:buNone/>
            </a:pPr>
            <a:r>
              <a:rPr lang="en-GB" sz="1600">
                <a:solidFill>
                  <a:schemeClr val="dk1"/>
                </a:solidFill>
              </a:rPr>
              <a:t>                xmlns:rdf="http://www.w3.org/1999/02/22-rdf-syntax-ns#"&gt;</a:t>
            </a:r>
            <a:endParaRPr sz="1600">
              <a:solidFill>
                <a:schemeClr val="dk1"/>
              </a:solidFill>
            </a:endParaRPr>
          </a:p>
          <a:p>
            <a:pPr indent="0" lvl="0" marL="0" rtl="0" algn="just">
              <a:spcBef>
                <a:spcPts val="0"/>
              </a:spcBef>
              <a:spcAft>
                <a:spcPts val="0"/>
              </a:spcAft>
              <a:buNone/>
            </a:pPr>
            <a:r>
              <a:rPr lang="en-GB" sz="1600"/>
              <a:t>&lt;</a:t>
            </a:r>
            <a:r>
              <a:rPr b="1" lang="en-GB" sz="1600"/>
              <a:t>rdf:Description </a:t>
            </a:r>
            <a:r>
              <a:rPr b="1" lang="en-GB" sz="1600"/>
              <a:t>rdf:about="</a:t>
            </a:r>
            <a:r>
              <a:rPr b="1" lang="en-GB" sz="1600">
                <a:solidFill>
                  <a:schemeClr val="dk1"/>
                </a:solidFill>
              </a:rPr>
              <a:t>http://www.vietnam.org/dialy/song-suoi#Mekong</a:t>
            </a:r>
            <a:r>
              <a:rPr b="1" lang="en-GB" sz="1600"/>
              <a:t>"</a:t>
            </a:r>
            <a:r>
              <a:rPr lang="en-GB" sz="1600"/>
              <a:t>&gt;</a:t>
            </a:r>
            <a:endParaRPr sz="1600"/>
          </a:p>
          <a:p>
            <a:pPr indent="0" lvl="0" marL="0" rtl="0" algn="just">
              <a:spcBef>
                <a:spcPts val="0"/>
              </a:spcBef>
              <a:spcAft>
                <a:spcPts val="0"/>
              </a:spcAft>
              <a:buNone/>
            </a:pPr>
            <a:r>
              <a:rPr lang="en-GB" sz="1600"/>
              <a:t>  &lt;</a:t>
            </a:r>
            <a:r>
              <a:rPr b="1" lang="en-GB" sz="1600"/>
              <a:t>rdf:type rdf:resource="http://www.geography.org/river#River"</a:t>
            </a:r>
            <a:r>
              <a:rPr lang="en-GB" sz="1600"/>
              <a:t>/&gt;</a:t>
            </a:r>
            <a:endParaRPr sz="1600"/>
          </a:p>
          <a:p>
            <a:pPr indent="0" lvl="0" marL="0" rtl="0" algn="just">
              <a:spcBef>
                <a:spcPts val="0"/>
              </a:spcBef>
              <a:spcAft>
                <a:spcPts val="0"/>
              </a:spcAft>
              <a:buNone/>
            </a:pPr>
            <a:r>
              <a:rPr lang="en-GB" sz="1600"/>
              <a:t>  &lt;length&gt;4350 km&lt;/length&gt;</a:t>
            </a:r>
            <a:endParaRPr sz="1600"/>
          </a:p>
          <a:p>
            <a:pPr indent="0" lvl="0" marL="0" rtl="0" algn="just">
              <a:spcBef>
                <a:spcPts val="0"/>
              </a:spcBef>
              <a:spcAft>
                <a:spcPts val="0"/>
              </a:spcAft>
              <a:buNone/>
            </a:pPr>
            <a:r>
              <a:rPr lang="en-GB" sz="1600"/>
              <a:t>  &lt;startingLocation&gt;Thanh Hải, Trung Quốc&lt;/startingLocation&gt;</a:t>
            </a:r>
            <a:endParaRPr sz="1600"/>
          </a:p>
          <a:p>
            <a:pPr indent="0" lvl="0" marL="0" rtl="0" algn="just">
              <a:spcBef>
                <a:spcPts val="0"/>
              </a:spcBef>
              <a:spcAft>
                <a:spcPts val="0"/>
              </a:spcAft>
              <a:buNone/>
            </a:pPr>
            <a:r>
              <a:rPr lang="en-GB" sz="1600"/>
              <a:t>  &lt;endingLocation&gt;Đồng bằng sông Cửu Long, Việt Nam&lt;/endingLocation&gt;</a:t>
            </a:r>
            <a:endParaRPr sz="1600"/>
          </a:p>
          <a:p>
            <a:pPr indent="0" lvl="0" marL="0" rtl="0" algn="just">
              <a:spcBef>
                <a:spcPts val="0"/>
              </a:spcBef>
              <a:spcAft>
                <a:spcPts val="0"/>
              </a:spcAft>
              <a:buNone/>
            </a:pPr>
            <a:r>
              <a:rPr lang="en-GB" sz="1600"/>
              <a:t>&lt;/</a:t>
            </a:r>
            <a:r>
              <a:rPr b="1" lang="en-GB" sz="1600"/>
              <a:t>rdf:Description</a:t>
            </a:r>
            <a:r>
              <a:rPr lang="en-GB" sz="1600"/>
              <a:t>&gt;</a:t>
            </a:r>
            <a:endParaRPr sz="1600"/>
          </a:p>
          <a:p>
            <a:pPr indent="0" lvl="0" marL="0" rtl="0" algn="just">
              <a:spcBef>
                <a:spcPts val="0"/>
              </a:spcBef>
              <a:spcAft>
                <a:spcPts val="0"/>
              </a:spcAft>
              <a:buNone/>
            </a:pPr>
            <a:r>
              <a:rPr lang="en-GB" sz="1600"/>
              <a:t>&lt;/rdf:RDF&gt;</a:t>
            </a:r>
            <a:endParaRPr sz="1600"/>
          </a:p>
        </p:txBody>
      </p:sp>
      <p:sp>
        <p:nvSpPr>
          <p:cNvPr id="182" name="Google Shape;182;p23"/>
          <p:cNvSpPr txBox="1"/>
          <p:nvPr/>
        </p:nvSpPr>
        <p:spPr>
          <a:xfrm>
            <a:off x="380575" y="4155425"/>
            <a:ext cx="8666700" cy="15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434343"/>
                </a:solidFill>
              </a:rPr>
              <a:t>C</a:t>
            </a:r>
            <a:r>
              <a:rPr lang="en-GB" sz="1800">
                <a:solidFill>
                  <a:srgbClr val="434343"/>
                </a:solidFill>
              </a:rPr>
              <a:t>ó thể đọc tài liệu này như sau: "Đây là 1 mô tả về tài nguyên </a:t>
            </a:r>
            <a:r>
              <a:rPr lang="en-GB" sz="1800">
                <a:solidFill>
                  <a:srgbClr val="434343"/>
                </a:solidFill>
              </a:rPr>
              <a:t>http://www.vietnam.org/dialy/song-suoi#Mekong, là 1 thể hiện của lớp River (con sông). http://www.vietnam.org/dialy/song-suoi#Mekong có độ dài 4350 km, có điểm bắt đầu ở Thanh Hải, Trung Quốc, và có điểm kết thúc ở Đồng bằng sông Cửu Long, Việt Nam."</a:t>
            </a:r>
            <a:endParaRPr sz="1800">
              <a:solidFill>
                <a:srgbClr val="434343"/>
              </a:solidFill>
            </a:endParaRPr>
          </a:p>
        </p:txBody>
      </p:sp>
      <p:sp>
        <p:nvSpPr>
          <p:cNvPr id="183" name="Google Shape;183;p23"/>
          <p:cNvSpPr txBox="1"/>
          <p:nvPr/>
        </p:nvSpPr>
        <p:spPr>
          <a:xfrm>
            <a:off x="380575" y="5645950"/>
            <a:ext cx="8666700" cy="9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rgbClr val="434343"/>
                </a:solidFill>
              </a:rPr>
              <a:t>Định dạng mô tả tài nguyên này được gọi là định dạng đầy đủ. Các định dạng trong các trang trước là phiên bản ngắn gọn của định dạng này. </a:t>
            </a:r>
            <a:endParaRPr i="1" sz="1800">
              <a:solidFill>
                <a:srgbClr val="43434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9" name="Google Shape;189;p2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rdf:Description + rdf:ID</a:t>
            </a:r>
            <a:endParaRPr/>
          </a:p>
        </p:txBody>
      </p:sp>
      <p:sp>
        <p:nvSpPr>
          <p:cNvPr id="190" name="Google Shape;190;p24"/>
          <p:cNvSpPr txBox="1"/>
          <p:nvPr>
            <p:ph idx="4294967295" type="body"/>
          </p:nvPr>
        </p:nvSpPr>
        <p:spPr>
          <a:xfrm>
            <a:off x="311700" y="927032"/>
            <a:ext cx="8520600" cy="968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Tương tự, chúng ta cũng có thể sử dụng rdf:ID thay cho rdf:about</a:t>
            </a:r>
            <a:endParaRPr/>
          </a:p>
        </p:txBody>
      </p:sp>
      <p:sp>
        <p:nvSpPr>
          <p:cNvPr id="191" name="Google Shape;191;p24"/>
          <p:cNvSpPr/>
          <p:nvPr/>
        </p:nvSpPr>
        <p:spPr>
          <a:xfrm>
            <a:off x="476675" y="1895725"/>
            <a:ext cx="7995900" cy="3190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800">
                <a:solidFill>
                  <a:srgbClr val="434343"/>
                </a:solidFill>
              </a:rPr>
              <a:t>&lt;?xml version="1.0"?&gt;</a:t>
            </a:r>
            <a:endParaRPr sz="1800">
              <a:solidFill>
                <a:srgbClr val="434343"/>
              </a:solidFill>
            </a:endParaRPr>
          </a:p>
          <a:p>
            <a:pPr indent="0" lvl="0" marL="0" rtl="0" algn="just">
              <a:spcBef>
                <a:spcPts val="0"/>
              </a:spcBef>
              <a:spcAft>
                <a:spcPts val="0"/>
              </a:spcAft>
              <a:buNone/>
            </a:pPr>
            <a:r>
              <a:rPr lang="en-GB" sz="1800">
                <a:solidFill>
                  <a:srgbClr val="434343"/>
                </a:solidFill>
              </a:rPr>
              <a:t>&lt;rdf:RDF </a:t>
            </a:r>
            <a:r>
              <a:rPr lang="en-GB" sz="1800">
                <a:solidFill>
                  <a:srgbClr val="434343"/>
                </a:solidFill>
              </a:rPr>
              <a:t>xmlns="http://www.geography.org/river#"</a:t>
            </a:r>
            <a:endParaRPr sz="1800">
              <a:solidFill>
                <a:srgbClr val="434343"/>
              </a:solidFill>
            </a:endParaRPr>
          </a:p>
          <a:p>
            <a:pPr indent="0" lvl="0" marL="0" rtl="0" algn="just">
              <a:spcBef>
                <a:spcPts val="0"/>
              </a:spcBef>
              <a:spcAft>
                <a:spcPts val="0"/>
              </a:spcAft>
              <a:buNone/>
            </a:pPr>
            <a:r>
              <a:rPr lang="en-GB" sz="1800">
                <a:solidFill>
                  <a:srgbClr val="434343"/>
                </a:solidFill>
              </a:rPr>
              <a:t>                xmlns:rdf="http://www.w3.org/1999/02/22-rdf-syntax-ns#"</a:t>
            </a:r>
            <a:endParaRPr sz="1800">
              <a:solidFill>
                <a:srgbClr val="434343"/>
              </a:solidFill>
            </a:endParaRPr>
          </a:p>
          <a:p>
            <a:pPr indent="0" lvl="0" marL="0" rtl="0" algn="just">
              <a:spcBef>
                <a:spcPts val="0"/>
              </a:spcBef>
              <a:spcAft>
                <a:spcPts val="0"/>
              </a:spcAft>
              <a:buClr>
                <a:schemeClr val="dk1"/>
              </a:buClr>
              <a:buSzPts val="1100"/>
              <a:buFont typeface="Arial"/>
              <a:buNone/>
            </a:pPr>
            <a:r>
              <a:rPr lang="en-GB" sz="1800">
                <a:solidFill>
                  <a:srgbClr val="434343"/>
                </a:solidFill>
              </a:rPr>
              <a:t>                </a:t>
            </a:r>
            <a:r>
              <a:rPr b="1" lang="en-GB" sz="1800">
                <a:solidFill>
                  <a:srgbClr val="434343"/>
                </a:solidFill>
              </a:rPr>
              <a:t>xml:base="http://www.vietnam.org/dialy/song-suoi"&gt;</a:t>
            </a:r>
            <a:endParaRPr sz="1800">
              <a:solidFill>
                <a:srgbClr val="434343"/>
              </a:solidFill>
            </a:endParaRPr>
          </a:p>
          <a:p>
            <a:pPr indent="0" lvl="0" marL="0" rtl="0" algn="just">
              <a:spcBef>
                <a:spcPts val="0"/>
              </a:spcBef>
              <a:spcAft>
                <a:spcPts val="0"/>
              </a:spcAft>
              <a:buNone/>
            </a:pPr>
            <a:r>
              <a:rPr lang="en-GB" sz="1800">
                <a:solidFill>
                  <a:srgbClr val="434343"/>
                </a:solidFill>
              </a:rPr>
              <a:t>&lt;</a:t>
            </a:r>
            <a:r>
              <a:rPr b="1" lang="en-GB" sz="1800">
                <a:solidFill>
                  <a:srgbClr val="434343"/>
                </a:solidFill>
              </a:rPr>
              <a:t>rdf:Description</a:t>
            </a:r>
            <a:r>
              <a:rPr b="1" lang="en-GB" sz="1800">
                <a:solidFill>
                  <a:srgbClr val="434343"/>
                </a:solidFill>
              </a:rPr>
              <a:t> rdf:ID="Mekong"</a:t>
            </a:r>
            <a:r>
              <a:rPr lang="en-GB" sz="1800">
                <a:solidFill>
                  <a:srgbClr val="434343"/>
                </a:solidFill>
              </a:rPr>
              <a:t>&gt;</a:t>
            </a:r>
            <a:endParaRPr sz="1800">
              <a:solidFill>
                <a:srgbClr val="434343"/>
              </a:solidFill>
            </a:endParaRPr>
          </a:p>
          <a:p>
            <a:pPr indent="0" lvl="0" marL="0" rtl="0" algn="just">
              <a:spcBef>
                <a:spcPts val="0"/>
              </a:spcBef>
              <a:spcAft>
                <a:spcPts val="0"/>
              </a:spcAft>
              <a:buClr>
                <a:schemeClr val="dk1"/>
              </a:buClr>
              <a:buSzPts val="1100"/>
              <a:buFont typeface="Arial"/>
              <a:buNone/>
            </a:pPr>
            <a:r>
              <a:rPr lang="en-GB" sz="1800">
                <a:solidFill>
                  <a:srgbClr val="434343"/>
                </a:solidFill>
              </a:rPr>
              <a:t>  &lt;</a:t>
            </a:r>
            <a:r>
              <a:rPr b="1" lang="en-GB" sz="1800">
                <a:solidFill>
                  <a:srgbClr val="434343"/>
                </a:solidFill>
              </a:rPr>
              <a:t>rdf:type rdf:resource="http://www.geography.org/river#River"</a:t>
            </a:r>
            <a:r>
              <a:rPr lang="en-GB" sz="1800">
                <a:solidFill>
                  <a:srgbClr val="434343"/>
                </a:solidFill>
              </a:rPr>
              <a:t>/&gt;</a:t>
            </a:r>
            <a:endParaRPr sz="1800">
              <a:solidFill>
                <a:srgbClr val="434343"/>
              </a:solidFill>
            </a:endParaRPr>
          </a:p>
          <a:p>
            <a:pPr indent="0" lvl="0" marL="0" rtl="0" algn="just">
              <a:spcBef>
                <a:spcPts val="0"/>
              </a:spcBef>
              <a:spcAft>
                <a:spcPts val="0"/>
              </a:spcAft>
              <a:buNone/>
            </a:pPr>
            <a:r>
              <a:rPr lang="en-GB" sz="1800">
                <a:solidFill>
                  <a:srgbClr val="434343"/>
                </a:solidFill>
              </a:rPr>
              <a:t>  &lt;length&gt;4350 km&lt;/length&gt;</a:t>
            </a:r>
            <a:endParaRPr sz="1800">
              <a:solidFill>
                <a:srgbClr val="434343"/>
              </a:solidFill>
            </a:endParaRPr>
          </a:p>
          <a:p>
            <a:pPr indent="0" lvl="0" marL="0" rtl="0" algn="just">
              <a:spcBef>
                <a:spcPts val="0"/>
              </a:spcBef>
              <a:spcAft>
                <a:spcPts val="0"/>
              </a:spcAft>
              <a:buNone/>
            </a:pPr>
            <a:r>
              <a:rPr lang="en-GB" sz="1800">
                <a:solidFill>
                  <a:srgbClr val="434343"/>
                </a:solidFill>
              </a:rPr>
              <a:t>  &lt;startingLocation&gt;Thanh Hải, Trung Quốc&lt;/startingLocation&gt;</a:t>
            </a:r>
            <a:endParaRPr sz="1800">
              <a:solidFill>
                <a:srgbClr val="434343"/>
              </a:solidFill>
            </a:endParaRPr>
          </a:p>
          <a:p>
            <a:pPr indent="0" lvl="0" marL="0" rtl="0" algn="just">
              <a:spcBef>
                <a:spcPts val="0"/>
              </a:spcBef>
              <a:spcAft>
                <a:spcPts val="0"/>
              </a:spcAft>
              <a:buNone/>
            </a:pPr>
            <a:r>
              <a:rPr lang="en-GB" sz="1800">
                <a:solidFill>
                  <a:srgbClr val="434343"/>
                </a:solidFill>
              </a:rPr>
              <a:t>  &lt;endingLocation&gt;Đồng bằng sông Cửu Long, Việt Nam&lt;/endingLocation&gt;</a:t>
            </a:r>
            <a:endParaRPr sz="1800">
              <a:solidFill>
                <a:srgbClr val="434343"/>
              </a:solidFill>
            </a:endParaRPr>
          </a:p>
          <a:p>
            <a:pPr indent="0" lvl="0" marL="0" rtl="0" algn="just">
              <a:spcBef>
                <a:spcPts val="0"/>
              </a:spcBef>
              <a:spcAft>
                <a:spcPts val="0"/>
              </a:spcAft>
              <a:buNone/>
            </a:pPr>
            <a:r>
              <a:rPr lang="en-GB" sz="1800">
                <a:solidFill>
                  <a:srgbClr val="434343"/>
                </a:solidFill>
              </a:rPr>
              <a:t>&lt;/</a:t>
            </a:r>
            <a:r>
              <a:rPr b="1" lang="en-GB" sz="1800">
                <a:solidFill>
                  <a:srgbClr val="434343"/>
                </a:solidFill>
              </a:rPr>
              <a:t>rdf:Description</a:t>
            </a:r>
            <a:r>
              <a:rPr lang="en-GB" sz="1800">
                <a:solidFill>
                  <a:srgbClr val="434343"/>
                </a:solidFill>
              </a:rPr>
              <a:t>&gt;</a:t>
            </a:r>
            <a:endParaRPr sz="1800">
              <a:solidFill>
                <a:srgbClr val="434343"/>
              </a:solidFill>
            </a:endParaRPr>
          </a:p>
          <a:p>
            <a:pPr indent="0" lvl="0" marL="0" rtl="0" algn="just">
              <a:spcBef>
                <a:spcPts val="0"/>
              </a:spcBef>
              <a:spcAft>
                <a:spcPts val="0"/>
              </a:spcAft>
              <a:buNone/>
            </a:pPr>
            <a:r>
              <a:rPr lang="en-GB" sz="1800">
                <a:solidFill>
                  <a:srgbClr val="434343"/>
                </a:solidFill>
              </a:rPr>
              <a:t>&lt;/rdf:RDF&gt;</a:t>
            </a:r>
            <a:endParaRPr sz="1800">
              <a:solidFill>
                <a:srgbClr val="434343"/>
              </a:solidFill>
            </a:endParaRPr>
          </a:p>
          <a:p>
            <a:pPr indent="0" lvl="0" marL="0" rtl="0" algn="just">
              <a:spcBef>
                <a:spcPts val="0"/>
              </a:spcBef>
              <a:spcAft>
                <a:spcPts val="0"/>
              </a:spcAft>
              <a:buNone/>
            </a:pPr>
            <a:r>
              <a:t/>
            </a:r>
            <a:endParaRPr sz="1800">
              <a:solidFill>
                <a:srgbClr val="43434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p:nvPr/>
        </p:nvSpPr>
        <p:spPr>
          <a:xfrm>
            <a:off x="484150" y="4140975"/>
            <a:ext cx="7100100" cy="1862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a:t>&lt;</a:t>
            </a:r>
            <a:r>
              <a:rPr b="1" lang="en-GB"/>
              <a:t>rdf:Description rdf:about="</a:t>
            </a:r>
            <a:r>
              <a:rPr b="1" lang="en-GB">
                <a:solidFill>
                  <a:schemeClr val="dk1"/>
                </a:solidFill>
              </a:rPr>
              <a:t>http://www.vietnam.org/dialy/song-suoi#Mekong</a:t>
            </a:r>
            <a:r>
              <a:rPr b="1" lang="en-GB"/>
              <a:t>"</a:t>
            </a:r>
            <a:endParaRPr b="1"/>
          </a:p>
          <a:p>
            <a:pPr indent="0" lvl="0" marL="0" rtl="0" algn="just">
              <a:spcBef>
                <a:spcPts val="0"/>
              </a:spcBef>
              <a:spcAft>
                <a:spcPts val="0"/>
              </a:spcAft>
              <a:buNone/>
            </a:pPr>
            <a:r>
              <a:rPr lang="en-GB"/>
              <a:t>           xmlns:rdf="http://www.w3.org/1999/02/22-rdf-syntax-ns#"</a:t>
            </a:r>
            <a:endParaRPr/>
          </a:p>
          <a:p>
            <a:pPr indent="0" lvl="0" marL="0" rtl="0" algn="just">
              <a:spcBef>
                <a:spcPts val="0"/>
              </a:spcBef>
              <a:spcAft>
                <a:spcPts val="0"/>
              </a:spcAft>
              <a:buNone/>
            </a:pPr>
            <a:r>
              <a:rPr lang="en-GB"/>
              <a:t>           xmlns="http://www.geography.org/river#"&gt;</a:t>
            </a:r>
            <a:endParaRPr/>
          </a:p>
          <a:p>
            <a:pPr indent="0" lvl="0" marL="0" rtl="0" algn="just">
              <a:spcBef>
                <a:spcPts val="0"/>
              </a:spcBef>
              <a:spcAft>
                <a:spcPts val="0"/>
              </a:spcAft>
              <a:buNone/>
            </a:pPr>
            <a:r>
              <a:rPr lang="en-GB"/>
              <a:t>  &lt;</a:t>
            </a:r>
            <a:r>
              <a:rPr b="1" lang="en-GB"/>
              <a:t>rdf:type rdf:resource="http://www.geography.org/river#River"</a:t>
            </a:r>
            <a:r>
              <a:rPr lang="en-GB"/>
              <a:t>/&gt;</a:t>
            </a:r>
            <a:endParaRPr/>
          </a:p>
          <a:p>
            <a:pPr indent="0" lvl="0" marL="0" rtl="0" algn="just">
              <a:spcBef>
                <a:spcPts val="0"/>
              </a:spcBef>
              <a:spcAft>
                <a:spcPts val="0"/>
              </a:spcAft>
              <a:buNone/>
            </a:pPr>
            <a:r>
              <a:rPr lang="en-GB"/>
              <a:t>  &lt;length&gt;4350 km&lt;/length&gt;</a:t>
            </a:r>
            <a:endParaRPr/>
          </a:p>
          <a:p>
            <a:pPr indent="0" lvl="0" marL="0" rtl="0" algn="just">
              <a:spcBef>
                <a:spcPts val="0"/>
              </a:spcBef>
              <a:spcAft>
                <a:spcPts val="0"/>
              </a:spcAft>
              <a:buNone/>
            </a:pPr>
            <a:r>
              <a:rPr lang="en-GB"/>
              <a:t>  &lt;startingLocation&gt;Thanh Hải, Trung Quốc&lt;/startingLocation&gt;</a:t>
            </a:r>
            <a:endParaRPr/>
          </a:p>
          <a:p>
            <a:pPr indent="0" lvl="0" marL="0" rtl="0" algn="just">
              <a:spcBef>
                <a:spcPts val="0"/>
              </a:spcBef>
              <a:spcAft>
                <a:spcPts val="0"/>
              </a:spcAft>
              <a:buNone/>
            </a:pPr>
            <a:r>
              <a:rPr lang="en-GB"/>
              <a:t>  &lt;endingLocation&gt;Đồng bằng sông Cửu Long, Việt Nam&lt;/endingLocation&gt;</a:t>
            </a:r>
            <a:endParaRPr/>
          </a:p>
          <a:p>
            <a:pPr indent="0" lvl="0" marL="0" rtl="0" algn="just">
              <a:spcBef>
                <a:spcPts val="0"/>
              </a:spcBef>
              <a:spcAft>
                <a:spcPts val="0"/>
              </a:spcAft>
              <a:buNone/>
            </a:pPr>
            <a:r>
              <a:rPr lang="en-GB"/>
              <a:t>&lt;/</a:t>
            </a:r>
            <a:r>
              <a:rPr b="1" lang="en-GB"/>
              <a:t>rdf:Description</a:t>
            </a:r>
            <a:r>
              <a:rPr lang="en-GB"/>
              <a:t>&gt;</a:t>
            </a:r>
            <a:endParaRPr/>
          </a:p>
          <a:p>
            <a:pPr indent="0" lvl="0" marL="0" rtl="0" algn="just">
              <a:spcBef>
                <a:spcPts val="0"/>
              </a:spcBef>
              <a:spcAft>
                <a:spcPts val="0"/>
              </a:spcAft>
              <a:buNone/>
            </a:pPr>
            <a:r>
              <a:t/>
            </a:r>
            <a:endParaRPr/>
          </a:p>
        </p:txBody>
      </p:sp>
      <p:sp>
        <p:nvSpPr>
          <p:cNvPr id="197" name="Google Shape;197;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8" name="Google Shape;198;p2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biểu diễn tương đương</a:t>
            </a:r>
            <a:endParaRPr/>
          </a:p>
        </p:txBody>
      </p:sp>
      <p:sp>
        <p:nvSpPr>
          <p:cNvPr id="199" name="Google Shape;199;p25"/>
          <p:cNvSpPr/>
          <p:nvPr/>
        </p:nvSpPr>
        <p:spPr>
          <a:xfrm>
            <a:off x="414100" y="823475"/>
            <a:ext cx="6413700" cy="1862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a:t>&lt;River rdf:ID="Mekong"</a:t>
            </a:r>
            <a:endParaRPr/>
          </a:p>
          <a:p>
            <a:pPr indent="0" lvl="0" marL="0" rtl="0" algn="just">
              <a:spcBef>
                <a:spcPts val="0"/>
              </a:spcBef>
              <a:spcAft>
                <a:spcPts val="0"/>
              </a:spcAft>
              <a:buNone/>
            </a:pPr>
            <a:r>
              <a:rPr lang="en-GB"/>
              <a:t>           xmlns:rdf="http://www.w3.org/1999/02/22-rdf-syntax-ns#"</a:t>
            </a:r>
            <a:endParaRPr/>
          </a:p>
          <a:p>
            <a:pPr indent="0" lvl="0" marL="0" rtl="0" algn="just">
              <a:spcBef>
                <a:spcPts val="0"/>
              </a:spcBef>
              <a:spcAft>
                <a:spcPts val="0"/>
              </a:spcAft>
              <a:buNone/>
            </a:pPr>
            <a:r>
              <a:rPr lang="en-GB"/>
              <a:t>           xmlns="http://www.geography.org/river#"</a:t>
            </a:r>
            <a:endParaRPr/>
          </a:p>
          <a:p>
            <a:pPr indent="0" lvl="0" marL="0" rtl="0" algn="just">
              <a:spcBef>
                <a:spcPts val="0"/>
              </a:spcBef>
              <a:spcAft>
                <a:spcPts val="0"/>
              </a:spcAft>
              <a:buNone/>
            </a:pPr>
            <a:r>
              <a:rPr lang="en-GB"/>
              <a:t>           </a:t>
            </a:r>
            <a:r>
              <a:rPr b="1" lang="en-GB"/>
              <a:t>xml:base="</a:t>
            </a:r>
            <a:r>
              <a:rPr b="1" lang="en-GB">
                <a:solidFill>
                  <a:schemeClr val="dk1"/>
                </a:solidFill>
              </a:rPr>
              <a:t>http://www.vietnam.org/dialy/song-suoi"</a:t>
            </a:r>
            <a:r>
              <a:rPr lang="en-GB"/>
              <a:t>&gt;</a:t>
            </a:r>
            <a:endParaRPr/>
          </a:p>
          <a:p>
            <a:pPr indent="0" lvl="0" marL="0" rtl="0" algn="just">
              <a:spcBef>
                <a:spcPts val="0"/>
              </a:spcBef>
              <a:spcAft>
                <a:spcPts val="0"/>
              </a:spcAft>
              <a:buNone/>
            </a:pPr>
            <a:r>
              <a:rPr lang="en-GB"/>
              <a:t>  &lt;length&gt;4350 km&lt;/length&gt;</a:t>
            </a:r>
            <a:endParaRPr/>
          </a:p>
          <a:p>
            <a:pPr indent="0" lvl="0" marL="0" rtl="0" algn="just">
              <a:spcBef>
                <a:spcPts val="0"/>
              </a:spcBef>
              <a:spcAft>
                <a:spcPts val="0"/>
              </a:spcAft>
              <a:buNone/>
            </a:pPr>
            <a:r>
              <a:rPr lang="en-GB"/>
              <a:t>  &lt;startingLocation&gt;Thanh Hải, Trung Quốc&lt;/startingLocation&gt;</a:t>
            </a:r>
            <a:endParaRPr/>
          </a:p>
          <a:p>
            <a:pPr indent="0" lvl="0" marL="0" rtl="0" algn="just">
              <a:spcBef>
                <a:spcPts val="0"/>
              </a:spcBef>
              <a:spcAft>
                <a:spcPts val="0"/>
              </a:spcAft>
              <a:buNone/>
            </a:pPr>
            <a:r>
              <a:rPr lang="en-GB"/>
              <a:t>  &lt;endingLocation&gt;Đồng bằng sông Cửu Long, Việt Nam&lt;/endingLocation&gt;</a:t>
            </a:r>
            <a:endParaRPr/>
          </a:p>
          <a:p>
            <a:pPr indent="0" lvl="0" marL="0" rtl="0" algn="just">
              <a:spcBef>
                <a:spcPts val="0"/>
              </a:spcBef>
              <a:spcAft>
                <a:spcPts val="0"/>
              </a:spcAft>
              <a:buNone/>
            </a:pPr>
            <a:r>
              <a:rPr lang="en-GB"/>
              <a:t>&lt;/River&gt;</a:t>
            </a:r>
            <a:endParaRPr/>
          </a:p>
          <a:p>
            <a:pPr indent="0" lvl="0" marL="0" rtl="0" algn="just">
              <a:spcBef>
                <a:spcPts val="0"/>
              </a:spcBef>
              <a:spcAft>
                <a:spcPts val="0"/>
              </a:spcAft>
              <a:buNone/>
            </a:pPr>
            <a:r>
              <a:t/>
            </a:r>
            <a:endParaRPr/>
          </a:p>
        </p:txBody>
      </p:sp>
      <p:sp>
        <p:nvSpPr>
          <p:cNvPr id="200" name="Google Shape;200;p25"/>
          <p:cNvSpPr/>
          <p:nvPr/>
        </p:nvSpPr>
        <p:spPr>
          <a:xfrm>
            <a:off x="2058750" y="2596274"/>
            <a:ext cx="6413700" cy="16266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a:t>&lt;River </a:t>
            </a:r>
            <a:r>
              <a:rPr b="1" lang="en-GB"/>
              <a:t>rdf:about="</a:t>
            </a:r>
            <a:r>
              <a:rPr b="1" lang="en-GB">
                <a:solidFill>
                  <a:schemeClr val="dk1"/>
                </a:solidFill>
              </a:rPr>
              <a:t>http://www.vietnam.org/dialy/song-suoi#Mekong</a:t>
            </a:r>
            <a:r>
              <a:rPr b="1" lang="en-GB"/>
              <a:t>"</a:t>
            </a:r>
            <a:endParaRPr b="1"/>
          </a:p>
          <a:p>
            <a:pPr indent="0" lvl="0" marL="0" rtl="0" algn="just">
              <a:spcBef>
                <a:spcPts val="0"/>
              </a:spcBef>
              <a:spcAft>
                <a:spcPts val="0"/>
              </a:spcAft>
              <a:buNone/>
            </a:pPr>
            <a:r>
              <a:rPr lang="en-GB"/>
              <a:t>           xmlns:rdf="http://www.w3.org/1999/02/22-rdf-syntax-ns#"</a:t>
            </a:r>
            <a:endParaRPr/>
          </a:p>
          <a:p>
            <a:pPr indent="0" lvl="0" marL="0" rtl="0" algn="just">
              <a:spcBef>
                <a:spcPts val="0"/>
              </a:spcBef>
              <a:spcAft>
                <a:spcPts val="0"/>
              </a:spcAft>
              <a:buNone/>
            </a:pPr>
            <a:r>
              <a:rPr lang="en-GB"/>
              <a:t>           xmlns="http://www.geography.org/river#"&gt;</a:t>
            </a:r>
            <a:endParaRPr/>
          </a:p>
          <a:p>
            <a:pPr indent="0" lvl="0" marL="0" rtl="0" algn="just">
              <a:spcBef>
                <a:spcPts val="0"/>
              </a:spcBef>
              <a:spcAft>
                <a:spcPts val="0"/>
              </a:spcAft>
              <a:buNone/>
            </a:pPr>
            <a:r>
              <a:rPr lang="en-GB"/>
              <a:t>  &lt;length&gt;4350 km&lt;/length&gt;</a:t>
            </a:r>
            <a:endParaRPr/>
          </a:p>
          <a:p>
            <a:pPr indent="0" lvl="0" marL="0" rtl="0" algn="just">
              <a:spcBef>
                <a:spcPts val="0"/>
              </a:spcBef>
              <a:spcAft>
                <a:spcPts val="0"/>
              </a:spcAft>
              <a:buNone/>
            </a:pPr>
            <a:r>
              <a:rPr lang="en-GB"/>
              <a:t>  &lt;startingLocation&gt;Thanh Hải, Trung Quốc&lt;/startingLocation&gt;</a:t>
            </a:r>
            <a:endParaRPr/>
          </a:p>
          <a:p>
            <a:pPr indent="0" lvl="0" marL="0" rtl="0" algn="just">
              <a:spcBef>
                <a:spcPts val="0"/>
              </a:spcBef>
              <a:spcAft>
                <a:spcPts val="0"/>
              </a:spcAft>
              <a:buNone/>
            </a:pPr>
            <a:r>
              <a:rPr lang="en-GB"/>
              <a:t>  &lt;endingLocation&gt;Đồng bằng sông Cửu Long, Việt Nam&lt;/endingLocation&gt;</a:t>
            </a:r>
            <a:endParaRPr/>
          </a:p>
          <a:p>
            <a:pPr indent="0" lvl="0" marL="0" rtl="0" algn="just">
              <a:spcBef>
                <a:spcPts val="0"/>
              </a:spcBef>
              <a:spcAft>
                <a:spcPts val="0"/>
              </a:spcAft>
              <a:buNone/>
            </a:pPr>
            <a:r>
              <a:rPr lang="en-GB"/>
              <a:t>&lt;/River&gt;</a:t>
            </a:r>
            <a:endParaRPr/>
          </a:p>
          <a:p>
            <a:pPr indent="0" lvl="0" marL="0" rtl="0" algn="just">
              <a:spcBef>
                <a:spcPts val="0"/>
              </a:spcBef>
              <a:spcAft>
                <a:spcPts val="0"/>
              </a:spcAft>
              <a:buNone/>
            </a:pPr>
            <a:r>
              <a:t/>
            </a:r>
            <a:endParaRPr/>
          </a:p>
        </p:txBody>
      </p:sp>
      <p:sp>
        <p:nvSpPr>
          <p:cNvPr id="201" name="Google Shape;201;p25"/>
          <p:cNvSpPr txBox="1"/>
          <p:nvPr/>
        </p:nvSpPr>
        <p:spPr>
          <a:xfrm>
            <a:off x="245425" y="5993225"/>
            <a:ext cx="8722800" cy="6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!Trang n</a:t>
            </a:r>
            <a:r>
              <a:rPr i="1" lang="en-GB" sz="1800"/>
              <a:t>ày chỉ tập trung vào các nút dữ liệu, các ví dụ không phải tài liệu </a:t>
            </a:r>
            <a:r>
              <a:rPr lang="en-GB" sz="1800"/>
              <a:t>RDF/XML</a:t>
            </a:r>
            <a:r>
              <a:rPr i="1" lang="en-GB" sz="1800"/>
              <a:t> hoàn thiện.</a:t>
            </a:r>
            <a:endParaRPr i="1"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07" name="Google Shape;207;p2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Công cụ đọc RDF</a:t>
            </a:r>
            <a:endParaRPr/>
          </a:p>
        </p:txBody>
      </p:sp>
      <p:sp>
        <p:nvSpPr>
          <p:cNvPr id="208" name="Google Shape;208;p26"/>
          <p:cNvSpPr txBox="1"/>
          <p:nvPr>
            <p:ph idx="4294967295"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Có thể kiểm tra trực tuyến tài liệu XML có đúng định dạng RDF hoặc không ở địa chỉ</a:t>
            </a:r>
            <a:endParaRPr/>
          </a:p>
        </p:txBody>
      </p:sp>
      <p:sp>
        <p:nvSpPr>
          <p:cNvPr id="209" name="Google Shape;209;p26"/>
          <p:cNvSpPr/>
          <p:nvPr/>
        </p:nvSpPr>
        <p:spPr>
          <a:xfrm>
            <a:off x="516150" y="2655500"/>
            <a:ext cx="7758600" cy="52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200"/>
              <a:t>http://www.w3.org/RDF/Validator/</a:t>
            </a:r>
            <a:endParaRPr sz="2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7"/>
          <p:cNvSpPr txBox="1"/>
          <p:nvPr>
            <p:ph type="title"/>
          </p:nvPr>
        </p:nvSpPr>
        <p:spPr>
          <a:xfrm>
            <a:off x="311700" y="212379"/>
            <a:ext cx="8520600" cy="114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a:t>
            </a:r>
            <a:r>
              <a:rPr lang="en-GB"/>
              <a:t>ất cứ ai, ở bất cứ đâu, ở bất kỳ thời điểm nào đều có thể nói về 1 tài nguyên</a:t>
            </a:r>
            <a:endParaRPr/>
          </a:p>
        </p:txBody>
      </p:sp>
      <p:sp>
        <p:nvSpPr>
          <p:cNvPr id="215" name="Google Shape;215;p27"/>
          <p:cNvSpPr txBox="1"/>
          <p:nvPr>
            <p:ph idx="1" type="body"/>
          </p:nvPr>
        </p:nvSpPr>
        <p:spPr>
          <a:xfrm>
            <a:off x="311700" y="1480050"/>
            <a:ext cx="8520600" cy="4881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Nếu mỗi tài nguyên được cấp 1 định danh duy nhất, ví dụ:</a:t>
            </a:r>
            <a:endParaRPr/>
          </a:p>
          <a:p>
            <a:pPr indent="0" lvl="0" marL="0" rtl="0" algn="l">
              <a:spcBef>
                <a:spcPts val="1200"/>
              </a:spcBef>
              <a:spcAft>
                <a:spcPts val="0"/>
              </a:spcAft>
              <a:buNone/>
            </a:pPr>
            <a:r>
              <a:t/>
            </a:r>
            <a:endParaRPr/>
          </a:p>
          <a:p>
            <a:pPr indent="-381000" lvl="0" marL="457200" rtl="0" algn="l">
              <a:spcBef>
                <a:spcPts val="0"/>
              </a:spcBef>
              <a:spcAft>
                <a:spcPts val="0"/>
              </a:spcAft>
              <a:buSzPts val="2400"/>
              <a:buChar char="●"/>
            </a:pPr>
            <a:r>
              <a:rPr lang="en-GB"/>
              <a:t>Sau đó, nếu tài liệu RDF khác sử dụng cùng định danh để xác định cùng tài nguyên thì có thể cung cấp thêm dữ liệu về tài nguyên đó.</a:t>
            </a:r>
            <a:endParaRPr/>
          </a:p>
          <a:p>
            <a:pPr indent="-381000" lvl="0" marL="457200" rtl="0" algn="l">
              <a:spcBef>
                <a:spcPts val="0"/>
              </a:spcBef>
              <a:spcAft>
                <a:spcPts val="0"/>
              </a:spcAft>
              <a:buSzPts val="2400"/>
              <a:buChar char="●"/>
            </a:pPr>
            <a:r>
              <a:rPr lang="en-GB"/>
              <a:t>Công cụ tổng hợp sẽ có khả năng thu thập tất cả dữ liệu về 1 tài nguyên và tạo 1 biểu diễn của tài nguyên đó. Đó có thể là cơ sở để xây dựng nhiều ứng dụng hữu ích.</a:t>
            </a:r>
            <a:endParaRPr/>
          </a:p>
        </p:txBody>
      </p:sp>
      <p:sp>
        <p:nvSpPr>
          <p:cNvPr id="216" name="Google Shape;216;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17" name="Google Shape;217;p27"/>
          <p:cNvSpPr/>
          <p:nvPr/>
        </p:nvSpPr>
        <p:spPr>
          <a:xfrm>
            <a:off x="1403050" y="2024300"/>
            <a:ext cx="5197500" cy="478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http://www.vietnam.org/dialy/song-suoi</a:t>
            </a:r>
            <a:r>
              <a:rPr lang="en-GB" sz="1800">
                <a:solidFill>
                  <a:schemeClr val="dk1"/>
                </a:solidFill>
              </a:rPr>
              <a:t>#Mekong</a:t>
            </a:r>
            <a:endParaRPr/>
          </a:p>
        </p:txBody>
      </p:sp>
      <p:sp>
        <p:nvSpPr>
          <p:cNvPr id="218" name="Google Shape;218;p27"/>
          <p:cNvSpPr txBox="1"/>
          <p:nvPr/>
        </p:nvSpPr>
        <p:spPr>
          <a:xfrm>
            <a:off x="799475" y="5591475"/>
            <a:ext cx="7678500" cy="44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400">
                <a:solidFill>
                  <a:schemeClr val="dk2"/>
                </a:solidFill>
              </a:rPr>
              <a:t>Khẩu hiệu AAA</a:t>
            </a:r>
            <a:endParaRPr i="1" sz="24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rdf:ID vs. rdf:about</a:t>
            </a:r>
            <a:endParaRPr/>
          </a:p>
        </p:txBody>
      </p:sp>
      <p:sp>
        <p:nvSpPr>
          <p:cNvPr id="224" name="Google Shape;224;p28"/>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Khi nào thì sử dụng rdf:ID? Khi nào thì sử dụng rdf:about?</a:t>
            </a:r>
            <a:endParaRPr/>
          </a:p>
          <a:p>
            <a:pPr indent="-368300" lvl="1" marL="914400" rtl="0" algn="l">
              <a:spcBef>
                <a:spcPts val="0"/>
              </a:spcBef>
              <a:spcAft>
                <a:spcPts val="0"/>
              </a:spcAft>
              <a:buSzPts val="2200"/>
              <a:buChar char="○"/>
            </a:pPr>
            <a:r>
              <a:rPr lang="en-GB"/>
              <a:t>rdf:ID có thể phù hợp hơn để giới thiệu về tài nguyên, và cung cấp tập dữ liệu ban đầu.</a:t>
            </a:r>
            <a:endParaRPr/>
          </a:p>
          <a:p>
            <a:pPr indent="-368300" lvl="1" marL="914400" rtl="0" algn="l">
              <a:spcBef>
                <a:spcPts val="0"/>
              </a:spcBef>
              <a:spcAft>
                <a:spcPts val="0"/>
              </a:spcAft>
              <a:buSzPts val="2200"/>
              <a:buChar char="○"/>
            </a:pPr>
            <a:r>
              <a:rPr lang="en-GB"/>
              <a:t>rdf:about có thể phù hợp hơn để mở rộng thông tin về 1 tài nguyên.</a:t>
            </a:r>
            <a:endParaRPr/>
          </a:p>
          <a:p>
            <a:pPr indent="-342900" lvl="2" marL="1371600" rtl="0" algn="l">
              <a:spcBef>
                <a:spcPts val="0"/>
              </a:spcBef>
              <a:spcAft>
                <a:spcPts val="0"/>
              </a:spcAft>
              <a:buSzPts val="1800"/>
              <a:buChar char="■"/>
            </a:pPr>
            <a:r>
              <a:rPr lang="en-GB"/>
              <a:t>Triết lý thiết kế RDF tương tự như triết lý thiết kế Web, bất kỳ ai, ở bất cứ đâu, ở bất kỳ thời điểm nào cũng có thể cung cấp thông tin về 1 tài nguyên.</a:t>
            </a:r>
            <a:endParaRPr/>
          </a:p>
        </p:txBody>
      </p:sp>
      <p:sp>
        <p:nvSpPr>
          <p:cNvPr id="225" name="Google Shape;225;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phép đo với nút rỗng</a:t>
            </a:r>
            <a:endParaRPr/>
          </a:p>
        </p:txBody>
      </p:sp>
      <p:sp>
        <p:nvSpPr>
          <p:cNvPr id="231" name="Google Shape;231;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2" name="Google Shape;232;p29"/>
          <p:cNvSpPr/>
          <p:nvPr/>
        </p:nvSpPr>
        <p:spPr>
          <a:xfrm>
            <a:off x="2461400" y="1204475"/>
            <a:ext cx="6248400" cy="3519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a:t>&lt;?xml version="1.0"?&gt;</a:t>
            </a:r>
            <a:endParaRPr/>
          </a:p>
          <a:p>
            <a:pPr indent="0" lvl="0" marL="0" rtl="0" algn="just">
              <a:spcBef>
                <a:spcPts val="0"/>
              </a:spcBef>
              <a:spcAft>
                <a:spcPts val="0"/>
              </a:spcAft>
              <a:buNone/>
            </a:pPr>
            <a:r>
              <a:rPr lang="en-GB"/>
              <a:t>&lt;</a:t>
            </a:r>
            <a:r>
              <a:rPr lang="en-GB"/>
              <a:t>rdf:RDF </a:t>
            </a:r>
            <a:r>
              <a:rPr lang="en-GB">
                <a:solidFill>
                  <a:schemeClr val="dk1"/>
                </a:solidFill>
              </a:rPr>
              <a:t>xmlns="http://www.geography.org/river#"</a:t>
            </a:r>
            <a:endParaRPr>
              <a:solidFill>
                <a:schemeClr val="dk1"/>
              </a:solidFill>
            </a:endParaRPr>
          </a:p>
          <a:p>
            <a:pPr indent="0" lvl="0" marL="0" rtl="0" algn="just">
              <a:spcBef>
                <a:spcPts val="0"/>
              </a:spcBef>
              <a:spcAft>
                <a:spcPts val="0"/>
              </a:spcAft>
              <a:buNone/>
            </a:pPr>
            <a:r>
              <a:rPr lang="en-GB">
                <a:solidFill>
                  <a:schemeClr val="dk1"/>
                </a:solidFill>
              </a:rPr>
              <a:t>                xmlns:rdf="http://www.w3.org/1999/02/22-rdf-syntax-ns#"</a:t>
            </a:r>
            <a:endParaRPr>
              <a:solidFill>
                <a:schemeClr val="dk1"/>
              </a:solidFill>
            </a:endParaRPr>
          </a:p>
          <a:p>
            <a:pPr indent="0" lvl="0" marL="0" rtl="0" algn="just">
              <a:spcBef>
                <a:spcPts val="0"/>
              </a:spcBef>
              <a:spcAft>
                <a:spcPts val="0"/>
              </a:spcAft>
              <a:buNone/>
            </a:pPr>
            <a:r>
              <a:rPr lang="en-GB">
                <a:solidFill>
                  <a:schemeClr val="dk1"/>
                </a:solidFill>
              </a:rPr>
              <a:t>                xml:base="http://www.vietnam.org/dialy/song-suoi"</a:t>
            </a:r>
            <a:endParaRPr>
              <a:solidFill>
                <a:schemeClr val="dk1"/>
              </a:solidFill>
            </a:endParaRPr>
          </a:p>
          <a:p>
            <a:pPr indent="0" lvl="0" marL="0" rtl="0" algn="just">
              <a:spcBef>
                <a:spcPts val="0"/>
              </a:spcBef>
              <a:spcAft>
                <a:spcPts val="0"/>
              </a:spcAft>
              <a:buNone/>
            </a:pPr>
            <a:r>
              <a:rPr lang="en-GB">
                <a:solidFill>
                  <a:schemeClr val="dk1"/>
                </a:solidFill>
              </a:rPr>
              <a:t>                xmlns:uom="http://www.measurements.org/units-of-measure#"&gt;</a:t>
            </a:r>
            <a:endParaRPr>
              <a:solidFill>
                <a:schemeClr val="dk1"/>
              </a:solidFill>
            </a:endParaRPr>
          </a:p>
          <a:p>
            <a:pPr indent="0" lvl="0" marL="0" rtl="0" algn="just">
              <a:spcBef>
                <a:spcPts val="0"/>
              </a:spcBef>
              <a:spcAft>
                <a:spcPts val="0"/>
              </a:spcAft>
              <a:buNone/>
            </a:pPr>
            <a:r>
              <a:rPr lang="en-GB"/>
              <a:t>&lt;River rdf:ID="Mekong"&gt;</a:t>
            </a:r>
            <a:endParaRPr/>
          </a:p>
          <a:p>
            <a:pPr indent="0" lvl="0" marL="0" rtl="0" algn="just">
              <a:spcBef>
                <a:spcPts val="0"/>
              </a:spcBef>
              <a:spcAft>
                <a:spcPts val="0"/>
              </a:spcAft>
              <a:buNone/>
            </a:pPr>
            <a:r>
              <a:rPr b="1" lang="en-GB"/>
              <a:t>  &lt;length&gt;</a:t>
            </a:r>
            <a:endParaRPr b="1"/>
          </a:p>
          <a:p>
            <a:pPr indent="0" lvl="0" marL="0" rtl="0" algn="just">
              <a:spcBef>
                <a:spcPts val="0"/>
              </a:spcBef>
              <a:spcAft>
                <a:spcPts val="0"/>
              </a:spcAft>
              <a:buNone/>
            </a:pPr>
            <a:r>
              <a:rPr b="1" lang="en-GB"/>
              <a:t>      &lt;</a:t>
            </a:r>
            <a:r>
              <a:rPr b="1" lang="en-GB"/>
              <a:t>rdf:Description&gt;</a:t>
            </a:r>
            <a:endParaRPr b="1"/>
          </a:p>
          <a:p>
            <a:pPr indent="0" lvl="0" marL="0" rtl="0" algn="just">
              <a:spcBef>
                <a:spcPts val="0"/>
              </a:spcBef>
              <a:spcAft>
                <a:spcPts val="0"/>
              </a:spcAft>
              <a:buNone/>
            </a:pPr>
            <a:r>
              <a:rPr b="1" lang="en-GB"/>
              <a:t>           &lt;rdf:value&gt;4350&lt;/rdf:value&gt;</a:t>
            </a:r>
            <a:endParaRPr b="1"/>
          </a:p>
          <a:p>
            <a:pPr indent="0" lvl="0" marL="0" rtl="0" algn="just">
              <a:spcBef>
                <a:spcPts val="0"/>
              </a:spcBef>
              <a:spcAft>
                <a:spcPts val="0"/>
              </a:spcAft>
              <a:buNone/>
            </a:pPr>
            <a:r>
              <a:rPr b="1" lang="en-GB"/>
              <a:t>           &lt;uom:units&gt;km&lt;/uom:units&gt;</a:t>
            </a:r>
            <a:endParaRPr b="1"/>
          </a:p>
          <a:p>
            <a:pPr indent="0" lvl="0" marL="0" rtl="0" algn="just">
              <a:spcBef>
                <a:spcPts val="0"/>
              </a:spcBef>
              <a:spcAft>
                <a:spcPts val="0"/>
              </a:spcAft>
              <a:buNone/>
            </a:pPr>
            <a:r>
              <a:rPr b="1" lang="en-GB"/>
              <a:t>      &lt;/rdf:Description&gt;</a:t>
            </a:r>
            <a:endParaRPr b="1"/>
          </a:p>
          <a:p>
            <a:pPr indent="0" lvl="0" marL="0" rtl="0" algn="just">
              <a:spcBef>
                <a:spcPts val="0"/>
              </a:spcBef>
              <a:spcAft>
                <a:spcPts val="0"/>
              </a:spcAft>
              <a:buNone/>
            </a:pPr>
            <a:r>
              <a:rPr b="1" lang="en-GB"/>
              <a:t>  &lt;/length&gt;</a:t>
            </a:r>
            <a:endParaRPr b="1"/>
          </a:p>
          <a:p>
            <a:pPr indent="0" lvl="0" marL="0" rtl="0" algn="just">
              <a:spcBef>
                <a:spcPts val="0"/>
              </a:spcBef>
              <a:spcAft>
                <a:spcPts val="0"/>
              </a:spcAft>
              <a:buNone/>
            </a:pPr>
            <a:r>
              <a:rPr lang="en-GB"/>
              <a:t>  &lt;startingLocation&gt;Thanh Hải, Trung Quốc&lt;/startingLocation&gt;</a:t>
            </a:r>
            <a:endParaRPr/>
          </a:p>
          <a:p>
            <a:pPr indent="0" lvl="0" marL="0" rtl="0" algn="just">
              <a:spcBef>
                <a:spcPts val="0"/>
              </a:spcBef>
              <a:spcAft>
                <a:spcPts val="0"/>
              </a:spcAft>
              <a:buNone/>
            </a:pPr>
            <a:r>
              <a:rPr lang="en-GB"/>
              <a:t>  &lt;endingLocation&gt;Đồng bằng sông Cửu Long, Việt Nam&lt;/endingLocation&gt;</a:t>
            </a:r>
            <a:endParaRPr/>
          </a:p>
          <a:p>
            <a:pPr indent="0" lvl="0" marL="0" rtl="0" algn="just">
              <a:spcBef>
                <a:spcPts val="0"/>
              </a:spcBef>
              <a:spcAft>
                <a:spcPts val="0"/>
              </a:spcAft>
              <a:buNone/>
            </a:pPr>
            <a:r>
              <a:rPr lang="en-GB"/>
              <a:t>&lt;/River&gt;</a:t>
            </a:r>
            <a:endParaRPr/>
          </a:p>
          <a:p>
            <a:pPr indent="0" lvl="0" marL="0" rtl="0" algn="just">
              <a:spcBef>
                <a:spcPts val="0"/>
              </a:spcBef>
              <a:spcAft>
                <a:spcPts val="0"/>
              </a:spcAft>
              <a:buNone/>
            </a:pPr>
            <a:r>
              <a:rPr lang="en-GB"/>
              <a:t>&lt;/</a:t>
            </a:r>
            <a:r>
              <a:rPr lang="en-GB"/>
              <a:t>rdf:RDF&gt;</a:t>
            </a:r>
            <a:endParaRPr/>
          </a:p>
          <a:p>
            <a:pPr indent="0" lvl="0" marL="0" rtl="0" algn="just">
              <a:spcBef>
                <a:spcPts val="0"/>
              </a:spcBef>
              <a:spcAft>
                <a:spcPts val="0"/>
              </a:spcAft>
              <a:buNone/>
            </a:pPr>
            <a:r>
              <a:t/>
            </a:r>
            <a:endParaRPr/>
          </a:p>
        </p:txBody>
      </p:sp>
      <p:sp>
        <p:nvSpPr>
          <p:cNvPr id="233" name="Google Shape;233;p29"/>
          <p:cNvSpPr/>
          <p:nvPr/>
        </p:nvSpPr>
        <p:spPr>
          <a:xfrm>
            <a:off x="2183800" y="2818425"/>
            <a:ext cx="234600" cy="7635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9"/>
          <p:cNvSpPr txBox="1"/>
          <p:nvPr/>
        </p:nvSpPr>
        <p:spPr>
          <a:xfrm>
            <a:off x="186650" y="2818425"/>
            <a:ext cx="2155500" cy="9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434343"/>
                </a:solidFill>
              </a:rPr>
              <a:t>Tài nguyên không tên/nút rỗng</a:t>
            </a:r>
            <a:endParaRPr sz="1800">
              <a:solidFill>
                <a:srgbClr val="434343"/>
              </a:solidFill>
            </a:endParaRPr>
          </a:p>
        </p:txBody>
      </p:sp>
      <p:sp>
        <p:nvSpPr>
          <p:cNvPr id="235" name="Google Shape;235;p29"/>
          <p:cNvSpPr txBox="1"/>
          <p:nvPr/>
        </p:nvSpPr>
        <p:spPr>
          <a:xfrm>
            <a:off x="564200" y="4875825"/>
            <a:ext cx="8145600" cy="112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200">
                <a:solidFill>
                  <a:srgbClr val="434343"/>
                </a:solidFill>
              </a:rPr>
              <a:t>Sông Mêkông có độ dài là 4350 km.</a:t>
            </a:r>
            <a:endParaRPr i="1" sz="2200">
              <a:solidFill>
                <a:srgbClr val="43434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1" name="Google Shape;241;p30"/>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rdf:parseType="Resource"</a:t>
            </a:r>
            <a:endParaRPr/>
          </a:p>
        </p:txBody>
      </p:sp>
      <p:sp>
        <p:nvSpPr>
          <p:cNvPr id="242" name="Google Shape;242;p30"/>
          <p:cNvSpPr txBox="1"/>
          <p:nvPr>
            <p:ph idx="4294967295" type="body"/>
          </p:nvPr>
        </p:nvSpPr>
        <p:spPr>
          <a:xfrm>
            <a:off x="311700" y="927031"/>
            <a:ext cx="8520600" cy="14565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Nút rỗng thường được tạo để biểu diễn giá trị đa trị của thuộc tính. RDF cung cấp cách viết tắt (không cần tạo nút rdf:Description) với rdf:parseType="Resource":</a:t>
            </a:r>
            <a:endParaRPr/>
          </a:p>
        </p:txBody>
      </p:sp>
      <p:sp>
        <p:nvSpPr>
          <p:cNvPr id="243" name="Google Shape;243;p30"/>
          <p:cNvSpPr/>
          <p:nvPr/>
        </p:nvSpPr>
        <p:spPr>
          <a:xfrm>
            <a:off x="937400" y="2347475"/>
            <a:ext cx="7104000" cy="3807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600"/>
              <a:t>&lt;?xml version="1.0"?&gt;</a:t>
            </a:r>
            <a:endParaRPr sz="1600"/>
          </a:p>
          <a:p>
            <a:pPr indent="0" lvl="0" marL="0" rtl="0" algn="just">
              <a:spcBef>
                <a:spcPts val="0"/>
              </a:spcBef>
              <a:spcAft>
                <a:spcPts val="0"/>
              </a:spcAft>
              <a:buNone/>
            </a:pPr>
            <a:r>
              <a:rPr lang="en-GB" sz="1600"/>
              <a:t>&lt;</a:t>
            </a:r>
            <a:r>
              <a:rPr lang="en-GB" sz="1600"/>
              <a:t>rdf:RDF </a:t>
            </a:r>
            <a:r>
              <a:rPr lang="en-GB" sz="1600">
                <a:solidFill>
                  <a:schemeClr val="dk1"/>
                </a:solidFill>
              </a:rPr>
              <a:t>xmlns="http://www.geography.org/river#"</a:t>
            </a:r>
            <a:endParaRPr sz="1600">
              <a:solidFill>
                <a:schemeClr val="dk1"/>
              </a:solidFill>
            </a:endParaRPr>
          </a:p>
          <a:p>
            <a:pPr indent="0" lvl="0" marL="0" rtl="0" algn="just">
              <a:spcBef>
                <a:spcPts val="0"/>
              </a:spcBef>
              <a:spcAft>
                <a:spcPts val="0"/>
              </a:spcAft>
              <a:buNone/>
            </a:pPr>
            <a:r>
              <a:rPr lang="en-GB" sz="1600">
                <a:solidFill>
                  <a:schemeClr val="dk1"/>
                </a:solidFill>
              </a:rPr>
              <a:t>                xml:base="http://www.vietnam.org/dialy/song-suoi"</a:t>
            </a:r>
            <a:endParaRPr sz="1600">
              <a:solidFill>
                <a:schemeClr val="dk1"/>
              </a:solidFill>
            </a:endParaRPr>
          </a:p>
          <a:p>
            <a:pPr indent="0" lvl="0" marL="0" rtl="0" algn="just">
              <a:spcBef>
                <a:spcPts val="0"/>
              </a:spcBef>
              <a:spcAft>
                <a:spcPts val="0"/>
              </a:spcAft>
              <a:buNone/>
            </a:pPr>
            <a:r>
              <a:rPr lang="en-GB" sz="1600">
                <a:solidFill>
                  <a:schemeClr val="dk1"/>
                </a:solidFill>
              </a:rPr>
              <a:t>                xmlns:rdf="http://www.w3.org/1999/02/22-rdf-syntax-ns#"</a:t>
            </a:r>
            <a:endParaRPr sz="1600">
              <a:solidFill>
                <a:schemeClr val="dk1"/>
              </a:solidFill>
            </a:endParaRPr>
          </a:p>
          <a:p>
            <a:pPr indent="0" lvl="0" marL="0" rtl="0" algn="just">
              <a:spcBef>
                <a:spcPts val="0"/>
              </a:spcBef>
              <a:spcAft>
                <a:spcPts val="0"/>
              </a:spcAft>
              <a:buNone/>
            </a:pPr>
            <a:r>
              <a:rPr lang="en-GB" sz="1600">
                <a:solidFill>
                  <a:schemeClr val="dk1"/>
                </a:solidFill>
              </a:rPr>
              <a:t>                xmlns:uom="http://www.measurements.org/units-of-measure#"&gt;</a:t>
            </a:r>
            <a:endParaRPr sz="1600">
              <a:solidFill>
                <a:schemeClr val="dk1"/>
              </a:solidFill>
            </a:endParaRPr>
          </a:p>
          <a:p>
            <a:pPr indent="0" lvl="0" marL="0" rtl="0" algn="just">
              <a:spcBef>
                <a:spcPts val="0"/>
              </a:spcBef>
              <a:spcAft>
                <a:spcPts val="0"/>
              </a:spcAft>
              <a:buNone/>
            </a:pPr>
            <a:r>
              <a:rPr lang="en-GB" sz="1600"/>
              <a:t>&lt;River rdf:ID="Mekong"&gt;</a:t>
            </a:r>
            <a:endParaRPr sz="1600"/>
          </a:p>
          <a:p>
            <a:pPr indent="0" lvl="0" marL="0" rtl="0" algn="just">
              <a:spcBef>
                <a:spcPts val="0"/>
              </a:spcBef>
              <a:spcAft>
                <a:spcPts val="0"/>
              </a:spcAft>
              <a:buNone/>
            </a:pPr>
            <a:r>
              <a:rPr b="1" lang="en-GB" sz="1600"/>
              <a:t> </a:t>
            </a:r>
            <a:r>
              <a:rPr lang="en-GB" sz="1600"/>
              <a:t> &lt;length </a:t>
            </a:r>
            <a:r>
              <a:rPr b="1" lang="en-GB" sz="1600"/>
              <a:t>rdf:parseType=</a:t>
            </a:r>
            <a:r>
              <a:rPr b="1" lang="en-GB" sz="1600">
                <a:solidFill>
                  <a:schemeClr val="dk1"/>
                </a:solidFill>
              </a:rPr>
              <a:t>"</a:t>
            </a:r>
            <a:r>
              <a:rPr b="1" lang="en-GB" sz="1600"/>
              <a:t>Resource"</a:t>
            </a:r>
            <a:r>
              <a:rPr lang="en-GB" sz="1600"/>
              <a:t>&gt;</a:t>
            </a:r>
            <a:endParaRPr sz="1600"/>
          </a:p>
          <a:p>
            <a:pPr indent="0" lvl="0" marL="0" rtl="0" algn="just">
              <a:spcBef>
                <a:spcPts val="0"/>
              </a:spcBef>
              <a:spcAft>
                <a:spcPts val="0"/>
              </a:spcAft>
              <a:buNone/>
            </a:pPr>
            <a:r>
              <a:rPr lang="en-GB" sz="1600"/>
              <a:t>       &lt;rdf:value&gt;4350&lt;/rdf:value&gt;</a:t>
            </a:r>
            <a:endParaRPr sz="1600"/>
          </a:p>
          <a:p>
            <a:pPr indent="0" lvl="0" marL="0" rtl="0" algn="just">
              <a:spcBef>
                <a:spcPts val="0"/>
              </a:spcBef>
              <a:spcAft>
                <a:spcPts val="0"/>
              </a:spcAft>
              <a:buNone/>
            </a:pPr>
            <a:r>
              <a:rPr lang="en-GB" sz="1600"/>
              <a:t>       &lt;uom:units&gt;km&lt;/uom:units&gt;</a:t>
            </a:r>
            <a:endParaRPr sz="1600"/>
          </a:p>
          <a:p>
            <a:pPr indent="0" lvl="0" marL="0" rtl="0" algn="just">
              <a:spcBef>
                <a:spcPts val="0"/>
              </a:spcBef>
              <a:spcAft>
                <a:spcPts val="0"/>
              </a:spcAft>
              <a:buNone/>
            </a:pPr>
            <a:r>
              <a:rPr lang="en-GB" sz="1600"/>
              <a:t>  &lt;/length&gt;</a:t>
            </a:r>
            <a:endParaRPr sz="1600"/>
          </a:p>
          <a:p>
            <a:pPr indent="0" lvl="0" marL="0" rtl="0" algn="just">
              <a:spcBef>
                <a:spcPts val="0"/>
              </a:spcBef>
              <a:spcAft>
                <a:spcPts val="0"/>
              </a:spcAft>
              <a:buNone/>
            </a:pPr>
            <a:r>
              <a:rPr lang="en-GB" sz="1600"/>
              <a:t>  &lt;startingLocation&gt;Thanh Hải, Trung Quốc&lt;/startingLocation&gt;</a:t>
            </a:r>
            <a:endParaRPr sz="1600"/>
          </a:p>
          <a:p>
            <a:pPr indent="0" lvl="0" marL="0" rtl="0" algn="just">
              <a:spcBef>
                <a:spcPts val="0"/>
              </a:spcBef>
              <a:spcAft>
                <a:spcPts val="0"/>
              </a:spcAft>
              <a:buNone/>
            </a:pPr>
            <a:r>
              <a:rPr lang="en-GB" sz="1600"/>
              <a:t>  &lt;endingLocation&gt;Đồng bằng sông Cửu Long, Việt Nam&lt;/endingLocation&gt;</a:t>
            </a:r>
            <a:endParaRPr sz="1600"/>
          </a:p>
          <a:p>
            <a:pPr indent="0" lvl="0" marL="0" rtl="0" algn="just">
              <a:spcBef>
                <a:spcPts val="0"/>
              </a:spcBef>
              <a:spcAft>
                <a:spcPts val="0"/>
              </a:spcAft>
              <a:buNone/>
            </a:pPr>
            <a:r>
              <a:rPr lang="en-GB" sz="1600"/>
              <a:t>&lt;/River&gt;</a:t>
            </a:r>
            <a:endParaRPr sz="1600"/>
          </a:p>
          <a:p>
            <a:pPr indent="0" lvl="0" marL="0" rtl="0" algn="just">
              <a:spcBef>
                <a:spcPts val="0"/>
              </a:spcBef>
              <a:spcAft>
                <a:spcPts val="0"/>
              </a:spcAft>
              <a:buNone/>
            </a:pPr>
            <a:r>
              <a:rPr lang="en-GB" sz="1600"/>
              <a:t>&lt;/</a:t>
            </a:r>
            <a:r>
              <a:rPr lang="en-GB" sz="1600"/>
              <a:t>rdf:RDF&gt;</a:t>
            </a:r>
            <a:endParaRPr sz="1600"/>
          </a:p>
        </p:txBody>
      </p:sp>
      <p:sp>
        <p:nvSpPr>
          <p:cNvPr id="244" name="Google Shape;244;p30"/>
          <p:cNvSpPr txBox="1"/>
          <p:nvPr/>
        </p:nvSpPr>
        <p:spPr>
          <a:xfrm>
            <a:off x="311700" y="6154625"/>
            <a:ext cx="85728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400">
                <a:solidFill>
                  <a:srgbClr val="1155CC"/>
                </a:solidFill>
              </a:rPr>
              <a:t>Ý nghĩa giống như biểu diễn với </a:t>
            </a:r>
            <a:r>
              <a:rPr lang="en-GB" sz="2400">
                <a:solidFill>
                  <a:srgbClr val="1155CC"/>
                </a:solidFill>
              </a:rPr>
              <a:t>rdf:Description</a:t>
            </a:r>
            <a:endParaRPr sz="2400">
              <a:solidFill>
                <a:srgbClr val="1155CC"/>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50" name="Google Shape;250;p31"/>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biểu diễn tương đương</a:t>
            </a:r>
            <a:endParaRPr/>
          </a:p>
        </p:txBody>
      </p:sp>
      <p:sp>
        <p:nvSpPr>
          <p:cNvPr id="251" name="Google Shape;251;p31"/>
          <p:cNvSpPr/>
          <p:nvPr/>
        </p:nvSpPr>
        <p:spPr>
          <a:xfrm>
            <a:off x="1739000" y="1120050"/>
            <a:ext cx="5194200" cy="2370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2400">
                <a:solidFill>
                  <a:srgbClr val="434343"/>
                </a:solidFill>
              </a:rPr>
              <a:t>  &lt;length&gt;</a:t>
            </a:r>
            <a:endParaRPr sz="2400">
              <a:solidFill>
                <a:srgbClr val="434343"/>
              </a:solidFill>
            </a:endParaRPr>
          </a:p>
          <a:p>
            <a:pPr indent="0" lvl="0" marL="0" rtl="0" algn="just">
              <a:spcBef>
                <a:spcPts val="0"/>
              </a:spcBef>
              <a:spcAft>
                <a:spcPts val="0"/>
              </a:spcAft>
              <a:buNone/>
            </a:pPr>
            <a:r>
              <a:rPr lang="en-GB" sz="2400">
                <a:solidFill>
                  <a:srgbClr val="434343"/>
                </a:solidFill>
              </a:rPr>
              <a:t>      &lt;rdf:Description&gt;</a:t>
            </a:r>
            <a:endParaRPr sz="2400">
              <a:solidFill>
                <a:srgbClr val="434343"/>
              </a:solidFill>
            </a:endParaRPr>
          </a:p>
          <a:p>
            <a:pPr indent="0" lvl="0" marL="0" rtl="0" algn="just">
              <a:spcBef>
                <a:spcPts val="0"/>
              </a:spcBef>
              <a:spcAft>
                <a:spcPts val="0"/>
              </a:spcAft>
              <a:buNone/>
            </a:pPr>
            <a:r>
              <a:rPr lang="en-GB" sz="2400">
                <a:solidFill>
                  <a:srgbClr val="434343"/>
                </a:solidFill>
              </a:rPr>
              <a:t>           &lt;rdf:value&gt;4350&lt;/rdf:value&gt;</a:t>
            </a:r>
            <a:endParaRPr sz="2400">
              <a:solidFill>
                <a:srgbClr val="434343"/>
              </a:solidFill>
            </a:endParaRPr>
          </a:p>
          <a:p>
            <a:pPr indent="0" lvl="0" marL="0" rtl="0" algn="just">
              <a:spcBef>
                <a:spcPts val="0"/>
              </a:spcBef>
              <a:spcAft>
                <a:spcPts val="0"/>
              </a:spcAft>
              <a:buNone/>
            </a:pPr>
            <a:r>
              <a:rPr lang="en-GB" sz="2400">
                <a:solidFill>
                  <a:srgbClr val="434343"/>
                </a:solidFill>
              </a:rPr>
              <a:t>           &lt;uom:units&gt;km&lt;/uom:units&gt;</a:t>
            </a:r>
            <a:endParaRPr sz="2400">
              <a:solidFill>
                <a:srgbClr val="434343"/>
              </a:solidFill>
            </a:endParaRPr>
          </a:p>
          <a:p>
            <a:pPr indent="0" lvl="0" marL="0" rtl="0" algn="just">
              <a:spcBef>
                <a:spcPts val="0"/>
              </a:spcBef>
              <a:spcAft>
                <a:spcPts val="0"/>
              </a:spcAft>
              <a:buNone/>
            </a:pPr>
            <a:r>
              <a:rPr lang="en-GB" sz="2400">
                <a:solidFill>
                  <a:srgbClr val="434343"/>
                </a:solidFill>
              </a:rPr>
              <a:t>      &lt;/rdf:Description&gt;</a:t>
            </a:r>
            <a:endParaRPr sz="2400">
              <a:solidFill>
                <a:srgbClr val="434343"/>
              </a:solidFill>
            </a:endParaRPr>
          </a:p>
          <a:p>
            <a:pPr indent="0" lvl="0" marL="0" rtl="0" algn="just">
              <a:spcBef>
                <a:spcPts val="0"/>
              </a:spcBef>
              <a:spcAft>
                <a:spcPts val="0"/>
              </a:spcAft>
              <a:buNone/>
            </a:pPr>
            <a:r>
              <a:rPr lang="en-GB" sz="2400">
                <a:solidFill>
                  <a:srgbClr val="434343"/>
                </a:solidFill>
              </a:rPr>
              <a:t>  &lt;/length&gt;</a:t>
            </a:r>
            <a:endParaRPr sz="2400">
              <a:solidFill>
                <a:srgbClr val="434343"/>
              </a:solidFill>
            </a:endParaRPr>
          </a:p>
        </p:txBody>
      </p:sp>
      <p:sp>
        <p:nvSpPr>
          <p:cNvPr id="252" name="Google Shape;252;p31"/>
          <p:cNvSpPr/>
          <p:nvPr/>
        </p:nvSpPr>
        <p:spPr>
          <a:xfrm>
            <a:off x="1739000" y="3720650"/>
            <a:ext cx="5194200" cy="1630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2400">
                <a:solidFill>
                  <a:srgbClr val="434343"/>
                </a:solidFill>
              </a:rPr>
              <a:t>  &lt;length rdf:parseType="Resource"&gt;</a:t>
            </a:r>
            <a:endParaRPr sz="2400">
              <a:solidFill>
                <a:srgbClr val="434343"/>
              </a:solidFill>
            </a:endParaRPr>
          </a:p>
          <a:p>
            <a:pPr indent="0" lvl="0" marL="0" rtl="0" algn="just">
              <a:spcBef>
                <a:spcPts val="0"/>
              </a:spcBef>
              <a:spcAft>
                <a:spcPts val="0"/>
              </a:spcAft>
              <a:buNone/>
            </a:pPr>
            <a:r>
              <a:rPr lang="en-GB" sz="2400">
                <a:solidFill>
                  <a:srgbClr val="434343"/>
                </a:solidFill>
              </a:rPr>
              <a:t>       &lt;rdf:value&gt;4350&lt;/rdf:value&gt;</a:t>
            </a:r>
            <a:endParaRPr sz="2400">
              <a:solidFill>
                <a:srgbClr val="434343"/>
              </a:solidFill>
            </a:endParaRPr>
          </a:p>
          <a:p>
            <a:pPr indent="0" lvl="0" marL="0" rtl="0" algn="just">
              <a:spcBef>
                <a:spcPts val="0"/>
              </a:spcBef>
              <a:spcAft>
                <a:spcPts val="0"/>
              </a:spcAft>
              <a:buNone/>
            </a:pPr>
            <a:r>
              <a:rPr lang="en-GB" sz="2400">
                <a:solidFill>
                  <a:srgbClr val="434343"/>
                </a:solidFill>
              </a:rPr>
              <a:t>       &lt;uom:units&gt;km&lt;/uom:units&gt;</a:t>
            </a:r>
            <a:endParaRPr sz="2400">
              <a:solidFill>
                <a:srgbClr val="434343"/>
              </a:solidFill>
            </a:endParaRPr>
          </a:p>
          <a:p>
            <a:pPr indent="0" lvl="0" marL="0" rtl="0" algn="just">
              <a:spcBef>
                <a:spcPts val="0"/>
              </a:spcBef>
              <a:spcAft>
                <a:spcPts val="0"/>
              </a:spcAft>
              <a:buNone/>
            </a:pPr>
            <a:r>
              <a:rPr lang="en-GB" sz="2400">
                <a:solidFill>
                  <a:srgbClr val="434343"/>
                </a:solidFill>
              </a:rPr>
              <a:t>  &lt;/length&gt;</a:t>
            </a:r>
            <a:endParaRPr sz="2400">
              <a:solidFill>
                <a:srgbClr val="43434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58" name="Google Shape;258;p32"/>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phép đo với rdf:datatype</a:t>
            </a:r>
            <a:endParaRPr/>
          </a:p>
        </p:txBody>
      </p:sp>
      <p:sp>
        <p:nvSpPr>
          <p:cNvPr id="259" name="Google Shape;259;p32"/>
          <p:cNvSpPr/>
          <p:nvPr/>
        </p:nvSpPr>
        <p:spPr>
          <a:xfrm>
            <a:off x="488000" y="1052075"/>
            <a:ext cx="7918200" cy="2902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600">
                <a:solidFill>
                  <a:srgbClr val="434343"/>
                </a:solidFill>
              </a:rPr>
              <a:t>&lt;?xml version="1.0"?&gt;</a:t>
            </a:r>
            <a:endParaRPr sz="1600">
              <a:solidFill>
                <a:srgbClr val="434343"/>
              </a:solidFill>
            </a:endParaRPr>
          </a:p>
          <a:p>
            <a:pPr indent="0" lvl="0" marL="0" rtl="0" algn="just">
              <a:spcBef>
                <a:spcPts val="0"/>
              </a:spcBef>
              <a:spcAft>
                <a:spcPts val="0"/>
              </a:spcAft>
              <a:buNone/>
            </a:pPr>
            <a:r>
              <a:rPr lang="en-GB" sz="1600">
                <a:solidFill>
                  <a:srgbClr val="434343"/>
                </a:solidFill>
              </a:rPr>
              <a:t>&lt;</a:t>
            </a:r>
            <a:r>
              <a:rPr lang="en-GB" sz="1600">
                <a:solidFill>
                  <a:srgbClr val="434343"/>
                </a:solidFill>
              </a:rPr>
              <a:t>rdf:RDF xmlns="http://www.geography.org/river#"</a:t>
            </a:r>
            <a:endParaRPr sz="1600">
              <a:solidFill>
                <a:srgbClr val="434343"/>
              </a:solidFill>
            </a:endParaRPr>
          </a:p>
          <a:p>
            <a:pPr indent="0" lvl="0" marL="0" rtl="0" algn="just">
              <a:spcBef>
                <a:spcPts val="0"/>
              </a:spcBef>
              <a:spcAft>
                <a:spcPts val="0"/>
              </a:spcAft>
              <a:buNone/>
            </a:pPr>
            <a:r>
              <a:rPr lang="en-GB" sz="1600">
                <a:solidFill>
                  <a:srgbClr val="434343"/>
                </a:solidFill>
              </a:rPr>
              <a:t>                xmlns:rdf="http://www.w3.org/1999/02/22-rdf-syntax-ns#"</a:t>
            </a:r>
            <a:endParaRPr sz="1600">
              <a:solidFill>
                <a:srgbClr val="434343"/>
              </a:solidFill>
            </a:endParaRPr>
          </a:p>
          <a:p>
            <a:pPr indent="0" lvl="0" marL="0" rtl="0" algn="just">
              <a:spcBef>
                <a:spcPts val="0"/>
              </a:spcBef>
              <a:spcAft>
                <a:spcPts val="0"/>
              </a:spcAft>
              <a:buNone/>
            </a:pPr>
            <a:r>
              <a:rPr lang="en-GB" sz="1600">
                <a:solidFill>
                  <a:srgbClr val="434343"/>
                </a:solidFill>
              </a:rPr>
              <a:t>                xml:base="http://www.vietnam.org/dialy/song-suoi"</a:t>
            </a:r>
            <a:endParaRPr sz="1600">
              <a:solidFill>
                <a:srgbClr val="434343"/>
              </a:solidFill>
            </a:endParaRPr>
          </a:p>
          <a:p>
            <a:pPr indent="0" lvl="0" marL="0" rtl="0" algn="just">
              <a:spcBef>
                <a:spcPts val="0"/>
              </a:spcBef>
              <a:spcAft>
                <a:spcPts val="0"/>
              </a:spcAft>
              <a:buClr>
                <a:schemeClr val="dk1"/>
              </a:buClr>
              <a:buSzPts val="1100"/>
              <a:buFont typeface="Arial"/>
              <a:buNone/>
            </a:pPr>
            <a:r>
              <a:rPr lang="en-GB" sz="1600">
                <a:solidFill>
                  <a:srgbClr val="434343"/>
                </a:solidFill>
              </a:rPr>
              <a:t>                xmlns:uom="http://www.measurements.org/units-of-measure#"&gt;</a:t>
            </a:r>
            <a:endParaRPr sz="1600">
              <a:solidFill>
                <a:srgbClr val="434343"/>
              </a:solidFill>
            </a:endParaRPr>
          </a:p>
          <a:p>
            <a:pPr indent="0" lvl="0" marL="0" rtl="0" algn="just">
              <a:spcBef>
                <a:spcPts val="0"/>
              </a:spcBef>
              <a:spcAft>
                <a:spcPts val="0"/>
              </a:spcAft>
              <a:buNone/>
            </a:pPr>
            <a:r>
              <a:rPr lang="en-GB" sz="1600">
                <a:solidFill>
                  <a:srgbClr val="434343"/>
                </a:solidFill>
              </a:rPr>
              <a:t>&lt;River rdf:ID="Mekong"&gt;      </a:t>
            </a:r>
            <a:endParaRPr sz="1600">
              <a:solidFill>
                <a:srgbClr val="434343"/>
              </a:solidFill>
            </a:endParaRPr>
          </a:p>
          <a:p>
            <a:pPr indent="0" lvl="0" marL="0" rtl="0" algn="just">
              <a:spcBef>
                <a:spcPts val="0"/>
              </a:spcBef>
              <a:spcAft>
                <a:spcPts val="0"/>
              </a:spcAft>
              <a:buNone/>
            </a:pPr>
            <a:r>
              <a:rPr b="1" lang="en-GB" sz="1600">
                <a:solidFill>
                  <a:srgbClr val="434343"/>
                </a:solidFill>
              </a:rPr>
              <a:t>  &lt;length </a:t>
            </a:r>
            <a:r>
              <a:rPr b="1" lang="en-GB" sz="1600">
                <a:solidFill>
                  <a:srgbClr val="434343"/>
                </a:solidFill>
              </a:rPr>
              <a:t>rdf:datatype="http://www.uom.org/distance#kilometer"&gt;4350</a:t>
            </a:r>
            <a:r>
              <a:rPr b="1" lang="en-GB" sz="1600">
                <a:solidFill>
                  <a:srgbClr val="434343"/>
                </a:solidFill>
              </a:rPr>
              <a:t>&lt;/length&gt;</a:t>
            </a:r>
            <a:endParaRPr b="1" sz="1600">
              <a:solidFill>
                <a:srgbClr val="434343"/>
              </a:solidFill>
            </a:endParaRPr>
          </a:p>
          <a:p>
            <a:pPr indent="0" lvl="0" marL="0" rtl="0" algn="just">
              <a:spcBef>
                <a:spcPts val="0"/>
              </a:spcBef>
              <a:spcAft>
                <a:spcPts val="0"/>
              </a:spcAft>
              <a:buNone/>
            </a:pPr>
            <a:r>
              <a:rPr lang="en-GB" sz="1600">
                <a:solidFill>
                  <a:srgbClr val="434343"/>
                </a:solidFill>
              </a:rPr>
              <a:t>  &lt;startingLocation&gt;Thanh Hải, Trung Quốc&lt;/startingLocation&gt;</a:t>
            </a:r>
            <a:endParaRPr sz="1600">
              <a:solidFill>
                <a:srgbClr val="434343"/>
              </a:solidFill>
            </a:endParaRPr>
          </a:p>
          <a:p>
            <a:pPr indent="0" lvl="0" marL="0" rtl="0" algn="just">
              <a:spcBef>
                <a:spcPts val="0"/>
              </a:spcBef>
              <a:spcAft>
                <a:spcPts val="0"/>
              </a:spcAft>
              <a:buNone/>
            </a:pPr>
            <a:r>
              <a:rPr lang="en-GB" sz="1600">
                <a:solidFill>
                  <a:srgbClr val="434343"/>
                </a:solidFill>
              </a:rPr>
              <a:t>  &lt;endingLocation&gt;Đồng bằng sông Cửu Long, Việt Nam&lt;/endingLocation&gt;</a:t>
            </a:r>
            <a:endParaRPr sz="1600">
              <a:solidFill>
                <a:srgbClr val="434343"/>
              </a:solidFill>
            </a:endParaRPr>
          </a:p>
          <a:p>
            <a:pPr indent="0" lvl="0" marL="0" rtl="0" algn="just">
              <a:spcBef>
                <a:spcPts val="0"/>
              </a:spcBef>
              <a:spcAft>
                <a:spcPts val="0"/>
              </a:spcAft>
              <a:buNone/>
            </a:pPr>
            <a:r>
              <a:rPr lang="en-GB" sz="1600">
                <a:solidFill>
                  <a:srgbClr val="434343"/>
                </a:solidFill>
              </a:rPr>
              <a:t>&lt;/River&gt;</a:t>
            </a:r>
            <a:endParaRPr sz="1600">
              <a:solidFill>
                <a:srgbClr val="434343"/>
              </a:solidFill>
            </a:endParaRPr>
          </a:p>
          <a:p>
            <a:pPr indent="0" lvl="0" marL="0" rtl="0" algn="just">
              <a:spcBef>
                <a:spcPts val="0"/>
              </a:spcBef>
              <a:spcAft>
                <a:spcPts val="0"/>
              </a:spcAft>
              <a:buNone/>
            </a:pPr>
            <a:r>
              <a:rPr lang="en-GB" sz="1600">
                <a:solidFill>
                  <a:srgbClr val="434343"/>
                </a:solidFill>
              </a:rPr>
              <a:t>&lt;/</a:t>
            </a:r>
            <a:r>
              <a:rPr lang="en-GB" sz="1600">
                <a:solidFill>
                  <a:srgbClr val="434343"/>
                </a:solidFill>
              </a:rPr>
              <a:t>rdf:RDF&gt;</a:t>
            </a:r>
            <a:endParaRPr sz="1600">
              <a:solidFill>
                <a:srgbClr val="434343"/>
              </a:solidFill>
            </a:endParaRPr>
          </a:p>
          <a:p>
            <a:pPr indent="0" lvl="0" marL="0" rtl="0" algn="just">
              <a:spcBef>
                <a:spcPts val="0"/>
              </a:spcBef>
              <a:spcAft>
                <a:spcPts val="0"/>
              </a:spcAft>
              <a:buNone/>
            </a:pPr>
            <a:r>
              <a:t/>
            </a:r>
            <a:endParaRPr sz="1600">
              <a:solidFill>
                <a:srgbClr val="434343"/>
              </a:solidFill>
            </a:endParaRPr>
          </a:p>
        </p:txBody>
      </p:sp>
      <p:sp>
        <p:nvSpPr>
          <p:cNvPr id="260" name="Google Shape;260;p32"/>
          <p:cNvSpPr txBox="1"/>
          <p:nvPr/>
        </p:nvSpPr>
        <p:spPr>
          <a:xfrm>
            <a:off x="488000" y="3954750"/>
            <a:ext cx="7918200" cy="2509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i="1" lang="en-GB" sz="2200">
                <a:solidFill>
                  <a:srgbClr val="434343"/>
                </a:solidFill>
              </a:rPr>
              <a:t>V</a:t>
            </a:r>
            <a:r>
              <a:rPr i="1" lang="en-GB" sz="2200">
                <a:solidFill>
                  <a:srgbClr val="434343"/>
                </a:solidFill>
              </a:rPr>
              <a:t>ới </a:t>
            </a:r>
            <a:r>
              <a:rPr lang="en-GB" sz="2200">
                <a:solidFill>
                  <a:srgbClr val="434343"/>
                </a:solidFill>
              </a:rPr>
              <a:t>rdf:datatype</a:t>
            </a:r>
            <a:r>
              <a:rPr i="1" lang="en-GB" sz="2200">
                <a:solidFill>
                  <a:srgbClr val="434343"/>
                </a:solidFill>
              </a:rPr>
              <a:t> chúng ta có thể gán nhãn kiểu dữ liệu cho giá trị của thuộc tính. Giá trị của</a:t>
            </a:r>
            <a:r>
              <a:rPr lang="en-GB" sz="2200">
                <a:solidFill>
                  <a:srgbClr val="434343"/>
                </a:solidFill>
              </a:rPr>
              <a:t> rdf:datatype</a:t>
            </a:r>
            <a:r>
              <a:rPr i="1" lang="en-GB" sz="2200">
                <a:solidFill>
                  <a:srgbClr val="434343"/>
                </a:solidFill>
              </a:rPr>
              <a:t> có vai trò như nhãn ngữ nghĩa mô tả kiểu dữ liệu của giá trị. Các giá trị như vậy được gọi là hằng có định kiểu.</a:t>
            </a:r>
            <a:endParaRPr i="1" sz="2200">
              <a:solidFill>
                <a:srgbClr val="434343"/>
              </a:solidFill>
            </a:endParaRPr>
          </a:p>
          <a:p>
            <a:pPr indent="0" lvl="0" marL="0" rtl="0" algn="just">
              <a:spcBef>
                <a:spcPts val="0"/>
              </a:spcBef>
              <a:spcAft>
                <a:spcPts val="0"/>
              </a:spcAft>
              <a:buNone/>
            </a:pPr>
            <a:r>
              <a:t/>
            </a:r>
            <a:endParaRPr i="1" sz="2200">
              <a:solidFill>
                <a:srgbClr val="434343"/>
              </a:solidFill>
            </a:endParaRPr>
          </a:p>
          <a:p>
            <a:pPr indent="0" lvl="0" marL="0" rtl="0" algn="just">
              <a:spcBef>
                <a:spcPts val="0"/>
              </a:spcBef>
              <a:spcAft>
                <a:spcPts val="0"/>
              </a:spcAft>
              <a:buNone/>
            </a:pPr>
            <a:r>
              <a:rPr i="1" lang="en-GB" sz="2200">
                <a:solidFill>
                  <a:srgbClr val="434343"/>
                </a:solidFill>
              </a:rPr>
              <a:t>Các kiểu dữ liệu cũng có thể được định nghĩa trong các lược đồ XML.</a:t>
            </a:r>
            <a:endParaRPr i="1" sz="2200">
              <a:solidFill>
                <a:srgbClr val="43434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6" name="Google Shape;266;p3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Thuộc tính rdf:li</a:t>
            </a:r>
            <a:endParaRPr/>
          </a:p>
        </p:txBody>
      </p:sp>
      <p:sp>
        <p:nvSpPr>
          <p:cNvPr id="267" name="Google Shape;267;p33"/>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Thuộc tính, rdf:li (phần tử danh sách), được cung cấp bởi RDF để sử dụng với rdf:Bag, rdf:Alt, hoặc rdf:Seq.</a:t>
            </a:r>
            <a:endParaRPr/>
          </a:p>
          <a:p>
            <a:pPr indent="-381000" lvl="0" marL="457200" rtl="0" algn="l">
              <a:spcBef>
                <a:spcPts val="0"/>
              </a:spcBef>
              <a:spcAft>
                <a:spcPts val="0"/>
              </a:spcAft>
              <a:buSzPts val="2400"/>
              <a:buChar char="●"/>
            </a:pPr>
            <a:r>
              <a:rPr lang="en-GB"/>
              <a:t>Thuộc tính rdf:li có thể được sử dụng để liệt kê phần tử trong Bag/Alt/Seq.</a:t>
            </a:r>
            <a:endParaRPr/>
          </a:p>
          <a:p>
            <a:pPr indent="-381000" lvl="0" marL="457200" rtl="0" algn="l">
              <a:spcBef>
                <a:spcPts val="0"/>
              </a:spcBef>
              <a:spcAft>
                <a:spcPts val="0"/>
              </a:spcAft>
              <a:buSzPts val="2400"/>
              <a:buChar char="●"/>
            </a:pPr>
            <a:r>
              <a:rPr lang="en-GB"/>
              <a:t>Phần mềm xử lý RDF sẽ thay thế rdf:li với rdf:_1, rdf:_2, rdf:_3, v.v..</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4"/>
          <p:cNvSpPr/>
          <p:nvPr/>
        </p:nvSpPr>
        <p:spPr>
          <a:xfrm>
            <a:off x="308300" y="3871475"/>
            <a:ext cx="5339700" cy="2505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a:t>&lt;ToDoList rdf:ID="MondayMeetings"</a:t>
            </a:r>
            <a:endParaRPr/>
          </a:p>
          <a:p>
            <a:pPr indent="0" lvl="0" marL="0" rtl="0" algn="just">
              <a:spcBef>
                <a:spcPts val="0"/>
              </a:spcBef>
              <a:spcAft>
                <a:spcPts val="0"/>
              </a:spcAft>
              <a:buNone/>
            </a:pPr>
            <a:r>
              <a:rPr lang="en-GB"/>
              <a:t>         xmlns:rdf="http://www.w3.org/1999/02/22-rdf-syntax-ns#"</a:t>
            </a:r>
            <a:endParaRPr/>
          </a:p>
          <a:p>
            <a:pPr indent="0" lvl="0" marL="0" rtl="0" algn="just">
              <a:spcBef>
                <a:spcPts val="0"/>
              </a:spcBef>
              <a:spcAft>
                <a:spcPts val="0"/>
              </a:spcAft>
              <a:buNone/>
            </a:pPr>
            <a:r>
              <a:rPr lang="en-GB"/>
              <a:t>         xmlns="http://www.reminders.org#"&gt;</a:t>
            </a:r>
            <a:endParaRPr/>
          </a:p>
          <a:p>
            <a:pPr indent="0" lvl="0" marL="0" rtl="0" algn="just">
              <a:spcBef>
                <a:spcPts val="0"/>
              </a:spcBef>
              <a:spcAft>
                <a:spcPts val="0"/>
              </a:spcAft>
              <a:buNone/>
            </a:pPr>
            <a:r>
              <a:rPr lang="en-GB"/>
              <a:t>     &lt;activities&gt;</a:t>
            </a:r>
            <a:endParaRPr/>
          </a:p>
          <a:p>
            <a:pPr indent="0" lvl="0" marL="0" rtl="0" algn="just">
              <a:spcBef>
                <a:spcPts val="0"/>
              </a:spcBef>
              <a:spcAft>
                <a:spcPts val="0"/>
              </a:spcAft>
              <a:buNone/>
            </a:pPr>
            <a:r>
              <a:rPr b="1" lang="en-GB"/>
              <a:t>          &lt;rdf:Seq&gt;</a:t>
            </a:r>
            <a:endParaRPr b="1"/>
          </a:p>
          <a:p>
            <a:pPr indent="0" lvl="0" marL="0" rtl="0" algn="just">
              <a:spcBef>
                <a:spcPts val="0"/>
              </a:spcBef>
              <a:spcAft>
                <a:spcPts val="0"/>
              </a:spcAft>
              <a:buNone/>
            </a:pPr>
            <a:r>
              <a:rPr lang="en-GB"/>
              <a:t>               &lt;</a:t>
            </a:r>
            <a:r>
              <a:rPr b="1" lang="en-GB">
                <a:solidFill>
                  <a:schemeClr val="dk1"/>
                </a:solidFill>
              </a:rPr>
              <a:t>rdf:li</a:t>
            </a:r>
            <a:r>
              <a:rPr lang="en-GB"/>
              <a:t>&gt;Meet with CEO at 10am&lt;/</a:t>
            </a:r>
            <a:r>
              <a:rPr b="1" lang="en-GB">
                <a:solidFill>
                  <a:schemeClr val="dk1"/>
                </a:solidFill>
              </a:rPr>
              <a:t>rdf:li</a:t>
            </a:r>
            <a:r>
              <a:rPr lang="en-GB"/>
              <a:t>&gt;</a:t>
            </a:r>
            <a:endParaRPr/>
          </a:p>
          <a:p>
            <a:pPr indent="0" lvl="0" marL="0" rtl="0" algn="just">
              <a:spcBef>
                <a:spcPts val="0"/>
              </a:spcBef>
              <a:spcAft>
                <a:spcPts val="0"/>
              </a:spcAft>
              <a:buNone/>
            </a:pPr>
            <a:r>
              <a:rPr lang="en-GB"/>
              <a:t>               &lt;</a:t>
            </a:r>
            <a:r>
              <a:rPr b="1" lang="en-GB">
                <a:solidFill>
                  <a:schemeClr val="dk1"/>
                </a:solidFill>
              </a:rPr>
              <a:t>rdf:li</a:t>
            </a:r>
            <a:r>
              <a:rPr lang="en-GB"/>
              <a:t>&gt;Luncheon at The Eatery&lt;/</a:t>
            </a:r>
            <a:r>
              <a:rPr b="1" lang="en-GB">
                <a:solidFill>
                  <a:schemeClr val="dk1"/>
                </a:solidFill>
              </a:rPr>
              <a:t>rdf:li</a:t>
            </a:r>
            <a:r>
              <a:rPr lang="en-GB"/>
              <a:t>&gt;</a:t>
            </a:r>
            <a:endParaRPr/>
          </a:p>
          <a:p>
            <a:pPr indent="0" lvl="0" marL="0" rtl="0" algn="just">
              <a:spcBef>
                <a:spcPts val="0"/>
              </a:spcBef>
              <a:spcAft>
                <a:spcPts val="0"/>
              </a:spcAft>
              <a:buNone/>
            </a:pPr>
            <a:r>
              <a:rPr lang="en-GB"/>
              <a:t>               &lt;</a:t>
            </a:r>
            <a:r>
              <a:rPr b="1" lang="en-GB">
                <a:solidFill>
                  <a:schemeClr val="dk1"/>
                </a:solidFill>
              </a:rPr>
              <a:t>rdf:li</a:t>
            </a:r>
            <a:r>
              <a:rPr lang="en-GB"/>
              <a:t>&gt;Flight at 3pm&lt;/</a:t>
            </a:r>
            <a:r>
              <a:rPr b="1" lang="en-GB">
                <a:solidFill>
                  <a:schemeClr val="dk1"/>
                </a:solidFill>
              </a:rPr>
              <a:t>rdf:li</a:t>
            </a:r>
            <a:r>
              <a:rPr lang="en-GB"/>
              <a:t>&gt;</a:t>
            </a:r>
            <a:endParaRPr/>
          </a:p>
          <a:p>
            <a:pPr indent="0" lvl="0" marL="0" rtl="0" algn="just">
              <a:spcBef>
                <a:spcPts val="0"/>
              </a:spcBef>
              <a:spcAft>
                <a:spcPts val="0"/>
              </a:spcAft>
              <a:buNone/>
            </a:pPr>
            <a:r>
              <a:rPr b="1" lang="en-GB"/>
              <a:t>          &lt;/rdf:Seq&gt;</a:t>
            </a:r>
            <a:endParaRPr b="1"/>
          </a:p>
          <a:p>
            <a:pPr indent="0" lvl="0" marL="0" rtl="0" algn="just">
              <a:spcBef>
                <a:spcPts val="0"/>
              </a:spcBef>
              <a:spcAft>
                <a:spcPts val="0"/>
              </a:spcAft>
              <a:buNone/>
            </a:pPr>
            <a:r>
              <a:rPr lang="en-GB"/>
              <a:t>     &lt;/activities&gt;</a:t>
            </a:r>
            <a:endParaRPr/>
          </a:p>
          <a:p>
            <a:pPr indent="0" lvl="0" marL="0" rtl="0" algn="just">
              <a:spcBef>
                <a:spcPts val="0"/>
              </a:spcBef>
              <a:spcAft>
                <a:spcPts val="0"/>
              </a:spcAft>
              <a:buNone/>
            </a:pPr>
            <a:r>
              <a:rPr lang="en-GB"/>
              <a:t>&lt;/ToDoList&gt;</a:t>
            </a:r>
            <a:endParaRPr/>
          </a:p>
          <a:p>
            <a:pPr indent="0" lvl="0" marL="0" rtl="0" algn="just">
              <a:spcBef>
                <a:spcPts val="0"/>
              </a:spcBef>
              <a:spcAft>
                <a:spcPts val="0"/>
              </a:spcAft>
              <a:buNone/>
            </a:pPr>
            <a:r>
              <a:t/>
            </a:r>
            <a:endParaRPr/>
          </a:p>
        </p:txBody>
      </p:sp>
      <p:sp>
        <p:nvSpPr>
          <p:cNvPr id="273" name="Google Shape;273;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4" name="Google Shape;274;p3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lại các ví dụ với</a:t>
            </a:r>
            <a:r>
              <a:rPr lang="en-GB"/>
              <a:t> rdf:li</a:t>
            </a:r>
            <a:endParaRPr/>
          </a:p>
        </p:txBody>
      </p:sp>
      <p:sp>
        <p:nvSpPr>
          <p:cNvPr id="275" name="Google Shape;275;p34"/>
          <p:cNvSpPr/>
          <p:nvPr/>
        </p:nvSpPr>
        <p:spPr>
          <a:xfrm>
            <a:off x="272225" y="934475"/>
            <a:ext cx="5000400" cy="2281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a:t>&lt;Meeting rdf:ID="XML-Design-Pattern"</a:t>
            </a:r>
            <a:endParaRPr/>
          </a:p>
          <a:p>
            <a:pPr indent="0" lvl="0" marL="0" rtl="0" algn="just">
              <a:spcBef>
                <a:spcPts val="0"/>
              </a:spcBef>
              <a:spcAft>
                <a:spcPts val="0"/>
              </a:spcAft>
              <a:buNone/>
            </a:pPr>
            <a:r>
              <a:rPr lang="en-GB"/>
              <a:t>      xmlns:rdf="http://www.w3.org/1999/02/22-rdf-syntax-ns#"</a:t>
            </a:r>
            <a:endParaRPr/>
          </a:p>
          <a:p>
            <a:pPr indent="0" lvl="0" marL="0" rtl="0" algn="just">
              <a:spcBef>
                <a:spcPts val="0"/>
              </a:spcBef>
              <a:spcAft>
                <a:spcPts val="0"/>
              </a:spcAft>
              <a:buNone/>
            </a:pPr>
            <a:r>
              <a:rPr lang="en-GB"/>
              <a:t>      xmlns="http://www.business.org#"&gt;</a:t>
            </a:r>
            <a:endParaRPr/>
          </a:p>
          <a:p>
            <a:pPr indent="0" lvl="0" marL="0" rtl="0" algn="just">
              <a:spcBef>
                <a:spcPts val="0"/>
              </a:spcBef>
              <a:spcAft>
                <a:spcPts val="0"/>
              </a:spcAft>
              <a:buNone/>
            </a:pPr>
            <a:r>
              <a:rPr lang="en-GB"/>
              <a:t>     &lt;attendees&gt;</a:t>
            </a:r>
            <a:endParaRPr/>
          </a:p>
          <a:p>
            <a:pPr indent="0" lvl="0" marL="0" rtl="0" algn="just">
              <a:spcBef>
                <a:spcPts val="0"/>
              </a:spcBef>
              <a:spcAft>
                <a:spcPts val="0"/>
              </a:spcAft>
              <a:buNone/>
            </a:pPr>
            <a:r>
              <a:rPr b="1" lang="en-GB"/>
              <a:t>          &lt;rdf:Bag&gt;</a:t>
            </a:r>
            <a:endParaRPr b="1"/>
          </a:p>
          <a:p>
            <a:pPr indent="0" lvl="0" marL="0" rtl="0" algn="just">
              <a:spcBef>
                <a:spcPts val="0"/>
              </a:spcBef>
              <a:spcAft>
                <a:spcPts val="0"/>
              </a:spcAft>
              <a:buNone/>
            </a:pPr>
            <a:r>
              <a:rPr lang="en-GB"/>
              <a:t>               &lt;</a:t>
            </a:r>
            <a:r>
              <a:rPr b="1" lang="en-GB"/>
              <a:t>rdf:li</a:t>
            </a:r>
            <a:r>
              <a:rPr lang="en-GB"/>
              <a:t>&gt;John Smith&lt;/</a:t>
            </a:r>
            <a:r>
              <a:rPr b="1" lang="en-GB">
                <a:solidFill>
                  <a:schemeClr val="dk1"/>
                </a:solidFill>
              </a:rPr>
              <a:t>rdf:li</a:t>
            </a:r>
            <a:r>
              <a:rPr lang="en-GB"/>
              <a:t>&gt;</a:t>
            </a:r>
            <a:endParaRPr/>
          </a:p>
          <a:p>
            <a:pPr indent="0" lvl="0" marL="0" rtl="0" algn="just">
              <a:spcBef>
                <a:spcPts val="0"/>
              </a:spcBef>
              <a:spcAft>
                <a:spcPts val="0"/>
              </a:spcAft>
              <a:buNone/>
            </a:pPr>
            <a:r>
              <a:rPr lang="en-GB"/>
              <a:t>               &lt;</a:t>
            </a:r>
            <a:r>
              <a:rPr b="1" lang="en-GB">
                <a:solidFill>
                  <a:schemeClr val="dk1"/>
                </a:solidFill>
              </a:rPr>
              <a:t>rdf:li</a:t>
            </a:r>
            <a:r>
              <a:rPr lang="en-GB"/>
              <a:t>&gt;Sally Jones&lt;/</a:t>
            </a:r>
            <a:r>
              <a:rPr b="1" lang="en-GB">
                <a:solidFill>
                  <a:schemeClr val="dk1"/>
                </a:solidFill>
              </a:rPr>
              <a:t>rdf:li</a:t>
            </a:r>
            <a:r>
              <a:rPr lang="en-GB"/>
              <a:t>&gt;</a:t>
            </a:r>
            <a:endParaRPr/>
          </a:p>
          <a:p>
            <a:pPr indent="0" lvl="0" marL="0" rtl="0" algn="just">
              <a:spcBef>
                <a:spcPts val="0"/>
              </a:spcBef>
              <a:spcAft>
                <a:spcPts val="0"/>
              </a:spcAft>
              <a:buNone/>
            </a:pPr>
            <a:r>
              <a:rPr b="1" lang="en-GB"/>
              <a:t>          &lt;/rdf:Bag&gt;</a:t>
            </a:r>
            <a:endParaRPr b="1"/>
          </a:p>
          <a:p>
            <a:pPr indent="0" lvl="0" marL="0" rtl="0" algn="just">
              <a:spcBef>
                <a:spcPts val="0"/>
              </a:spcBef>
              <a:spcAft>
                <a:spcPts val="0"/>
              </a:spcAft>
              <a:buNone/>
            </a:pPr>
            <a:r>
              <a:rPr lang="en-GB"/>
              <a:t>     &lt;/attendees&gt;</a:t>
            </a:r>
            <a:endParaRPr/>
          </a:p>
          <a:p>
            <a:pPr indent="0" lvl="0" marL="0" rtl="0" algn="just">
              <a:spcBef>
                <a:spcPts val="0"/>
              </a:spcBef>
              <a:spcAft>
                <a:spcPts val="0"/>
              </a:spcAft>
              <a:buNone/>
            </a:pPr>
            <a:r>
              <a:rPr lang="en-GB"/>
              <a:t>&lt;/Meeting&gt;</a:t>
            </a:r>
            <a:endParaRPr/>
          </a:p>
        </p:txBody>
      </p:sp>
      <p:sp>
        <p:nvSpPr>
          <p:cNvPr id="276" name="Google Shape;276;p34"/>
          <p:cNvSpPr/>
          <p:nvPr/>
        </p:nvSpPr>
        <p:spPr>
          <a:xfrm>
            <a:off x="4109325" y="1697550"/>
            <a:ext cx="4858500" cy="2339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a:t>&lt;Retailer rdf:ID="BarnesAndNoble"</a:t>
            </a:r>
            <a:endParaRPr/>
          </a:p>
          <a:p>
            <a:pPr indent="0" lvl="0" marL="0" rtl="0" algn="just">
              <a:spcBef>
                <a:spcPts val="0"/>
              </a:spcBef>
              <a:spcAft>
                <a:spcPts val="0"/>
              </a:spcAft>
              <a:buNone/>
            </a:pPr>
            <a:r>
              <a:rPr lang="en-GB"/>
              <a:t>  xmlns:rdf="http://www.w3.org/1999/02/22-rdf-syntax-ns#"</a:t>
            </a:r>
            <a:endParaRPr/>
          </a:p>
          <a:p>
            <a:pPr indent="0" lvl="0" marL="0" rtl="0" algn="just">
              <a:spcBef>
                <a:spcPts val="0"/>
              </a:spcBef>
              <a:spcAft>
                <a:spcPts val="0"/>
              </a:spcAft>
              <a:buNone/>
            </a:pPr>
            <a:r>
              <a:rPr lang="en-GB"/>
              <a:t>  xmlns="http://www.retailers.org#"&gt;</a:t>
            </a:r>
            <a:endParaRPr/>
          </a:p>
          <a:p>
            <a:pPr indent="0" lvl="0" marL="0" rtl="0" algn="just">
              <a:spcBef>
                <a:spcPts val="0"/>
              </a:spcBef>
              <a:spcAft>
                <a:spcPts val="0"/>
              </a:spcAft>
              <a:buNone/>
            </a:pPr>
            <a:r>
              <a:rPr lang="en-GB"/>
              <a:t>     &lt;webLocation&gt;</a:t>
            </a:r>
            <a:endParaRPr/>
          </a:p>
          <a:p>
            <a:pPr indent="0" lvl="0" marL="0" rtl="0" algn="just">
              <a:spcBef>
                <a:spcPts val="0"/>
              </a:spcBef>
              <a:spcAft>
                <a:spcPts val="0"/>
              </a:spcAft>
              <a:buNone/>
            </a:pPr>
            <a:r>
              <a:rPr lang="en-GB"/>
              <a:t>          </a:t>
            </a:r>
            <a:r>
              <a:rPr b="1" lang="en-GB"/>
              <a:t>&lt;rdf:Alt&gt;</a:t>
            </a:r>
            <a:endParaRPr b="1"/>
          </a:p>
          <a:p>
            <a:pPr indent="0" lvl="0" marL="0" rtl="0" algn="just">
              <a:spcBef>
                <a:spcPts val="0"/>
              </a:spcBef>
              <a:spcAft>
                <a:spcPts val="0"/>
              </a:spcAft>
              <a:buNone/>
            </a:pPr>
            <a:r>
              <a:rPr lang="en-GB"/>
              <a:t>               &lt;</a:t>
            </a:r>
            <a:r>
              <a:rPr b="1" lang="en-GB">
                <a:solidFill>
                  <a:schemeClr val="dk1"/>
                </a:solidFill>
              </a:rPr>
              <a:t>rdf:li</a:t>
            </a:r>
            <a:r>
              <a:rPr lang="en-GB"/>
              <a:t>&gt;http://www.bn.com&lt;/</a:t>
            </a:r>
            <a:r>
              <a:rPr b="1" lang="en-GB">
                <a:solidFill>
                  <a:schemeClr val="dk1"/>
                </a:solidFill>
              </a:rPr>
              <a:t>rdf:li</a:t>
            </a:r>
            <a:r>
              <a:rPr lang="en-GB"/>
              <a:t>&gt;</a:t>
            </a:r>
            <a:endParaRPr/>
          </a:p>
          <a:p>
            <a:pPr indent="0" lvl="0" marL="0" rtl="0" algn="just">
              <a:spcBef>
                <a:spcPts val="0"/>
              </a:spcBef>
              <a:spcAft>
                <a:spcPts val="0"/>
              </a:spcAft>
              <a:buNone/>
            </a:pPr>
            <a:r>
              <a:rPr lang="en-GB"/>
              <a:t>               &lt;</a:t>
            </a:r>
            <a:r>
              <a:rPr b="1" lang="en-GB">
                <a:solidFill>
                  <a:schemeClr val="dk1"/>
                </a:solidFill>
              </a:rPr>
              <a:t>rdf:li</a:t>
            </a:r>
            <a:r>
              <a:rPr lang="en-GB"/>
              <a:t>&gt;http://www.barnesandnoble.com&lt;/</a:t>
            </a:r>
            <a:r>
              <a:rPr b="1" lang="en-GB">
                <a:solidFill>
                  <a:schemeClr val="dk1"/>
                </a:solidFill>
              </a:rPr>
              <a:t>rdf:li</a:t>
            </a:r>
            <a:r>
              <a:rPr lang="en-GB"/>
              <a:t>&gt;</a:t>
            </a:r>
            <a:endParaRPr/>
          </a:p>
          <a:p>
            <a:pPr indent="0" lvl="0" marL="0" rtl="0" algn="just">
              <a:spcBef>
                <a:spcPts val="0"/>
              </a:spcBef>
              <a:spcAft>
                <a:spcPts val="0"/>
              </a:spcAft>
              <a:buNone/>
            </a:pPr>
            <a:r>
              <a:rPr lang="en-GB"/>
              <a:t>          </a:t>
            </a:r>
            <a:r>
              <a:rPr b="1" lang="en-GB"/>
              <a:t>&lt;/rdf:Alt&gt;</a:t>
            </a:r>
            <a:endParaRPr b="1"/>
          </a:p>
          <a:p>
            <a:pPr indent="0" lvl="0" marL="0" rtl="0" algn="just">
              <a:spcBef>
                <a:spcPts val="0"/>
              </a:spcBef>
              <a:spcAft>
                <a:spcPts val="0"/>
              </a:spcAft>
              <a:buNone/>
            </a:pPr>
            <a:r>
              <a:rPr lang="en-GB"/>
              <a:t>     &lt;/webLocation&gt;</a:t>
            </a:r>
            <a:endParaRPr/>
          </a:p>
          <a:p>
            <a:pPr indent="0" lvl="0" marL="0" rtl="0" algn="just">
              <a:spcBef>
                <a:spcPts val="0"/>
              </a:spcBef>
              <a:spcAft>
                <a:spcPts val="0"/>
              </a:spcAft>
              <a:buNone/>
            </a:pPr>
            <a:r>
              <a:rPr lang="en-GB"/>
              <a:t>&lt;/Retailer&gt;</a:t>
            </a:r>
            <a:endParaRPr/>
          </a:p>
        </p:txBody>
      </p:sp>
      <p:sp>
        <p:nvSpPr>
          <p:cNvPr id="277" name="Google Shape;277;p34"/>
          <p:cNvSpPr txBox="1"/>
          <p:nvPr/>
        </p:nvSpPr>
        <p:spPr>
          <a:xfrm>
            <a:off x="5699525" y="4077225"/>
            <a:ext cx="3268200" cy="12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!Trang này chỉ tập trung vào </a:t>
            </a:r>
            <a:r>
              <a:rPr i="1" lang="en-GB" sz="1800"/>
              <a:t>các </a:t>
            </a:r>
            <a:r>
              <a:rPr i="1" lang="en-GB" sz="1800"/>
              <a:t>nút dữ liệu, </a:t>
            </a:r>
            <a:r>
              <a:rPr i="1" lang="en-GB" sz="1800"/>
              <a:t>các ví dụ </a:t>
            </a:r>
            <a:r>
              <a:rPr i="1" lang="en-GB" sz="1800"/>
              <a:t>không phải tài liệu </a:t>
            </a:r>
            <a:r>
              <a:rPr lang="en-GB" sz="1800"/>
              <a:t>RDF/XML</a:t>
            </a:r>
            <a:r>
              <a:rPr i="1" lang="en-GB" sz="1800"/>
              <a:t> hoàn thiện.</a:t>
            </a:r>
            <a:endParaRPr i="1"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83" name="Google Shape;283;p3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thuộc tính XML</a:t>
            </a:r>
            <a:endParaRPr/>
          </a:p>
        </p:txBody>
      </p:sp>
      <p:sp>
        <p:nvSpPr>
          <p:cNvPr id="284" name="Google Shape;284;p35"/>
          <p:cNvSpPr txBox="1"/>
          <p:nvPr>
            <p:ph idx="4294967295" type="body"/>
          </p:nvPr>
        </p:nvSpPr>
        <p:spPr>
          <a:xfrm>
            <a:off x="311700" y="774632"/>
            <a:ext cx="8520600" cy="914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Như đã biết các thuộc tính của nút có thể được biểu diễn như nút con trực tiếp.</a:t>
            </a:r>
            <a:endParaRPr/>
          </a:p>
        </p:txBody>
      </p:sp>
      <p:sp>
        <p:nvSpPr>
          <p:cNvPr id="285" name="Google Shape;285;p35"/>
          <p:cNvSpPr/>
          <p:nvPr/>
        </p:nvSpPr>
        <p:spPr>
          <a:xfrm>
            <a:off x="311700" y="4160000"/>
            <a:ext cx="8520600" cy="23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600"/>
              <a:t>&lt;?xml version="1.0"?&gt;</a:t>
            </a:r>
            <a:endParaRPr sz="1600"/>
          </a:p>
          <a:p>
            <a:pPr indent="0" lvl="0" marL="0" rtl="0" algn="just">
              <a:spcBef>
                <a:spcPts val="0"/>
              </a:spcBef>
              <a:spcAft>
                <a:spcPts val="0"/>
              </a:spcAft>
              <a:buNone/>
            </a:pPr>
            <a:r>
              <a:rPr lang="en-GB" sz="1600"/>
              <a:t>&lt;</a:t>
            </a:r>
            <a:r>
              <a:rPr lang="en-GB" sz="1600"/>
              <a:t>rdf:RDF </a:t>
            </a:r>
            <a:r>
              <a:rPr lang="en-GB" sz="1600">
                <a:solidFill>
                  <a:schemeClr val="dk1"/>
                </a:solidFill>
              </a:rPr>
              <a:t>xmlns:rdf="http://www.w3.org/1999/02/22-rdf-syntax-ns#"</a:t>
            </a:r>
            <a:endParaRPr sz="1600">
              <a:solidFill>
                <a:schemeClr val="dk1"/>
              </a:solidFill>
            </a:endParaRPr>
          </a:p>
          <a:p>
            <a:pPr indent="0" lvl="0" marL="0" rtl="0" algn="just">
              <a:spcBef>
                <a:spcPts val="0"/>
              </a:spcBef>
              <a:spcAft>
                <a:spcPts val="0"/>
              </a:spcAft>
              <a:buClr>
                <a:schemeClr val="dk1"/>
              </a:buClr>
              <a:buSzPts val="1100"/>
              <a:buFont typeface="Arial"/>
              <a:buNone/>
            </a:pPr>
            <a:r>
              <a:rPr lang="en-GB" sz="1600">
                <a:solidFill>
                  <a:schemeClr val="dk1"/>
                </a:solidFill>
              </a:rPr>
              <a:t>           xmlns="http://www.geography.org/river#"</a:t>
            </a:r>
            <a:endParaRPr sz="1600">
              <a:solidFill>
                <a:schemeClr val="dk1"/>
              </a:solidFill>
            </a:endParaRPr>
          </a:p>
          <a:p>
            <a:pPr indent="0" lvl="0" marL="0" rtl="0" algn="just">
              <a:spcBef>
                <a:spcPts val="0"/>
              </a:spcBef>
              <a:spcAft>
                <a:spcPts val="0"/>
              </a:spcAft>
              <a:buClr>
                <a:schemeClr val="dk1"/>
              </a:buClr>
              <a:buSzPts val="1100"/>
              <a:buFont typeface="Arial"/>
              <a:buNone/>
            </a:pPr>
            <a:r>
              <a:rPr lang="en-GB" sz="1600">
                <a:solidFill>
                  <a:schemeClr val="dk1"/>
                </a:solidFill>
              </a:rPr>
              <a:t>           xmlns:r="http://www.geography.org/river#"&gt;</a:t>
            </a:r>
            <a:endParaRPr sz="1600"/>
          </a:p>
          <a:p>
            <a:pPr indent="0" lvl="0" marL="0" rtl="0" algn="just">
              <a:spcBef>
                <a:spcPts val="0"/>
              </a:spcBef>
              <a:spcAft>
                <a:spcPts val="0"/>
              </a:spcAft>
              <a:buNone/>
            </a:pPr>
            <a:r>
              <a:rPr lang="en-GB" sz="1600"/>
              <a:t>&lt;River </a:t>
            </a:r>
            <a:r>
              <a:rPr lang="en-GB" sz="1600"/>
              <a:t>rdf:about="</a:t>
            </a:r>
            <a:r>
              <a:rPr lang="en-GB" sz="1600">
                <a:solidFill>
                  <a:schemeClr val="dk1"/>
                </a:solidFill>
              </a:rPr>
              <a:t>http://www.vietnam.org/dialy/song-suoi#Mekong</a:t>
            </a:r>
            <a:r>
              <a:rPr lang="en-GB" sz="1600"/>
              <a:t>"</a:t>
            </a:r>
            <a:endParaRPr sz="1600">
              <a:solidFill>
                <a:schemeClr val="dk1"/>
              </a:solidFill>
            </a:endParaRPr>
          </a:p>
          <a:p>
            <a:pPr indent="0" lvl="0" marL="0" rtl="0" algn="just">
              <a:spcBef>
                <a:spcPts val="0"/>
              </a:spcBef>
              <a:spcAft>
                <a:spcPts val="0"/>
              </a:spcAft>
              <a:buNone/>
            </a:pPr>
            <a:r>
              <a:rPr lang="en-GB" sz="1600">
                <a:solidFill>
                  <a:schemeClr val="dk1"/>
                </a:solidFill>
              </a:rPr>
              <a:t>	  r:length="4350 km"</a:t>
            </a:r>
            <a:endParaRPr sz="1600">
              <a:solidFill>
                <a:schemeClr val="dk1"/>
              </a:solidFill>
            </a:endParaRPr>
          </a:p>
          <a:p>
            <a:pPr indent="0" lvl="0" marL="0" rtl="0" algn="just">
              <a:spcBef>
                <a:spcPts val="0"/>
              </a:spcBef>
              <a:spcAft>
                <a:spcPts val="0"/>
              </a:spcAft>
              <a:buNone/>
            </a:pPr>
            <a:r>
              <a:rPr lang="en-GB" sz="1600">
                <a:solidFill>
                  <a:schemeClr val="dk1"/>
                </a:solidFill>
              </a:rPr>
              <a:t>           r:startingLocation="Thanh Hải, Trung Quốc"</a:t>
            </a:r>
            <a:endParaRPr sz="1600">
              <a:solidFill>
                <a:schemeClr val="dk1"/>
              </a:solidFill>
            </a:endParaRPr>
          </a:p>
          <a:p>
            <a:pPr indent="0" lvl="0" marL="0" rtl="0" algn="just">
              <a:spcBef>
                <a:spcPts val="0"/>
              </a:spcBef>
              <a:spcAft>
                <a:spcPts val="0"/>
              </a:spcAft>
              <a:buNone/>
            </a:pPr>
            <a:r>
              <a:rPr lang="en-GB" sz="1600">
                <a:solidFill>
                  <a:schemeClr val="dk1"/>
                </a:solidFill>
              </a:rPr>
              <a:t>           r:endingLocation="Đồng bằng sông Cửu Long, Việt Nam"</a:t>
            </a:r>
            <a:r>
              <a:rPr lang="en-GB" sz="1600"/>
              <a:t>/</a:t>
            </a:r>
            <a:r>
              <a:rPr lang="en-GB" sz="1600"/>
              <a:t>&gt;</a:t>
            </a:r>
            <a:endParaRPr sz="1600"/>
          </a:p>
          <a:p>
            <a:pPr indent="0" lvl="0" marL="0" rtl="0" algn="just">
              <a:spcBef>
                <a:spcPts val="0"/>
              </a:spcBef>
              <a:spcAft>
                <a:spcPts val="0"/>
              </a:spcAft>
              <a:buNone/>
            </a:pPr>
            <a:r>
              <a:rPr lang="en-GB" sz="1600"/>
              <a:t>&lt;/</a:t>
            </a:r>
            <a:r>
              <a:rPr lang="en-GB" sz="1600"/>
              <a:t>rdf:RDF&gt;</a:t>
            </a:r>
            <a:endParaRPr sz="1600"/>
          </a:p>
          <a:p>
            <a:pPr indent="0" lvl="0" marL="0" rtl="0" algn="just">
              <a:spcBef>
                <a:spcPts val="0"/>
              </a:spcBef>
              <a:spcAft>
                <a:spcPts val="0"/>
              </a:spcAft>
              <a:buNone/>
            </a:pPr>
            <a:r>
              <a:t/>
            </a:r>
            <a:endParaRPr sz="1600"/>
          </a:p>
        </p:txBody>
      </p:sp>
      <p:sp>
        <p:nvSpPr>
          <p:cNvPr id="286" name="Google Shape;286;p35"/>
          <p:cNvSpPr/>
          <p:nvPr/>
        </p:nvSpPr>
        <p:spPr>
          <a:xfrm>
            <a:off x="306150" y="1681875"/>
            <a:ext cx="7311900" cy="23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1600"/>
              <a:t>&lt;?xml version="1.0"?&gt;</a:t>
            </a:r>
            <a:endParaRPr sz="1600"/>
          </a:p>
          <a:p>
            <a:pPr indent="0" lvl="0" marL="0" rtl="0" algn="just">
              <a:spcBef>
                <a:spcPts val="0"/>
              </a:spcBef>
              <a:spcAft>
                <a:spcPts val="0"/>
              </a:spcAft>
              <a:buNone/>
            </a:pPr>
            <a:r>
              <a:rPr lang="en-GB" sz="1600"/>
              <a:t>&lt;</a:t>
            </a:r>
            <a:r>
              <a:rPr lang="en-GB" sz="1600"/>
              <a:t>rdf:RDF </a:t>
            </a:r>
            <a:r>
              <a:rPr lang="en-GB" sz="1600">
                <a:solidFill>
                  <a:schemeClr val="dk1"/>
                </a:solidFill>
              </a:rPr>
              <a:t>xmlns:rdf="http://www.w3.org/1999/02/22-rdf-syntax-ns#"</a:t>
            </a:r>
            <a:endParaRPr sz="1600">
              <a:solidFill>
                <a:schemeClr val="dk1"/>
              </a:solidFill>
            </a:endParaRPr>
          </a:p>
          <a:p>
            <a:pPr indent="0" lvl="0" marL="0" rtl="0" algn="just">
              <a:spcBef>
                <a:spcPts val="0"/>
              </a:spcBef>
              <a:spcAft>
                <a:spcPts val="0"/>
              </a:spcAft>
              <a:buClr>
                <a:schemeClr val="dk1"/>
              </a:buClr>
              <a:buSzPts val="1100"/>
              <a:buFont typeface="Arial"/>
              <a:buNone/>
            </a:pPr>
            <a:r>
              <a:rPr lang="en-GB" sz="1600">
                <a:solidFill>
                  <a:schemeClr val="dk1"/>
                </a:solidFill>
              </a:rPr>
              <a:t>           xmlns="http://www.geography.org/river#"&gt;</a:t>
            </a:r>
            <a:endParaRPr sz="1600"/>
          </a:p>
          <a:p>
            <a:pPr indent="0" lvl="0" marL="0" rtl="0" algn="just">
              <a:spcBef>
                <a:spcPts val="0"/>
              </a:spcBef>
              <a:spcAft>
                <a:spcPts val="0"/>
              </a:spcAft>
              <a:buNone/>
            </a:pPr>
            <a:r>
              <a:rPr lang="en-GB" sz="1600"/>
              <a:t>&lt;River rdf:about="</a:t>
            </a:r>
            <a:r>
              <a:rPr lang="en-GB" sz="1600">
                <a:solidFill>
                  <a:schemeClr val="dk1"/>
                </a:solidFill>
              </a:rPr>
              <a:t>http://www.vietnam.org/dialy/song-suoi#Mekong</a:t>
            </a:r>
            <a:r>
              <a:rPr lang="en-GB" sz="1600"/>
              <a:t>"</a:t>
            </a:r>
            <a:r>
              <a:rPr lang="en-GB" sz="1600"/>
              <a:t>&gt;</a:t>
            </a:r>
            <a:endParaRPr sz="1600"/>
          </a:p>
          <a:p>
            <a:pPr indent="0" lvl="0" marL="0" rtl="0" algn="just">
              <a:spcBef>
                <a:spcPts val="0"/>
              </a:spcBef>
              <a:spcAft>
                <a:spcPts val="0"/>
              </a:spcAft>
              <a:buNone/>
            </a:pPr>
            <a:r>
              <a:rPr lang="en-GB" sz="1600"/>
              <a:t>  &lt;length&gt;4350 km&lt;/length&gt;</a:t>
            </a:r>
            <a:endParaRPr sz="1600"/>
          </a:p>
          <a:p>
            <a:pPr indent="0" lvl="0" marL="0" rtl="0" algn="just">
              <a:spcBef>
                <a:spcPts val="0"/>
              </a:spcBef>
              <a:spcAft>
                <a:spcPts val="0"/>
              </a:spcAft>
              <a:buNone/>
            </a:pPr>
            <a:r>
              <a:rPr lang="en-GB" sz="1600"/>
              <a:t>  &lt;startingLocation&gt;Thanh Hải, Trung Quốc&lt;/startingLocation&gt;</a:t>
            </a:r>
            <a:endParaRPr sz="1600"/>
          </a:p>
          <a:p>
            <a:pPr indent="0" lvl="0" marL="0" rtl="0" algn="just">
              <a:spcBef>
                <a:spcPts val="0"/>
              </a:spcBef>
              <a:spcAft>
                <a:spcPts val="0"/>
              </a:spcAft>
              <a:buNone/>
            </a:pPr>
            <a:r>
              <a:rPr lang="en-GB" sz="1600"/>
              <a:t>  &lt;endingLocation&gt;Đồng bằng sông Cửu Long, Việt Nam&lt;/endingLocation&gt;</a:t>
            </a:r>
            <a:endParaRPr sz="1600"/>
          </a:p>
          <a:p>
            <a:pPr indent="0" lvl="0" marL="0" rtl="0" algn="just">
              <a:spcBef>
                <a:spcPts val="0"/>
              </a:spcBef>
              <a:spcAft>
                <a:spcPts val="0"/>
              </a:spcAft>
              <a:buNone/>
            </a:pPr>
            <a:r>
              <a:rPr lang="en-GB" sz="1600"/>
              <a:t>&lt;/River&gt;</a:t>
            </a:r>
            <a:endParaRPr sz="1600"/>
          </a:p>
          <a:p>
            <a:pPr indent="0" lvl="0" marL="0" rtl="0" algn="just">
              <a:spcBef>
                <a:spcPts val="0"/>
              </a:spcBef>
              <a:spcAft>
                <a:spcPts val="0"/>
              </a:spcAft>
              <a:buNone/>
            </a:pPr>
            <a:r>
              <a:rPr lang="en-GB" sz="1600"/>
              <a:t>&lt;/</a:t>
            </a:r>
            <a:r>
              <a:rPr lang="en-GB" sz="1600"/>
              <a:t>rdf:RDF&gt;</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