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88D94F-0F70-4583-A73F-D9854BFB425A}">
  <a:tblStyle styleId="{8288D94F-0F70-4583-A73F-D9854BFB42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3ece1b0ae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3ece1b0a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ece1b0aec_0_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ece1b0ae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b17e44047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b17e4404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b23f66f358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b23f66f3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17e440479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b17e4404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b24d62b847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b24d62b8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b24d62b847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b24d62b84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b24d62b847_0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b24d62b84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b24d62b84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b24d62b8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24d62b847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24d62b84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24d62b847_0_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24d62b84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b24d62b847_0_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b24d62b84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b24d62b847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b24d62b84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b24d62b847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b24d62b84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b24d62b847_0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b24d62b84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b24d62b847_0_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b24d62b84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24d62b847_0_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24d62b84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b24d62b847_0_9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b24d62b84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b24d62b847_0_1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b24d62b84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b24d62b847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b24d62b84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24d62b847_0_1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b24d62b84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b24d62b847_0_1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b24d62b84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b24d62b847_0_1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b24d62b84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b24d62b847_0_1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b24d62b84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b24d62b847_0_1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b24d62b84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b24d62b847_0_1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b24d62b84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b24d62b847_0_1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b24d62b84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b24d62b847_0_1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b24d62b84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b268008748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b2680087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b268008748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b26800874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b23f66f358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b23f66f3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b17e440479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b17e44047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b268008748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b26800874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b268008748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b26800874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b268008748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b26800874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b2892e235a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b2892e23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b2892e235a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b2892e235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b2892e235a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b2892e235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2892e235a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b2892e235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b2892e235a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b2892e235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b2892e235a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b2892e235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b2892e235a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b2892e235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b2892e235a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b2892e235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b2892e235a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b2892e235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b23f66f358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b23f66f3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b17e440479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b17e4404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b2892e235a_0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b2892e235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b2892e235a_0_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b2892e235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b2892e235a_0_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b2892e235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b2892e235a_0_1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b2892e235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b23f66f358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b23f66f35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b17e440479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b17e44047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a937d5693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a937d569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83b19ca84a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83b19ca8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83b19ca84a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83b19ca8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83b19ca84a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83b19ca84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3ece1b0aec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3ece1b0ae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1" sz="4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b="1" sz="3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://markbirbeck.com/2009/04/20/rdfj-semantic-objects-in-json/" TargetMode="External"/><Relationship Id="rId4" Type="http://schemas.openxmlformats.org/officeDocument/2006/relationships/hyperlink" Target="https://www.w3.org/TR/2014/REC-json-ld-20140116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Soạn bởi: Nguyễn Bá Ngọc</a:t>
            </a:r>
            <a:endParaRPr sz="2600"/>
          </a:p>
        </p:txBody>
      </p:sp>
      <p:sp>
        <p:nvSpPr>
          <p:cNvPr id="60" name="Google Shape;60;p15"/>
          <p:cNvSpPr txBox="1"/>
          <p:nvPr/>
        </p:nvSpPr>
        <p:spPr>
          <a:xfrm>
            <a:off x="125" y="6116250"/>
            <a:ext cx="9144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Hà Nội-2021</a:t>
            </a:r>
            <a:endParaRPr sz="2600"/>
          </a:p>
        </p:txBody>
      </p:sp>
      <p:sp>
        <p:nvSpPr>
          <p:cNvPr id="61" name="Google Shape;61;p15"/>
          <p:cNvSpPr txBox="1"/>
          <p:nvPr/>
        </p:nvSpPr>
        <p:spPr>
          <a:xfrm>
            <a:off x="491750" y="4667633"/>
            <a:ext cx="26586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Chương 2</a:t>
            </a:r>
            <a:endParaRPr sz="3600"/>
          </a:p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459625"/>
            <a:ext cx="8520600" cy="16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Chương 2.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XML &amp; JSON</a:t>
            </a:r>
            <a:endParaRPr/>
          </a:p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</a:t>
            </a:r>
            <a:r>
              <a:rPr lang="en-GB"/>
              <a:t>ội dung</a:t>
            </a:r>
            <a:endParaRPr/>
          </a:p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2.1. Căn bản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2.2. Xử lý dữ liệu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2.3. Căn bản JSON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2.4. Xử lý dữ liệu JSON</a:t>
            </a:r>
            <a:endParaRPr sz="4000"/>
          </a:p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2.1. Căn bản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2.2. Xử lý dữ liệu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2.3. Căn bản JSON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2.4. Xử lý dữ liệu JSON</a:t>
            </a:r>
            <a:endParaRPr sz="4000"/>
          </a:p>
        </p:txBody>
      </p:sp>
      <p:sp>
        <p:nvSpPr>
          <p:cNvPr id="82" name="Google Shape;82;p18"/>
          <p:cNvSpPr/>
          <p:nvPr/>
        </p:nvSpPr>
        <p:spPr>
          <a:xfrm>
            <a:off x="318450" y="889757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ai trò của XML trong Web ngữ nghĩa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</a:t>
            </a:r>
            <a:r>
              <a:rPr lang="en-GB"/>
              <a:t>hiều ngôn ngữ, công nghệ và công cụ được phát triển để hiện thực hóa ý tưởng Web ngữ nghĩa (WNN).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Để biên soạn các ontologies, chia sẻ dữ liệu, v.v..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XML có thể được sử dụng như định dạng lưu trữ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Phù hợp để chia sẻ giữa các hệ thống ứng dụng và trong môi trường Web.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Định dạng XML được sử dụng phổ biến cho dữ liệu WNN.</a:t>
            </a:r>
            <a:endParaRPr/>
          </a:p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XML v</a:t>
            </a:r>
            <a:r>
              <a:rPr lang="en-GB"/>
              <a:t>à HTML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ùng được phát triển từ SGML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SGML - Standard Generalized Markup Language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HTML- là 1 ngôn ngữ đánh dấu, do TBL sáng tạo, ~1990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-GB"/>
              <a:t>(Ngôn ngữ đánh dấu = markup language)</a:t>
            </a:r>
            <a:endParaRPr i="1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XML được thiết kế như 1 </a:t>
            </a:r>
            <a:r>
              <a:rPr lang="en-GB"/>
              <a:t>siêu </a:t>
            </a:r>
            <a:r>
              <a:rPr lang="en-GB"/>
              <a:t>ngôn ngữ - cho phép xây dựng các ngôn ngữ đánh dấu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Khả mở, có thể tự định nghĩa các thẻ mới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B</a:t>
            </a:r>
            <a:r>
              <a:rPr lang="en-GB"/>
              <a:t>ản đề xuất được gửi W3C năm 1996</a:t>
            </a:r>
            <a:endParaRPr sz="1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XML (đã) là 1 quy chuẩn W3C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Được cập nhật nhiều lần, phiên bản mới nhất là XML 1.1.</a:t>
            </a:r>
            <a:endParaRPr/>
          </a:p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XML và HTML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103" name="Google Shape;103;p21"/>
          <p:cNvSpPr txBox="1"/>
          <p:nvPr>
            <p:ph idx="4294967295" type="body"/>
          </p:nvPr>
        </p:nvSpPr>
        <p:spPr>
          <a:xfrm>
            <a:off x="311700" y="1384228"/>
            <a:ext cx="39999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HTML</a:t>
            </a:r>
            <a:endParaRPr/>
          </a:p>
        </p:txBody>
      </p:sp>
      <p:sp>
        <p:nvSpPr>
          <p:cNvPr id="104" name="Google Shape;104;p21"/>
          <p:cNvSpPr txBox="1"/>
          <p:nvPr>
            <p:ph idx="4294967295" type="body"/>
          </p:nvPr>
        </p:nvSpPr>
        <p:spPr>
          <a:xfrm>
            <a:off x="4832400" y="13842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XML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2071697"/>
            <a:ext cx="4499024" cy="1890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7" y="2021850"/>
            <a:ext cx="4520700" cy="24284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1"/>
          <p:cNvCxnSpPr/>
          <p:nvPr/>
        </p:nvCxnSpPr>
        <p:spPr>
          <a:xfrm>
            <a:off x="4609172" y="1483100"/>
            <a:ext cx="0" cy="310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21"/>
          <p:cNvSpPr txBox="1"/>
          <p:nvPr/>
        </p:nvSpPr>
        <p:spPr>
          <a:xfrm>
            <a:off x="1548000" y="4731825"/>
            <a:ext cx="5823300" cy="120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C</a:t>
            </a:r>
            <a:r>
              <a:rPr lang="en-GB" sz="2200">
                <a:solidFill>
                  <a:srgbClr val="434343"/>
                </a:solidFill>
              </a:rPr>
              <a:t>ác điểm tương đồng: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-GB" sz="2200">
                <a:solidFill>
                  <a:srgbClr val="434343"/>
                </a:solidFill>
              </a:rPr>
              <a:t>Cùng sử dụng các thẻ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-GB" sz="2200">
                <a:solidFill>
                  <a:srgbClr val="434343"/>
                </a:solidFill>
              </a:rPr>
              <a:t>Các thẻ được phép lồng nhau</a:t>
            </a:r>
            <a:endParaRPr i="1" sz="2200">
              <a:solidFill>
                <a:srgbClr val="0B5394"/>
              </a:solidFill>
            </a:endParaRPr>
          </a:p>
        </p:txBody>
      </p:sp>
      <p:cxnSp>
        <p:nvCxnSpPr>
          <p:cNvPr id="109" name="Google Shape;109;p21"/>
          <p:cNvCxnSpPr>
            <a:stCxn id="105" idx="2"/>
          </p:cNvCxnSpPr>
          <p:nvPr/>
        </p:nvCxnSpPr>
        <p:spPr>
          <a:xfrm>
            <a:off x="2430487" y="3962483"/>
            <a:ext cx="849900" cy="78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0" name="Google Shape;110;p21"/>
          <p:cNvCxnSpPr/>
          <p:nvPr/>
        </p:nvCxnSpPr>
        <p:spPr>
          <a:xfrm flipH="1">
            <a:off x="5845050" y="4289500"/>
            <a:ext cx="1217400" cy="45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5696250" y="1187291"/>
            <a:ext cx="31437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B5394"/>
                </a:solidFill>
              </a:rPr>
              <a:t>Thuận tiện cho xử lý bằng máy tính</a:t>
            </a:r>
            <a:endParaRPr sz="2200"/>
          </a:p>
        </p:txBody>
      </p:sp>
      <p:sp>
        <p:nvSpPr>
          <p:cNvPr id="113" name="Google Shape;113;p21"/>
          <p:cNvSpPr txBox="1"/>
          <p:nvPr/>
        </p:nvSpPr>
        <p:spPr>
          <a:xfrm>
            <a:off x="1200450" y="1263491"/>
            <a:ext cx="31437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0B5394"/>
                </a:solidFill>
              </a:rPr>
              <a:t>Thuận tiện cho </a:t>
            </a:r>
            <a:r>
              <a:rPr i="1" lang="en-GB" sz="2200">
                <a:solidFill>
                  <a:srgbClr val="0B5394"/>
                </a:solidFill>
              </a:rPr>
              <a:t>người đọc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HTML vs XML: Các thành phần cấu trúc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</a:t>
            </a:r>
            <a:r>
              <a:rPr lang="en-GB"/>
              <a:t>í dụ, tình huống trích xuất thông tin tác giả: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HTML: Không chứa cấu trúc </a:t>
            </a:r>
            <a:r>
              <a:rPr lang="en-GB"/>
              <a:t>thông tin </a:t>
            </a:r>
            <a:r>
              <a:rPr lang="en-GB"/>
              <a:t>=&gt; Khó thực hiện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XML: Có chứa các cấu trúc thông tin =&gt; Dễ thực hiện hơn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Ví dụ, có thể trích xuất thông tin tác giả theo thẻ &lt;author&gt; xuất hiện bên trong thẻ &lt;book&gt;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Suy diễn tự động: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Thông tin trong thẻ author nằm trong thẻ book là thông tin về tác giả của sách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=&gt; không sử dụng đến các đại lượng thống kê, hoặc các phương pháp học máy</a:t>
            </a:r>
            <a:endParaRPr/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HTML vs XML: </a:t>
            </a:r>
            <a:r>
              <a:rPr lang="en-GB"/>
              <a:t>Định dạng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HTML t</a:t>
            </a:r>
            <a:r>
              <a:rPr lang="en-GB"/>
              <a:t>ừ ban đầu được thiết kế cho mục đích hiển thị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Chủ yếu mô tả cách hiển thị tài liệu.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XML: Tách biệt nội dung và cách hiển thị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Cùng 1 nội dung có thể được hiển thị theo nhiều cách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Cách hiển thị được mô tả trong các tài liệu sử dụng các quy chuẩn khác (ví dụ, CSS, XSL).</a:t>
            </a:r>
            <a:endParaRPr/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HTML vs XML: Thẻ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GB"/>
              <a:t>ất cả các tài liệu HTML đều sử dụng chung 1 tập thẻ (HTML)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Tập thẻ HTML là hữu hạn và có ý nghĩa được thiết lập bằng quy chuẩn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Quy định các thuộc tính hiển thị: phông chữ, </a:t>
            </a:r>
            <a:r>
              <a:rPr lang="en-GB"/>
              <a:t>màu</a:t>
            </a:r>
            <a:r>
              <a:rPr lang="en-GB"/>
              <a:t> sắc, v.v.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tài liệu XML khác nhau có thể sử dụng các tập thẻ hoàn toàn khác nhau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Tập thẻ XML không giới hạn: Người dùng có tự định nghĩa các thẻ mới.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XML là 1 siêu ngôn ngữ đánh dấu - Cho phép tạo các ngôn ngữ đánh dấu, định nghĩa các thẻ mới.</a:t>
            </a:r>
            <a:endParaRPr/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bộ từ vựng XML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ác ứng dụng phần mềm khác nhau phải thống nhất trên các bộ từ vựng dùng chung để giao tiếp và tương tác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bộ từ vựng XML tiêu biểu: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MathML (</a:t>
            </a:r>
            <a:r>
              <a:rPr lang="en-GB"/>
              <a:t>Toán học)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BSML (</a:t>
            </a:r>
            <a:r>
              <a:rPr lang="en-GB"/>
              <a:t>Tin Sinh)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HRML (</a:t>
            </a:r>
            <a:r>
              <a:rPr lang="en-GB"/>
              <a:t>Tài nguyên nhân lực)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RSS (</a:t>
            </a:r>
            <a:r>
              <a:rPr lang="en-GB"/>
              <a:t>Tin tức)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SVG (</a:t>
            </a:r>
            <a:r>
              <a:rPr lang="en-GB"/>
              <a:t>Đồ họa vec-tơ)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...</a:t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ấu trúc tài liệu XML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ấu trúc khái quát</a:t>
            </a:r>
            <a:endParaRPr/>
          </a:p>
        </p:txBody>
      </p:sp>
      <p:sp>
        <p:nvSpPr>
          <p:cNvPr id="153" name="Google Shape;153;p27"/>
          <p:cNvSpPr txBox="1"/>
          <p:nvPr>
            <p:ph idx="4294967295" type="body"/>
          </p:nvPr>
        </p:nvSpPr>
        <p:spPr>
          <a:xfrm>
            <a:off x="311700" y="1246200"/>
            <a:ext cx="8609400" cy="46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ột tài liệu XML thường có cấu trúc gồm 3 phần: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B5394"/>
                </a:solidFill>
              </a:rPr>
              <a:t>Tài liệu XML còn được biểu diễn bằng cấu trúc  dạng cây</a:t>
            </a:r>
            <a:endParaRPr i="1">
              <a:solidFill>
                <a:srgbClr val="0B5394"/>
              </a:solidFill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743425" y="2003500"/>
            <a:ext cx="3336000" cy="273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/>
          <p:nvPr/>
        </p:nvSpPr>
        <p:spPr>
          <a:xfrm>
            <a:off x="994225" y="2124300"/>
            <a:ext cx="2908800" cy="5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Phần mở đầu</a:t>
            </a:r>
            <a:endParaRPr/>
          </a:p>
        </p:txBody>
      </p:sp>
      <p:sp>
        <p:nvSpPr>
          <p:cNvPr id="156" name="Google Shape;156;p27"/>
          <p:cNvSpPr/>
          <p:nvPr/>
        </p:nvSpPr>
        <p:spPr>
          <a:xfrm>
            <a:off x="994225" y="2765400"/>
            <a:ext cx="2908800" cy="103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Phần nội dung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994225" y="3927000"/>
            <a:ext cx="2908800" cy="6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Phần kết thúc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4609175" y="1946125"/>
            <a:ext cx="39612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pr</a:t>
            </a:r>
            <a:r>
              <a:rPr i="1" lang="en-GB" sz="1800"/>
              <a:t>olog</a:t>
            </a:r>
            <a:r>
              <a:rPr lang="en-GB" sz="1800"/>
              <a:t>, bao gồm các khai báo tổng quan</a:t>
            </a:r>
            <a:endParaRPr sz="1800"/>
          </a:p>
        </p:txBody>
      </p:sp>
      <p:cxnSp>
        <p:nvCxnSpPr>
          <p:cNvPr id="159" name="Google Shape;159;p27"/>
          <p:cNvCxnSpPr>
            <a:endCxn id="158" idx="1"/>
          </p:cNvCxnSpPr>
          <p:nvPr/>
        </p:nvCxnSpPr>
        <p:spPr>
          <a:xfrm flipH="1" rot="10800000">
            <a:off x="3698375" y="2290825"/>
            <a:ext cx="910800" cy="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7"/>
          <p:cNvSpPr txBox="1"/>
          <p:nvPr/>
        </p:nvSpPr>
        <p:spPr>
          <a:xfrm>
            <a:off x="4609175" y="2713776"/>
            <a:ext cx="39612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content</a:t>
            </a:r>
            <a:r>
              <a:rPr lang="en-GB" sz="1800"/>
              <a:t>, bao gồm các ph</a:t>
            </a:r>
            <a:r>
              <a:rPr lang="en-GB" sz="1800"/>
              <a:t>ần tử XML chứa thông tin</a:t>
            </a:r>
            <a:endParaRPr sz="1800"/>
          </a:p>
        </p:txBody>
      </p:sp>
      <p:sp>
        <p:nvSpPr>
          <p:cNvPr id="161" name="Google Shape;161;p27"/>
          <p:cNvSpPr txBox="1"/>
          <p:nvPr/>
        </p:nvSpPr>
        <p:spPr>
          <a:xfrm>
            <a:off x="4609175" y="3993342"/>
            <a:ext cx="3961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epilog</a:t>
            </a:r>
            <a:r>
              <a:rPr lang="en-GB" sz="1800"/>
              <a:t>, bao gồm các khai báo k</a:t>
            </a:r>
            <a:r>
              <a:rPr lang="en-GB" sz="1800"/>
              <a:t>ết thúc</a:t>
            </a:r>
            <a:endParaRPr sz="1800"/>
          </a:p>
        </p:txBody>
      </p:sp>
      <p:cxnSp>
        <p:nvCxnSpPr>
          <p:cNvPr id="162" name="Google Shape;162;p27"/>
          <p:cNvCxnSpPr>
            <a:endCxn id="160" idx="1"/>
          </p:cNvCxnSpPr>
          <p:nvPr/>
        </p:nvCxnSpPr>
        <p:spPr>
          <a:xfrm flipH="1" rot="10800000">
            <a:off x="3568475" y="3282126"/>
            <a:ext cx="10407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7"/>
          <p:cNvCxnSpPr>
            <a:endCxn id="161" idx="1"/>
          </p:cNvCxnSpPr>
          <p:nvPr/>
        </p:nvCxnSpPr>
        <p:spPr>
          <a:xfrm flipH="1" rot="10800000">
            <a:off x="3521975" y="4305642"/>
            <a:ext cx="1087200" cy="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ài liệu XML: </a:t>
            </a:r>
            <a:r>
              <a:rPr lang="en-GB"/>
              <a:t>Phần mở đầu</a:t>
            </a:r>
            <a:endParaRPr/>
          </a:p>
        </p:txBody>
      </p:sp>
      <p:sp>
        <p:nvSpPr>
          <p:cNvPr id="170" name="Google Shape;170;p28"/>
          <p:cNvSpPr txBox="1"/>
          <p:nvPr>
            <p:ph idx="4294967295" type="body"/>
          </p:nvPr>
        </p:nvSpPr>
        <p:spPr>
          <a:xfrm>
            <a:off x="311700" y="1536631"/>
            <a:ext cx="85206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</a:t>
            </a:r>
            <a:r>
              <a:rPr lang="en-GB"/>
              <a:t>ần mở đầu bao gồm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khai báo XML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(Có thể có) c</a:t>
            </a:r>
            <a:r>
              <a:rPr lang="en-GB"/>
              <a:t>ác liên kết tới các tài liệu khác mô tả cấu trúc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2583375" y="3085175"/>
            <a:ext cx="6300600" cy="55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0988" lvl="0" marL="280988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00">
                <a:solidFill>
                  <a:srgbClr val="434343"/>
                </a:solidFill>
              </a:rPr>
              <a:t>&lt;?xml version="1.0" encoding="UTF-16"?&gt;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2583375" y="3999575"/>
            <a:ext cx="6300600" cy="55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0988" lvl="0" marL="280988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434343"/>
                </a:solidFill>
              </a:rPr>
              <a:t>&lt;!DOCTYPE book SYSTEM "book.dtd"&gt;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1152300" y="2657700"/>
            <a:ext cx="1440350" cy="1616925"/>
          </a:xfrm>
          <a:custGeom>
            <a:rect b="b" l="l" r="r" t="t"/>
            <a:pathLst>
              <a:path extrusionOk="0" h="64677" w="57614">
                <a:moveTo>
                  <a:pt x="0" y="0"/>
                </a:moveTo>
                <a:lnTo>
                  <a:pt x="0" y="64677"/>
                </a:lnTo>
                <a:lnTo>
                  <a:pt x="57614" y="64677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174" name="Google Shape;174;p28"/>
          <p:cNvSpPr/>
          <p:nvPr/>
        </p:nvSpPr>
        <p:spPr>
          <a:xfrm>
            <a:off x="631900" y="2276700"/>
            <a:ext cx="1951475" cy="1012900"/>
          </a:xfrm>
          <a:custGeom>
            <a:rect b="b" l="l" r="r" t="t"/>
            <a:pathLst>
              <a:path extrusionOk="0" h="40516" w="78059">
                <a:moveTo>
                  <a:pt x="9293" y="0"/>
                </a:moveTo>
                <a:lnTo>
                  <a:pt x="0" y="0"/>
                </a:lnTo>
                <a:lnTo>
                  <a:pt x="0" y="40516"/>
                </a:lnTo>
                <a:lnTo>
                  <a:pt x="78059" y="40516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175" name="Google Shape;175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ài liệu XML: Phần nội dung</a:t>
            </a:r>
            <a:endParaRPr/>
          </a:p>
        </p:txBody>
      </p:sp>
      <p:sp>
        <p:nvSpPr>
          <p:cNvPr id="181" name="Google Shape;181;p29"/>
          <p:cNvSpPr txBox="1"/>
          <p:nvPr>
            <p:ph idx="4294967295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</a:t>
            </a:r>
            <a:r>
              <a:rPr lang="en-GB"/>
              <a:t>ần nội dung bao gồm nhiều phần tử lưu thông tin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sách, tác giả, nhà xuất bản, v.v..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Mỗi phần tử bao gồm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thẻ mở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Nội dung thông tin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thẻ đóng</a:t>
            </a:r>
            <a:endParaRPr/>
          </a:p>
        </p:txBody>
      </p:sp>
      <p:sp>
        <p:nvSpPr>
          <p:cNvPr id="182" name="Google Shape;182;p29"/>
          <p:cNvSpPr/>
          <p:nvPr/>
        </p:nvSpPr>
        <p:spPr>
          <a:xfrm>
            <a:off x="576150" y="4370775"/>
            <a:ext cx="7991700" cy="4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&lt;t</a:t>
            </a:r>
            <a:r>
              <a:rPr lang="en-GB" sz="2200"/>
              <a:t>itle&gt;The foundations of Semantic Web Technologies&lt;/title&gt;</a:t>
            </a:r>
            <a:endParaRPr sz="2200"/>
          </a:p>
        </p:txBody>
      </p:sp>
      <p:sp>
        <p:nvSpPr>
          <p:cNvPr id="183" name="Google Shape;183;p29"/>
          <p:cNvSpPr/>
          <p:nvPr/>
        </p:nvSpPr>
        <p:spPr>
          <a:xfrm>
            <a:off x="583575" y="2472500"/>
            <a:ext cx="343825" cy="2025202"/>
          </a:xfrm>
          <a:custGeom>
            <a:rect b="b" l="l" r="r" t="t"/>
            <a:pathLst>
              <a:path extrusionOk="0" h="56127" w="13753">
                <a:moveTo>
                  <a:pt x="11151" y="0"/>
                </a:moveTo>
                <a:lnTo>
                  <a:pt x="0" y="0"/>
                </a:lnTo>
                <a:lnTo>
                  <a:pt x="0" y="39772"/>
                </a:lnTo>
                <a:lnTo>
                  <a:pt x="13753" y="39772"/>
                </a:lnTo>
                <a:lnTo>
                  <a:pt x="13753" y="56127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84" name="Google Shape;184;p29"/>
          <p:cNvSpPr/>
          <p:nvPr/>
        </p:nvSpPr>
        <p:spPr>
          <a:xfrm>
            <a:off x="1163600" y="2854000"/>
            <a:ext cx="3138863" cy="1615738"/>
          </a:xfrm>
          <a:custGeom>
            <a:rect b="b" l="l" r="r" t="t"/>
            <a:pathLst>
              <a:path extrusionOk="0" h="39772" w="124521">
                <a:moveTo>
                  <a:pt x="4832" y="0"/>
                </a:moveTo>
                <a:lnTo>
                  <a:pt x="0" y="0"/>
                </a:lnTo>
                <a:lnTo>
                  <a:pt x="0" y="27134"/>
                </a:lnTo>
                <a:lnTo>
                  <a:pt x="124521" y="27134"/>
                </a:lnTo>
                <a:lnTo>
                  <a:pt x="124521" y="39772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85" name="Google Shape;185;p29"/>
          <p:cNvSpPr/>
          <p:nvPr/>
        </p:nvSpPr>
        <p:spPr>
          <a:xfrm>
            <a:off x="3066575" y="3244600"/>
            <a:ext cx="4683525" cy="1225177"/>
          </a:xfrm>
          <a:custGeom>
            <a:rect b="b" l="l" r="r" t="t"/>
            <a:pathLst>
              <a:path extrusionOk="0" h="23417" w="187341">
                <a:moveTo>
                  <a:pt x="0" y="0"/>
                </a:moveTo>
                <a:lnTo>
                  <a:pt x="187341" y="0"/>
                </a:lnTo>
                <a:lnTo>
                  <a:pt x="187341" y="23417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186" name="Google Shape;186;p29"/>
          <p:cNvCxnSpPr/>
          <p:nvPr/>
        </p:nvCxnSpPr>
        <p:spPr>
          <a:xfrm>
            <a:off x="1505425" y="4479065"/>
            <a:ext cx="578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7" name="Google Shape;187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phần tử XML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GB"/>
              <a:t>ên thẻ chỉ cần tuân theo quy tắc đặt tên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Ký tự đầu tiên phải là 1 chữ cái, dấu gạch dưới ( _ ), hoặc chấm phẩy ( ; ).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Nội dung là </a:t>
            </a:r>
            <a:r>
              <a:rPr lang="en-GB"/>
              <a:t>tất cả </a:t>
            </a:r>
            <a:r>
              <a:rPr lang="en-GB"/>
              <a:t>những gì nằm giữa cặp thẻ đóng và thẻ mở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Có thể là văn bản, các phần tử khác, hoặc không có gì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Phần tử không có nội dung được gọi là phần tử rỗng và có thể được viết tắt: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&lt;element/&gt; = &lt;element&gt;&lt;/element&gt;</a:t>
            </a:r>
            <a:endParaRPr/>
          </a:p>
        </p:txBody>
      </p:sp>
      <p:sp>
        <p:nvSpPr>
          <p:cNvPr id="194" name="Google Shape;194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thuộc tính XML</a:t>
            </a:r>
            <a:endParaRPr/>
          </a:p>
        </p:txBody>
      </p:sp>
      <p:sp>
        <p:nvSpPr>
          <p:cNvPr id="200" name="Google Shape;200;p31"/>
          <p:cNvSpPr txBox="1"/>
          <p:nvPr>
            <p:ph idx="4294967295" type="body"/>
          </p:nvPr>
        </p:nvSpPr>
        <p:spPr>
          <a:xfrm>
            <a:off x="311700" y="1079432"/>
            <a:ext cx="8520600" cy="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Th</a:t>
            </a:r>
            <a:r>
              <a:rPr lang="en-GB"/>
              <a:t>uộc tính là cặp tên-giá trị nằm trong thẻ (mở) của 1 phần tử</a:t>
            </a:r>
            <a:endParaRPr/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01569"/>
            <a:ext cx="4345251" cy="1324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750" y="1917925"/>
            <a:ext cx="4281850" cy="3679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31"/>
          <p:cNvCxnSpPr/>
          <p:nvPr/>
        </p:nvCxnSpPr>
        <p:spPr>
          <a:xfrm>
            <a:off x="4497650" y="1834375"/>
            <a:ext cx="0" cy="388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31"/>
          <p:cNvSpPr txBox="1"/>
          <p:nvPr/>
        </p:nvSpPr>
        <p:spPr>
          <a:xfrm>
            <a:off x="381000" y="4034875"/>
            <a:ext cx="4031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Char char="●"/>
            </a:pPr>
            <a:r>
              <a:rPr lang="en-GB" sz="2200">
                <a:solidFill>
                  <a:srgbClr val="666666"/>
                </a:solidFill>
              </a:rPr>
              <a:t>Các phần tử rỗng vẫn có thể có thuộc tính</a:t>
            </a:r>
            <a:endParaRPr sz="2200">
              <a:solidFill>
                <a:srgbClr val="666666"/>
              </a:solidFill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Char char="●"/>
            </a:pPr>
            <a:r>
              <a:rPr lang="en-GB" sz="2200">
                <a:solidFill>
                  <a:srgbClr val="666666"/>
                </a:solidFill>
              </a:rPr>
              <a:t>Các thuộc tính có thể được thay thế bằng các thẻ</a:t>
            </a:r>
            <a:endParaRPr sz="2200">
              <a:solidFill>
                <a:srgbClr val="666666"/>
              </a:solidFill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723425" y="5635075"/>
            <a:ext cx="7639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0B5394"/>
                </a:solidFill>
              </a:rPr>
              <a:t>Lựa chọn sử dụng thuộc tính hay phần tử con?</a:t>
            </a:r>
            <a:endParaRPr i="1" sz="2400">
              <a:solidFill>
                <a:srgbClr val="0B5394"/>
              </a:solidFill>
            </a:endParaRPr>
          </a:p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ột số thành phần khác trong tài liệu XML</a:t>
            </a:r>
            <a:endParaRPr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ác chú thích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Cho người đọc, máy tính bỏ qua khi xử lý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&lt;!-- Đây là một chú thích --&gt;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lệnh / điều khiển xử lý (PIs)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Được sử dụng để cung cấp thông tin cho tiến trình xử lý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&lt;?stylesheet type="text/css" href="mystyle.css" ?&gt;</a:t>
            </a:r>
            <a:endParaRPr/>
          </a:p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ô hình cây của tài liệu XML</a:t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GB"/>
              <a:t>ài liệu XML có thể được biểu diễn như cây có nhãn và có thứ tự: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Có đúng 1 gốc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Không có chu trình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Mỗi nút không phải gốc có đúng 1 nút cha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Mỗi nút có 1 nhãn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Trật tự của các nút có ý nghĩa quan trọng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Tương ứng với trật tự phần tử, thay đổi trật tự =&gt; thay đổi ý nghĩa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B45F06"/>
                </a:solidFill>
              </a:rPr>
              <a:t>Khác với các phần tử, thứ tự của các thuộc tính không quan trọng.</a:t>
            </a:r>
            <a:endParaRPr i="1" sz="2200">
              <a:solidFill>
                <a:srgbClr val="B45F06"/>
              </a:solidFill>
            </a:endParaRPr>
          </a:p>
        </p:txBody>
      </p:sp>
      <p:sp>
        <p:nvSpPr>
          <p:cNvPr id="220" name="Google Shape;220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68100"/>
            <a:ext cx="4074450" cy="2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2.1. Cây XML</a:t>
            </a:r>
            <a:endParaRPr/>
          </a:p>
        </p:txBody>
      </p:sp>
      <p:grpSp>
        <p:nvGrpSpPr>
          <p:cNvPr id="227" name="Google Shape;227;p34"/>
          <p:cNvGrpSpPr/>
          <p:nvPr/>
        </p:nvGrpSpPr>
        <p:grpSpPr>
          <a:xfrm>
            <a:off x="414375" y="1024325"/>
            <a:ext cx="8666597" cy="4967385"/>
            <a:chOff x="414375" y="719525"/>
            <a:chExt cx="8666597" cy="4967385"/>
          </a:xfrm>
        </p:grpSpPr>
        <p:sp>
          <p:nvSpPr>
            <p:cNvPr id="228" name="Google Shape;228;p34"/>
            <p:cNvSpPr/>
            <p:nvPr/>
          </p:nvSpPr>
          <p:spPr>
            <a:xfrm>
              <a:off x="6003075" y="719525"/>
              <a:ext cx="929400" cy="511200"/>
            </a:xfrm>
            <a:prstGeom prst="flowChartConnector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root</a:t>
              </a:r>
              <a:endParaRPr sz="1800"/>
            </a:p>
          </p:txBody>
        </p:sp>
        <p:sp>
          <p:nvSpPr>
            <p:cNvPr id="229" name="Google Shape;229;p34"/>
            <p:cNvSpPr/>
            <p:nvPr/>
          </p:nvSpPr>
          <p:spPr>
            <a:xfrm>
              <a:off x="5949172" y="1710125"/>
              <a:ext cx="10317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email</a:t>
              </a:r>
              <a:endParaRPr sz="1800"/>
            </a:p>
          </p:txBody>
        </p:sp>
        <p:sp>
          <p:nvSpPr>
            <p:cNvPr id="230" name="Google Shape;230;p34"/>
            <p:cNvSpPr/>
            <p:nvPr/>
          </p:nvSpPr>
          <p:spPr>
            <a:xfrm>
              <a:off x="7805775" y="2472125"/>
              <a:ext cx="10317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body</a:t>
              </a:r>
              <a:endParaRPr sz="1800"/>
            </a:p>
          </p:txBody>
        </p:sp>
        <p:sp>
          <p:nvSpPr>
            <p:cNvPr id="231" name="Google Shape;231;p34"/>
            <p:cNvSpPr/>
            <p:nvPr/>
          </p:nvSpPr>
          <p:spPr>
            <a:xfrm>
              <a:off x="4605375" y="2472125"/>
              <a:ext cx="10317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head</a:t>
              </a:r>
              <a:endParaRPr sz="1800"/>
            </a:p>
          </p:txBody>
        </p:sp>
        <p:sp>
          <p:nvSpPr>
            <p:cNvPr id="232" name="Google Shape;232;p34"/>
            <p:cNvSpPr/>
            <p:nvPr/>
          </p:nvSpPr>
          <p:spPr>
            <a:xfrm>
              <a:off x="1252575" y="3462725"/>
              <a:ext cx="10317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from</a:t>
              </a:r>
              <a:endParaRPr sz="1800"/>
            </a:p>
          </p:txBody>
        </p:sp>
        <p:sp>
          <p:nvSpPr>
            <p:cNvPr id="233" name="Google Shape;233;p34"/>
            <p:cNvSpPr/>
            <p:nvPr/>
          </p:nvSpPr>
          <p:spPr>
            <a:xfrm>
              <a:off x="414375" y="4300925"/>
              <a:ext cx="10911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name</a:t>
              </a:r>
              <a:endParaRPr sz="1800"/>
            </a:p>
          </p:txBody>
        </p:sp>
        <p:sp>
          <p:nvSpPr>
            <p:cNvPr id="234" name="Google Shape;234;p34"/>
            <p:cNvSpPr/>
            <p:nvPr/>
          </p:nvSpPr>
          <p:spPr>
            <a:xfrm>
              <a:off x="1819500" y="4300925"/>
              <a:ext cx="12453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address</a:t>
              </a:r>
              <a:endParaRPr sz="1800"/>
            </a:p>
          </p:txBody>
        </p:sp>
        <p:sp>
          <p:nvSpPr>
            <p:cNvPr id="235" name="Google Shape;235;p34"/>
            <p:cNvSpPr/>
            <p:nvPr/>
          </p:nvSpPr>
          <p:spPr>
            <a:xfrm>
              <a:off x="4224375" y="3462725"/>
              <a:ext cx="10317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to</a:t>
              </a:r>
              <a:endParaRPr sz="1800"/>
            </a:p>
          </p:txBody>
        </p:sp>
        <p:sp>
          <p:nvSpPr>
            <p:cNvPr id="236" name="Google Shape;236;p34"/>
            <p:cNvSpPr/>
            <p:nvPr/>
          </p:nvSpPr>
          <p:spPr>
            <a:xfrm>
              <a:off x="6177775" y="3386525"/>
              <a:ext cx="13011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subject</a:t>
              </a:r>
              <a:endParaRPr sz="1800"/>
            </a:p>
          </p:txBody>
        </p:sp>
        <p:sp>
          <p:nvSpPr>
            <p:cNvPr id="237" name="Google Shape;237;p34"/>
            <p:cNvSpPr/>
            <p:nvPr/>
          </p:nvSpPr>
          <p:spPr>
            <a:xfrm>
              <a:off x="3263512" y="4300925"/>
              <a:ext cx="10911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name</a:t>
              </a:r>
              <a:endParaRPr sz="1800"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4705807" y="4300925"/>
              <a:ext cx="1245300" cy="5112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address</a:t>
              </a:r>
              <a:endParaRPr sz="1800"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416313" y="5110975"/>
              <a:ext cx="1091100" cy="557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Nguyen Van A</a:t>
              </a:r>
              <a:endParaRPr sz="1800"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1789772" y="5110975"/>
              <a:ext cx="1301100" cy="557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nva@soict.hust.edu.vn</a:t>
              </a:r>
              <a:endParaRPr sz="1800"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65450" y="5110975"/>
              <a:ext cx="1091100" cy="557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Nguyen Van B</a:t>
              </a:r>
              <a:endParaRPr sz="1800"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4676079" y="5110975"/>
              <a:ext cx="1301100" cy="557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nvb@soict.hust.edu.vn</a:t>
              </a:r>
              <a:endParaRPr sz="1800"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6161050" y="4904875"/>
              <a:ext cx="1301100" cy="763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Where are SW slides?</a:t>
              </a:r>
              <a:endParaRPr sz="1800"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7657172" y="4319510"/>
              <a:ext cx="1423800" cy="1367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/>
                <a:t>Hi B, what is the address to download SW course slides and exercises?</a:t>
              </a:r>
              <a:endParaRPr sz="1600"/>
            </a:p>
          </p:txBody>
        </p:sp>
        <p:cxnSp>
          <p:nvCxnSpPr>
            <p:cNvPr id="245" name="Google Shape;245;p34"/>
            <p:cNvCxnSpPr>
              <a:stCxn id="228" idx="4"/>
              <a:endCxn id="229" idx="0"/>
            </p:cNvCxnSpPr>
            <p:nvPr/>
          </p:nvCxnSpPr>
          <p:spPr>
            <a:xfrm flipH="1">
              <a:off x="6465075" y="1230725"/>
              <a:ext cx="2700" cy="47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34"/>
            <p:cNvCxnSpPr>
              <a:stCxn id="229" idx="3"/>
              <a:endCxn id="231" idx="7"/>
            </p:cNvCxnSpPr>
            <p:nvPr/>
          </p:nvCxnSpPr>
          <p:spPr>
            <a:xfrm flipH="1">
              <a:off x="5485861" y="2146461"/>
              <a:ext cx="614400" cy="40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34"/>
            <p:cNvCxnSpPr>
              <a:stCxn id="229" idx="5"/>
              <a:endCxn id="230" idx="1"/>
            </p:cNvCxnSpPr>
            <p:nvPr/>
          </p:nvCxnSpPr>
          <p:spPr>
            <a:xfrm>
              <a:off x="6829783" y="2146461"/>
              <a:ext cx="1127100" cy="40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34"/>
            <p:cNvCxnSpPr>
              <a:stCxn id="231" idx="2"/>
              <a:endCxn id="232" idx="7"/>
            </p:cNvCxnSpPr>
            <p:nvPr/>
          </p:nvCxnSpPr>
          <p:spPr>
            <a:xfrm flipH="1">
              <a:off x="2133075" y="2727725"/>
              <a:ext cx="2472300" cy="81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34"/>
            <p:cNvCxnSpPr>
              <a:stCxn id="231" idx="4"/>
              <a:endCxn id="235" idx="0"/>
            </p:cNvCxnSpPr>
            <p:nvPr/>
          </p:nvCxnSpPr>
          <p:spPr>
            <a:xfrm flipH="1">
              <a:off x="4740225" y="2983325"/>
              <a:ext cx="381000" cy="47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34"/>
            <p:cNvCxnSpPr>
              <a:stCxn id="231" idx="6"/>
              <a:endCxn id="236" idx="0"/>
            </p:cNvCxnSpPr>
            <p:nvPr/>
          </p:nvCxnSpPr>
          <p:spPr>
            <a:xfrm>
              <a:off x="5637075" y="2727725"/>
              <a:ext cx="1191300" cy="65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34"/>
            <p:cNvCxnSpPr>
              <a:stCxn id="232" idx="3"/>
              <a:endCxn id="233" idx="0"/>
            </p:cNvCxnSpPr>
            <p:nvPr/>
          </p:nvCxnSpPr>
          <p:spPr>
            <a:xfrm flipH="1">
              <a:off x="959964" y="3899061"/>
              <a:ext cx="443700" cy="4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34"/>
            <p:cNvCxnSpPr>
              <a:stCxn id="232" idx="5"/>
              <a:endCxn id="234" idx="0"/>
            </p:cNvCxnSpPr>
            <p:nvPr/>
          </p:nvCxnSpPr>
          <p:spPr>
            <a:xfrm>
              <a:off x="2133186" y="3899061"/>
              <a:ext cx="309000" cy="4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34"/>
            <p:cNvCxnSpPr>
              <a:stCxn id="235" idx="3"/>
              <a:endCxn id="237" idx="0"/>
            </p:cNvCxnSpPr>
            <p:nvPr/>
          </p:nvCxnSpPr>
          <p:spPr>
            <a:xfrm flipH="1">
              <a:off x="3809064" y="3899061"/>
              <a:ext cx="566400" cy="4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34"/>
            <p:cNvCxnSpPr>
              <a:stCxn id="235" idx="5"/>
              <a:endCxn id="238" idx="0"/>
            </p:cNvCxnSpPr>
            <p:nvPr/>
          </p:nvCxnSpPr>
          <p:spPr>
            <a:xfrm>
              <a:off x="5104986" y="3899061"/>
              <a:ext cx="223500" cy="4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34"/>
            <p:cNvCxnSpPr>
              <a:stCxn id="233" idx="4"/>
              <a:endCxn id="239" idx="0"/>
            </p:cNvCxnSpPr>
            <p:nvPr/>
          </p:nvCxnSpPr>
          <p:spPr>
            <a:xfrm>
              <a:off x="959925" y="4812125"/>
              <a:ext cx="1800" cy="29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34"/>
            <p:cNvCxnSpPr>
              <a:stCxn id="234" idx="4"/>
              <a:endCxn id="240" idx="0"/>
            </p:cNvCxnSpPr>
            <p:nvPr/>
          </p:nvCxnSpPr>
          <p:spPr>
            <a:xfrm flipH="1">
              <a:off x="2440350" y="4812125"/>
              <a:ext cx="1800" cy="29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34"/>
            <p:cNvCxnSpPr>
              <a:stCxn id="237" idx="4"/>
              <a:endCxn id="241" idx="0"/>
            </p:cNvCxnSpPr>
            <p:nvPr/>
          </p:nvCxnSpPr>
          <p:spPr>
            <a:xfrm>
              <a:off x="3809062" y="4812125"/>
              <a:ext cx="1800" cy="29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34"/>
            <p:cNvCxnSpPr>
              <a:stCxn id="238" idx="4"/>
              <a:endCxn id="242" idx="0"/>
            </p:cNvCxnSpPr>
            <p:nvPr/>
          </p:nvCxnSpPr>
          <p:spPr>
            <a:xfrm flipH="1">
              <a:off x="5326657" y="4812125"/>
              <a:ext cx="1800" cy="29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34"/>
            <p:cNvCxnSpPr>
              <a:stCxn id="236" idx="4"/>
              <a:endCxn id="243" idx="0"/>
            </p:cNvCxnSpPr>
            <p:nvPr/>
          </p:nvCxnSpPr>
          <p:spPr>
            <a:xfrm flipH="1">
              <a:off x="6811525" y="3897725"/>
              <a:ext cx="16800" cy="10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60" name="Google Shape;260;p34"/>
            <p:cNvCxnSpPr>
              <a:stCxn id="230" idx="4"/>
              <a:endCxn id="244" idx="0"/>
            </p:cNvCxnSpPr>
            <p:nvPr/>
          </p:nvCxnSpPr>
          <p:spPr>
            <a:xfrm>
              <a:off x="8321625" y="2983325"/>
              <a:ext cx="47400" cy="1336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61" name="Google Shape;261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thành phần cấu trúc trong tài liệu XML</a:t>
            </a:r>
            <a:endParaRPr/>
          </a:p>
        </p:txBody>
      </p:sp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thành phần cấu trúc</a:t>
            </a:r>
            <a:endParaRPr/>
          </a:p>
        </p:txBody>
      </p:sp>
      <p:sp>
        <p:nvSpPr>
          <p:cNvPr id="273" name="Google Shape;273;p36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ác quy tắc có thể được thiết lập cho tài liệu XML: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Giới hạn tên phần tử và tên thuộc tính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Giới hạn cấu trúc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Miền giá trị của thuộc tính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Các phần tử có thể hoặc phải xuất hiện bên trong các phần tử khác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Với các ràng buộc được thiết lập, các tài liệu XML có thể là hợp lệ hoặc không hợp lệ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Tính hợp lệ của tài liệu XML được kiểm tra</a:t>
            </a:r>
            <a:endParaRPr/>
          </a:p>
        </p:txBody>
      </p:sp>
      <p:sp>
        <p:nvSpPr>
          <p:cNvPr id="274" name="Google Shape;274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thành phần cấu trúc</a:t>
            </a:r>
            <a:r>
              <a:rPr baseline="-25000" lang="en-GB"/>
              <a:t>(2)</a:t>
            </a:r>
            <a:endParaRPr/>
          </a:p>
        </p:txBody>
      </p:sp>
      <p:sp>
        <p:nvSpPr>
          <p:cNvPr id="280" name="Google Shape;280;p37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</a:t>
            </a:r>
            <a:r>
              <a:rPr lang="en-GB"/>
              <a:t>ột tài liệu XML là hợp lệ nếu như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Đúng định dạng XML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Đúng cấu trúc theo quy ước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ngôn ngữ mô tả cấu trúc tài liệu XML: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DTDs (Document Type Definition) cách tiếp cận đầu tiên, dựa trên SGML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XSD (XML Schema Definition) cách tiếp cận mới hơn, có khả năng diễn đạt mạnh hơn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phương án thay thế: RELAX NG và DSDs</a:t>
            </a:r>
            <a:endParaRPr/>
          </a:p>
        </p:txBody>
      </p:sp>
      <p:sp>
        <p:nvSpPr>
          <p:cNvPr id="281" name="Google Shape;281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2.2. XML &amp; DTD</a:t>
            </a:r>
            <a:endParaRPr/>
          </a:p>
        </p:txBody>
      </p:sp>
      <p:pic>
        <p:nvPicPr>
          <p:cNvPr id="287" name="Google Shape;2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6925"/>
            <a:ext cx="4419600" cy="1275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400" y="797025"/>
            <a:ext cx="4419599" cy="3061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706351"/>
            <a:ext cx="4490000" cy="14786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38"/>
          <p:cNvCxnSpPr/>
          <p:nvPr/>
        </p:nvCxnSpPr>
        <p:spPr>
          <a:xfrm>
            <a:off x="4618475" y="929275"/>
            <a:ext cx="0" cy="52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38"/>
          <p:cNvSpPr txBox="1"/>
          <p:nvPr/>
        </p:nvSpPr>
        <p:spPr>
          <a:xfrm>
            <a:off x="1096525" y="2982950"/>
            <a:ext cx="27879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B5394"/>
                </a:solidFill>
              </a:rPr>
              <a:t>Hợp lệ</a:t>
            </a:r>
            <a:endParaRPr i="1" sz="2000">
              <a:solidFill>
                <a:srgbClr val="0B5394"/>
              </a:solidFill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867925" y="5116550"/>
            <a:ext cx="27879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A61C00"/>
                </a:solidFill>
              </a:rPr>
              <a:t>Không hợp lệ</a:t>
            </a:r>
            <a:endParaRPr i="1" sz="2000">
              <a:solidFill>
                <a:srgbClr val="A61C00"/>
              </a:solidFill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4703825" y="4023725"/>
            <a:ext cx="43008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</a:rPr>
              <a:t>Chúng ta đã thiết lập các ràng buộc:</a:t>
            </a:r>
            <a:endParaRPr i="1" sz="2000"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i="1" lang="en-GB" sz="1800">
                <a:solidFill>
                  <a:srgbClr val="434343"/>
                </a:solidFill>
              </a:rPr>
              <a:t>Phần tử order phải chứa ít nhất 1 phần tử item và bắt buộc phải có 2 thuộc tính orderId và cust.</a:t>
            </a:r>
            <a:endParaRPr i="1" sz="1800"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i="1" lang="en-GB" sz="1800">
                <a:solidFill>
                  <a:srgbClr val="434343"/>
                </a:solidFill>
              </a:rPr>
              <a:t>item phải là phần tử rỗng và có chứa 2 thuộc tính: itemId và quant.</a:t>
            </a:r>
            <a:endParaRPr i="1" sz="1800">
              <a:solidFill>
                <a:srgbClr val="434343"/>
              </a:solidFill>
            </a:endParaRPr>
          </a:p>
        </p:txBody>
      </p:sp>
      <p:cxnSp>
        <p:nvCxnSpPr>
          <p:cNvPr id="294" name="Google Shape;294;p38"/>
          <p:cNvCxnSpPr/>
          <p:nvPr/>
        </p:nvCxnSpPr>
        <p:spPr>
          <a:xfrm>
            <a:off x="4748550" y="3876910"/>
            <a:ext cx="421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8"/>
          <p:cNvCxnSpPr/>
          <p:nvPr/>
        </p:nvCxnSpPr>
        <p:spPr>
          <a:xfrm>
            <a:off x="6802250" y="3876910"/>
            <a:ext cx="0" cy="3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96" name="Google Shape;296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XS</a:t>
            </a:r>
            <a:r>
              <a:rPr lang="en-GB"/>
              <a:t>D - </a:t>
            </a:r>
            <a:r>
              <a:rPr lang="en-GB"/>
              <a:t>L</a:t>
            </a:r>
            <a:r>
              <a:rPr lang="en-GB"/>
              <a:t>ược đồ XML</a:t>
            </a:r>
            <a:endParaRPr/>
          </a:p>
        </p:txBody>
      </p:sp>
      <p:sp>
        <p:nvSpPr>
          <p:cNvPr id="302" name="Google Shape;302;p39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</a:t>
            </a:r>
            <a:r>
              <a:rPr lang="en-GB"/>
              <a:t>ược đồ XML có khả năng diễn đạt cao hơn đáng kể so với DTD.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Cú pháp dựa trên XML vì vậy có thể sử dụng các công cụ được phát triển cho XML để xử lý XSD. 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Khả năng tái sử dụng hoặc chi tiết hóa các lược đồ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Hệ thống kiểu dữ liệu phong phú hơn đáng kể so với DTD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Quy chuẩn Web cho lược đồ XML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W3C thông qua phiên bản đầu tiên năm 2001, 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phiên bản mới nhất là 1.1, được thông qua năm 2012.</a:t>
            </a:r>
            <a:endParaRPr/>
          </a:p>
        </p:txBody>
      </p:sp>
      <p:sp>
        <p:nvSpPr>
          <p:cNvPr id="303" name="Google Shape;303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2.3. XML &amp; XSD</a:t>
            </a:r>
            <a:endParaRPr/>
          </a:p>
        </p:txBody>
      </p:sp>
      <p:pic>
        <p:nvPicPr>
          <p:cNvPr id="309" name="Google Shape;3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667"/>
            <a:ext cx="8839202" cy="411843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</a:t>
            </a:r>
            <a:r>
              <a:rPr lang="en-GB"/>
              <a:t>ông gian tên XML</a:t>
            </a:r>
            <a:endParaRPr/>
          </a:p>
        </p:txBody>
      </p:sp>
      <p:sp>
        <p:nvSpPr>
          <p:cNvPr id="316" name="Google Shape;316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Ý nghĩa của không gian tên</a:t>
            </a:r>
            <a:endParaRPr/>
          </a:p>
        </p:txBody>
      </p:sp>
      <p:sp>
        <p:nvSpPr>
          <p:cNvPr id="322" name="Google Shape;322;p42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</a:t>
            </a:r>
            <a:r>
              <a:rPr lang="en-GB"/>
              <a:t>ột cơ chế hiệu quả để tránh vấn đề trùng lặp tên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bộ từ vựng được phát triển độc lập dẫn đến rủi ro trùng lặp tên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tài liệu XML có thể sử dụng &gt;1 bộ từ vựng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=&gt; sử dụng tiền tố kết hợp với tên để tránh trùng lặp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Tiền tố gắn liền với URI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Được sử dụng trong </a:t>
            </a:r>
            <a:r>
              <a:rPr lang="en-GB"/>
              <a:t>DTD hoặc XSD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Ngữ cảnh của tên</a:t>
            </a:r>
            <a:endParaRPr/>
          </a:p>
        </p:txBody>
      </p:sp>
      <p:sp>
        <p:nvSpPr>
          <p:cNvPr id="323" name="Google Shape;323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URLs, URNs, URIs, ...</a:t>
            </a:r>
            <a:endParaRPr/>
          </a:p>
        </p:txBody>
      </p:sp>
      <p:sp>
        <p:nvSpPr>
          <p:cNvPr id="329" name="Google Shape;329;p43"/>
          <p:cNvSpPr txBox="1"/>
          <p:nvPr/>
        </p:nvSpPr>
        <p:spPr>
          <a:xfrm>
            <a:off x="997825" y="988200"/>
            <a:ext cx="58122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/>
              <a:t>Các loại chuỗi định danh theo W3C</a:t>
            </a:r>
            <a:endParaRPr i="1" sz="2400"/>
          </a:p>
        </p:txBody>
      </p:sp>
      <p:sp>
        <p:nvSpPr>
          <p:cNvPr id="330" name="Google Shape;330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1" name="Google Shape;331;p43"/>
          <p:cNvSpPr/>
          <p:nvPr/>
        </p:nvSpPr>
        <p:spPr>
          <a:xfrm>
            <a:off x="3592450" y="2694025"/>
            <a:ext cx="1953000" cy="1644000"/>
          </a:xfrm>
          <a:prstGeom prst="roundRect">
            <a:avLst>
              <a:gd fmla="val 22218" name="adj"/>
            </a:avLst>
          </a:prstGeom>
          <a:solidFill>
            <a:srgbClr val="D5A6BD">
              <a:alpha val="803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URN</a:t>
            </a:r>
            <a:endParaRPr sz="3200"/>
          </a:p>
        </p:txBody>
      </p:sp>
      <p:sp>
        <p:nvSpPr>
          <p:cNvPr id="332" name="Google Shape;332;p43"/>
          <p:cNvSpPr txBox="1"/>
          <p:nvPr/>
        </p:nvSpPr>
        <p:spPr>
          <a:xfrm>
            <a:off x="2722500" y="4738225"/>
            <a:ext cx="2591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434343"/>
                </a:solidFill>
              </a:rPr>
              <a:t>URL cố định và duy nhất, được sử dụng như tên</a:t>
            </a:r>
            <a:endParaRPr i="1" sz="1600">
              <a:solidFill>
                <a:srgbClr val="434343"/>
              </a:solidFill>
            </a:endParaRPr>
          </a:p>
        </p:txBody>
      </p:sp>
      <p:cxnSp>
        <p:nvCxnSpPr>
          <p:cNvPr id="333" name="Google Shape;333;p43"/>
          <p:cNvCxnSpPr/>
          <p:nvPr/>
        </p:nvCxnSpPr>
        <p:spPr>
          <a:xfrm>
            <a:off x="3824125" y="3920425"/>
            <a:ext cx="167400" cy="81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oval"/>
          </a:ln>
        </p:spPr>
      </p:cxnSp>
      <p:sp>
        <p:nvSpPr>
          <p:cNvPr id="334" name="Google Shape;334;p43"/>
          <p:cNvSpPr txBox="1"/>
          <p:nvPr/>
        </p:nvSpPr>
        <p:spPr>
          <a:xfrm>
            <a:off x="3937675" y="5455400"/>
            <a:ext cx="4605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</a:t>
            </a:r>
            <a:r>
              <a:rPr lang="en-GB"/>
              <a:t>https://www.w3.org/Addressing/URL/Addressing.html]</a:t>
            </a:r>
            <a:endParaRPr/>
          </a:p>
        </p:txBody>
      </p:sp>
      <p:sp>
        <p:nvSpPr>
          <p:cNvPr id="335" name="Google Shape;335;p43"/>
          <p:cNvSpPr/>
          <p:nvPr/>
        </p:nvSpPr>
        <p:spPr>
          <a:xfrm>
            <a:off x="2068450" y="2694025"/>
            <a:ext cx="1953000" cy="1644000"/>
          </a:xfrm>
          <a:prstGeom prst="roundRect">
            <a:avLst>
              <a:gd fmla="val 22218" name="adj"/>
            </a:avLst>
          </a:prstGeom>
          <a:solidFill>
            <a:srgbClr val="A2C4C9">
              <a:alpha val="803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URL</a:t>
            </a:r>
            <a:endParaRPr sz="3200"/>
          </a:p>
        </p:txBody>
      </p:sp>
      <p:sp>
        <p:nvSpPr>
          <p:cNvPr id="336" name="Google Shape;336;p43"/>
          <p:cNvSpPr txBox="1"/>
          <p:nvPr/>
        </p:nvSpPr>
        <p:spPr>
          <a:xfrm>
            <a:off x="2237750" y="3196525"/>
            <a:ext cx="10839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(cổ điển)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http:...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ftp:...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tel:...</a:t>
            </a:r>
            <a:endParaRPr/>
          </a:p>
        </p:txBody>
      </p:sp>
      <p:sp>
        <p:nvSpPr>
          <p:cNvPr id="337" name="Google Shape;337;p43"/>
          <p:cNvSpPr txBox="1"/>
          <p:nvPr/>
        </p:nvSpPr>
        <p:spPr>
          <a:xfrm>
            <a:off x="4371350" y="3196525"/>
            <a:ext cx="10839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urn: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path: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8" name="Google Shape;338;p43"/>
          <p:cNvSpPr/>
          <p:nvPr/>
        </p:nvSpPr>
        <p:spPr>
          <a:xfrm rot="-5400000">
            <a:off x="3664600" y="728625"/>
            <a:ext cx="274800" cy="3467100"/>
          </a:xfrm>
          <a:prstGeom prst="rightBrace">
            <a:avLst>
              <a:gd fmla="val 50000" name="adj1"/>
              <a:gd fmla="val 5020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3"/>
          <p:cNvSpPr txBox="1"/>
          <p:nvPr/>
        </p:nvSpPr>
        <p:spPr>
          <a:xfrm>
            <a:off x="3373275" y="1723875"/>
            <a:ext cx="1161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URI</a:t>
            </a:r>
            <a:endParaRPr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</a:t>
            </a:r>
            <a:r>
              <a:rPr lang="en-GB"/>
              <a:t>ai báo không gian tên</a:t>
            </a:r>
            <a:endParaRPr/>
          </a:p>
        </p:txBody>
      </p:sp>
      <p:sp>
        <p:nvSpPr>
          <p:cNvPr id="345" name="Google Shape;345;p44"/>
          <p:cNvSpPr txBox="1"/>
          <p:nvPr>
            <p:ph idx="4294967295" type="body"/>
          </p:nvPr>
        </p:nvSpPr>
        <p:spPr>
          <a:xfrm>
            <a:off x="311700" y="975875"/>
            <a:ext cx="8520600" cy="28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Không gian tên được khai báo bên trong các phần tử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Theo định dạng: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xmlns:prefix="location"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Trong đó location là URI của DTD hoặc XSD.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prefix là tiền tố (ví dụ m, svg, xlink, v.v</a:t>
            </a:r>
            <a:r>
              <a:rPr lang="en-GB"/>
              <a:t>..)</a:t>
            </a:r>
            <a:r>
              <a:rPr lang="en-GB"/>
              <a:t>, là quy ước viết ngắn gọn cho location.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Nếu để trống prefix thì location được hiểu là không gian tên mặc định (cho những tên không có tiền tố).</a:t>
            </a:r>
            <a:endParaRPr/>
          </a:p>
        </p:txBody>
      </p:sp>
      <p:pic>
        <p:nvPicPr>
          <p:cNvPr id="346" name="Google Shape;3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550" y="4178054"/>
            <a:ext cx="6951676" cy="165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/>
          <p:cNvSpPr txBox="1"/>
          <p:nvPr/>
        </p:nvSpPr>
        <p:spPr>
          <a:xfrm>
            <a:off x="4547550" y="3835880"/>
            <a:ext cx="3309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Mặc định, không có tiền tố</a:t>
            </a:r>
            <a:endParaRPr sz="1800"/>
          </a:p>
        </p:txBody>
      </p:sp>
      <p:sp>
        <p:nvSpPr>
          <p:cNvPr id="348" name="Google Shape;348;p44"/>
          <p:cNvSpPr txBox="1"/>
          <p:nvPr/>
        </p:nvSpPr>
        <p:spPr>
          <a:xfrm>
            <a:off x="2477225" y="5608597"/>
            <a:ext cx="4974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Đặt tên ngắn cho các chuỗi định danh</a:t>
            </a:r>
            <a:r>
              <a:rPr i="1" lang="en-GB" sz="1800"/>
              <a:t>:</a:t>
            </a:r>
            <a:r>
              <a:rPr lang="en-GB" sz="1800"/>
              <a:t> </a:t>
            </a:r>
            <a:endParaRPr sz="1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B5394"/>
                </a:solidFill>
              </a:rPr>
              <a:t>m, svg, xlink</a:t>
            </a:r>
            <a:endParaRPr b="1" sz="1800">
              <a:solidFill>
                <a:srgbClr val="0B5394"/>
              </a:solidFill>
            </a:endParaRPr>
          </a:p>
        </p:txBody>
      </p:sp>
      <p:cxnSp>
        <p:nvCxnSpPr>
          <p:cNvPr id="349" name="Google Shape;349;p44"/>
          <p:cNvCxnSpPr/>
          <p:nvPr/>
        </p:nvCxnSpPr>
        <p:spPr>
          <a:xfrm>
            <a:off x="7940625" y="4780482"/>
            <a:ext cx="0" cy="7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0" name="Google Shape;350;p44"/>
          <p:cNvSpPr/>
          <p:nvPr/>
        </p:nvSpPr>
        <p:spPr>
          <a:xfrm>
            <a:off x="7379900" y="5125532"/>
            <a:ext cx="877025" cy="747625"/>
          </a:xfrm>
          <a:custGeom>
            <a:rect b="b" l="l" r="r" t="t"/>
            <a:pathLst>
              <a:path extrusionOk="0" h="29905" w="35081">
                <a:moveTo>
                  <a:pt x="23004" y="0"/>
                </a:moveTo>
                <a:lnTo>
                  <a:pt x="35081" y="0"/>
                </a:lnTo>
                <a:lnTo>
                  <a:pt x="35081" y="29905"/>
                </a:lnTo>
                <a:lnTo>
                  <a:pt x="0" y="29905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351" name="Google Shape;351;p44"/>
          <p:cNvSpPr/>
          <p:nvPr/>
        </p:nvSpPr>
        <p:spPr>
          <a:xfrm>
            <a:off x="5367075" y="4133482"/>
            <a:ext cx="1840300" cy="460075"/>
          </a:xfrm>
          <a:custGeom>
            <a:rect b="b" l="l" r="r" t="t"/>
            <a:pathLst>
              <a:path extrusionOk="0" h="18403" w="73612">
                <a:moveTo>
                  <a:pt x="58084" y="18403"/>
                </a:moveTo>
                <a:lnTo>
                  <a:pt x="73612" y="18403"/>
                </a:lnTo>
                <a:lnTo>
                  <a:pt x="73612" y="8052"/>
                </a:lnTo>
                <a:lnTo>
                  <a:pt x="0" y="8052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352" name="Google Shape;352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358" name="Google Shape;358;p45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2.1. Căn bản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2.2. Xử lý dữ liệu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2.3. Căn bản JSON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2.4. Xử lý dữ liệu JSON</a:t>
            </a:r>
            <a:endParaRPr sz="4000"/>
          </a:p>
        </p:txBody>
      </p:sp>
      <p:sp>
        <p:nvSpPr>
          <p:cNvPr id="359" name="Google Shape;359;p45"/>
          <p:cNvSpPr/>
          <p:nvPr/>
        </p:nvSpPr>
        <p:spPr>
          <a:xfrm>
            <a:off x="318450" y="1280610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Truy xu</a:t>
            </a:r>
            <a:r>
              <a:rPr lang="en-GB"/>
              <a:t>ất dữ liệu XML</a:t>
            </a:r>
            <a:endParaRPr/>
          </a:p>
        </p:txBody>
      </p:sp>
      <p:sp>
        <p:nvSpPr>
          <p:cNvPr id="366" name="Google Shape;366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</a:t>
            </a:r>
            <a:r>
              <a:rPr lang="en-GB"/>
              <a:t>ôn ngữ truy vấn XML</a:t>
            </a:r>
            <a:endParaRPr/>
          </a:p>
        </p:txBody>
      </p:sp>
      <p:sp>
        <p:nvSpPr>
          <p:cNvPr id="372" name="Google Shape;372;p47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Ng</a:t>
            </a:r>
            <a:r>
              <a:rPr lang="en-GB"/>
              <a:t>ôn ngữ để thao tác dữ liệu, tương tự như lấy dữ liệu từ CSDL quan hệ bằng SQL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Đối với XML: XQuery, XQL, X</a:t>
            </a:r>
            <a:r>
              <a:rPr lang="en-GB"/>
              <a:t>ML-QL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Thành phần cốt lõi của các ngôn ngữ truy vấn dữ liệu XML là các biểu thức đường dẫn (XPath)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Xác định một phần tử/nút hoặc một tập phần tử/nút trong tài liệu XML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Hữu ích để trích xuất dữ liệu từ tài liệu XML</a:t>
            </a:r>
            <a:endParaRPr/>
          </a:p>
        </p:txBody>
      </p:sp>
      <p:sp>
        <p:nvSpPr>
          <p:cNvPr id="373" name="Google Shape;373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8300" y="401075"/>
            <a:ext cx="2574075" cy="25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</a:t>
            </a:r>
            <a:r>
              <a:rPr lang="en-GB"/>
              <a:t>Path</a:t>
            </a:r>
            <a:endParaRPr/>
          </a:p>
        </p:txBody>
      </p:sp>
      <p:sp>
        <p:nvSpPr>
          <p:cNvPr id="380" name="Google Shape;380;p48"/>
          <p:cNvSpPr txBox="1"/>
          <p:nvPr>
            <p:ph idx="4294967295" type="body"/>
          </p:nvPr>
        </p:nvSpPr>
        <p:spPr>
          <a:xfrm>
            <a:off x="311700" y="975875"/>
            <a:ext cx="62220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GB"/>
              <a:t>hành phần cốt lõi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của nhiều công nghệ XML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Cho phép lựa chọn các nút trong các tài liệu XML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Theo mô hình dữ liệu dạng cây của XML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phiên bản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Xpath 1.0 (1999) được hỗ trợ rộng rãi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Xpath 2.0 (2007)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Xpath 3.1 (2017)  </a:t>
            </a:r>
            <a:endParaRPr/>
          </a:p>
        </p:txBody>
      </p:sp>
      <p:cxnSp>
        <p:nvCxnSpPr>
          <p:cNvPr id="381" name="Google Shape;381;p48"/>
          <p:cNvCxnSpPr/>
          <p:nvPr/>
        </p:nvCxnSpPr>
        <p:spPr>
          <a:xfrm>
            <a:off x="3456875" y="4475365"/>
            <a:ext cx="0" cy="52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2" name="Google Shape;382;p48"/>
          <p:cNvSpPr txBox="1"/>
          <p:nvPr/>
        </p:nvSpPr>
        <p:spPr>
          <a:xfrm>
            <a:off x="3471750" y="4503250"/>
            <a:ext cx="5397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Các cấu trúc mới với khả năng diễn đạt mạnh hơn</a:t>
            </a:r>
            <a:endParaRPr i="1" sz="1800"/>
          </a:p>
        </p:txBody>
      </p:sp>
      <p:sp>
        <p:nvSpPr>
          <p:cNvPr id="383" name="Google Shape;383;p48"/>
          <p:cNvSpPr txBox="1"/>
          <p:nvPr/>
        </p:nvSpPr>
        <p:spPr>
          <a:xfrm>
            <a:off x="6377475" y="2888175"/>
            <a:ext cx="2262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/>
              <a:t>[w3schools]</a:t>
            </a:r>
            <a:endParaRPr i="1" sz="2200"/>
          </a:p>
        </p:txBody>
      </p:sp>
      <p:sp>
        <p:nvSpPr>
          <p:cNvPr id="384" name="Google Shape;384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9"/>
          <p:cNvSpPr txBox="1"/>
          <p:nvPr>
            <p:ph idx="4294967295" type="title"/>
          </p:nvPr>
        </p:nvSpPr>
        <p:spPr>
          <a:xfrm>
            <a:off x="311700" y="1361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2.4. XML &amp; XPath</a:t>
            </a:r>
            <a:endParaRPr/>
          </a:p>
        </p:txBody>
      </p:sp>
      <p:pic>
        <p:nvPicPr>
          <p:cNvPr id="390" name="Google Shape;39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094" y="772800"/>
            <a:ext cx="7323499" cy="523027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9"/>
          <p:cNvSpPr/>
          <p:nvPr/>
        </p:nvSpPr>
        <p:spPr>
          <a:xfrm>
            <a:off x="5334000" y="3594400"/>
            <a:ext cx="3605700" cy="268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/bookstore/book[1] -</a:t>
            </a:r>
            <a:r>
              <a:rPr lang="en-GB" sz="1600"/>
              <a:t> L</a:t>
            </a:r>
            <a:r>
              <a:rPr lang="en-GB" sz="1600"/>
              <a:t>ấy phần tử </a:t>
            </a:r>
            <a:r>
              <a:rPr i="1" lang="en-GB" sz="1600"/>
              <a:t>book</a:t>
            </a:r>
            <a:r>
              <a:rPr lang="en-GB" sz="1600"/>
              <a:t> đầu tiên là con của </a:t>
            </a:r>
            <a:r>
              <a:rPr i="1" lang="en-GB" sz="1600"/>
              <a:t>bookstore</a:t>
            </a:r>
            <a:endParaRPr i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/bookstore/book[last()] -</a:t>
            </a:r>
            <a:r>
              <a:rPr lang="en-GB" sz="1600"/>
              <a:t> Lấy </a:t>
            </a:r>
            <a:r>
              <a:rPr i="1" lang="en-GB" sz="1600"/>
              <a:t>book</a:t>
            </a:r>
            <a:r>
              <a:rPr lang="en-GB" sz="1600"/>
              <a:t> cuối cùng là con của </a:t>
            </a:r>
            <a:r>
              <a:rPr i="1" lang="en-GB" sz="1600"/>
              <a:t>bookstore</a:t>
            </a:r>
            <a:endParaRPr i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//title[@lang='en'] -</a:t>
            </a:r>
            <a:r>
              <a:rPr lang="en-GB" sz="1600"/>
              <a:t> Lấy các phần tử </a:t>
            </a:r>
            <a:r>
              <a:rPr i="1" lang="en-GB" sz="1600"/>
              <a:t>title</a:t>
            </a:r>
            <a:r>
              <a:rPr lang="en-GB" sz="1600"/>
              <a:t> có thuộc tính </a:t>
            </a:r>
            <a:r>
              <a:rPr i="1" lang="en-GB" sz="1600"/>
              <a:t>lang</a:t>
            </a:r>
            <a:r>
              <a:rPr lang="en-GB" sz="1600"/>
              <a:t> có giá trị là </a:t>
            </a:r>
            <a:r>
              <a:rPr i="1" lang="en-GB" sz="1600"/>
              <a:t>en</a:t>
            </a:r>
            <a:endParaRPr i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/bookstore/book[price &gt; 35] -</a:t>
            </a:r>
            <a:r>
              <a:rPr lang="en-GB" sz="1600"/>
              <a:t> Lấy </a:t>
            </a:r>
            <a:r>
              <a:rPr i="1" lang="en-GB" sz="1600"/>
              <a:t>book</a:t>
            </a:r>
            <a:r>
              <a:rPr lang="en-GB" sz="1600"/>
              <a:t> là con của </a:t>
            </a:r>
            <a:r>
              <a:rPr i="1" lang="en-GB" sz="1600"/>
              <a:t>bookstore</a:t>
            </a:r>
            <a:r>
              <a:rPr lang="en-GB" sz="1600"/>
              <a:t> và có </a:t>
            </a:r>
            <a:r>
              <a:rPr i="1" lang="en-GB" sz="1600"/>
              <a:t>price</a:t>
            </a:r>
            <a:r>
              <a:rPr lang="en-GB" sz="1600"/>
              <a:t> với giá trị lớn hơn 35.</a:t>
            </a:r>
            <a:endParaRPr sz="1600"/>
          </a:p>
        </p:txBody>
      </p:sp>
      <p:sp>
        <p:nvSpPr>
          <p:cNvPr id="392" name="Google Shape;392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2.5. XML &amp; XPath trong máy khách</a:t>
            </a:r>
            <a:endParaRPr/>
          </a:p>
        </p:txBody>
      </p:sp>
      <p:pic>
        <p:nvPicPr>
          <p:cNvPr id="398" name="Google Shape;39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2084"/>
            <a:ext cx="8839200" cy="47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0"/>
          <p:cNvSpPr/>
          <p:nvPr/>
        </p:nvSpPr>
        <p:spPr>
          <a:xfrm>
            <a:off x="6346900" y="2087125"/>
            <a:ext cx="2485500" cy="16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Hầu hết các trình duyệt hiện đại đều cho phép sử dụng XMLHttpRequest để nạp tài liệu XML.</a:t>
            </a:r>
            <a:endParaRPr sz="1800"/>
          </a:p>
        </p:txBody>
      </p:sp>
      <p:cxnSp>
        <p:nvCxnSpPr>
          <p:cNvPr id="400" name="Google Shape;400;p50"/>
          <p:cNvCxnSpPr/>
          <p:nvPr/>
        </p:nvCxnSpPr>
        <p:spPr>
          <a:xfrm>
            <a:off x="3698490" y="2397515"/>
            <a:ext cx="264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1" name="Google Shape;401;p50"/>
          <p:cNvSpPr txBox="1"/>
          <p:nvPr/>
        </p:nvSpPr>
        <p:spPr>
          <a:xfrm>
            <a:off x="6495575" y="3862050"/>
            <a:ext cx="2336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0B5394"/>
                </a:solidFill>
              </a:rPr>
              <a:t>Ví dụ này được thực hiện bằng Chrome</a:t>
            </a:r>
            <a:endParaRPr i="1" sz="1800">
              <a:solidFill>
                <a:srgbClr val="0B5394"/>
              </a:solidFill>
            </a:endParaRPr>
          </a:p>
        </p:txBody>
      </p:sp>
      <p:sp>
        <p:nvSpPr>
          <p:cNvPr id="402" name="Google Shape;402;p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</a:t>
            </a:r>
            <a:r>
              <a:rPr lang="en-GB"/>
              <a:t>ến đổi tài liệu XML: XSLT</a:t>
            </a:r>
            <a:endParaRPr/>
          </a:p>
        </p:txBody>
      </p:sp>
      <p:sp>
        <p:nvSpPr>
          <p:cNvPr id="408" name="Google Shape;408;p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2.6. </a:t>
            </a:r>
            <a:r>
              <a:rPr lang="en-GB"/>
              <a:t>H</a:t>
            </a:r>
            <a:r>
              <a:rPr lang="en-GB"/>
              <a:t>iển thị các tài liệu XML</a:t>
            </a:r>
            <a:endParaRPr/>
          </a:p>
        </p:txBody>
      </p:sp>
      <p:pic>
        <p:nvPicPr>
          <p:cNvPr id="414" name="Google Shape;41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1204474"/>
            <a:ext cx="6051400" cy="169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2"/>
          <p:cNvSpPr txBox="1"/>
          <p:nvPr/>
        </p:nvSpPr>
        <p:spPr>
          <a:xfrm>
            <a:off x="362425" y="2865875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Một tài liệu XML có thể được hiển thị theo nhiều cách</a:t>
            </a:r>
            <a:endParaRPr sz="2200"/>
          </a:p>
        </p:txBody>
      </p:sp>
      <p:sp>
        <p:nvSpPr>
          <p:cNvPr id="416" name="Google Shape;416;p52"/>
          <p:cNvSpPr txBox="1"/>
          <p:nvPr/>
        </p:nvSpPr>
        <p:spPr>
          <a:xfrm>
            <a:off x="362425" y="5324675"/>
            <a:ext cx="84699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Ý tưởng:</a:t>
            </a:r>
            <a:r>
              <a:rPr lang="en-GB" sz="2000"/>
              <a:t> Sử dụng tầng phong cách hiển thị để biến đổi một cây XML thành 1 tài liệu HTML hoặc cây XML khác.</a:t>
            </a:r>
            <a:endParaRPr sz="2000"/>
          </a:p>
        </p:txBody>
      </p:sp>
      <p:sp>
        <p:nvSpPr>
          <p:cNvPr id="417" name="Google Shape;417;p52"/>
          <p:cNvSpPr/>
          <p:nvPr/>
        </p:nvSpPr>
        <p:spPr>
          <a:xfrm>
            <a:off x="472075" y="3456875"/>
            <a:ext cx="4237500" cy="192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Order:</a:t>
            </a:r>
            <a:r>
              <a:rPr lang="en-GB" sz="2000"/>
              <a:t> o123 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Customer:</a:t>
            </a:r>
            <a:r>
              <a:rPr lang="en-GB" sz="2000"/>
              <a:t> Nguyen Van 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aphicFrame>
        <p:nvGraphicFramePr>
          <p:cNvPr id="418" name="Google Shape;418;p52"/>
          <p:cNvGraphicFramePr/>
          <p:nvPr/>
        </p:nvGraphicFramePr>
        <p:xfrm>
          <a:off x="606825" y="42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{8288D94F-0F70-4583-A73F-D9854BFB425A}</a:tableStyleId>
              </a:tblPr>
              <a:tblGrid>
                <a:gridCol w="1686650"/>
                <a:gridCol w="1686650"/>
              </a:tblGrid>
              <a:tr h="2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ItemId</a:t>
                      </a:r>
                      <a:endParaRPr b="1" sz="20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/>
                        <a:t>Q</a:t>
                      </a:r>
                      <a:r>
                        <a:rPr b="1" lang="en-GB" sz="2000"/>
                        <a:t>uantity</a:t>
                      </a:r>
                      <a:endParaRPr b="1" sz="2000"/>
                    </a:p>
                  </a:txBody>
                  <a:tcPr marT="18000" marB="18000" marR="54000" marL="54000"/>
                </a:tc>
              </a:tr>
              <a:tr h="2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i123</a:t>
                      </a:r>
                      <a:endParaRPr sz="20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10</a:t>
                      </a:r>
                      <a:endParaRPr sz="2000"/>
                    </a:p>
                  </a:txBody>
                  <a:tcPr marT="18000" marB="18000" marR="54000" marL="54000"/>
                </a:tc>
              </a:tr>
              <a:tr h="2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i567</a:t>
                      </a:r>
                      <a:endParaRPr sz="2000"/>
                    </a:p>
                  </a:txBody>
                  <a:tcPr marT="18000" marB="18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20</a:t>
                      </a:r>
                      <a:endParaRPr sz="2000"/>
                    </a:p>
                  </a:txBody>
                  <a:tcPr marT="18000" marB="18000" marR="54000" marL="54000"/>
                </a:tc>
              </a:tr>
            </a:tbl>
          </a:graphicData>
        </a:graphic>
      </p:graphicFrame>
      <p:sp>
        <p:nvSpPr>
          <p:cNvPr id="419" name="Google Shape;419;p52"/>
          <p:cNvSpPr/>
          <p:nvPr/>
        </p:nvSpPr>
        <p:spPr>
          <a:xfrm>
            <a:off x="4796890" y="3456875"/>
            <a:ext cx="4237500" cy="192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Order:</a:t>
            </a:r>
            <a:r>
              <a:rPr lang="en-GB" sz="2000"/>
              <a:t> o123    Nguyen Van 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-----------------------------------------------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i123       x     10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i567       x     20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20" name="Google Shape;420;p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ầng phong cách hiển thị</a:t>
            </a:r>
            <a:endParaRPr/>
          </a:p>
        </p:txBody>
      </p:sp>
      <p:sp>
        <p:nvSpPr>
          <p:cNvPr id="426" name="Google Shape;426;p53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ó thể được mô tả bằng nhiều ngôn ngữ khác nhau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CSS2 (Cascading Style Sheets mức 2)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XSL (Extensible Stylesheet Language)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XSL bao gồm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ngôn ngữ biến đổi (XSLT)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XSLT 1.0, quy chuẩn, 1999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XSLT 2.0, 2009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XSLT 3.0, 2017 =&gt; Mới nhất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ngôn ngữ định dạng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Cả 2 đều là các công nghệ XML</a:t>
            </a:r>
            <a:endParaRPr/>
          </a:p>
        </p:txBody>
      </p:sp>
      <p:sp>
        <p:nvSpPr>
          <p:cNvPr id="427" name="Google Shape;427;p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iến đổi XSL (XSLT)</a:t>
            </a:r>
            <a:endParaRPr/>
          </a:p>
        </p:txBody>
      </p:sp>
      <p:sp>
        <p:nvSpPr>
          <p:cNvPr id="433" name="Google Shape;433;p54"/>
          <p:cNvSpPr txBox="1"/>
          <p:nvPr>
            <p:ph idx="4294967295" type="body"/>
          </p:nvPr>
        </p:nvSpPr>
        <p:spPr>
          <a:xfrm>
            <a:off x="311700" y="975875"/>
            <a:ext cx="54813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XSLT th</a:t>
            </a:r>
            <a:r>
              <a:rPr lang="en-GB"/>
              <a:t>iết lập các quy tắc để biến đổi một tài liệu XML thành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1 tài liệu XML khác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Tài liệu HTML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văn bản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Đầu ra có thể sử dụng cùng DTD hoặc lược đồ, hoặc 1 bộ từ vựng hoàn toàn khác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XSLT có thể được sử dụng độc lập với ngôn ngữ định dạng</a:t>
            </a:r>
            <a:endParaRPr/>
          </a:p>
        </p:txBody>
      </p:sp>
      <p:pic>
        <p:nvPicPr>
          <p:cNvPr id="434" name="Google Shape;43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000" y="975871"/>
            <a:ext cx="1206750" cy="129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975" y="975873"/>
            <a:ext cx="1206750" cy="1304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0508" y="2813427"/>
            <a:ext cx="1450867" cy="13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2538" y="4348974"/>
            <a:ext cx="1024850" cy="1627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4"/>
          <p:cNvSpPr txBox="1"/>
          <p:nvPr/>
        </p:nvSpPr>
        <p:spPr>
          <a:xfrm>
            <a:off x="5705700" y="2152175"/>
            <a:ext cx="1505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Đầu vào XML</a:t>
            </a:r>
            <a:endParaRPr sz="1600"/>
          </a:p>
        </p:txBody>
      </p:sp>
      <p:sp>
        <p:nvSpPr>
          <p:cNvPr id="439" name="Google Shape;439;p54"/>
          <p:cNvSpPr txBox="1"/>
          <p:nvPr/>
        </p:nvSpPr>
        <p:spPr>
          <a:xfrm>
            <a:off x="7909450" y="2152175"/>
            <a:ext cx="1206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Mã XSLT</a:t>
            </a:r>
            <a:endParaRPr sz="1600"/>
          </a:p>
        </p:txBody>
      </p:sp>
      <p:sp>
        <p:nvSpPr>
          <p:cNvPr id="440" name="Google Shape;440;p54"/>
          <p:cNvSpPr txBox="1"/>
          <p:nvPr/>
        </p:nvSpPr>
        <p:spPr>
          <a:xfrm>
            <a:off x="6656700" y="4020004"/>
            <a:ext cx="1386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Xử lý</a:t>
            </a:r>
            <a:r>
              <a:rPr lang="en-GB" sz="1600"/>
              <a:t> XSLT</a:t>
            </a:r>
            <a:endParaRPr sz="1600"/>
          </a:p>
        </p:txBody>
      </p:sp>
      <p:sp>
        <p:nvSpPr>
          <p:cNvPr id="441" name="Google Shape;441;p54"/>
          <p:cNvSpPr/>
          <p:nvPr/>
        </p:nvSpPr>
        <p:spPr>
          <a:xfrm>
            <a:off x="6393375" y="2471850"/>
            <a:ext cx="696950" cy="381000"/>
          </a:xfrm>
          <a:custGeom>
            <a:rect b="b" l="l" r="r" t="t"/>
            <a:pathLst>
              <a:path extrusionOk="0" h="15240" w="27878">
                <a:moveTo>
                  <a:pt x="0" y="0"/>
                </a:moveTo>
                <a:lnTo>
                  <a:pt x="0" y="4461"/>
                </a:lnTo>
                <a:lnTo>
                  <a:pt x="27878" y="4461"/>
                </a:lnTo>
                <a:lnTo>
                  <a:pt x="27878" y="1524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stealth"/>
          </a:ln>
        </p:spPr>
      </p:sp>
      <p:sp>
        <p:nvSpPr>
          <p:cNvPr id="442" name="Google Shape;442;p54"/>
          <p:cNvSpPr/>
          <p:nvPr/>
        </p:nvSpPr>
        <p:spPr>
          <a:xfrm>
            <a:off x="7378400" y="2481143"/>
            <a:ext cx="1031475" cy="353125"/>
          </a:xfrm>
          <a:custGeom>
            <a:rect b="b" l="l" r="r" t="t"/>
            <a:pathLst>
              <a:path extrusionOk="0" h="14125" w="41259">
                <a:moveTo>
                  <a:pt x="41259" y="0"/>
                </a:moveTo>
                <a:lnTo>
                  <a:pt x="41259" y="4832"/>
                </a:lnTo>
                <a:lnTo>
                  <a:pt x="0" y="4832"/>
                </a:lnTo>
                <a:lnTo>
                  <a:pt x="0" y="14125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stealth"/>
          </a:ln>
        </p:spPr>
      </p:sp>
      <p:sp>
        <p:nvSpPr>
          <p:cNvPr id="443" name="Google Shape;443;p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ột số trường hợp sử dụng XSLT</a:t>
            </a:r>
            <a:endParaRPr/>
          </a:p>
        </p:txBody>
      </p:sp>
      <p:sp>
        <p:nvSpPr>
          <p:cNvPr id="449" name="Google Shape;449;p55"/>
          <p:cNvSpPr txBox="1"/>
          <p:nvPr>
            <p:ph idx="4294967295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</a:t>
            </a:r>
            <a:r>
              <a:rPr lang="en-GB"/>
              <a:t>uyển dữ liệu &amp; siêu dữ liệu từ một biểu diễn XML sang biểu diễn khác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Chia sẻ thông tin giữa các ứng dụng sử dụng các lược đồ khác nhau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Xử lý các nội dung XML để nhúng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vào một chương trình hoặc CSDL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Hiển thị XML như HTML</a:t>
            </a:r>
            <a:endParaRPr/>
          </a:p>
        </p:txBody>
      </p:sp>
      <p:pic>
        <p:nvPicPr>
          <p:cNvPr id="450" name="Google Shape;45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601" y="2437075"/>
            <a:ext cx="2670793" cy="293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55"/>
          <p:cNvCxnSpPr/>
          <p:nvPr/>
        </p:nvCxnSpPr>
        <p:spPr>
          <a:xfrm>
            <a:off x="4434475" y="3780800"/>
            <a:ext cx="17193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2" name="Google Shape;452;p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2.7. </a:t>
            </a:r>
            <a:r>
              <a:rPr lang="en-GB"/>
              <a:t>B</a:t>
            </a:r>
            <a:r>
              <a:rPr lang="en-GB"/>
              <a:t>iến đổi XML trong máy khách</a:t>
            </a:r>
            <a:endParaRPr/>
          </a:p>
        </p:txBody>
      </p:sp>
      <p:pic>
        <p:nvPicPr>
          <p:cNvPr id="458" name="Google Shape;45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667"/>
            <a:ext cx="8839199" cy="475556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ột số đặc điểm của XSLT</a:t>
            </a:r>
            <a:endParaRPr/>
          </a:p>
        </p:txBody>
      </p:sp>
      <p:sp>
        <p:nvSpPr>
          <p:cNvPr id="465" name="Google Shape;465;p57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GB"/>
              <a:t>ài liệu XSLT là tài liệu XML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XSLT được xây dựng trên cơ sở XML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Tài liệu XSLT xác định 1 khuôn mẫu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Trong ví dụ 2.7 là 1 mẫu tài liệu HTML với những điểm đánh dấu để chèn nội dung vào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xsl:value-of</a:t>
            </a:r>
            <a:r>
              <a:rPr lang="en-GB"/>
              <a:t> đọc nội dung của nút XML và đưa vào tài liệu đầu ra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Đưa nội dung vào khuôn mẫu</a:t>
            </a:r>
            <a:endParaRPr/>
          </a:p>
        </p:txBody>
      </p:sp>
      <p:sp>
        <p:nvSpPr>
          <p:cNvPr id="466" name="Google Shape;466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ổng kết XML</a:t>
            </a:r>
            <a:endParaRPr/>
          </a:p>
        </p:txBody>
      </p:sp>
      <p:sp>
        <p:nvSpPr>
          <p:cNvPr id="472" name="Google Shape;472;p58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XML l</a:t>
            </a:r>
            <a:r>
              <a:rPr lang="en-GB"/>
              <a:t>à 1 siêu ngôn ngữ đánh dấu cho phép người dùng tự định nghĩa các thẻ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XML tách biệt cấu trúc và nội dung với định dạng hiển thị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XML là 1 công nghệ tiêu chuẩn để biểu diễn và </a:t>
            </a:r>
            <a:r>
              <a:rPr lang="en-GB"/>
              <a:t>trao</a:t>
            </a:r>
            <a:r>
              <a:rPr lang="en-GB"/>
              <a:t> đổi thông tin có cấu trúc trên Web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ngôn ngữ truy vấn XML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ngôn ngữ biến đối XML</a:t>
            </a:r>
            <a:endParaRPr/>
          </a:p>
        </p:txBody>
      </p:sp>
      <p:sp>
        <p:nvSpPr>
          <p:cNvPr id="473" name="Google Shape;473;p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479" name="Google Shape;479;p59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2.1. Căn bản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2.2. Xử lý dữ liệu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2.3. Căn bản JSON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2.4. Xử lý dữ liệu JSON</a:t>
            </a:r>
            <a:endParaRPr sz="4000"/>
          </a:p>
        </p:txBody>
      </p:sp>
      <p:sp>
        <p:nvSpPr>
          <p:cNvPr id="480" name="Google Shape;480;p59"/>
          <p:cNvSpPr/>
          <p:nvPr/>
        </p:nvSpPr>
        <p:spPr>
          <a:xfrm>
            <a:off x="318450" y="1687775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 l</a:t>
            </a:r>
            <a:r>
              <a:rPr lang="en-GB"/>
              <a:t>ựa chọn thay thế cho XML</a:t>
            </a:r>
            <a:endParaRPr/>
          </a:p>
        </p:txBody>
      </p:sp>
      <p:sp>
        <p:nvSpPr>
          <p:cNvPr id="487" name="Google Shape;487;p60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JS</a:t>
            </a:r>
            <a:r>
              <a:rPr lang="en-GB"/>
              <a:t>ON là 1 lựa chọn khác nhẹ hơn XML để trao đổi dữ liệu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Cú pháp đơn giản, không chứa ngữ nghĩa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... và không có lược đồ, không có ngôn ngữ biến đổi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JSON = JavaScript Object Notation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Hầu hết các ngôn ngữ lập trình đều có thể đọc dữ liệu JSON và tạo các cấu trúc dữ liệu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Được định nghĩa trong RFC 4627, IETF, 2006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Phiên bản hiện tại là RFC 8259, 2017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Xem thông tin chi tiết hơn ở http://json.org</a:t>
            </a:r>
            <a:endParaRPr/>
          </a:p>
        </p:txBody>
      </p:sp>
      <p:sp>
        <p:nvSpPr>
          <p:cNvPr id="488" name="Google Shape;488;p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60"/>
          <p:cNvSpPr txBox="1"/>
          <p:nvPr/>
        </p:nvSpPr>
        <p:spPr>
          <a:xfrm>
            <a:off x="818850" y="5687475"/>
            <a:ext cx="74493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1155CC"/>
                </a:solidFill>
              </a:rPr>
              <a:t>Đơn giản là tốt </a:t>
            </a:r>
            <a:endParaRPr i="1" sz="24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2.8. Tài liệu JSON</a:t>
            </a:r>
            <a:endParaRPr/>
          </a:p>
        </p:txBody>
      </p:sp>
      <p:sp>
        <p:nvSpPr>
          <p:cNvPr id="495" name="Google Shape;495;p61"/>
          <p:cNvSpPr txBox="1"/>
          <p:nvPr>
            <p:ph idx="4294967295" type="body"/>
          </p:nvPr>
        </p:nvSpPr>
        <p:spPr>
          <a:xfrm>
            <a:off x="4044350" y="1689025"/>
            <a:ext cx="4864200" cy="45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Khóa là chuỗi ký tự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Giá trị là số, chuỗi ký tự, đối tượng hoặc mảng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đối tượng được đóng trong các ngoặc nhọn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mảng/danh sách được đóng trong các ngoặc vuông</a:t>
            </a:r>
            <a:endParaRPr/>
          </a:p>
        </p:txBody>
      </p:sp>
      <p:sp>
        <p:nvSpPr>
          <p:cNvPr id="496" name="Google Shape;496;p61"/>
          <p:cNvSpPr txBox="1"/>
          <p:nvPr/>
        </p:nvSpPr>
        <p:spPr>
          <a:xfrm>
            <a:off x="484200" y="1565275"/>
            <a:ext cx="3788700" cy="4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{"firstName": "John",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"lastName" : "Smith",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"age"          : 25,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"address"   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   {"streetAdr” : "21 2nd Street",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     "city"         : "New York",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     "state"       : "NY",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     ”zip"          : "10021"},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"phoneNumber":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   [ {"type"  : "home",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     "number": "212-555-1234"},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    {"type"  : "fax",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      "number” : "646-555-4567"} ]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8" name="Google Shape;498;p61"/>
          <p:cNvSpPr txBox="1"/>
          <p:nvPr/>
        </p:nvSpPr>
        <p:spPr>
          <a:xfrm>
            <a:off x="464125" y="990025"/>
            <a:ext cx="7390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2"/>
                </a:solidFill>
              </a:rPr>
              <a:t>1 đ</a:t>
            </a:r>
            <a:r>
              <a:rPr i="1" lang="en-GB" sz="2400">
                <a:solidFill>
                  <a:schemeClr val="dk2"/>
                </a:solidFill>
              </a:rPr>
              <a:t>ối tượng JSON với 5 cặp khóa-giá trị</a:t>
            </a:r>
            <a:endParaRPr i="1"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</a:t>
            </a:r>
            <a:r>
              <a:rPr lang="en-GB"/>
              <a:t>ON-LD</a:t>
            </a:r>
            <a:endParaRPr/>
          </a:p>
        </p:txBody>
      </p:sp>
      <p:sp>
        <p:nvSpPr>
          <p:cNvPr id="504" name="Google Shape;504;p62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</a:t>
            </a:r>
            <a:r>
              <a:rPr lang="en-GB"/>
              <a:t>ột quy chuẩn của W3C để biểu diễn dữ liệu RDF như các đối tượng JSON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phiên bản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JSON-LD 1.0, 2014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JSON-LD 1.1, 2020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Tham khảo: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[1] </a:t>
            </a:r>
            <a:r>
              <a:rPr lang="en-GB" sz="2000">
                <a:uFill>
                  <a:noFill/>
                </a:uFill>
                <a:hlinkClick r:id="rId3"/>
              </a:rPr>
              <a:t>http://markbirbeck.com/2009/04/20/rdfj-semantic-objects-in-json/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[2] https://www.w3.org/TR/2012/WD-json-ld-syntax-20120712/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[3] </a:t>
            </a:r>
            <a:r>
              <a:rPr lang="en-GB" sz="2000">
                <a:uFill>
                  <a:noFill/>
                </a:uFill>
                <a:hlinkClick r:id="rId4"/>
              </a:rPr>
              <a:t>https://www.w3.org/TR/2014/REC-json-ld-20140116/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[4] https://www.w3.org/TR/json-ld11/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05" name="Google Shape;505;p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ổng quan về JSON-LD</a:t>
            </a:r>
            <a:endParaRPr/>
          </a:p>
        </p:txBody>
      </p:sp>
      <p:sp>
        <p:nvSpPr>
          <p:cNvPr id="511" name="Google Shape;511;p63"/>
          <p:cNvSpPr txBox="1"/>
          <p:nvPr>
            <p:ph idx="4294967295" type="body"/>
          </p:nvPr>
        </p:nvSpPr>
        <p:spPr>
          <a:xfrm>
            <a:off x="311700" y="10032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Đưa ngữ nghĩa vào JSON thông qua ngữ cảnh (context) để biểu diễn các thuộc tính và giá trị sử dụng mô hình dữ liệu RDF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Từ khóa </a:t>
            </a:r>
            <a:r>
              <a:rPr i="1" lang="en-GB">
                <a:solidFill>
                  <a:srgbClr val="0B5394"/>
                </a:solidFill>
              </a:rPr>
              <a:t>@context</a:t>
            </a:r>
            <a:endParaRPr i="1">
              <a:solidFill>
                <a:srgbClr val="0B5394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ngữ cảnh còn có thể được thiết lập thông qua tham số API, hoặc thông qua 1 liên kết trong tiêu đề của phản hồi HTTP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813" y="3673050"/>
            <a:ext cx="652462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3"/>
          <p:cNvSpPr txBox="1"/>
          <p:nvPr/>
        </p:nvSpPr>
        <p:spPr>
          <a:xfrm>
            <a:off x="464100" y="4086050"/>
            <a:ext cx="20031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Mỗi từ khóa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</a:rPr>
              <a:t>@context, @id, @type</a:t>
            </a:r>
            <a:r>
              <a:rPr lang="en-GB" sz="1800"/>
              <a:t>, v.v. có ý nghĩa riêng.</a:t>
            </a:r>
            <a:endParaRPr sz="1800"/>
          </a:p>
        </p:txBody>
      </p:sp>
      <p:cxnSp>
        <p:nvCxnSpPr>
          <p:cNvPr id="514" name="Google Shape;514;p63"/>
          <p:cNvCxnSpPr/>
          <p:nvPr/>
        </p:nvCxnSpPr>
        <p:spPr>
          <a:xfrm flipH="1" rot="10800000">
            <a:off x="2027200" y="4203250"/>
            <a:ext cx="813300" cy="21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15" name="Google Shape;515;p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Dữ liệu trong HTML</a:t>
            </a:r>
            <a:endParaRPr/>
          </a:p>
        </p:txBody>
      </p:sp>
      <p:pic>
        <p:nvPicPr>
          <p:cNvPr id="521" name="Google Shape;52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204467"/>
            <a:ext cx="64389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4"/>
          <p:cNvSpPr txBox="1"/>
          <p:nvPr>
            <p:ph idx="4294967295" type="body"/>
          </p:nvPr>
        </p:nvSpPr>
        <p:spPr>
          <a:xfrm>
            <a:off x="311700" y="3429000"/>
            <a:ext cx="85206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Dữ liệu liên kết từ nhiều trang có thể được tích hợp </a:t>
            </a:r>
            <a:r>
              <a:rPr lang="en-GB"/>
              <a:t>lại </a:t>
            </a:r>
            <a:r>
              <a:rPr lang="en-GB"/>
              <a:t>thành 1 đồ thị.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Google khuyến khích tăng cường chèn JSON-LD vào trang Web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Để xuất đúng dữ liệu từ trang Web có thể cần thực thi mã cập nhật cấu trúc DOM của tài liệu.</a:t>
            </a:r>
            <a:endParaRPr/>
          </a:p>
        </p:txBody>
      </p:sp>
      <p:sp>
        <p:nvSpPr>
          <p:cNvPr id="523" name="Google Shape;523;p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529" name="Google Shape;529;p65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2.1. Căn bản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2.2. Xử lý dữ liệu XML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2.3. Căn bản JSON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2.4. Xử lý dữ liệu JSON</a:t>
            </a:r>
            <a:endParaRPr sz="4000"/>
          </a:p>
        </p:txBody>
      </p:sp>
      <p:sp>
        <p:nvSpPr>
          <p:cNvPr id="530" name="Google Shape;530;p65"/>
          <p:cNvSpPr/>
          <p:nvPr/>
        </p:nvSpPr>
        <p:spPr>
          <a:xfrm>
            <a:off x="318450" y="2080544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6"/>
          <p:cNvSpPr txBox="1"/>
          <p:nvPr>
            <p:ph idx="4294967295"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ôi trường lập trình</a:t>
            </a:r>
            <a:endParaRPr/>
          </a:p>
        </p:txBody>
      </p:sp>
      <p:pic>
        <p:nvPicPr>
          <p:cNvPr id="537" name="Google Shape;53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667"/>
            <a:ext cx="39624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3075" y="594867"/>
            <a:ext cx="393382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250" y="2652050"/>
            <a:ext cx="389917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825" y="4037117"/>
            <a:ext cx="40005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1513" y="4319588"/>
            <a:ext cx="3990975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175" y="1272600"/>
            <a:ext cx="8839201" cy="476311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7"/>
          <p:cNvSpPr txBox="1"/>
          <p:nvPr>
            <p:ph idx="4294967295"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JSON-LD trong Python v</a:t>
            </a:r>
            <a:r>
              <a:rPr lang="en-GB"/>
              <a:t>ới pyld</a:t>
            </a:r>
            <a:endParaRPr/>
          </a:p>
        </p:txBody>
      </p:sp>
      <p:sp>
        <p:nvSpPr>
          <p:cNvPr id="549" name="Google Shape;549;p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giải thuật lõi</a:t>
            </a:r>
            <a:endParaRPr/>
          </a:p>
        </p:txBody>
      </p:sp>
      <p:sp>
        <p:nvSpPr>
          <p:cNvPr id="555" name="Google Shape;555;p68"/>
          <p:cNvSpPr txBox="1"/>
          <p:nvPr>
            <p:ph idx="1" type="body"/>
          </p:nvPr>
        </p:nvSpPr>
        <p:spPr>
          <a:xfrm>
            <a:off x="311700" y="975875"/>
            <a:ext cx="8520600" cy="5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Mở rộng - Expand, áp dụng ngữ cảnh để tạo tài liệu với các IRIs và các giá trị tuyệt đối.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Vắn tắt - Compact, sử dụng ngữ cảnh để thay thế các IRIs bằng các từ khóa và biểu diễn các giá trị như các chuỗi nếu có thể.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Làm phẳng - Flatten, loại bỏ những lồng ghép bên trong, sử dụng nút rỗng để kết nối các nút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Tới RDF - To RDF, biến đổi JSON-LD thành RDF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Từ RDF - From RDF, biến đổi RDF thành JSON-LD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Khung - Frame, áp dụng 1 văn bản khung cho 1 tài liệu JSON-LD phẳng.</a:t>
            </a:r>
            <a:endParaRPr/>
          </a:p>
        </p:txBody>
      </p:sp>
      <p:sp>
        <p:nvSpPr>
          <p:cNvPr id="556" name="Google Shape;556;p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2.9. JSON-LD: Mở rộng</a:t>
            </a:r>
            <a:endParaRPr/>
          </a:p>
        </p:txBody>
      </p:sp>
      <p:pic>
        <p:nvPicPr>
          <p:cNvPr id="562" name="Google Shape;56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2766"/>
            <a:ext cx="9143999" cy="4695559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1067"/>
            <a:ext cx="8821520" cy="557733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70"/>
          <p:cNvSpPr txBox="1"/>
          <p:nvPr>
            <p:ph idx="4294967295" type="title"/>
          </p:nvPr>
        </p:nvSpPr>
        <p:spPr>
          <a:xfrm>
            <a:off x="311700" y="59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2.10. JSON-LD: áp dụng khung</a:t>
            </a:r>
            <a:endParaRPr/>
          </a:p>
        </p:txBody>
      </p:sp>
      <p:sp>
        <p:nvSpPr>
          <p:cNvPr id="570" name="Google Shape;570;p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76" name="Google Shape;57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680" y="1531800"/>
            <a:ext cx="3565079" cy="410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