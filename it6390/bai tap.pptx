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6532798eca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6532798e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5183949946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518394994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5183949946_0_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518394994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dbc343c3f3f7ace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dbc343c3f3f7ace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dbc343c3f3f7ace_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dbc343c3f3f7ace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dbc343c3f3f7ace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dbc343c3f3f7ace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5183949946_2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5183949946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dbc343c3f3f7ace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dbc343c3f3f7ace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5183949946_2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5183949946_2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5183949946_0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518394994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53a4ccdd6e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53a4ccdd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53a4ccdd6e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53a4ccdd6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53a4ccdd6e_0_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53a4ccdd6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53a4ccdd6e_0_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53a4ccdd6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10ac033571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10ac0335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10ac033571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10ac03357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10ac033571_0_7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10ac03357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hyperlink" Target="https://github.com/bangoc/semweb/blob/master/rdf/simpsons.tt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4294967295" type="body"/>
          </p:nvPr>
        </p:nvSpPr>
        <p:spPr>
          <a:xfrm>
            <a:off x="311700" y="266475"/>
            <a:ext cx="8520600" cy="62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a:t>
            </a:r>
            <a:r>
              <a:rPr lang="en-GB"/>
              <a:t>ử dụng dữ liệu về gia đình Simpsons và định nghĩa các khái niệm sau:</a:t>
            </a:r>
            <a:endParaRPr/>
          </a:p>
          <a:p>
            <a:pPr indent="0" lvl="0" marL="0" rtl="0" algn="l">
              <a:spcBef>
                <a:spcPts val="1200"/>
              </a:spcBef>
              <a:spcAft>
                <a:spcPts val="0"/>
              </a:spcAft>
              <a:buNone/>
            </a:pPr>
            <a:r>
              <a:rPr lang="en-GB" u="sng">
                <a:solidFill>
                  <a:schemeClr val="hlink"/>
                </a:solidFill>
                <a:hlinkClick r:id="rId3"/>
              </a:rPr>
              <a:t>https://github.com/bangoc/semweb/blob/master/rdf/simpsons.ttl</a:t>
            </a:r>
            <a:endParaRPr/>
          </a:p>
          <a:p>
            <a:pPr indent="-342900" lvl="0" marL="457200" rtl="0" algn="l">
              <a:spcBef>
                <a:spcPts val="1200"/>
              </a:spcBef>
              <a:spcAft>
                <a:spcPts val="0"/>
              </a:spcAft>
              <a:buSzPts val="1800"/>
              <a:buAutoNum type="alphaLcParenR"/>
            </a:pPr>
            <a:r>
              <a:rPr lang="en-GB"/>
              <a:t>Tạo bộ 3 và vẽ đồ thị RDF biểu diễn thông tin Lisa nghĩ rằng Bart đã lấy thanh kẹo của mình.</a:t>
            </a:r>
            <a:endParaRPr/>
          </a:p>
          <a:p>
            <a:pPr indent="-342900" lvl="0" marL="457200" rtl="0" algn="l">
              <a:spcBef>
                <a:spcPts val="0"/>
              </a:spcBef>
              <a:spcAft>
                <a:spcPts val="0"/>
              </a:spcAft>
              <a:buSzPts val="1800"/>
              <a:buAutoNum type="alphaLcParenR"/>
            </a:pPr>
            <a:r>
              <a:rPr lang="en-GB"/>
              <a:t>Định nghĩa lớp Children gồm những người dưới 16 tuổi.</a:t>
            </a:r>
            <a:endParaRPr/>
          </a:p>
          <a:p>
            <a:pPr indent="-342900" lvl="0" marL="457200" rtl="0" algn="l">
              <a:spcBef>
                <a:spcPts val="0"/>
              </a:spcBef>
              <a:spcAft>
                <a:spcPts val="0"/>
              </a:spcAft>
              <a:buSzPts val="1800"/>
              <a:buAutoNum type="alphaLcParenR"/>
            </a:pPr>
            <a:r>
              <a:rPr lang="en-GB"/>
              <a:t>Định nghĩa thuộc tính gender với khoảng giá trị là chuỗi.</a:t>
            </a:r>
            <a:endParaRPr/>
          </a:p>
          <a:p>
            <a:pPr indent="-342900" lvl="0" marL="457200" rtl="0" algn="l">
              <a:spcBef>
                <a:spcPts val="0"/>
              </a:spcBef>
              <a:spcAft>
                <a:spcPts val="0"/>
              </a:spcAft>
              <a:buSzPts val="1800"/>
              <a:buAutoNum type="alphaLcParenR"/>
            </a:pPr>
            <a:r>
              <a:rPr lang="en-GB"/>
              <a:t>Định nghĩa các lớp Male và Female dựa trên ràng buộc giá trị của thuộc tính gender lần lượt là “male" và “female"</a:t>
            </a:r>
            <a:endParaRPr/>
          </a:p>
          <a:p>
            <a:pPr indent="-342900" lvl="0" marL="457200" rtl="0" algn="l">
              <a:spcBef>
                <a:spcPts val="0"/>
              </a:spcBef>
              <a:spcAft>
                <a:spcPts val="0"/>
              </a:spcAft>
              <a:buSzPts val="1800"/>
              <a:buAutoNum type="alphaLcParenR"/>
            </a:pPr>
            <a:r>
              <a:rPr lang="en-GB"/>
              <a:t>Bổ xung thêm các mô tả để có thể suy diễn các giá trị của thuộc tính hasFather và hasBrother thuộc lớp Male, các giá trị của thuộc tính hasMother và hasSister thuộc lớp Female.</a:t>
            </a:r>
            <a:endParaRPr/>
          </a:p>
          <a:p>
            <a:pPr indent="0" lvl="0" marL="0" rtl="0" algn="l">
              <a:spcBef>
                <a:spcPts val="1200"/>
              </a:spcBef>
              <a:spcAft>
                <a:spcPts val="120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p:cNvPicPr preferRelativeResize="0"/>
          <p:nvPr/>
        </p:nvPicPr>
        <p:blipFill>
          <a:blip r:embed="rId3">
            <a:alphaModFix/>
          </a:blip>
          <a:stretch>
            <a:fillRect/>
          </a:stretch>
        </p:blipFill>
        <p:spPr>
          <a:xfrm>
            <a:off x="1199825" y="152400"/>
            <a:ext cx="7079797" cy="6553201"/>
          </a:xfrm>
          <a:prstGeom prst="rect">
            <a:avLst/>
          </a:prstGeom>
          <a:noFill/>
          <a:ln>
            <a:noFill/>
          </a:ln>
        </p:spPr>
      </p:pic>
      <p:sp>
        <p:nvSpPr>
          <p:cNvPr id="60" name="Google Shape;60;p14"/>
          <p:cNvSpPr txBox="1"/>
          <p:nvPr/>
        </p:nvSpPr>
        <p:spPr>
          <a:xfrm>
            <a:off x="165375" y="133300"/>
            <a:ext cx="3197400" cy="9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T</a:t>
            </a:r>
            <a:r>
              <a:rPr lang="en-GB" sz="2800"/>
              <a:t>ạo mô tả Turtle</a:t>
            </a:r>
            <a:endParaRPr sz="2800"/>
          </a:p>
          <a:p>
            <a:pPr indent="0" lvl="0" marL="0" rtl="0" algn="l">
              <a:spcBef>
                <a:spcPts val="0"/>
              </a:spcBef>
              <a:spcAft>
                <a:spcPts val="0"/>
              </a:spcAft>
              <a:buNone/>
            </a:pPr>
            <a:r>
              <a:rPr lang="en-GB" sz="2800"/>
              <a:t>Bài 1.</a:t>
            </a:r>
            <a:endParaRPr sz="2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5"/>
          <p:cNvPicPr preferRelativeResize="0"/>
          <p:nvPr/>
        </p:nvPicPr>
        <p:blipFill>
          <a:blip r:embed="rId3">
            <a:alphaModFix/>
          </a:blip>
          <a:stretch>
            <a:fillRect/>
          </a:stretch>
        </p:blipFill>
        <p:spPr>
          <a:xfrm>
            <a:off x="239625" y="1197875"/>
            <a:ext cx="8614051" cy="4853275"/>
          </a:xfrm>
          <a:prstGeom prst="rect">
            <a:avLst/>
          </a:prstGeom>
          <a:noFill/>
          <a:ln>
            <a:noFill/>
          </a:ln>
        </p:spPr>
      </p:pic>
      <p:sp>
        <p:nvSpPr>
          <p:cNvPr id="66" name="Google Shape;66;p15"/>
          <p:cNvSpPr txBox="1"/>
          <p:nvPr/>
        </p:nvSpPr>
        <p:spPr>
          <a:xfrm>
            <a:off x="165375" y="133300"/>
            <a:ext cx="3660600" cy="9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Tạo mô tả Turtle</a:t>
            </a:r>
            <a:endParaRPr sz="2800"/>
          </a:p>
          <a:p>
            <a:pPr indent="0" lvl="0" marL="0" rtl="0" algn="l">
              <a:spcBef>
                <a:spcPts val="0"/>
              </a:spcBef>
              <a:spcAft>
                <a:spcPts val="0"/>
              </a:spcAft>
              <a:buNone/>
            </a:pPr>
            <a:r>
              <a:rPr lang="en-GB" sz="2800"/>
              <a:t>Bài 2.</a:t>
            </a:r>
            <a:endParaRPr sz="2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6"/>
          <p:cNvPicPr preferRelativeResize="0"/>
          <p:nvPr/>
        </p:nvPicPr>
        <p:blipFill>
          <a:blip r:embed="rId3">
            <a:alphaModFix/>
          </a:blip>
          <a:stretch>
            <a:fillRect/>
          </a:stretch>
        </p:blipFill>
        <p:spPr>
          <a:xfrm>
            <a:off x="163425" y="1535500"/>
            <a:ext cx="8740076" cy="4125600"/>
          </a:xfrm>
          <a:prstGeom prst="rect">
            <a:avLst/>
          </a:prstGeom>
          <a:noFill/>
          <a:ln>
            <a:noFill/>
          </a:ln>
        </p:spPr>
      </p:pic>
      <p:sp>
        <p:nvSpPr>
          <p:cNvPr id="72" name="Google Shape;72;p16"/>
          <p:cNvSpPr txBox="1"/>
          <p:nvPr/>
        </p:nvSpPr>
        <p:spPr>
          <a:xfrm>
            <a:off x="165375" y="133300"/>
            <a:ext cx="8798700" cy="9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Mô tả các khái niệm với RDFS sử dụng cú pháp Turtle</a:t>
            </a:r>
            <a:endParaRPr sz="2800"/>
          </a:p>
          <a:p>
            <a:pPr indent="0" lvl="0" marL="0" rtl="0" algn="l">
              <a:spcBef>
                <a:spcPts val="0"/>
              </a:spcBef>
              <a:spcAft>
                <a:spcPts val="0"/>
              </a:spcAft>
              <a:buNone/>
            </a:pPr>
            <a:r>
              <a:rPr lang="en-GB" sz="2800"/>
              <a:t>Bài 3.</a:t>
            </a:r>
            <a:endParaRPr sz="2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8" name="Google Shape;78;p1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600"/>
              <a:t>Chuyển các mô tả sau thành 1 CSTT RDF(S):</a:t>
            </a:r>
            <a:endParaRPr sz="2600"/>
          </a:p>
          <a:p>
            <a:pPr indent="-368300" lvl="0" marL="457200" rtl="0" algn="l">
              <a:spcBef>
                <a:spcPts val="1200"/>
              </a:spcBef>
              <a:spcAft>
                <a:spcPts val="0"/>
              </a:spcAft>
              <a:buSzPts val="2200"/>
              <a:buAutoNum type="arabicPeriod"/>
            </a:pPr>
            <a:r>
              <a:rPr lang="en-GB" sz="2200"/>
              <a:t>Mèo, Vẹt, Chó là thú cưng.</a:t>
            </a:r>
            <a:endParaRPr sz="2200"/>
          </a:p>
          <a:p>
            <a:pPr indent="-368300" lvl="1" marL="914400" rtl="0" algn="l">
              <a:spcBef>
                <a:spcPts val="0"/>
              </a:spcBef>
              <a:spcAft>
                <a:spcPts val="0"/>
              </a:spcAft>
              <a:buSzPts val="2200"/>
              <a:buAutoNum type="alphaLcPeriod"/>
            </a:pPr>
            <a:r>
              <a:rPr lang="en-GB" sz="2200"/>
              <a:t>Sử dụng các tên Cat, Parrot, Dog, Pet.</a:t>
            </a:r>
            <a:endParaRPr sz="2200"/>
          </a:p>
          <a:p>
            <a:pPr indent="-368300" lvl="0" marL="457200" rtl="0" algn="l">
              <a:spcBef>
                <a:spcPts val="0"/>
              </a:spcBef>
              <a:spcAft>
                <a:spcPts val="0"/>
              </a:spcAft>
              <a:buSzPts val="2200"/>
              <a:buAutoNum type="arabicPeriod"/>
            </a:pPr>
            <a:r>
              <a:rPr lang="en-GB" sz="2200"/>
              <a:t>Sở hữu là 1 thuộc tính có miền là người và khoảng là thú cưng</a:t>
            </a:r>
            <a:endParaRPr sz="2200"/>
          </a:p>
          <a:p>
            <a:pPr indent="-368300" lvl="1" marL="914400" rtl="0" algn="l">
              <a:spcBef>
                <a:spcPts val="0"/>
              </a:spcBef>
              <a:spcAft>
                <a:spcPts val="0"/>
              </a:spcAft>
              <a:buSzPts val="2200"/>
              <a:buAutoNum type="alphaLcPeriod"/>
            </a:pPr>
            <a:r>
              <a:rPr lang="en-GB" sz="2200"/>
              <a:t>Sử dụng các tên own, Human</a:t>
            </a:r>
            <a:endParaRPr sz="2200"/>
          </a:p>
          <a:p>
            <a:pPr indent="-368300" lvl="0" marL="457200" rtl="0" algn="l">
              <a:spcBef>
                <a:spcPts val="0"/>
              </a:spcBef>
              <a:spcAft>
                <a:spcPts val="0"/>
              </a:spcAft>
              <a:buSzPts val="2200"/>
              <a:buAutoNum type="arabicPeriod"/>
            </a:pPr>
            <a:r>
              <a:rPr lang="en-GB" sz="2200"/>
              <a:t>Mực là 1 con chó, sinh ra Mun. NVA sở hữu Mực.</a:t>
            </a:r>
            <a:endParaRPr sz="2200"/>
          </a:p>
          <a:p>
            <a:pPr indent="0" lvl="0" marL="457200" rtl="0" algn="l">
              <a:spcBef>
                <a:spcPts val="1200"/>
              </a:spcBef>
              <a:spcAft>
                <a:spcPts val="0"/>
              </a:spcAft>
              <a:buNone/>
            </a:pPr>
            <a:r>
              <a:t/>
            </a:r>
            <a:endParaRPr sz="2200"/>
          </a:p>
          <a:p>
            <a:pPr indent="0" lvl="0" marL="0" rtl="0" algn="l">
              <a:spcBef>
                <a:spcPts val="1200"/>
              </a:spcBef>
              <a:spcAft>
                <a:spcPts val="1200"/>
              </a:spcAft>
              <a:buNone/>
            </a:pPr>
            <a:r>
              <a:rPr lang="en-GB" sz="2200"/>
              <a:t>Thiết lập 1 biểu diễn đơn giản cho đồ thị RDF thu được theo 1-3?</a:t>
            </a:r>
            <a:endParaRPr sz="2200"/>
          </a:p>
        </p:txBody>
      </p:sp>
      <p:sp>
        <p:nvSpPr>
          <p:cNvPr id="79" name="Google Shape;79;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13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nvSpPr>
        <p:spPr>
          <a:xfrm>
            <a:off x="190875" y="261900"/>
            <a:ext cx="8717400" cy="637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2400">
                <a:solidFill>
                  <a:schemeClr val="dk1"/>
                </a:solidFill>
                <a:latin typeface="Times New Roman"/>
                <a:ea typeface="Times New Roman"/>
                <a:cs typeface="Times New Roman"/>
                <a:sym typeface="Times New Roman"/>
              </a:rPr>
              <a:t>Exercise 2.4 Represent the following sentences </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GB" sz="2400">
                <a:solidFill>
                  <a:schemeClr val="dk1"/>
                </a:solidFill>
                <a:latin typeface="Times New Roman"/>
                <a:ea typeface="Times New Roman"/>
                <a:cs typeface="Times New Roman"/>
                <a:sym typeface="Times New Roman"/>
              </a:rPr>
              <a:t>• Romeo thought that Juliet was dead.</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GB" sz="2400">
                <a:solidFill>
                  <a:schemeClr val="dk1"/>
                </a:solidFill>
                <a:latin typeface="Times New Roman"/>
                <a:ea typeface="Times New Roman"/>
                <a:cs typeface="Times New Roman"/>
                <a:sym typeface="Times New Roman"/>
              </a:rPr>
              <a:t>• John believes that Mary wants to marry him.</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GB" sz="2400">
                <a:solidFill>
                  <a:schemeClr val="dk1"/>
                </a:solidFill>
                <a:latin typeface="Times New Roman"/>
                <a:ea typeface="Times New Roman"/>
                <a:cs typeface="Times New Roman"/>
                <a:sym typeface="Times New Roman"/>
              </a:rPr>
              <a:t>• The dwarf noticed that somebody had been eating from his plate.</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AutoNum type="alphaLcParenR"/>
            </a:pPr>
            <a:r>
              <a:rPr lang="en-GB" sz="2400">
                <a:solidFill>
                  <a:schemeClr val="dk1"/>
                </a:solidFill>
                <a:latin typeface="Times New Roman"/>
                <a:ea typeface="Times New Roman"/>
                <a:cs typeface="Times New Roman"/>
                <a:sym typeface="Times New Roman"/>
              </a:rPr>
              <a:t>Graphically by means of reified triples.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AutoNum type="alphaLcParenR"/>
            </a:pPr>
            <a:r>
              <a:rPr lang="en-GB" sz="2400">
                <a:solidFill>
                  <a:schemeClr val="dk1"/>
                </a:solidFill>
                <a:latin typeface="Times New Roman"/>
                <a:ea typeface="Times New Roman"/>
                <a:cs typeface="Times New Roman"/>
                <a:sym typeface="Times New Roman"/>
              </a:rPr>
              <a:t>Write a turtle document.</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2"/>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nvSpPr>
        <p:spPr>
          <a:xfrm>
            <a:off x="360825" y="611800"/>
            <a:ext cx="8457600" cy="588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2400">
                <a:solidFill>
                  <a:schemeClr val="dk1"/>
                </a:solidFill>
                <a:latin typeface="Times New Roman"/>
                <a:ea typeface="Times New Roman"/>
                <a:cs typeface="Times New Roman"/>
                <a:sym typeface="Times New Roman"/>
              </a:rPr>
              <a:t>Exercise 2.5 Decide whether the following propositions can be satisfactorily</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GB" sz="2400">
                <a:solidFill>
                  <a:schemeClr val="dk1"/>
                </a:solidFill>
                <a:latin typeface="Times New Roman"/>
                <a:ea typeface="Times New Roman"/>
                <a:cs typeface="Times New Roman"/>
                <a:sym typeface="Times New Roman"/>
              </a:rPr>
              <a:t>modeled in RDFS and, if so, give the corresponding RDF(S) specification.</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GB" sz="2400">
                <a:solidFill>
                  <a:schemeClr val="dk1"/>
                </a:solidFill>
                <a:latin typeface="Times New Roman"/>
                <a:ea typeface="Times New Roman"/>
                <a:cs typeface="Times New Roman"/>
                <a:sym typeface="Times New Roman"/>
              </a:rPr>
              <a:t>• Every pizza is a meal.</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GB" sz="2400">
                <a:solidFill>
                  <a:schemeClr val="dk1"/>
                </a:solidFill>
                <a:latin typeface="Times New Roman"/>
                <a:ea typeface="Times New Roman"/>
                <a:cs typeface="Times New Roman"/>
                <a:sym typeface="Times New Roman"/>
              </a:rPr>
              <a:t>• Pizzas always have at least two toppings.</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GB" sz="2400">
                <a:solidFill>
                  <a:schemeClr val="dk1"/>
                </a:solidFill>
                <a:latin typeface="Times New Roman"/>
                <a:ea typeface="Times New Roman"/>
                <a:cs typeface="Times New Roman"/>
                <a:sym typeface="Times New Roman"/>
              </a:rPr>
              <a:t>• Every pizza from the class PizzaMargarita has a Tomato topping.</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GB" sz="2400">
                <a:solidFill>
                  <a:schemeClr val="dk1"/>
                </a:solidFill>
                <a:latin typeface="Times New Roman"/>
                <a:ea typeface="Times New Roman"/>
                <a:cs typeface="Times New Roman"/>
                <a:sym typeface="Times New Roman"/>
              </a:rPr>
              <a:t>• Everything having a topping is a pizza.</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GB" sz="2400">
                <a:solidFill>
                  <a:schemeClr val="dk1"/>
                </a:solidFill>
                <a:latin typeface="Times New Roman"/>
                <a:ea typeface="Times New Roman"/>
                <a:cs typeface="Times New Roman"/>
                <a:sym typeface="Times New Roman"/>
              </a:rPr>
              <a:t>• No pizza from the class PizzaMargarita has a topping from the class</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GB" sz="2400">
                <a:solidFill>
                  <a:schemeClr val="dk1"/>
                </a:solidFill>
                <a:latin typeface="Times New Roman"/>
                <a:ea typeface="Times New Roman"/>
                <a:cs typeface="Times New Roman"/>
                <a:sym typeface="Times New Roman"/>
              </a:rPr>
              <a:t>Meat.</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GB" sz="2400">
                <a:solidFill>
                  <a:schemeClr val="dk1"/>
                </a:solidFill>
                <a:latin typeface="Times New Roman"/>
                <a:ea typeface="Times New Roman"/>
                <a:cs typeface="Times New Roman"/>
                <a:sym typeface="Times New Roman"/>
              </a:rPr>
              <a:t>• “Having a topping” is a containedness relation.</a:t>
            </a:r>
            <a:endParaRPr sz="2400">
              <a:solidFill>
                <a:schemeClr val="dk2"/>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0"/>
          <p:cNvSpPr txBox="1"/>
          <p:nvPr>
            <p:ph idx="4294967295" type="title"/>
          </p:nvPr>
        </p:nvSpPr>
        <p:spPr>
          <a:xfrm>
            <a:off x="311700" y="136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4.</a:t>
            </a:r>
            <a:endParaRPr/>
          </a:p>
        </p:txBody>
      </p:sp>
      <p:sp>
        <p:nvSpPr>
          <p:cNvPr id="95" name="Google Shape;95;p20"/>
          <p:cNvSpPr txBox="1"/>
          <p:nvPr>
            <p:ph idx="4294967295" type="body"/>
          </p:nvPr>
        </p:nvSpPr>
        <p:spPr>
          <a:xfrm>
            <a:off x="311700" y="804875"/>
            <a:ext cx="8520600" cy="569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000"/>
              <a:t>1. Tạo Ontology trong phạm vi ngữ nghĩa owl, sử dụng cú</a:t>
            </a:r>
            <a:endParaRPr sz="2000"/>
          </a:p>
          <a:p>
            <a:pPr indent="0" lvl="0" marL="0" rtl="0" algn="l">
              <a:spcBef>
                <a:spcPts val="0"/>
              </a:spcBef>
              <a:spcAft>
                <a:spcPts val="0"/>
              </a:spcAft>
              <a:buClr>
                <a:schemeClr val="dk1"/>
              </a:buClr>
              <a:buSzPts val="1100"/>
              <a:buFont typeface="Arial"/>
              <a:buNone/>
            </a:pPr>
            <a:r>
              <a:rPr lang="en-GB" sz="2000"/>
              <a:t>pháp Turtle dựa trên các mô tả:</a:t>
            </a:r>
            <a:endParaRPr sz="2000"/>
          </a:p>
          <a:p>
            <a:pPr indent="0" lvl="0" marL="0" rtl="0" algn="l">
              <a:spcBef>
                <a:spcPts val="0"/>
              </a:spcBef>
              <a:spcAft>
                <a:spcPts val="0"/>
              </a:spcAft>
              <a:buClr>
                <a:schemeClr val="dk1"/>
              </a:buClr>
              <a:buSzPts val="1100"/>
              <a:buFont typeface="Arial"/>
              <a:buNone/>
            </a:pPr>
            <a:r>
              <a:t/>
            </a:r>
            <a:endParaRPr sz="2000"/>
          </a:p>
          <a:p>
            <a:pPr indent="0" lvl="0" marL="0" rtl="0" algn="l">
              <a:spcBef>
                <a:spcPts val="0"/>
              </a:spcBef>
              <a:spcAft>
                <a:spcPts val="0"/>
              </a:spcAft>
              <a:buClr>
                <a:schemeClr val="dk1"/>
              </a:buClr>
              <a:buSzPts val="1100"/>
              <a:buFont typeface="Arial"/>
              <a:buNone/>
            </a:pPr>
            <a:r>
              <a:rPr lang="en-GB" sz="2000"/>
              <a:t>a. Bus Drivers are Drivers who drive buses.</a:t>
            </a:r>
            <a:endParaRPr sz="2000"/>
          </a:p>
          <a:p>
            <a:pPr indent="0" lvl="0" marL="0" rtl="0" algn="l">
              <a:spcBef>
                <a:spcPts val="0"/>
              </a:spcBef>
              <a:spcAft>
                <a:spcPts val="0"/>
              </a:spcAft>
              <a:buClr>
                <a:schemeClr val="dk1"/>
              </a:buClr>
              <a:buSzPts val="1100"/>
              <a:buFont typeface="Arial"/>
              <a:buNone/>
            </a:pPr>
            <a:r>
              <a:rPr lang="en-GB" sz="2000"/>
              <a:t>b. Drivers are people who drive at least one vehicle.</a:t>
            </a:r>
            <a:endParaRPr sz="2000"/>
          </a:p>
          <a:p>
            <a:pPr indent="0" lvl="0" marL="0" rtl="0" algn="l">
              <a:spcBef>
                <a:spcPts val="0"/>
              </a:spcBef>
              <a:spcAft>
                <a:spcPts val="0"/>
              </a:spcAft>
              <a:buClr>
                <a:schemeClr val="dk1"/>
              </a:buClr>
              <a:buSzPts val="1100"/>
              <a:buFont typeface="Arial"/>
              <a:buNone/>
            </a:pPr>
            <a:r>
              <a:rPr lang="en-GB" sz="2000"/>
              <a:t>c. Bus is a subclass of vehicle</a:t>
            </a:r>
            <a:endParaRPr sz="2000"/>
          </a:p>
          <a:p>
            <a:pPr indent="0" lvl="0" marL="0" rtl="0" algn="l">
              <a:spcBef>
                <a:spcPts val="0"/>
              </a:spcBef>
              <a:spcAft>
                <a:spcPts val="0"/>
              </a:spcAft>
              <a:buClr>
                <a:schemeClr val="dk1"/>
              </a:buClr>
              <a:buSzPts val="1100"/>
              <a:buFont typeface="Arial"/>
              <a:buNone/>
            </a:pPr>
            <a:r>
              <a:t/>
            </a:r>
            <a:endParaRPr sz="2000"/>
          </a:p>
          <a:p>
            <a:pPr indent="0" lvl="0" marL="0" rtl="0" algn="l">
              <a:spcBef>
                <a:spcPts val="0"/>
              </a:spcBef>
              <a:spcAft>
                <a:spcPts val="0"/>
              </a:spcAft>
              <a:buClr>
                <a:schemeClr val="dk1"/>
              </a:buClr>
              <a:buSzPts val="1100"/>
              <a:buFont typeface="Arial"/>
              <a:buNone/>
            </a:pPr>
            <a:r>
              <a:rPr lang="en-GB" sz="2000"/>
              <a:t>Sử dụng các từ sau</a:t>
            </a:r>
            <a:endParaRPr sz="2000"/>
          </a:p>
          <a:p>
            <a:pPr indent="0" lvl="0" marL="0" rtl="0" algn="l">
              <a:spcBef>
                <a:spcPts val="0"/>
              </a:spcBef>
              <a:spcAft>
                <a:spcPts val="0"/>
              </a:spcAft>
              <a:buClr>
                <a:schemeClr val="dk1"/>
              </a:buClr>
              <a:buSzPts val="1100"/>
              <a:buFont typeface="Arial"/>
              <a:buNone/>
            </a:pPr>
            <a:r>
              <a:rPr lang="en-GB" sz="2000"/>
              <a:t>cho các lớp:</a:t>
            </a:r>
            <a:endParaRPr sz="2000"/>
          </a:p>
          <a:p>
            <a:pPr indent="0" lvl="0" marL="0" rtl="0" algn="l">
              <a:spcBef>
                <a:spcPts val="0"/>
              </a:spcBef>
              <a:spcAft>
                <a:spcPts val="0"/>
              </a:spcAft>
              <a:buClr>
                <a:schemeClr val="dk1"/>
              </a:buClr>
              <a:buSzPts val="1100"/>
              <a:buFont typeface="Arial"/>
              <a:buNone/>
            </a:pPr>
            <a:r>
              <a:rPr lang="en-GB" sz="2000"/>
              <a:t>BusDriver, Driver, Bus, Vehicle</a:t>
            </a:r>
            <a:endParaRPr sz="2000"/>
          </a:p>
          <a:p>
            <a:pPr indent="0" lvl="0" marL="0" rtl="0" algn="l">
              <a:spcBef>
                <a:spcPts val="0"/>
              </a:spcBef>
              <a:spcAft>
                <a:spcPts val="0"/>
              </a:spcAft>
              <a:buClr>
                <a:schemeClr val="dk1"/>
              </a:buClr>
              <a:buSzPts val="1100"/>
              <a:buFont typeface="Arial"/>
              <a:buNone/>
            </a:pPr>
            <a:r>
              <a:t/>
            </a:r>
            <a:endParaRPr sz="2000"/>
          </a:p>
          <a:p>
            <a:pPr indent="0" lvl="0" marL="0" rtl="0" algn="l">
              <a:spcBef>
                <a:spcPts val="0"/>
              </a:spcBef>
              <a:spcAft>
                <a:spcPts val="0"/>
              </a:spcAft>
              <a:buClr>
                <a:schemeClr val="dk1"/>
              </a:buClr>
              <a:buSzPts val="1100"/>
              <a:buFont typeface="Arial"/>
              <a:buNone/>
            </a:pPr>
            <a:r>
              <a:t/>
            </a:r>
            <a:endParaRPr sz="2000"/>
          </a:p>
          <a:p>
            <a:pPr indent="0" lvl="0" marL="0" rtl="0" algn="l">
              <a:spcBef>
                <a:spcPts val="0"/>
              </a:spcBef>
              <a:spcAft>
                <a:spcPts val="0"/>
              </a:spcAft>
              <a:buClr>
                <a:schemeClr val="dk1"/>
              </a:buClr>
              <a:buSzPts val="1100"/>
              <a:buFont typeface="Arial"/>
              <a:buNone/>
            </a:pPr>
            <a:r>
              <a:rPr lang="en-GB" sz="2000"/>
              <a:t>2. Hãy tìm 3 bộ 3 có thể suy diễn được từ các dữ kiện</a:t>
            </a:r>
            <a:endParaRPr sz="2000"/>
          </a:p>
          <a:p>
            <a:pPr indent="0" lvl="0" marL="0" rtl="0" algn="l">
              <a:spcBef>
                <a:spcPts val="0"/>
              </a:spcBef>
              <a:spcAft>
                <a:spcPts val="0"/>
              </a:spcAft>
              <a:buClr>
                <a:schemeClr val="dk1"/>
              </a:buClr>
              <a:buSzPts val="1100"/>
              <a:buFont typeface="Arial"/>
              <a:buNone/>
            </a:pPr>
            <a:r>
              <a:rPr lang="en-GB" sz="2000"/>
              <a:t>  B001 rdf:type Bus.</a:t>
            </a:r>
            <a:endParaRPr sz="2000"/>
          </a:p>
          <a:p>
            <a:pPr indent="0" lvl="0" marL="0" rtl="0" algn="l">
              <a:spcBef>
                <a:spcPts val="0"/>
              </a:spcBef>
              <a:spcAft>
                <a:spcPts val="0"/>
              </a:spcAft>
              <a:buClr>
                <a:schemeClr val="dk1"/>
              </a:buClr>
              <a:buSzPts val="1100"/>
              <a:buFont typeface="Arial"/>
              <a:buNone/>
            </a:pPr>
            <a:r>
              <a:rPr lang="en-GB" sz="2000"/>
              <a:t>  NVA drive B001.</a:t>
            </a:r>
            <a:endParaRPr sz="2000"/>
          </a:p>
          <a:p>
            <a:pPr indent="0" lvl="0" marL="0" rtl="0" algn="l">
              <a:spcBef>
                <a:spcPts val="0"/>
              </a:spcBef>
              <a:spcAft>
                <a:spcPts val="0"/>
              </a:spcAft>
              <a:buNone/>
            </a:pPr>
            <a:r>
              <a:rPr lang="en-GB" sz="2000"/>
              <a:t>dựa trên Ontology đã tạo trong 1?</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12</a:t>
            </a:r>
            <a:endParaRPr/>
          </a:p>
        </p:txBody>
      </p:sp>
      <p:sp>
        <p:nvSpPr>
          <p:cNvPr id="101" name="Google Shape;101;p21"/>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các nội dung sau bằng các bộ ba theo cú pháp Turtle và vẽ đồ thị RDF</a:t>
            </a:r>
            <a:endParaRPr/>
          </a:p>
          <a:p>
            <a:pPr indent="-342900" lvl="0" marL="457200" rtl="0" algn="l">
              <a:spcBef>
                <a:spcPts val="1200"/>
              </a:spcBef>
              <a:spcAft>
                <a:spcPts val="0"/>
              </a:spcAft>
              <a:buSzPts val="1800"/>
              <a:buAutoNum type="alphaLcParenR"/>
            </a:pPr>
            <a:r>
              <a:rPr lang="en-GB"/>
              <a:t>Câu hỏi q1325 có 1 đáp án đúng là 1 trong các lựa chọn A, B, C, D. - sử dụng List.</a:t>
            </a:r>
            <a:endParaRPr/>
          </a:p>
          <a:p>
            <a:pPr indent="-342900" lvl="0" marL="457200" rtl="0" algn="l">
              <a:spcBef>
                <a:spcPts val="0"/>
              </a:spcBef>
              <a:spcAft>
                <a:spcPts val="0"/>
              </a:spcAft>
              <a:buSzPts val="1800"/>
              <a:buAutoNum type="alphaLcParenR"/>
            </a:pPr>
            <a:r>
              <a:rPr lang="en-GB"/>
              <a:t>Thông tin về sự kiện X đã được đăng tải ở các trang baomoi.com, thanhnien.com, tintuc.com. - Sử dụng Bag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22"/>
          <p:cNvPicPr preferRelativeResize="0"/>
          <p:nvPr/>
        </p:nvPicPr>
        <p:blipFill>
          <a:blip r:embed="rId3">
            <a:alphaModFix/>
          </a:blip>
          <a:stretch>
            <a:fillRect/>
          </a:stretch>
        </p:blipFill>
        <p:spPr>
          <a:xfrm>
            <a:off x="152400" y="924200"/>
            <a:ext cx="8839201" cy="2417332"/>
          </a:xfrm>
          <a:prstGeom prst="rect">
            <a:avLst/>
          </a:prstGeom>
          <a:noFill/>
          <a:ln>
            <a:noFill/>
          </a:ln>
        </p:spPr>
      </p:pic>
      <p:sp>
        <p:nvSpPr>
          <p:cNvPr id="107" name="Google Shape;107;p22"/>
          <p:cNvSpPr txBox="1"/>
          <p:nvPr/>
        </p:nvSpPr>
        <p:spPr>
          <a:xfrm>
            <a:off x="165375" y="57100"/>
            <a:ext cx="7685100" cy="9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Viết các truy vấn SPARQL dựa trên đồ thị RDF </a:t>
            </a:r>
            <a:endParaRPr sz="2800"/>
          </a:p>
          <a:p>
            <a:pPr indent="0" lvl="0" marL="0" rtl="0" algn="l">
              <a:spcBef>
                <a:spcPts val="0"/>
              </a:spcBef>
              <a:spcAft>
                <a:spcPts val="0"/>
              </a:spcAft>
              <a:buNone/>
            </a:pPr>
            <a:r>
              <a:rPr lang="en-GB" sz="2800"/>
              <a:t>Bài 5.</a:t>
            </a:r>
            <a:endParaRPr sz="2800"/>
          </a:p>
        </p:txBody>
      </p:sp>
      <p:sp>
        <p:nvSpPr>
          <p:cNvPr id="108" name="Google Shape;108;p22"/>
          <p:cNvSpPr txBox="1"/>
          <p:nvPr/>
        </p:nvSpPr>
        <p:spPr>
          <a:xfrm>
            <a:off x="374875" y="3759775"/>
            <a:ext cx="8379600" cy="283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400"/>
              <a:t>1. Whom does Stefan know?</a:t>
            </a:r>
            <a:endParaRPr sz="2400"/>
          </a:p>
          <a:p>
            <a:pPr indent="0" lvl="0" marL="0" rtl="0" algn="l">
              <a:spcBef>
                <a:spcPts val="0"/>
              </a:spcBef>
              <a:spcAft>
                <a:spcPts val="0"/>
              </a:spcAft>
              <a:buClr>
                <a:schemeClr val="dk1"/>
              </a:buClr>
              <a:buSzPts val="1100"/>
              <a:buFont typeface="Arial"/>
              <a:buNone/>
            </a:pPr>
            <a:r>
              <a:rPr lang="en-GB" sz="2400"/>
              <a:t>2. Who is a child of Julia?</a:t>
            </a:r>
            <a:endParaRPr sz="2400"/>
          </a:p>
          <a:p>
            <a:pPr indent="0" lvl="0" marL="0" rtl="0" algn="l">
              <a:spcBef>
                <a:spcPts val="0"/>
              </a:spcBef>
              <a:spcAft>
                <a:spcPts val="0"/>
              </a:spcAft>
              <a:buClr>
                <a:schemeClr val="dk1"/>
              </a:buClr>
              <a:buSzPts val="1100"/>
              <a:buFont typeface="Arial"/>
              <a:buNone/>
            </a:pPr>
            <a:r>
              <a:rPr lang="en-GB" sz="2400"/>
              <a:t>3. Does Claudia have siblings?</a:t>
            </a:r>
            <a:endParaRPr sz="2400"/>
          </a:p>
          <a:p>
            <a:pPr indent="0" lvl="0" marL="0" rtl="0" algn="l">
              <a:spcBef>
                <a:spcPts val="0"/>
              </a:spcBef>
              <a:spcAft>
                <a:spcPts val="0"/>
              </a:spcAft>
              <a:buClr>
                <a:schemeClr val="dk1"/>
              </a:buClr>
              <a:buSzPts val="1100"/>
              <a:buFont typeface="Arial"/>
              <a:buNone/>
            </a:pPr>
            <a:r>
              <a:rPr lang="en-GB" sz="2400"/>
              <a:t>4. Is Julia married?</a:t>
            </a:r>
            <a:endParaRPr sz="2400"/>
          </a:p>
          <a:p>
            <a:pPr indent="0" lvl="0" marL="0" rtl="0" algn="l">
              <a:spcBef>
                <a:spcPts val="0"/>
              </a:spcBef>
              <a:spcAft>
                <a:spcPts val="0"/>
              </a:spcAft>
              <a:buNone/>
            </a:pPr>
            <a:r>
              <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3"/>
          <p:cNvPicPr preferRelativeResize="0"/>
          <p:nvPr/>
        </p:nvPicPr>
        <p:blipFill>
          <a:blip r:embed="rId3">
            <a:alphaModFix/>
          </a:blip>
          <a:stretch>
            <a:fillRect/>
          </a:stretch>
        </p:blipFill>
        <p:spPr>
          <a:xfrm>
            <a:off x="1654850" y="238400"/>
            <a:ext cx="7260548" cy="1622880"/>
          </a:xfrm>
          <a:prstGeom prst="rect">
            <a:avLst/>
          </a:prstGeom>
          <a:noFill/>
          <a:ln>
            <a:noFill/>
          </a:ln>
        </p:spPr>
      </p:pic>
      <p:sp>
        <p:nvSpPr>
          <p:cNvPr id="114" name="Google Shape;114;p23"/>
          <p:cNvSpPr txBox="1"/>
          <p:nvPr/>
        </p:nvSpPr>
        <p:spPr>
          <a:xfrm>
            <a:off x="165375" y="57100"/>
            <a:ext cx="7685100" cy="9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Suy diễn</a:t>
            </a:r>
            <a:endParaRPr sz="2800"/>
          </a:p>
          <a:p>
            <a:pPr indent="0" lvl="0" marL="0" rtl="0" algn="l">
              <a:spcBef>
                <a:spcPts val="0"/>
              </a:spcBef>
              <a:spcAft>
                <a:spcPts val="0"/>
              </a:spcAft>
              <a:buNone/>
            </a:pPr>
            <a:r>
              <a:rPr lang="en-GB" sz="2800"/>
              <a:t>Bài 6.</a:t>
            </a:r>
            <a:endParaRPr sz="2800"/>
          </a:p>
        </p:txBody>
      </p:sp>
      <p:sp>
        <p:nvSpPr>
          <p:cNvPr id="115" name="Google Shape;115;p23"/>
          <p:cNvSpPr txBox="1"/>
          <p:nvPr/>
        </p:nvSpPr>
        <p:spPr>
          <a:xfrm>
            <a:off x="1761400" y="1989679"/>
            <a:ext cx="6883200" cy="16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t>1. Whom does Stefan know?</a:t>
            </a:r>
            <a:endParaRPr sz="2200"/>
          </a:p>
          <a:p>
            <a:pPr indent="0" lvl="0" marL="0" rtl="0" algn="l">
              <a:spcBef>
                <a:spcPts val="0"/>
              </a:spcBef>
              <a:spcAft>
                <a:spcPts val="0"/>
              </a:spcAft>
              <a:buNone/>
            </a:pPr>
            <a:r>
              <a:rPr lang="en-GB" sz="2200"/>
              <a:t>2. Who is a child of Julia?</a:t>
            </a:r>
            <a:endParaRPr sz="2200"/>
          </a:p>
          <a:p>
            <a:pPr indent="0" lvl="0" marL="0" rtl="0" algn="l">
              <a:spcBef>
                <a:spcPts val="0"/>
              </a:spcBef>
              <a:spcAft>
                <a:spcPts val="0"/>
              </a:spcAft>
              <a:buNone/>
            </a:pPr>
            <a:r>
              <a:rPr lang="en-GB" sz="2200"/>
              <a:t>3. Does Claudia have siblings?</a:t>
            </a:r>
            <a:endParaRPr sz="2200"/>
          </a:p>
          <a:p>
            <a:pPr indent="0" lvl="0" marL="0" rtl="0" algn="l">
              <a:spcBef>
                <a:spcPts val="0"/>
              </a:spcBef>
              <a:spcAft>
                <a:spcPts val="0"/>
              </a:spcAft>
              <a:buNone/>
            </a:pPr>
            <a:r>
              <a:rPr lang="en-GB" sz="2200"/>
              <a:t>4. Is Julia married?</a:t>
            </a:r>
            <a:endParaRPr sz="2200"/>
          </a:p>
        </p:txBody>
      </p:sp>
      <p:sp>
        <p:nvSpPr>
          <p:cNvPr id="116" name="Google Shape;116;p23"/>
          <p:cNvSpPr txBox="1"/>
          <p:nvPr/>
        </p:nvSpPr>
        <p:spPr>
          <a:xfrm>
            <a:off x="88200" y="3443950"/>
            <a:ext cx="8839200" cy="31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rPr>
              <a:t>Bổ xung tri thức từ vựng như sau có làm thay đổi kết quả truy vấn trong bài 5 hay không?</a:t>
            </a:r>
            <a:endParaRPr sz="2200">
              <a:solidFill>
                <a:schemeClr val="dk1"/>
              </a:solidFill>
            </a:endParaRPr>
          </a:p>
          <a:p>
            <a:pPr indent="0" lvl="0" marL="269999" rtl="0" algn="l">
              <a:spcBef>
                <a:spcPts val="0"/>
              </a:spcBef>
              <a:spcAft>
                <a:spcPts val="0"/>
              </a:spcAft>
              <a:buNone/>
            </a:pPr>
            <a:r>
              <a:rPr lang="en-GB" sz="2200">
                <a:solidFill>
                  <a:schemeClr val="dk1"/>
                </a:solidFill>
              </a:rPr>
              <a:t>:marriedTo rdfs:subPropertyOf :relative .</a:t>
            </a:r>
            <a:endParaRPr sz="2200">
              <a:solidFill>
                <a:schemeClr val="dk1"/>
              </a:solidFill>
            </a:endParaRPr>
          </a:p>
          <a:p>
            <a:pPr indent="0" lvl="0" marL="269999" rtl="0" algn="l">
              <a:spcBef>
                <a:spcPts val="0"/>
              </a:spcBef>
              <a:spcAft>
                <a:spcPts val="0"/>
              </a:spcAft>
              <a:buNone/>
            </a:pPr>
            <a:r>
              <a:rPr lang="en-GB" sz="2200">
                <a:solidFill>
                  <a:schemeClr val="dk1"/>
                </a:solidFill>
              </a:rPr>
              <a:t>:fatherOf rdfs:subPropertyOf :parentOf .</a:t>
            </a:r>
            <a:endParaRPr sz="2200">
              <a:solidFill>
                <a:schemeClr val="dk1"/>
              </a:solidFill>
            </a:endParaRPr>
          </a:p>
          <a:p>
            <a:pPr indent="0" lvl="0" marL="269999" rtl="0" algn="l">
              <a:spcBef>
                <a:spcPts val="0"/>
              </a:spcBef>
              <a:spcAft>
                <a:spcPts val="0"/>
              </a:spcAft>
              <a:buNone/>
            </a:pPr>
            <a:r>
              <a:rPr lang="en-GB" sz="2200">
                <a:solidFill>
                  <a:schemeClr val="dk1"/>
                </a:solidFill>
              </a:rPr>
              <a:t>:motherOf rdfs:subPropertyOf :parentOf .</a:t>
            </a:r>
            <a:endParaRPr sz="2200">
              <a:solidFill>
                <a:schemeClr val="dk1"/>
              </a:solidFill>
            </a:endParaRPr>
          </a:p>
          <a:p>
            <a:pPr indent="0" lvl="0" marL="269999" rtl="0" algn="l">
              <a:spcBef>
                <a:spcPts val="0"/>
              </a:spcBef>
              <a:spcAft>
                <a:spcPts val="0"/>
              </a:spcAft>
              <a:buNone/>
            </a:pPr>
            <a:r>
              <a:rPr lang="en-GB" sz="2200">
                <a:solidFill>
                  <a:schemeClr val="dk1"/>
                </a:solidFill>
              </a:rPr>
              <a:t>:parentOf rdfs:subPropertyOf :relative .</a:t>
            </a:r>
            <a:endParaRPr sz="2200">
              <a:solidFill>
                <a:schemeClr val="dk1"/>
              </a:solidFill>
            </a:endParaRPr>
          </a:p>
          <a:p>
            <a:pPr indent="0" lvl="0" marL="269999" rtl="0" algn="l">
              <a:spcBef>
                <a:spcPts val="0"/>
              </a:spcBef>
              <a:spcAft>
                <a:spcPts val="0"/>
              </a:spcAft>
              <a:buNone/>
            </a:pPr>
            <a:r>
              <a:rPr lang="en-GB" sz="2200">
                <a:solidFill>
                  <a:schemeClr val="dk1"/>
                </a:solidFill>
              </a:rPr>
              <a:t>:sisterOf rdfs:subPropertyOf :siblingOf .</a:t>
            </a:r>
            <a:endParaRPr sz="2200">
              <a:solidFill>
                <a:schemeClr val="dk1"/>
              </a:solidFill>
            </a:endParaRPr>
          </a:p>
          <a:p>
            <a:pPr indent="0" lvl="0" marL="269999" rtl="0" algn="l">
              <a:spcBef>
                <a:spcPts val="0"/>
              </a:spcBef>
              <a:spcAft>
                <a:spcPts val="0"/>
              </a:spcAft>
              <a:buNone/>
            </a:pPr>
            <a:r>
              <a:rPr lang="en-GB" sz="2200">
                <a:solidFill>
                  <a:schemeClr val="dk1"/>
                </a:solidFill>
              </a:rPr>
              <a:t>:siblingOf rdfs:subPropertyOf :relative .</a:t>
            </a:r>
            <a:endParaRPr sz="2200">
              <a:solidFill>
                <a:schemeClr val="dk1"/>
              </a:solidFill>
            </a:endParaRPr>
          </a:p>
          <a:p>
            <a:pPr indent="0" lvl="0" marL="269999" rtl="0" algn="l">
              <a:spcBef>
                <a:spcPts val="0"/>
              </a:spcBef>
              <a:spcAft>
                <a:spcPts val="0"/>
              </a:spcAft>
              <a:buNone/>
            </a:pPr>
            <a:r>
              <a:rPr lang="en-GB" sz="2200">
                <a:solidFill>
                  <a:schemeClr val="dk1"/>
                </a:solidFill>
              </a:rPr>
              <a:t>:relative rdfs:subPropertyOf :knows .</a:t>
            </a:r>
            <a:endParaRPr sz="22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nvSpPr>
        <p:spPr>
          <a:xfrm>
            <a:off x="165375" y="361900"/>
            <a:ext cx="8280300" cy="51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Bài 7. </a:t>
            </a:r>
            <a:r>
              <a:rPr lang="en-GB" sz="2800"/>
              <a:t>Chuyển sang biểu thức đại số SPARQL</a:t>
            </a:r>
            <a:endParaRPr sz="2800"/>
          </a:p>
        </p:txBody>
      </p:sp>
      <p:sp>
        <p:nvSpPr>
          <p:cNvPr id="122" name="Google Shape;122;p24"/>
          <p:cNvSpPr txBox="1"/>
          <p:nvPr/>
        </p:nvSpPr>
        <p:spPr>
          <a:xfrm>
            <a:off x="4216000" y="1305200"/>
            <a:ext cx="4763100" cy="220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rgbClr val="434343"/>
                </a:solidFill>
              </a:rPr>
              <a:t>@prefix dc:   &lt;http://purl.org/dc/elements/1.1/&gt; .</a:t>
            </a:r>
            <a:endParaRPr sz="1600">
              <a:solidFill>
                <a:srgbClr val="434343"/>
              </a:solidFill>
            </a:endParaRPr>
          </a:p>
          <a:p>
            <a:pPr indent="0" lvl="0" marL="0" rtl="0" algn="l">
              <a:spcBef>
                <a:spcPts val="0"/>
              </a:spcBef>
              <a:spcAft>
                <a:spcPts val="0"/>
              </a:spcAft>
              <a:buNone/>
            </a:pPr>
            <a:r>
              <a:rPr lang="en-GB" sz="1600">
                <a:solidFill>
                  <a:srgbClr val="434343"/>
                </a:solidFill>
              </a:rPr>
              <a:t>@prefix :     &lt;http://example.org/book/&gt; .</a:t>
            </a:r>
            <a:endParaRPr sz="1600">
              <a:solidFill>
                <a:srgbClr val="434343"/>
              </a:solidFill>
            </a:endParaRPr>
          </a:p>
          <a:p>
            <a:pPr indent="0" lvl="0" marL="0" rtl="0" algn="l">
              <a:spcBef>
                <a:spcPts val="0"/>
              </a:spcBef>
              <a:spcAft>
                <a:spcPts val="0"/>
              </a:spcAft>
              <a:buNone/>
            </a:pPr>
            <a:r>
              <a:rPr lang="en-GB" sz="1600">
                <a:solidFill>
                  <a:srgbClr val="434343"/>
                </a:solidFill>
              </a:rPr>
              <a:t>@prefix ns:   &lt;http://example.org/ns#&gt; .</a:t>
            </a:r>
            <a:endParaRPr sz="1600">
              <a:solidFill>
                <a:srgbClr val="434343"/>
              </a:solidFill>
            </a:endParaRPr>
          </a:p>
          <a:p>
            <a:pPr indent="0" lvl="0" marL="0" rtl="0" algn="l">
              <a:spcBef>
                <a:spcPts val="0"/>
              </a:spcBef>
              <a:spcAft>
                <a:spcPts val="0"/>
              </a:spcAft>
              <a:buNone/>
            </a:pPr>
            <a:r>
              <a:t/>
            </a:r>
            <a:endParaRPr sz="1600">
              <a:solidFill>
                <a:srgbClr val="434343"/>
              </a:solidFill>
            </a:endParaRPr>
          </a:p>
          <a:p>
            <a:pPr indent="0" lvl="0" marL="0" rtl="0" algn="l">
              <a:spcBef>
                <a:spcPts val="0"/>
              </a:spcBef>
              <a:spcAft>
                <a:spcPts val="0"/>
              </a:spcAft>
              <a:buNone/>
            </a:pPr>
            <a:r>
              <a:rPr lang="en-GB" sz="1600">
                <a:solidFill>
                  <a:srgbClr val="434343"/>
                </a:solidFill>
              </a:rPr>
              <a:t>:book1  dc:title  "SPARQL Tutorial" .</a:t>
            </a:r>
            <a:endParaRPr sz="1600">
              <a:solidFill>
                <a:srgbClr val="434343"/>
              </a:solidFill>
            </a:endParaRPr>
          </a:p>
          <a:p>
            <a:pPr indent="0" lvl="0" marL="0" rtl="0" algn="l">
              <a:spcBef>
                <a:spcPts val="0"/>
              </a:spcBef>
              <a:spcAft>
                <a:spcPts val="0"/>
              </a:spcAft>
              <a:buNone/>
            </a:pPr>
            <a:r>
              <a:rPr lang="en-GB" sz="1600">
                <a:solidFill>
                  <a:srgbClr val="434343"/>
                </a:solidFill>
              </a:rPr>
              <a:t>:book1  ns:price  42 .</a:t>
            </a:r>
            <a:endParaRPr sz="1600">
              <a:solidFill>
                <a:srgbClr val="434343"/>
              </a:solidFill>
            </a:endParaRPr>
          </a:p>
          <a:p>
            <a:pPr indent="0" lvl="0" marL="0" rtl="0" algn="l">
              <a:spcBef>
                <a:spcPts val="0"/>
              </a:spcBef>
              <a:spcAft>
                <a:spcPts val="0"/>
              </a:spcAft>
              <a:buNone/>
            </a:pPr>
            <a:r>
              <a:rPr lang="en-GB" sz="1600">
                <a:solidFill>
                  <a:srgbClr val="434343"/>
                </a:solidFill>
              </a:rPr>
              <a:t>:book2  dc:title  "The Semantic Web" .</a:t>
            </a:r>
            <a:endParaRPr sz="1600">
              <a:solidFill>
                <a:srgbClr val="434343"/>
              </a:solidFill>
            </a:endParaRPr>
          </a:p>
          <a:p>
            <a:pPr indent="0" lvl="0" marL="0" marR="635000" rtl="0" algn="l">
              <a:lnSpc>
                <a:spcPct val="115000"/>
              </a:lnSpc>
              <a:spcBef>
                <a:spcPts val="0"/>
              </a:spcBef>
              <a:spcAft>
                <a:spcPts val="0"/>
              </a:spcAft>
              <a:buNone/>
            </a:pPr>
            <a:r>
              <a:rPr lang="en-GB" sz="1600">
                <a:solidFill>
                  <a:srgbClr val="434343"/>
                </a:solidFill>
              </a:rPr>
              <a:t>:book2  ns:price  23 .</a:t>
            </a:r>
            <a:endParaRPr sz="1600">
              <a:solidFill>
                <a:srgbClr val="434343"/>
              </a:solidFill>
            </a:endParaRPr>
          </a:p>
        </p:txBody>
      </p:sp>
      <p:sp>
        <p:nvSpPr>
          <p:cNvPr id="123" name="Google Shape;123;p24"/>
          <p:cNvSpPr txBox="1"/>
          <p:nvPr/>
        </p:nvSpPr>
        <p:spPr>
          <a:xfrm>
            <a:off x="4280175" y="3708900"/>
            <a:ext cx="4486500" cy="176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GB" sz="1600">
                <a:solidFill>
                  <a:srgbClr val="434343"/>
                </a:solidFill>
              </a:rPr>
              <a:t>PREFIX  dc:  &lt;http://purl.org/dc/elements/1.1/&gt;</a:t>
            </a:r>
            <a:endParaRPr sz="1600">
              <a:solidFill>
                <a:srgbClr val="434343"/>
              </a:solidFill>
            </a:endParaRPr>
          </a:p>
          <a:p>
            <a:pPr indent="0" lvl="0" marL="0" marR="0" rtl="0" algn="l">
              <a:lnSpc>
                <a:spcPct val="100000"/>
              </a:lnSpc>
              <a:spcBef>
                <a:spcPts val="0"/>
              </a:spcBef>
              <a:spcAft>
                <a:spcPts val="0"/>
              </a:spcAft>
              <a:buNone/>
            </a:pPr>
            <a:r>
              <a:rPr lang="en-GB" sz="1600">
                <a:solidFill>
                  <a:srgbClr val="434343"/>
                </a:solidFill>
              </a:rPr>
              <a:t>PREFIX  ns:  &lt;http://example.org/ns#&gt;</a:t>
            </a:r>
            <a:endParaRPr sz="1600">
              <a:solidFill>
                <a:srgbClr val="434343"/>
              </a:solidFill>
            </a:endParaRPr>
          </a:p>
          <a:p>
            <a:pPr indent="0" lvl="0" marL="0" marR="0" rtl="0" algn="l">
              <a:lnSpc>
                <a:spcPct val="100000"/>
              </a:lnSpc>
              <a:spcBef>
                <a:spcPts val="0"/>
              </a:spcBef>
              <a:spcAft>
                <a:spcPts val="0"/>
              </a:spcAft>
              <a:buNone/>
            </a:pPr>
            <a:r>
              <a:rPr lang="en-GB" sz="1600">
                <a:solidFill>
                  <a:srgbClr val="434343"/>
                </a:solidFill>
              </a:rPr>
              <a:t>SELECT  ?title ?price</a:t>
            </a:r>
            <a:endParaRPr sz="1600">
              <a:solidFill>
                <a:srgbClr val="434343"/>
              </a:solidFill>
            </a:endParaRPr>
          </a:p>
          <a:p>
            <a:pPr indent="0" lvl="0" marL="0" marR="0" rtl="0" algn="l">
              <a:lnSpc>
                <a:spcPct val="100000"/>
              </a:lnSpc>
              <a:spcBef>
                <a:spcPts val="0"/>
              </a:spcBef>
              <a:spcAft>
                <a:spcPts val="0"/>
              </a:spcAft>
              <a:buNone/>
            </a:pPr>
            <a:r>
              <a:rPr lang="en-GB" sz="1600">
                <a:solidFill>
                  <a:srgbClr val="434343"/>
                </a:solidFill>
              </a:rPr>
              <a:t>WHERE   { ?x ns:price ?price .</a:t>
            </a:r>
            <a:endParaRPr sz="1600">
              <a:solidFill>
                <a:srgbClr val="434343"/>
              </a:solidFill>
            </a:endParaRPr>
          </a:p>
          <a:p>
            <a:pPr indent="0" lvl="0" marL="0" marR="0" rtl="0" algn="l">
              <a:lnSpc>
                <a:spcPct val="100000"/>
              </a:lnSpc>
              <a:spcBef>
                <a:spcPts val="0"/>
              </a:spcBef>
              <a:spcAft>
                <a:spcPts val="0"/>
              </a:spcAft>
              <a:buNone/>
            </a:pPr>
            <a:r>
              <a:rPr lang="en-GB" sz="1600">
                <a:solidFill>
                  <a:srgbClr val="434343"/>
                </a:solidFill>
              </a:rPr>
              <a:t>          FILTER (?price &lt; 30) .</a:t>
            </a:r>
            <a:endParaRPr sz="1600">
              <a:solidFill>
                <a:srgbClr val="434343"/>
              </a:solidFill>
            </a:endParaRPr>
          </a:p>
          <a:p>
            <a:pPr indent="0" lvl="0" marL="0" marR="0" rtl="0" algn="l">
              <a:lnSpc>
                <a:spcPct val="100000"/>
              </a:lnSpc>
              <a:spcBef>
                <a:spcPts val="0"/>
              </a:spcBef>
              <a:spcAft>
                <a:spcPts val="0"/>
              </a:spcAft>
              <a:buNone/>
            </a:pPr>
            <a:r>
              <a:rPr lang="en-GB" sz="1600">
                <a:solidFill>
                  <a:srgbClr val="434343"/>
                </a:solidFill>
              </a:rPr>
              <a:t>          ?x dc:title ?title . }</a:t>
            </a:r>
            <a:endParaRPr sz="1600">
              <a:solidFill>
                <a:srgbClr val="434343"/>
              </a:solidFill>
            </a:endParaRPr>
          </a:p>
        </p:txBody>
      </p:sp>
      <p:sp>
        <p:nvSpPr>
          <p:cNvPr id="124" name="Google Shape;124;p24"/>
          <p:cNvSpPr txBox="1"/>
          <p:nvPr/>
        </p:nvSpPr>
        <p:spPr>
          <a:xfrm>
            <a:off x="393975" y="1346700"/>
            <a:ext cx="3673500" cy="22053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None/>
            </a:pPr>
            <a:r>
              <a:rPr lang="en-GB" sz="1600">
                <a:solidFill>
                  <a:srgbClr val="434343"/>
                </a:solidFill>
              </a:rPr>
              <a:t>Hãy viết biểu thức đại số SPARQL tương đương với truy vấn và cung cấp các kết quả chi tiết cho từng bước thực hiện biểu thức.</a:t>
            </a:r>
            <a:endParaRPr sz="1600">
              <a:solidFill>
                <a:srgbClr val="434343"/>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nvSpPr>
        <p:spPr>
          <a:xfrm>
            <a:off x="165375" y="209500"/>
            <a:ext cx="8280300" cy="51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Bài 8. Chuyển sang biểu thức đại số SPARQL</a:t>
            </a:r>
            <a:endParaRPr sz="2800"/>
          </a:p>
        </p:txBody>
      </p:sp>
      <p:sp>
        <p:nvSpPr>
          <p:cNvPr id="130" name="Google Shape;130;p25"/>
          <p:cNvSpPr txBox="1"/>
          <p:nvPr/>
        </p:nvSpPr>
        <p:spPr>
          <a:xfrm>
            <a:off x="220525" y="991350"/>
            <a:ext cx="5380500" cy="5580000"/>
          </a:xfrm>
          <a:prstGeom prst="rect">
            <a:avLst/>
          </a:prstGeom>
          <a:noFill/>
          <a:ln>
            <a:noFill/>
          </a:ln>
        </p:spPr>
        <p:txBody>
          <a:bodyPr anchorCtr="0" anchor="t" bIns="91425" lIns="91425" spcFirstLastPara="1" rIns="91425" wrap="square" tIns="91425">
            <a:noAutofit/>
          </a:bodyPr>
          <a:lstStyle/>
          <a:p>
            <a:pPr indent="0" lvl="0" marL="0" marR="635000" rtl="0" algn="l">
              <a:lnSpc>
                <a:spcPct val="115000"/>
              </a:lnSpc>
              <a:spcBef>
                <a:spcPts val="0"/>
              </a:spcBef>
              <a:spcAft>
                <a:spcPts val="0"/>
              </a:spcAft>
              <a:buNone/>
            </a:pPr>
            <a:r>
              <a:rPr lang="en-GB" sz="1600">
                <a:solidFill>
                  <a:schemeClr val="dk1"/>
                </a:solidFill>
              </a:rPr>
              <a:t>@prefix foaf:       &lt;http://xmlns.com/foaf/0.1/&gt;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@prefix vcard:      &lt;http://www.w3.org/2001/vcard-rdf/3.0#&gt;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_:a  foaf:name     "Alice"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_:a  foaf:mbox     &lt;mailto:alice@work.example&gt;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_:a  vcard:N       _:x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_:x  vcard:Family  "Hacker"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_:x  vcard:Given   "Alice"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_:b  foaf:name     "Bob"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_:b  foaf:mbox     &lt;mailto:bob@work.example&gt;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_:b  foaf:N        _:z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_:z  vcard:Family  "Hacker"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_:e  foaf:name     "Ella"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_:e  vcard:N       _:y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_:y  vcard:Given   "Eleanor" .</a:t>
            </a:r>
            <a:endParaRPr sz="1600">
              <a:solidFill>
                <a:schemeClr val="dk1"/>
              </a:solidFill>
            </a:endParaRPr>
          </a:p>
          <a:p>
            <a:pPr indent="0" lvl="0" marL="0" marR="635000" rtl="0" algn="l">
              <a:lnSpc>
                <a:spcPct val="115000"/>
              </a:lnSpc>
              <a:spcBef>
                <a:spcPts val="0"/>
              </a:spcBef>
              <a:spcAft>
                <a:spcPts val="0"/>
              </a:spcAft>
              <a:buNone/>
            </a:pPr>
            <a:r>
              <a:t/>
            </a:r>
            <a:endParaRPr sz="1600">
              <a:solidFill>
                <a:srgbClr val="434343"/>
              </a:solidFill>
            </a:endParaRPr>
          </a:p>
        </p:txBody>
      </p:sp>
      <p:sp>
        <p:nvSpPr>
          <p:cNvPr id="131" name="Google Shape;131;p25"/>
          <p:cNvSpPr txBox="1"/>
          <p:nvPr/>
        </p:nvSpPr>
        <p:spPr>
          <a:xfrm>
            <a:off x="4343150" y="2379450"/>
            <a:ext cx="4663800" cy="274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GB">
                <a:solidFill>
                  <a:schemeClr val="dk1"/>
                </a:solidFill>
              </a:rPr>
              <a:t>PREFIX foaf: &lt;http://xmlns.com/foaf/0.1/&gt;</a:t>
            </a:r>
            <a:endParaRPr>
              <a:solidFill>
                <a:schemeClr val="dk1"/>
              </a:solidFill>
            </a:endParaRPr>
          </a:p>
          <a:p>
            <a:pPr indent="0" lvl="0" marL="0" marR="0" rtl="0" algn="l">
              <a:lnSpc>
                <a:spcPct val="100000"/>
              </a:lnSpc>
              <a:spcBef>
                <a:spcPts val="0"/>
              </a:spcBef>
              <a:spcAft>
                <a:spcPts val="0"/>
              </a:spcAft>
              <a:buNone/>
            </a:pPr>
            <a:r>
              <a:rPr lang="en-GB">
                <a:solidFill>
                  <a:schemeClr val="dk1"/>
                </a:solidFill>
              </a:rPr>
              <a:t>PREFIX vcard: &lt;http://www.w3.org/2001/vcard-rdf/3.0#&gt;</a:t>
            </a:r>
            <a:endParaRPr>
              <a:solidFill>
                <a:schemeClr val="dk1"/>
              </a:solidFill>
            </a:endParaRPr>
          </a:p>
          <a:p>
            <a:pPr indent="0" lvl="0" marL="0" marR="0" rtl="0" algn="l">
              <a:lnSpc>
                <a:spcPct val="100000"/>
              </a:lnSpc>
              <a:spcBef>
                <a:spcPts val="0"/>
              </a:spcBef>
              <a:spcAft>
                <a:spcPts val="0"/>
              </a:spcAft>
              <a:buNone/>
            </a:pPr>
            <a:r>
              <a:rPr lang="en-GB">
                <a:solidFill>
                  <a:schemeClr val="dk1"/>
                </a:solidFill>
              </a:rPr>
              <a:t>SELECT ?foafName ?mbox ?gname ?fname</a:t>
            </a:r>
            <a:endParaRPr>
              <a:solidFill>
                <a:schemeClr val="dk1"/>
              </a:solidFill>
            </a:endParaRPr>
          </a:p>
          <a:p>
            <a:pPr indent="0" lvl="0" marL="0" marR="0" rtl="0" algn="l">
              <a:lnSpc>
                <a:spcPct val="100000"/>
              </a:lnSpc>
              <a:spcBef>
                <a:spcPts val="0"/>
              </a:spcBef>
              <a:spcAft>
                <a:spcPts val="0"/>
              </a:spcAft>
              <a:buNone/>
            </a:pPr>
            <a:r>
              <a:rPr lang="en-GB">
                <a:solidFill>
                  <a:schemeClr val="dk1"/>
                </a:solidFill>
              </a:rPr>
              <a:t>WHERE</a:t>
            </a:r>
            <a:endParaRPr>
              <a:solidFill>
                <a:schemeClr val="dk1"/>
              </a:solidFill>
            </a:endParaRPr>
          </a:p>
          <a:p>
            <a:pPr indent="0" lvl="0" marL="0" marR="0" rtl="0" algn="l">
              <a:lnSpc>
                <a:spcPct val="100000"/>
              </a:lnSpc>
              <a:spcBef>
                <a:spcPts val="0"/>
              </a:spcBef>
              <a:spcAft>
                <a:spcPts val="0"/>
              </a:spcAft>
              <a:buNone/>
            </a:pPr>
            <a:r>
              <a:rPr lang="en-GB">
                <a:solidFill>
                  <a:schemeClr val="dk1"/>
                </a:solidFill>
              </a:rPr>
              <a:t>  {  ?x foaf:name ?foafName .</a:t>
            </a:r>
            <a:endParaRPr>
              <a:solidFill>
                <a:schemeClr val="dk1"/>
              </a:solidFill>
            </a:endParaRPr>
          </a:p>
          <a:p>
            <a:pPr indent="0" lvl="0" marL="0" marR="0" rtl="0" algn="l">
              <a:lnSpc>
                <a:spcPct val="100000"/>
              </a:lnSpc>
              <a:spcBef>
                <a:spcPts val="0"/>
              </a:spcBef>
              <a:spcAft>
                <a:spcPts val="0"/>
              </a:spcAft>
              <a:buNone/>
            </a:pPr>
            <a:r>
              <a:rPr lang="en-GB">
                <a:solidFill>
                  <a:schemeClr val="dk1"/>
                </a:solidFill>
              </a:rPr>
              <a:t>     OPTIONAL { ?x foaf:mbox ?mbox } .</a:t>
            </a:r>
            <a:endParaRPr>
              <a:solidFill>
                <a:schemeClr val="dk1"/>
              </a:solidFill>
            </a:endParaRPr>
          </a:p>
          <a:p>
            <a:pPr indent="0" lvl="0" marL="0" marR="0" rtl="0" algn="l">
              <a:lnSpc>
                <a:spcPct val="100000"/>
              </a:lnSpc>
              <a:spcBef>
                <a:spcPts val="0"/>
              </a:spcBef>
              <a:spcAft>
                <a:spcPts val="0"/>
              </a:spcAft>
              <a:buNone/>
            </a:pPr>
            <a:r>
              <a:rPr lang="en-GB">
                <a:solidFill>
                  <a:schemeClr val="dk1"/>
                </a:solidFill>
              </a:rPr>
              <a:t>     OPTIONAL {  ?x vcard:N ?vc .</a:t>
            </a:r>
            <a:endParaRPr>
              <a:solidFill>
                <a:schemeClr val="dk1"/>
              </a:solidFill>
            </a:endParaRPr>
          </a:p>
          <a:p>
            <a:pPr indent="0" lvl="0" marL="0" marR="0" rtl="0" algn="l">
              <a:lnSpc>
                <a:spcPct val="100000"/>
              </a:lnSpc>
              <a:spcBef>
                <a:spcPts val="0"/>
              </a:spcBef>
              <a:spcAft>
                <a:spcPts val="0"/>
              </a:spcAft>
              <a:buNone/>
            </a:pPr>
            <a:r>
              <a:rPr lang="en-GB">
                <a:solidFill>
                  <a:schemeClr val="dk1"/>
                </a:solidFill>
              </a:rPr>
              <a:t>                 ?vc vcard:Given ?gname .</a:t>
            </a:r>
            <a:endParaRPr>
              <a:solidFill>
                <a:schemeClr val="dk1"/>
              </a:solidFill>
            </a:endParaRPr>
          </a:p>
          <a:p>
            <a:pPr indent="0" lvl="0" marL="0" marR="0" rtl="0" algn="l">
              <a:lnSpc>
                <a:spcPct val="100000"/>
              </a:lnSpc>
              <a:spcBef>
                <a:spcPts val="0"/>
              </a:spcBef>
              <a:spcAft>
                <a:spcPts val="0"/>
              </a:spcAft>
              <a:buNone/>
            </a:pPr>
            <a:r>
              <a:rPr lang="en-GB">
                <a:solidFill>
                  <a:schemeClr val="dk1"/>
                </a:solidFill>
              </a:rPr>
              <a:t>                 OPTIONAL { ?vc vcard:Family ?fname }</a:t>
            </a:r>
            <a:endParaRPr>
              <a:solidFill>
                <a:schemeClr val="dk1"/>
              </a:solidFill>
            </a:endParaRPr>
          </a:p>
          <a:p>
            <a:pPr indent="0" lvl="0" marL="0" marR="0" rtl="0" algn="l">
              <a:lnSpc>
                <a:spcPct val="100000"/>
              </a:lnSpc>
              <a:spcBef>
                <a:spcPts val="0"/>
              </a:spcBef>
              <a:spcAft>
                <a:spcPts val="0"/>
              </a:spcAft>
              <a:buNone/>
            </a:pPr>
            <a:r>
              <a:rPr lang="en-GB">
                <a:solidFill>
                  <a:schemeClr val="dk1"/>
                </a:solidFill>
              </a:rPr>
              <a:t>              }</a:t>
            </a:r>
            <a:endParaRPr>
              <a:solidFill>
                <a:schemeClr val="dk1"/>
              </a:solidFill>
            </a:endParaRPr>
          </a:p>
          <a:p>
            <a:pPr indent="0" lvl="0" marL="76200" marR="635000" rtl="0" algn="l">
              <a:lnSpc>
                <a:spcPct val="115000"/>
              </a:lnSpc>
              <a:spcBef>
                <a:spcPts val="1100"/>
              </a:spcBef>
              <a:spcAft>
                <a:spcPts val="1100"/>
              </a:spcAft>
              <a:buNone/>
            </a:pPr>
            <a:r>
              <a:rPr lang="en-GB">
                <a:solidFill>
                  <a:schemeClr val="dk1"/>
                </a:solidFill>
              </a:rPr>
              <a:t>  }</a:t>
            </a:r>
            <a:endParaRPr>
              <a:solidFill>
                <a:srgbClr val="434343"/>
              </a:solidFill>
            </a:endParaRPr>
          </a:p>
        </p:txBody>
      </p:sp>
      <p:sp>
        <p:nvSpPr>
          <p:cNvPr id="132" name="Google Shape;132;p25"/>
          <p:cNvSpPr txBox="1"/>
          <p:nvPr/>
        </p:nvSpPr>
        <p:spPr>
          <a:xfrm>
            <a:off x="4694025" y="991350"/>
            <a:ext cx="3673500" cy="22053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None/>
            </a:pPr>
            <a:r>
              <a:rPr lang="en-GB" sz="1600">
                <a:solidFill>
                  <a:srgbClr val="434343"/>
                </a:solidFill>
              </a:rPr>
              <a:t>Hãy viết biểu thức đại số SPARQL tương đương với truy vấn và cung cấp các kết quả chi tiết cho từng bước thực hiện biểu thức.</a:t>
            </a:r>
            <a:endParaRPr sz="1600">
              <a:solidFill>
                <a:srgbClr val="43434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nvSpPr>
        <p:spPr>
          <a:xfrm>
            <a:off x="165375" y="209500"/>
            <a:ext cx="8280300" cy="51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800"/>
              <a:t>Bài 9.	 Chuyển sang biểu thức đại số SPARQL</a:t>
            </a:r>
            <a:endParaRPr sz="2800"/>
          </a:p>
        </p:txBody>
      </p:sp>
      <p:sp>
        <p:nvSpPr>
          <p:cNvPr id="138" name="Google Shape;138;p26"/>
          <p:cNvSpPr txBox="1"/>
          <p:nvPr/>
        </p:nvSpPr>
        <p:spPr>
          <a:xfrm>
            <a:off x="220525" y="991350"/>
            <a:ext cx="5799600" cy="5580000"/>
          </a:xfrm>
          <a:prstGeom prst="rect">
            <a:avLst/>
          </a:prstGeom>
          <a:noFill/>
          <a:ln>
            <a:noFill/>
          </a:ln>
        </p:spPr>
        <p:txBody>
          <a:bodyPr anchorCtr="0" anchor="t" bIns="91425" lIns="91425" spcFirstLastPara="1" rIns="91425" wrap="square" tIns="91425">
            <a:noAutofit/>
          </a:bodyPr>
          <a:lstStyle/>
          <a:p>
            <a:pPr indent="0" lvl="0" marL="0" marR="635000" rtl="0" algn="l">
              <a:lnSpc>
                <a:spcPct val="115000"/>
              </a:lnSpc>
              <a:spcBef>
                <a:spcPts val="0"/>
              </a:spcBef>
              <a:spcAft>
                <a:spcPts val="0"/>
              </a:spcAft>
              <a:buNone/>
            </a:pPr>
            <a:r>
              <a:rPr lang="en-GB" sz="1600">
                <a:solidFill>
                  <a:schemeClr val="dk1"/>
                </a:solidFill>
              </a:rPr>
              <a:t>@prefix dc10:  &lt;http://purl.org/dc/elements/1.0/&gt;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@prefix dc11:  &lt;http://purl.org/dc/elements/1.1/&gt; .</a:t>
            </a:r>
            <a:endParaRPr sz="1600">
              <a:solidFill>
                <a:schemeClr val="dk1"/>
              </a:solidFill>
            </a:endParaRPr>
          </a:p>
          <a:p>
            <a:pPr indent="0" lvl="0" marL="0" marR="635000" rtl="0" algn="l">
              <a:lnSpc>
                <a:spcPct val="115000"/>
              </a:lnSpc>
              <a:spcBef>
                <a:spcPts val="0"/>
              </a:spcBef>
              <a:spcAft>
                <a:spcPts val="0"/>
              </a:spcAft>
              <a:buNone/>
            </a:pPr>
            <a:r>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_:a  dc10:title     "SPARQL Query Language Tutorial"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_:a  dc10:creator   "Alice" .</a:t>
            </a:r>
            <a:endParaRPr sz="1600">
              <a:solidFill>
                <a:schemeClr val="dk1"/>
              </a:solidFill>
            </a:endParaRPr>
          </a:p>
          <a:p>
            <a:pPr indent="0" lvl="0" marL="0" marR="635000" rtl="0" algn="l">
              <a:lnSpc>
                <a:spcPct val="115000"/>
              </a:lnSpc>
              <a:spcBef>
                <a:spcPts val="0"/>
              </a:spcBef>
              <a:spcAft>
                <a:spcPts val="0"/>
              </a:spcAft>
              <a:buNone/>
            </a:pPr>
            <a:r>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_:b  dc11:title     "SPARQL Protocol Tutorial"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_:b  dc11:creator   "Bob" .</a:t>
            </a:r>
            <a:endParaRPr sz="1600">
              <a:solidFill>
                <a:schemeClr val="dk1"/>
              </a:solidFill>
            </a:endParaRPr>
          </a:p>
          <a:p>
            <a:pPr indent="0" lvl="0" marL="0" marR="635000" rtl="0" algn="l">
              <a:lnSpc>
                <a:spcPct val="115000"/>
              </a:lnSpc>
              <a:spcBef>
                <a:spcPts val="0"/>
              </a:spcBef>
              <a:spcAft>
                <a:spcPts val="0"/>
              </a:spcAft>
              <a:buNone/>
            </a:pPr>
            <a:r>
              <a:t/>
            </a:r>
            <a:endParaRPr sz="1600">
              <a:solidFill>
                <a:schemeClr val="dk1"/>
              </a:solidFill>
            </a:endParaRPr>
          </a:p>
          <a:p>
            <a:pPr indent="0" lvl="0" marL="0" marR="635000" rtl="0" algn="l">
              <a:lnSpc>
                <a:spcPct val="115000"/>
              </a:lnSpc>
              <a:spcBef>
                <a:spcPts val="0"/>
              </a:spcBef>
              <a:spcAft>
                <a:spcPts val="0"/>
              </a:spcAft>
              <a:buNone/>
            </a:pPr>
            <a:r>
              <a:rPr lang="en-GB" sz="1600">
                <a:solidFill>
                  <a:schemeClr val="dk1"/>
                </a:solidFill>
              </a:rPr>
              <a:t>_:c  dc10:title     "SPARQL" .</a:t>
            </a:r>
            <a:endParaRPr sz="1600">
              <a:solidFill>
                <a:schemeClr val="dk1"/>
              </a:solidFill>
            </a:endParaRPr>
          </a:p>
          <a:p>
            <a:pPr indent="0" lvl="0" marL="76200" marR="635000" rtl="0" algn="l">
              <a:lnSpc>
                <a:spcPct val="115000"/>
              </a:lnSpc>
              <a:spcBef>
                <a:spcPts val="1100"/>
              </a:spcBef>
              <a:spcAft>
                <a:spcPts val="1100"/>
              </a:spcAft>
              <a:buNone/>
            </a:pPr>
            <a:r>
              <a:rPr lang="en-GB" sz="1600">
                <a:solidFill>
                  <a:schemeClr val="dk1"/>
                </a:solidFill>
              </a:rPr>
              <a:t>_:c  dc11:title     "SPARQL (updated)" .</a:t>
            </a:r>
            <a:endParaRPr sz="1600">
              <a:solidFill>
                <a:schemeClr val="dk1"/>
              </a:solidFill>
            </a:endParaRPr>
          </a:p>
        </p:txBody>
      </p:sp>
      <p:sp>
        <p:nvSpPr>
          <p:cNvPr id="139" name="Google Shape;139;p26"/>
          <p:cNvSpPr txBox="1"/>
          <p:nvPr/>
        </p:nvSpPr>
        <p:spPr>
          <a:xfrm>
            <a:off x="1565650" y="4939525"/>
            <a:ext cx="7288200" cy="1345200"/>
          </a:xfrm>
          <a:prstGeom prst="rect">
            <a:avLst/>
          </a:prstGeom>
          <a:noFill/>
          <a:ln>
            <a:noFill/>
          </a:ln>
        </p:spPr>
        <p:txBody>
          <a:bodyPr anchorCtr="0" anchor="t" bIns="91425" lIns="91425" spcFirstLastPara="1" rIns="91425" wrap="square" tIns="91425">
            <a:noAutofit/>
          </a:bodyPr>
          <a:lstStyle/>
          <a:p>
            <a:pPr indent="0" lvl="0" marL="76200" marR="635000" rtl="0" algn="l">
              <a:lnSpc>
                <a:spcPct val="115000"/>
              </a:lnSpc>
              <a:spcBef>
                <a:spcPts val="1100"/>
              </a:spcBef>
              <a:spcAft>
                <a:spcPts val="0"/>
              </a:spcAft>
              <a:buNone/>
            </a:pPr>
            <a:r>
              <a:rPr lang="en-GB" sz="1600">
                <a:solidFill>
                  <a:schemeClr val="dk1"/>
                </a:solidFill>
              </a:rPr>
              <a:t>PREFIX dc10:  &lt;http://purl.org/dc/elements/1.0/&gt;</a:t>
            </a:r>
            <a:endParaRPr sz="1600">
              <a:solidFill>
                <a:schemeClr val="dk1"/>
              </a:solidFill>
            </a:endParaRPr>
          </a:p>
          <a:p>
            <a:pPr indent="0" lvl="0" marL="76200" marR="635000" rtl="0" algn="l">
              <a:lnSpc>
                <a:spcPct val="115000"/>
              </a:lnSpc>
              <a:spcBef>
                <a:spcPts val="0"/>
              </a:spcBef>
              <a:spcAft>
                <a:spcPts val="0"/>
              </a:spcAft>
              <a:buNone/>
            </a:pPr>
            <a:r>
              <a:rPr lang="en-GB" sz="1600">
                <a:solidFill>
                  <a:schemeClr val="dk1"/>
                </a:solidFill>
              </a:rPr>
              <a:t>PREFIX dc11:  &lt;http://purl.org/dc/elements/1.1/&gt;</a:t>
            </a:r>
            <a:endParaRPr sz="1600">
              <a:solidFill>
                <a:schemeClr val="dk1"/>
              </a:solidFill>
            </a:endParaRPr>
          </a:p>
          <a:p>
            <a:pPr indent="0" lvl="0" marL="76200" marR="635000" rtl="0" algn="l">
              <a:lnSpc>
                <a:spcPct val="115000"/>
              </a:lnSpc>
              <a:spcBef>
                <a:spcPts val="0"/>
              </a:spcBef>
              <a:spcAft>
                <a:spcPts val="0"/>
              </a:spcAft>
              <a:buNone/>
            </a:pPr>
            <a:r>
              <a:rPr lang="en-GB" sz="1600">
                <a:solidFill>
                  <a:schemeClr val="dk1"/>
                </a:solidFill>
              </a:rPr>
              <a:t>SELECT ?title</a:t>
            </a:r>
            <a:endParaRPr sz="1600">
              <a:solidFill>
                <a:schemeClr val="dk1"/>
              </a:solidFill>
            </a:endParaRPr>
          </a:p>
          <a:p>
            <a:pPr indent="0" lvl="0" marL="76200" marR="635000" rtl="0" algn="l">
              <a:lnSpc>
                <a:spcPct val="115000"/>
              </a:lnSpc>
              <a:spcBef>
                <a:spcPts val="0"/>
              </a:spcBef>
              <a:spcAft>
                <a:spcPts val="0"/>
              </a:spcAft>
              <a:buNone/>
            </a:pPr>
            <a:r>
              <a:rPr lang="en-GB" sz="1600">
                <a:solidFill>
                  <a:schemeClr val="dk1"/>
                </a:solidFill>
              </a:rPr>
              <a:t>WHERE  { { ?book dc10:title  ?title } UNION { ?book dc11:title  ?title } }</a:t>
            </a:r>
            <a:endParaRPr sz="1600">
              <a:solidFill>
                <a:schemeClr val="dk1"/>
              </a:solidFill>
            </a:endParaRPr>
          </a:p>
          <a:p>
            <a:pPr indent="0" lvl="0" marL="0" marR="635000" rtl="0" algn="l">
              <a:lnSpc>
                <a:spcPct val="115000"/>
              </a:lnSpc>
              <a:spcBef>
                <a:spcPts val="1100"/>
              </a:spcBef>
              <a:spcAft>
                <a:spcPts val="1100"/>
              </a:spcAft>
              <a:buNone/>
            </a:pPr>
            <a:r>
              <a:t/>
            </a:r>
            <a:endParaRPr sz="1600">
              <a:solidFill>
                <a:schemeClr val="dk1"/>
              </a:solidFill>
            </a:endParaRPr>
          </a:p>
        </p:txBody>
      </p:sp>
      <p:sp>
        <p:nvSpPr>
          <p:cNvPr id="140" name="Google Shape;140;p26"/>
          <p:cNvSpPr txBox="1"/>
          <p:nvPr/>
        </p:nvSpPr>
        <p:spPr>
          <a:xfrm>
            <a:off x="4572000" y="3119300"/>
            <a:ext cx="4281900" cy="1037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None/>
            </a:pPr>
            <a:r>
              <a:rPr lang="en-GB" sz="1600">
                <a:solidFill>
                  <a:srgbClr val="434343"/>
                </a:solidFill>
              </a:rPr>
              <a:t>Hãy viết biểu thức đại số SPARQL tương đương với truy vấn và cung cấp các kết quả chi tiết cho từng bước thực hiện biểu thức.</a:t>
            </a:r>
            <a:endParaRPr sz="1600">
              <a:solidFill>
                <a:srgbClr val="43434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ph type="title"/>
          </p:nvPr>
        </p:nvSpPr>
        <p:spPr>
          <a:xfrm>
            <a:off x="311700" y="2885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a:t>
            </a:r>
            <a:r>
              <a:rPr lang="en-GB"/>
              <a:t>ài 10. owl Ontologies</a:t>
            </a:r>
            <a:endParaRPr/>
          </a:p>
        </p:txBody>
      </p:sp>
      <p:sp>
        <p:nvSpPr>
          <p:cNvPr id="146" name="Google Shape;146;p27"/>
          <p:cNvSpPr txBox="1"/>
          <p:nvPr>
            <p:ph idx="1" type="body"/>
          </p:nvPr>
        </p:nvSpPr>
        <p:spPr>
          <a:xfrm>
            <a:off x="311700" y="1052074"/>
            <a:ext cx="8520600" cy="50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:Person a owl:Class.</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:Food a owl:Class.</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:eats rdfs:domain :Person;</a:t>
            </a:r>
            <a:endParaRPr>
              <a:solidFill>
                <a:schemeClr val="dk1"/>
              </a:solidFill>
            </a:endParaRPr>
          </a:p>
          <a:p>
            <a:pPr indent="0" lvl="0" marL="0" rtl="0" algn="l">
              <a:spcBef>
                <a:spcPts val="0"/>
              </a:spcBef>
              <a:spcAft>
                <a:spcPts val="0"/>
              </a:spcAft>
              <a:buNone/>
            </a:pPr>
            <a:r>
              <a:rPr lang="en-GB">
                <a:solidFill>
                  <a:schemeClr val="dk1"/>
                </a:solidFill>
              </a:rPr>
              <a:t>         rdfs:range :Food.</a:t>
            </a:r>
            <a:endParaRPr>
              <a:solidFill>
                <a:schemeClr val="dk1"/>
              </a:solidFill>
            </a:endParaRPr>
          </a:p>
          <a:p>
            <a:pPr indent="0" lvl="0" marL="0" rtl="0" algn="l">
              <a:spcBef>
                <a:spcPts val="0"/>
              </a:spcBef>
              <a:spcAft>
                <a:spcPts val="0"/>
              </a:spcAft>
              <a:buNone/>
            </a:pPr>
            <a:r>
              <a:rPr lang="en-GB">
                <a:solidFill>
                  <a:schemeClr val="dk1"/>
                </a:solidFill>
              </a:rPr>
              <a:t>:Maverick :eats :Steak.</a:t>
            </a:r>
            <a:endParaRPr>
              <a:solidFill>
                <a:schemeClr val="dk1"/>
              </a:solidFill>
            </a:endParaRPr>
          </a:p>
          <a:p>
            <a:pPr indent="0" lvl="0" marL="0" rtl="0" algn="l">
              <a:spcBef>
                <a:spcPts val="0"/>
              </a:spcBef>
              <a:spcAft>
                <a:spcPts val="0"/>
              </a:spcAft>
              <a:buNone/>
            </a:pPr>
            <a:r>
              <a:rPr lang="en-GB">
                <a:solidFill>
                  <a:schemeClr val="dk1"/>
                </a:solidFill>
              </a:rPr>
              <a:t>:Vegetarian a owl:Class;</a:t>
            </a:r>
            <a:endParaRPr>
              <a:solidFill>
                <a:schemeClr val="dk1"/>
              </a:solidFill>
            </a:endParaRPr>
          </a:p>
          <a:p>
            <a:pPr indent="0" lvl="0" marL="0" rtl="0" algn="l">
              <a:spcBef>
                <a:spcPts val="0"/>
              </a:spcBef>
              <a:spcAft>
                <a:spcPts val="0"/>
              </a:spcAft>
              <a:buNone/>
            </a:pPr>
            <a:r>
              <a:rPr lang="en-GB">
                <a:solidFill>
                  <a:schemeClr val="dk1"/>
                </a:solidFill>
              </a:rPr>
              <a:t>                   rdfs:subClassOf :Person.</a:t>
            </a:r>
            <a:endParaRPr>
              <a:solidFill>
                <a:schemeClr val="dk1"/>
              </a:solidFill>
            </a:endParaRPr>
          </a:p>
          <a:p>
            <a:pPr indent="0" lvl="0" marL="0" rtl="0" algn="l">
              <a:spcBef>
                <a:spcPts val="0"/>
              </a:spcBef>
              <a:spcAft>
                <a:spcPts val="0"/>
              </a:spcAft>
              <a:buNone/>
            </a:pPr>
            <a:r>
              <a:rPr lang="en-GB">
                <a:solidFill>
                  <a:schemeClr val="dk1"/>
                </a:solidFill>
              </a:rPr>
              <a:t>:VegetarianFood a owl:Class;</a:t>
            </a:r>
            <a:endParaRPr>
              <a:solidFill>
                <a:schemeClr val="dk1"/>
              </a:solidFill>
            </a:endParaRPr>
          </a:p>
          <a:p>
            <a:pPr indent="0" lvl="0" marL="0" rtl="0" algn="l">
              <a:spcBef>
                <a:spcPts val="0"/>
              </a:spcBef>
              <a:spcAft>
                <a:spcPts val="0"/>
              </a:spcAft>
              <a:buNone/>
            </a:pPr>
            <a:r>
              <a:rPr lang="en-GB">
                <a:solidFill>
                  <a:schemeClr val="dk1"/>
                </a:solidFill>
              </a:rPr>
              <a:t>                   rdfs:subClassOf :Food.</a:t>
            </a:r>
            <a:endParaRPr>
              <a:solidFill>
                <a:schemeClr val="dk1"/>
              </a:solidFill>
            </a:endParaRPr>
          </a:p>
          <a:p>
            <a:pPr indent="0" lvl="0" marL="0" rtl="0" algn="l">
              <a:spcBef>
                <a:spcPts val="0"/>
              </a:spcBef>
              <a:spcAft>
                <a:spcPts val="0"/>
              </a:spcAft>
              <a:buNone/>
            </a:pPr>
            <a:r>
              <a:rPr lang="en-GB">
                <a:solidFill>
                  <a:schemeClr val="dk1"/>
                </a:solidFill>
              </a:rPr>
              <a:t>:Jen a:Vegetarian;</a:t>
            </a:r>
            <a:endParaRPr>
              <a:solidFill>
                <a:schemeClr val="dk1"/>
              </a:solidFill>
            </a:endParaRPr>
          </a:p>
          <a:p>
            <a:pPr indent="0" lvl="0" marL="0" rtl="0" algn="l">
              <a:spcBef>
                <a:spcPts val="0"/>
              </a:spcBef>
              <a:spcAft>
                <a:spcPts val="0"/>
              </a:spcAft>
              <a:buNone/>
            </a:pPr>
            <a:r>
              <a:rPr lang="en-GB">
                <a:solidFill>
                  <a:schemeClr val="dk1"/>
                </a:solidFill>
              </a:rPr>
              <a:t>        :eats :Marzipan.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Hãy bổ xung các mô tả dựa trên owl cho lớp :VegetarianFood để có thể suy ra :Marzipan là :VegetarianFood, nhưng :Steak thì không?</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11</a:t>
            </a:r>
            <a:endParaRPr/>
          </a:p>
        </p:txBody>
      </p:sp>
      <p:sp>
        <p:nvSpPr>
          <p:cNvPr id="152" name="Google Shape;152;p2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câu</a:t>
            </a:r>
            <a:endParaRPr/>
          </a:p>
          <a:p>
            <a:pPr indent="0" lvl="0" marL="0" rtl="0" algn="l">
              <a:spcBef>
                <a:spcPts val="1200"/>
              </a:spcBef>
              <a:spcAft>
                <a:spcPts val="0"/>
              </a:spcAft>
              <a:buNone/>
            </a:pPr>
            <a:r>
              <a:rPr lang="en-GB"/>
              <a:t>Khả năng MU vô địch mùa giải 22-23 không cao.</a:t>
            </a:r>
            <a:endParaRPr/>
          </a:p>
          <a:p>
            <a:pPr indent="0" lvl="0" marL="0" rtl="0" algn="l">
              <a:spcBef>
                <a:spcPts val="1200"/>
              </a:spcBef>
              <a:spcAft>
                <a:spcPts val="0"/>
              </a:spcAft>
              <a:buNone/>
            </a:pPr>
            <a:r>
              <a:rPr lang="en-GB"/>
              <a:t>bằng:</a:t>
            </a:r>
            <a:endParaRPr/>
          </a:p>
          <a:p>
            <a:pPr indent="-342900" lvl="0" marL="457200" rtl="0" algn="l">
              <a:spcBef>
                <a:spcPts val="1200"/>
              </a:spcBef>
              <a:spcAft>
                <a:spcPts val="0"/>
              </a:spcAft>
              <a:buSzPts val="1800"/>
              <a:buAutoNum type="alphaLcParenR"/>
            </a:pPr>
            <a:r>
              <a:rPr lang="en-GB"/>
              <a:t>Các bộ ba theo cú pháp Turtle</a:t>
            </a:r>
            <a:endParaRPr/>
          </a:p>
          <a:p>
            <a:pPr indent="-342900" lvl="0" marL="457200" rtl="0" algn="l">
              <a:spcBef>
                <a:spcPts val="0"/>
              </a:spcBef>
              <a:spcAft>
                <a:spcPts val="0"/>
              </a:spcAft>
              <a:buSzPts val="1800"/>
              <a:buAutoNum type="alphaLcParenR"/>
            </a:pPr>
            <a:r>
              <a:rPr lang="en-GB"/>
              <a:t>Biểu diễn bằng đồ thị RDF</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14</a:t>
            </a:r>
            <a:endParaRPr/>
          </a:p>
        </p:txBody>
      </p:sp>
      <p:sp>
        <p:nvSpPr>
          <p:cNvPr id="158" name="Google Shape;158;p2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Biểu diễn nội dung sau với OWL</a:t>
            </a:r>
            <a:endParaRPr/>
          </a:p>
          <a:p>
            <a:pPr indent="0" lvl="0" marL="0" rtl="0" algn="l">
              <a:spcBef>
                <a:spcPts val="1200"/>
              </a:spcBef>
              <a:spcAft>
                <a:spcPts val="1200"/>
              </a:spcAft>
              <a:buNone/>
            </a:pPr>
            <a:r>
              <a:rPr lang="en-GB"/>
              <a:t>Động vật ăn thịt là động vật có ăn các con vật.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Bài 15</a:t>
            </a:r>
            <a:endParaRPr/>
          </a:p>
        </p:txBody>
      </p:sp>
      <p:sp>
        <p:nvSpPr>
          <p:cNvPr id="164" name="Google Shape;164;p30"/>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000"/>
              <a:t>@prefix ex: &lt;http://eg.org/&gt; .</a:t>
            </a:r>
            <a:endParaRPr sz="2000"/>
          </a:p>
          <a:p>
            <a:pPr indent="0" lvl="0" marL="0" rtl="0" algn="l">
              <a:spcBef>
                <a:spcPts val="0"/>
              </a:spcBef>
              <a:spcAft>
                <a:spcPts val="0"/>
              </a:spcAft>
              <a:buClr>
                <a:schemeClr val="dk1"/>
              </a:buClr>
              <a:buSzPts val="1100"/>
              <a:buFont typeface="Arial"/>
              <a:buNone/>
            </a:pPr>
            <a:r>
              <a:rPr lang="en-GB" sz="2000"/>
              <a:t>@prefix xsd: &lt;http://www.w3.org/2001/XMLSchema#&gt; .</a:t>
            </a:r>
            <a:endParaRPr sz="2000"/>
          </a:p>
          <a:p>
            <a:pPr indent="0" lvl="0" marL="0" rtl="0" algn="l">
              <a:spcBef>
                <a:spcPts val="0"/>
              </a:spcBef>
              <a:spcAft>
                <a:spcPts val="0"/>
              </a:spcAft>
              <a:buClr>
                <a:schemeClr val="dk1"/>
              </a:buClr>
              <a:buSzPts val="1100"/>
              <a:buFont typeface="Arial"/>
              <a:buNone/>
            </a:pPr>
            <a:r>
              <a:rPr lang="en-GB" sz="2000"/>
              <a:t>ex:Hamlet ex:author ex:Shakespeare ; ex:price "10.50"^^xsd:decimal .</a:t>
            </a:r>
            <a:endParaRPr sz="2000"/>
          </a:p>
          <a:p>
            <a:pPr indent="0" lvl="0" marL="0" rtl="0" algn="l">
              <a:spcBef>
                <a:spcPts val="0"/>
              </a:spcBef>
              <a:spcAft>
                <a:spcPts val="0"/>
              </a:spcAft>
              <a:buClr>
                <a:schemeClr val="dk1"/>
              </a:buClr>
              <a:buSzPts val="1100"/>
              <a:buFont typeface="Arial"/>
              <a:buNone/>
            </a:pPr>
            <a:r>
              <a:rPr lang="en-GB" sz="2000"/>
              <a:t>ex:Macbeth ex:author ex:Shakespeare .</a:t>
            </a:r>
            <a:endParaRPr sz="2000"/>
          </a:p>
          <a:p>
            <a:pPr indent="0" lvl="0" marL="0" rtl="0" algn="l">
              <a:spcBef>
                <a:spcPts val="0"/>
              </a:spcBef>
              <a:spcAft>
                <a:spcPts val="0"/>
              </a:spcAft>
              <a:buClr>
                <a:schemeClr val="dk1"/>
              </a:buClr>
              <a:buSzPts val="1100"/>
              <a:buFont typeface="Arial"/>
              <a:buNone/>
            </a:pPr>
            <a:r>
              <a:rPr lang="en-GB" sz="2000"/>
              <a:t>ex:Tamburlaine ex:author ex:Marlowe ; ex:price "17"^^xsd:integer .</a:t>
            </a:r>
            <a:endParaRPr sz="2000"/>
          </a:p>
          <a:p>
            <a:pPr indent="0" lvl="0" marL="0" rtl="0" algn="l">
              <a:spcBef>
                <a:spcPts val="0"/>
              </a:spcBef>
              <a:spcAft>
                <a:spcPts val="0"/>
              </a:spcAft>
              <a:buClr>
                <a:schemeClr val="dk1"/>
              </a:buClr>
              <a:buSzPts val="1100"/>
              <a:buFont typeface="Arial"/>
              <a:buNone/>
            </a:pPr>
            <a:r>
              <a:rPr lang="en-GB" sz="2000"/>
              <a:t>ex:DoctorFaustus ex:author ex:Marlowe ; ex:price "12"^^xsd:integer ;</a:t>
            </a:r>
            <a:endParaRPr sz="2000"/>
          </a:p>
          <a:p>
            <a:pPr indent="0" lvl="0" marL="0" rtl="0" algn="l">
              <a:spcBef>
                <a:spcPts val="0"/>
              </a:spcBef>
              <a:spcAft>
                <a:spcPts val="0"/>
              </a:spcAft>
              <a:buClr>
                <a:schemeClr val="dk1"/>
              </a:buClr>
              <a:buSzPts val="1100"/>
              <a:buFont typeface="Arial"/>
              <a:buNone/>
            </a:pPr>
            <a:r>
              <a:rPr lang="en-GB" sz="2000"/>
              <a:t>    ex:title "The Tragical History of Doctor Faustus" .</a:t>
            </a:r>
            <a:endParaRPr sz="2000"/>
          </a:p>
          <a:p>
            <a:pPr indent="0" lvl="0" marL="0" rtl="0" algn="l">
              <a:spcBef>
                <a:spcPts val="0"/>
              </a:spcBef>
              <a:spcAft>
                <a:spcPts val="0"/>
              </a:spcAft>
              <a:buNone/>
            </a:pPr>
            <a:r>
              <a:rPr lang="en-GB" sz="2000"/>
              <a:t>ex:RomeoJulia ex:author ex:Brooke ; ex:price "9"^^xsd:integer .</a:t>
            </a:r>
            <a:endParaRPr sz="2000"/>
          </a:p>
          <a:p>
            <a:pPr indent="0" lvl="0" marL="0" rtl="0" algn="l">
              <a:spcBef>
                <a:spcPts val="0"/>
              </a:spcBef>
              <a:spcAft>
                <a:spcPts val="0"/>
              </a:spcAft>
              <a:buClr>
                <a:schemeClr val="dk1"/>
              </a:buClr>
              <a:buSzPts val="1100"/>
              <a:buFont typeface="Arial"/>
              <a:buNone/>
            </a:pPr>
            <a:r>
              <a:rPr lang="en-GB" sz="2000"/>
              <a:t>Viết truy vấn SPARQL lấy ra danh sách sách của ex:Shakespeare được sắp xếp theo giá giảm dần, và giải thích các bước thực hiện truy vấn dựa trên biểu thức đại số SPARQL.</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