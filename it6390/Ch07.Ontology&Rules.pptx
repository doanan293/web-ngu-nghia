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F433E2-C877-4814-8414-1239BDD90EB9}">
  <a:tblStyle styleId="{E6F433E2-C877-4814-8414-1239BDD90EB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142aeabd6b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142aeabd6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42aeabd6b8_0_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42aeabd6b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b17e44047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b17e4404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b23f66f3f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b23f66f3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c42ab717a3_0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c42ab717a3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42ab717a3_0_9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42ab717a3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c42ab717a3_0_1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c42ab717a3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c42ab717a3_0_10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c42ab717a3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c42ab717a3_0_1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c42ab717a3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c42ab717a3_0_1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c42ab717a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c42ab717a3_0_1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c42ab717a3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6213c99107_0_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6213c9910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6213c99107_0_5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6213c9910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6213c99107_0_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6213c9910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6213c99107_0_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6213c9910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6213c99107_0_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6213c9910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b23f66f3f3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b23f66f3f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c42596a92c_0_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c42596a92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62095fb2c2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62095fb2c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62095fb2c2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62095fb2c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c42596a92c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c42596a92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c42596a92c_0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c42596a92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c42596a92c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c42596a92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c42596a92c_0_3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c42596a92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62095fb2c2_0_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62095fb2c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c42596a92c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c42596a92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c42596a92c_0_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c42596a92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c7a220f60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c7a220f6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9ded162ab6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9ded162ab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9ded162ab6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9ded162ab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c42596a92c_0_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c42596a92c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c42596a92c_0_1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c42596a92c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6213c99107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6213c9910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6213c99107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6213c9910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b23f66f3f3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b23f66f3f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c7a220f60c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c7a220f60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b17e440479_0_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b17e44047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c7a220f60c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c7a220f60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c7a220f60c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c7a220f60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c7a220f60c_0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c7a220f60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c7a220f60c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c7a220f60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c7a220f60c_0_3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c7a220f60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c7a220f60c_0_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c7a220f60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c7a220f60c_0_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c7a220f60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c7a220f60c_0_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c7a220f60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c44baee93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c44baee9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c44baee938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c44baee93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6213c99107_0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6213c9910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6213c99107_0_10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6213c99107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b23f66f3f3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b23f66f3f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c7a220f60c_0_6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c7a220f60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c7a220f60c_0_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c7a220f60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c7a220f60c_0_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c7a220f60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c7a220f60c_0_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c7a220f60c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c7a220f60c_0_8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c7a220f60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6213c99107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26213c9910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6213c99107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6213c9910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c7a220f60c_0_9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c7a220f60c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c7a220f60c_0_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c7a220f60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c38f8655ca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c38f8655c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6213c99107_0_1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6213c99107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6213c99107_0_1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6213c99107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6213c99107_0_1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6213c99107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6213c99107_0_1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26213c99107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6213c99107_0_1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6213c99107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6213c99107_0_1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6213c9910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9e897c696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29e897c69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6213c99107_0_1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6213c99107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9e897c696a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29e897c69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26213c99107_0_18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26213c99107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6213c99107_0_1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6213c99107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6213c99107_0_1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26213c99107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6213c99107_0_1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6213c9910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29e897c696a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29e897c696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29e897c696a_0_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29e897c696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6213c99107_0_1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6213c99107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29e897c696a_0_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29e897c696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a7ee019c68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2a7ee019c6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a7ee019c68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a7ee019c6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142aeabd6b8_0_6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142aeabd6b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1574475"/>
            <a:ext cx="8520600" cy="20994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FFFFF"/>
              </a:buClr>
              <a:buSzPts val="4800"/>
              <a:buNone/>
              <a:defRPr b="1" sz="4800">
                <a:solidFill>
                  <a:srgbClr val="FFFFFF"/>
                </a:solidFill>
              </a:defRPr>
            </a:lvl1pPr>
            <a:lvl2pPr lvl="1" algn="ctr">
              <a:spcBef>
                <a:spcPts val="0"/>
              </a:spcBef>
              <a:spcAft>
                <a:spcPts val="0"/>
              </a:spcAft>
              <a:buClr>
                <a:srgbClr val="FFFFFF"/>
              </a:buClr>
              <a:buSzPts val="5200"/>
              <a:buNone/>
              <a:defRPr sz="5200">
                <a:solidFill>
                  <a:srgbClr val="FFFFFF"/>
                </a:solidFill>
              </a:defRPr>
            </a:lvl2pPr>
            <a:lvl3pPr lvl="2" algn="ctr">
              <a:spcBef>
                <a:spcPts val="0"/>
              </a:spcBef>
              <a:spcAft>
                <a:spcPts val="0"/>
              </a:spcAft>
              <a:buClr>
                <a:srgbClr val="FFFFFF"/>
              </a:buClr>
              <a:buSzPts val="5200"/>
              <a:buNone/>
              <a:defRPr sz="5200">
                <a:solidFill>
                  <a:srgbClr val="FFFFFF"/>
                </a:solidFill>
              </a:defRPr>
            </a:lvl3pPr>
            <a:lvl4pPr lvl="3" algn="ctr">
              <a:spcBef>
                <a:spcPts val="0"/>
              </a:spcBef>
              <a:spcAft>
                <a:spcPts val="0"/>
              </a:spcAft>
              <a:buClr>
                <a:srgbClr val="FFFFFF"/>
              </a:buClr>
              <a:buSzPts val="5200"/>
              <a:buNone/>
              <a:defRPr sz="5200">
                <a:solidFill>
                  <a:srgbClr val="FFFFFF"/>
                </a:solidFill>
              </a:defRPr>
            </a:lvl4pPr>
            <a:lvl5pPr lvl="4" algn="ctr">
              <a:spcBef>
                <a:spcPts val="0"/>
              </a:spcBef>
              <a:spcAft>
                <a:spcPts val="0"/>
              </a:spcAft>
              <a:buClr>
                <a:srgbClr val="FFFFFF"/>
              </a:buClr>
              <a:buSzPts val="5200"/>
              <a:buNone/>
              <a:defRPr sz="5200">
                <a:solidFill>
                  <a:srgbClr val="FFFFFF"/>
                </a:solidFill>
              </a:defRPr>
            </a:lvl5pPr>
            <a:lvl6pPr lvl="5" algn="ctr">
              <a:spcBef>
                <a:spcPts val="0"/>
              </a:spcBef>
              <a:spcAft>
                <a:spcPts val="0"/>
              </a:spcAft>
              <a:buClr>
                <a:srgbClr val="FFFFFF"/>
              </a:buClr>
              <a:buSzPts val="5200"/>
              <a:buNone/>
              <a:defRPr sz="5200">
                <a:solidFill>
                  <a:srgbClr val="FFFFFF"/>
                </a:solidFill>
              </a:defRPr>
            </a:lvl6pPr>
            <a:lvl7pPr lvl="6" algn="ctr">
              <a:spcBef>
                <a:spcPts val="0"/>
              </a:spcBef>
              <a:spcAft>
                <a:spcPts val="0"/>
              </a:spcAft>
              <a:buClr>
                <a:srgbClr val="FFFFFF"/>
              </a:buClr>
              <a:buSzPts val="5200"/>
              <a:buNone/>
              <a:defRPr sz="5200">
                <a:solidFill>
                  <a:srgbClr val="FFFFFF"/>
                </a:solidFill>
              </a:defRPr>
            </a:lvl7pPr>
            <a:lvl8pPr lvl="7" algn="ctr">
              <a:spcBef>
                <a:spcPts val="0"/>
              </a:spcBef>
              <a:spcAft>
                <a:spcPts val="0"/>
              </a:spcAft>
              <a:buClr>
                <a:srgbClr val="FFFFFF"/>
              </a:buClr>
              <a:buSzPts val="5200"/>
              <a:buNone/>
              <a:defRPr sz="5200">
                <a:solidFill>
                  <a:srgbClr val="FFFFFF"/>
                </a:solidFill>
              </a:defRPr>
            </a:lvl8pPr>
            <a:lvl9pPr lvl="8" algn="ctr">
              <a:spcBef>
                <a:spcPts val="0"/>
              </a:spcBef>
              <a:spcAft>
                <a:spcPts val="0"/>
              </a:spcAft>
              <a:buClr>
                <a:srgbClr val="FFFFFF"/>
              </a:buClr>
              <a:buSzPts val="5200"/>
              <a:buNone/>
              <a:defRPr sz="5200">
                <a:solidFill>
                  <a:srgbClr val="FFFFFF"/>
                </a:solidFill>
              </a:defRPr>
            </a:lvl9pPr>
          </a:lstStyle>
          <a:p/>
        </p:txBody>
      </p:sp>
      <p:sp>
        <p:nvSpPr>
          <p:cNvPr id="11" name="Google Shape;11;p2"/>
          <p:cNvSpPr txBox="1"/>
          <p:nvPr>
            <p:ph idx="1" type="subTitle"/>
          </p:nvPr>
        </p:nvSpPr>
        <p:spPr>
          <a:xfrm>
            <a:off x="311700" y="38550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rgbClr val="FFFFFF"/>
              </a:buClr>
              <a:buSzPts val="3200"/>
              <a:buNone/>
              <a:defRPr b="1" sz="3200">
                <a:solidFill>
                  <a:srgbClr val="FFFFFF"/>
                </a:solidFill>
              </a:defRPr>
            </a:lvl1pPr>
            <a:lvl2pPr lvl="1" algn="ctr">
              <a:lnSpc>
                <a:spcPct val="100000"/>
              </a:lnSpc>
              <a:spcBef>
                <a:spcPts val="0"/>
              </a:spcBef>
              <a:spcAft>
                <a:spcPts val="0"/>
              </a:spcAft>
              <a:buClr>
                <a:srgbClr val="FFFFFF"/>
              </a:buClr>
              <a:buSzPts val="2800"/>
              <a:buNone/>
              <a:defRPr sz="2800">
                <a:solidFill>
                  <a:srgbClr val="FFFFFF"/>
                </a:solidFill>
              </a:defRPr>
            </a:lvl2pPr>
            <a:lvl3pPr lvl="2" algn="ctr">
              <a:lnSpc>
                <a:spcPct val="100000"/>
              </a:lnSpc>
              <a:spcBef>
                <a:spcPts val="0"/>
              </a:spcBef>
              <a:spcAft>
                <a:spcPts val="0"/>
              </a:spcAft>
              <a:buClr>
                <a:srgbClr val="FFFFFF"/>
              </a:buClr>
              <a:buSzPts val="2800"/>
              <a:buNone/>
              <a:defRPr sz="2800">
                <a:solidFill>
                  <a:srgbClr val="FFFFFF"/>
                </a:solidFill>
              </a:defRPr>
            </a:lvl3pPr>
            <a:lvl4pPr lvl="3" algn="ctr">
              <a:lnSpc>
                <a:spcPct val="100000"/>
              </a:lnSpc>
              <a:spcBef>
                <a:spcPts val="0"/>
              </a:spcBef>
              <a:spcAft>
                <a:spcPts val="0"/>
              </a:spcAft>
              <a:buClr>
                <a:srgbClr val="FFFFFF"/>
              </a:buClr>
              <a:buSzPts val="2800"/>
              <a:buNone/>
              <a:defRPr sz="2800">
                <a:solidFill>
                  <a:srgbClr val="FFFFFF"/>
                </a:solidFill>
              </a:defRPr>
            </a:lvl4pPr>
            <a:lvl5pPr lvl="4" algn="ctr">
              <a:lnSpc>
                <a:spcPct val="100000"/>
              </a:lnSpc>
              <a:spcBef>
                <a:spcPts val="0"/>
              </a:spcBef>
              <a:spcAft>
                <a:spcPts val="0"/>
              </a:spcAft>
              <a:buClr>
                <a:srgbClr val="FFFFFF"/>
              </a:buClr>
              <a:buSzPts val="2800"/>
              <a:buNone/>
              <a:defRPr sz="2800">
                <a:solidFill>
                  <a:srgbClr val="FFFFFF"/>
                </a:solidFill>
              </a:defRPr>
            </a:lvl5pPr>
            <a:lvl6pPr lvl="5" algn="ctr">
              <a:lnSpc>
                <a:spcPct val="100000"/>
              </a:lnSpc>
              <a:spcBef>
                <a:spcPts val="0"/>
              </a:spcBef>
              <a:spcAft>
                <a:spcPts val="0"/>
              </a:spcAft>
              <a:buClr>
                <a:srgbClr val="FFFFFF"/>
              </a:buClr>
              <a:buSzPts val="2800"/>
              <a:buNone/>
              <a:defRPr sz="2800">
                <a:solidFill>
                  <a:srgbClr val="FFFFFF"/>
                </a:solidFill>
              </a:defRPr>
            </a:lvl6pPr>
            <a:lvl7pPr lvl="6" algn="ctr">
              <a:lnSpc>
                <a:spcPct val="100000"/>
              </a:lnSpc>
              <a:spcBef>
                <a:spcPts val="0"/>
              </a:spcBef>
              <a:spcAft>
                <a:spcPts val="0"/>
              </a:spcAft>
              <a:buClr>
                <a:srgbClr val="FFFFFF"/>
              </a:buClr>
              <a:buSzPts val="2800"/>
              <a:buNone/>
              <a:defRPr sz="2800">
                <a:solidFill>
                  <a:srgbClr val="FFFFFF"/>
                </a:solidFill>
              </a:defRPr>
            </a:lvl7pPr>
            <a:lvl8pPr lvl="7" algn="ctr">
              <a:lnSpc>
                <a:spcPct val="100000"/>
              </a:lnSpc>
              <a:spcBef>
                <a:spcPts val="0"/>
              </a:spcBef>
              <a:spcAft>
                <a:spcPts val="0"/>
              </a:spcAft>
              <a:buClr>
                <a:srgbClr val="FFFFFF"/>
              </a:buClr>
              <a:buSzPts val="2800"/>
              <a:buNone/>
              <a:defRPr sz="2800">
                <a:solidFill>
                  <a:srgbClr val="FFFFFF"/>
                </a:solidFill>
              </a:defRPr>
            </a:lvl8pPr>
            <a:lvl9pPr lvl="8" algn="ctr">
              <a:lnSpc>
                <a:spcPct val="100000"/>
              </a:lnSpc>
              <a:spcBef>
                <a:spcPts val="0"/>
              </a:spcBef>
              <a:spcAft>
                <a:spcPts val="0"/>
              </a:spcAft>
              <a:buClr>
                <a:srgbClr val="FFFFFF"/>
              </a:buClr>
              <a:buSzPts val="2800"/>
              <a:buNone/>
              <a:defRPr sz="2800">
                <a:solidFill>
                  <a:srgbClr val="FFFFFF"/>
                </a:solidFill>
              </a:defRPr>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3" name="Shape 13"/>
        <p:cNvGrpSpPr/>
        <p:nvPr/>
      </p:nvGrpSpPr>
      <p:grpSpPr>
        <a:xfrm>
          <a:off x="0" y="0"/>
          <a:ext cx="0" cy="0"/>
          <a:chOff x="0" y="0"/>
          <a:chExt cx="0" cy="0"/>
        </a:xfrm>
      </p:grpSpPr>
      <p:sp>
        <p:nvSpPr>
          <p:cNvPr id="14" name="Google Shape;14;p3"/>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0" name="Google Shape;20;p5"/>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22" name="Shape 22"/>
        <p:cNvGrpSpPr/>
        <p:nvPr/>
      </p:nvGrpSpPr>
      <p:grpSpPr>
        <a:xfrm>
          <a:off x="0" y="0"/>
          <a:ext cx="0" cy="0"/>
          <a:chOff x="0" y="0"/>
          <a:chExt cx="0" cy="0"/>
        </a:xfrm>
      </p:grpSpPr>
      <p:sp>
        <p:nvSpPr>
          <p:cNvPr id="23" name="Google Shape;23;p6"/>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6" name="Google Shape;26;p7"/>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7"/>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31" name="Google Shape;31;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9"/>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9"/>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10"/>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1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1"/>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11"/>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11"/>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2"/>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7" name="Google Shape;47;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3"/>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3"/>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12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400"/>
              <a:buNone/>
              <a:defRPr sz="3400">
                <a:solidFill>
                  <a:schemeClr val="dk1"/>
                </a:solidFill>
              </a:defRPr>
            </a:lvl1pPr>
            <a:lvl2pPr lvl="1">
              <a:spcBef>
                <a:spcPts val="0"/>
              </a:spcBef>
              <a:spcAft>
                <a:spcPts val="0"/>
              </a:spcAft>
              <a:buClr>
                <a:schemeClr val="dk1"/>
              </a:buClr>
              <a:buSzPts val="3400"/>
              <a:buNone/>
              <a:defRPr sz="3400">
                <a:solidFill>
                  <a:schemeClr val="dk1"/>
                </a:solidFill>
              </a:defRPr>
            </a:lvl2pPr>
            <a:lvl3pPr lvl="2">
              <a:spcBef>
                <a:spcPts val="0"/>
              </a:spcBef>
              <a:spcAft>
                <a:spcPts val="0"/>
              </a:spcAft>
              <a:buClr>
                <a:schemeClr val="dk1"/>
              </a:buClr>
              <a:buSzPts val="3400"/>
              <a:buNone/>
              <a:defRPr sz="3400">
                <a:solidFill>
                  <a:schemeClr val="dk1"/>
                </a:solidFill>
              </a:defRPr>
            </a:lvl3pPr>
            <a:lvl4pPr lvl="3">
              <a:spcBef>
                <a:spcPts val="0"/>
              </a:spcBef>
              <a:spcAft>
                <a:spcPts val="0"/>
              </a:spcAft>
              <a:buClr>
                <a:schemeClr val="dk1"/>
              </a:buClr>
              <a:buSzPts val="3400"/>
              <a:buNone/>
              <a:defRPr sz="3400">
                <a:solidFill>
                  <a:schemeClr val="dk1"/>
                </a:solidFill>
              </a:defRPr>
            </a:lvl4pPr>
            <a:lvl5pPr lvl="4">
              <a:spcBef>
                <a:spcPts val="0"/>
              </a:spcBef>
              <a:spcAft>
                <a:spcPts val="0"/>
              </a:spcAft>
              <a:buClr>
                <a:schemeClr val="dk1"/>
              </a:buClr>
              <a:buSzPts val="3400"/>
              <a:buNone/>
              <a:defRPr sz="3400">
                <a:solidFill>
                  <a:schemeClr val="dk1"/>
                </a:solidFill>
              </a:defRPr>
            </a:lvl5pPr>
            <a:lvl6pPr lvl="5">
              <a:spcBef>
                <a:spcPts val="0"/>
              </a:spcBef>
              <a:spcAft>
                <a:spcPts val="0"/>
              </a:spcAft>
              <a:buClr>
                <a:schemeClr val="dk1"/>
              </a:buClr>
              <a:buSzPts val="3400"/>
              <a:buNone/>
              <a:defRPr sz="3400">
                <a:solidFill>
                  <a:schemeClr val="dk1"/>
                </a:solidFill>
              </a:defRPr>
            </a:lvl6pPr>
            <a:lvl7pPr lvl="6">
              <a:spcBef>
                <a:spcPts val="0"/>
              </a:spcBef>
              <a:spcAft>
                <a:spcPts val="0"/>
              </a:spcAft>
              <a:buClr>
                <a:schemeClr val="dk1"/>
              </a:buClr>
              <a:buSzPts val="3400"/>
              <a:buNone/>
              <a:defRPr sz="3400">
                <a:solidFill>
                  <a:schemeClr val="dk1"/>
                </a:solidFill>
              </a:defRPr>
            </a:lvl7pPr>
            <a:lvl8pPr lvl="7">
              <a:spcBef>
                <a:spcPts val="0"/>
              </a:spcBef>
              <a:spcAft>
                <a:spcPts val="0"/>
              </a:spcAft>
              <a:buClr>
                <a:schemeClr val="dk1"/>
              </a:buClr>
              <a:buSzPts val="3400"/>
              <a:buNone/>
              <a:defRPr sz="3400">
                <a:solidFill>
                  <a:schemeClr val="dk1"/>
                </a:solidFill>
              </a:defRPr>
            </a:lvl8pPr>
            <a:lvl9pPr lvl="8">
              <a:spcBef>
                <a:spcPts val="0"/>
              </a:spcBef>
              <a:spcAft>
                <a:spcPts val="0"/>
              </a:spcAft>
              <a:buClr>
                <a:schemeClr val="dk1"/>
              </a:buClr>
              <a:buSzPts val="3400"/>
              <a:buNone/>
              <a:defRPr sz="3400">
                <a:solidFill>
                  <a:schemeClr val="dk1"/>
                </a:solidFill>
              </a:defRPr>
            </a:lvl9pPr>
          </a:lstStyle>
          <a:p/>
        </p:txBody>
      </p:sp>
      <p:sp>
        <p:nvSpPr>
          <p:cNvPr id="7" name="Google Shape;7;p1"/>
          <p:cNvSpPr txBox="1"/>
          <p:nvPr>
            <p:ph idx="1" type="body"/>
          </p:nvPr>
        </p:nvSpPr>
        <p:spPr>
          <a:xfrm>
            <a:off x="311700" y="975875"/>
            <a:ext cx="8520600" cy="54054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68300" lvl="1" marL="914400">
              <a:lnSpc>
                <a:spcPct val="115000"/>
              </a:lnSpc>
              <a:spcBef>
                <a:spcPts val="0"/>
              </a:spcBef>
              <a:spcAft>
                <a:spcPts val="0"/>
              </a:spcAft>
              <a:buClr>
                <a:schemeClr val="dk2"/>
              </a:buClr>
              <a:buSzPts val="2200"/>
              <a:buChar char="○"/>
              <a:defRPr sz="2200">
                <a:solidFill>
                  <a:schemeClr val="dk2"/>
                </a:solidFill>
              </a:defRPr>
            </a:lvl2pPr>
            <a:lvl3pPr indent="-342900" lvl="2" marL="1371600">
              <a:lnSpc>
                <a:spcPct val="115000"/>
              </a:lnSpc>
              <a:spcBef>
                <a:spcPts val="0"/>
              </a:spcBef>
              <a:spcAft>
                <a:spcPts val="0"/>
              </a:spcAft>
              <a:buClr>
                <a:schemeClr val="dk2"/>
              </a:buClr>
              <a:buSzPts val="1800"/>
              <a:buChar char="■"/>
              <a:defRPr sz="1800">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spreadsheets/d/16NaelTtrh8hQDamcq9H_15qvPjAP1e-xLicRaRkAF_M/edit?gid=718429524#gid=71842952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hyperlink" Target="https://www.w3.org/TR/2013/NOTE-rif-primer-20130205/"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hyperlink" Target="http://www.w3.org/2000/01/rdf-schema" TargetMode="External"/><Relationship Id="rId4" Type="http://schemas.openxmlformats.org/officeDocument/2006/relationships/hyperlink" Target="http://dbpedia.org/ontology/"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5"/>
          <p:cNvSpPr txBox="1"/>
          <p:nvPr>
            <p:ph idx="4294967295" type="body"/>
          </p:nvPr>
        </p:nvSpPr>
        <p:spPr>
          <a:xfrm>
            <a:off x="464100" y="4355367"/>
            <a:ext cx="8520600" cy="1734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Soạn bởi: Nguyễn Bá Ngọc</a:t>
            </a:r>
            <a:endParaRPr sz="2600"/>
          </a:p>
        </p:txBody>
      </p:sp>
      <p:sp>
        <p:nvSpPr>
          <p:cNvPr id="59" name="Google Shape;59;p15"/>
          <p:cNvSpPr txBox="1"/>
          <p:nvPr>
            <p:ph type="ctrTitle"/>
          </p:nvPr>
        </p:nvSpPr>
        <p:spPr>
          <a:xfrm>
            <a:off x="311700" y="1574475"/>
            <a:ext cx="8520600" cy="209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Web ngữ nghĩa</a:t>
            </a:r>
            <a:endParaRPr sz="4200"/>
          </a:p>
        </p:txBody>
      </p:sp>
      <p:sp>
        <p:nvSpPr>
          <p:cNvPr id="60" name="Google Shape;60;p15"/>
          <p:cNvSpPr txBox="1"/>
          <p:nvPr>
            <p:ph idx="1" type="subTitle"/>
          </p:nvPr>
        </p:nvSpPr>
        <p:spPr>
          <a:xfrm>
            <a:off x="311700" y="3855033"/>
            <a:ext cx="8520600" cy="1056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Soạn bởi: Nguyễn Bá Ngọc</a:t>
            </a:r>
            <a:endParaRPr sz="2600"/>
          </a:p>
        </p:txBody>
      </p:sp>
      <p:sp>
        <p:nvSpPr>
          <p:cNvPr id="61" name="Google Shape;61;p15"/>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Nội-2021</a:t>
            </a:r>
            <a:endParaRPr sz="2600"/>
          </a:p>
        </p:txBody>
      </p:sp>
      <p:sp>
        <p:nvSpPr>
          <p:cNvPr id="62" name="Google Shape;62;p15"/>
          <p:cNvSpPr txBox="1"/>
          <p:nvPr/>
        </p:nvSpPr>
        <p:spPr>
          <a:xfrm>
            <a:off x="491750" y="4667633"/>
            <a:ext cx="26586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t>Chương 7</a:t>
            </a:r>
            <a:endParaRPr sz="3600"/>
          </a:p>
        </p:txBody>
      </p:sp>
      <p:sp>
        <p:nvSpPr>
          <p:cNvPr id="63" name="Google Shape;63;p15"/>
          <p:cNvSpPr txBox="1"/>
          <p:nvPr>
            <p:ph idx="4294967295" type="title"/>
          </p:nvPr>
        </p:nvSpPr>
        <p:spPr>
          <a:xfrm>
            <a:off x="464100" y="1627233"/>
            <a:ext cx="8520600" cy="261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4200"/>
              <a:t>Web ngữ nghĩa</a:t>
            </a:r>
            <a:endParaRPr sz="4200"/>
          </a:p>
        </p:txBody>
      </p:sp>
      <p:sp>
        <p:nvSpPr>
          <p:cNvPr id="64" name="Google Shape;64;p15"/>
          <p:cNvSpPr txBox="1"/>
          <p:nvPr/>
        </p:nvSpPr>
        <p:spPr>
          <a:xfrm>
            <a:off x="402000" y="3177625"/>
            <a:ext cx="8644800" cy="17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u="sng">
                <a:solidFill>
                  <a:schemeClr val="hlink"/>
                </a:solidFill>
                <a:hlinkClick r:id="rId3"/>
              </a:rPr>
              <a:t>https://docs.google.com/spreadsheets/d/16NaelTtrh8hQDamcq9H_15qvPjAP1e-xLicRaRkAF_M/edit?gid=718429524#gid=718429524</a:t>
            </a:r>
            <a:endParaRPr sz="2400">
              <a:solidFill>
                <a:schemeClr val="dk2"/>
              </a:solidFill>
            </a:endParaRPr>
          </a:p>
          <a:p>
            <a:pPr indent="0" lvl="0" marL="0" rtl="0" algn="l">
              <a:spcBef>
                <a:spcPts val="0"/>
              </a:spcBef>
              <a:spcAft>
                <a:spcPts val="0"/>
              </a:spcAft>
              <a:buNone/>
            </a:pPr>
            <a:r>
              <a:t/>
            </a:r>
            <a:endParaRPr sz="24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ph type="title"/>
          </p:nvPr>
        </p:nvSpPr>
        <p:spPr>
          <a:xfrm>
            <a:off x="311700" y="2459625"/>
            <a:ext cx="8520600" cy="169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Chương 7.</a:t>
            </a:r>
            <a:endParaRPr/>
          </a:p>
          <a:p>
            <a:pPr indent="0" lvl="0" marL="0" rtl="0" algn="ctr">
              <a:spcBef>
                <a:spcPts val="0"/>
              </a:spcBef>
              <a:spcAft>
                <a:spcPts val="0"/>
              </a:spcAft>
              <a:buNone/>
            </a:pPr>
            <a:r>
              <a:rPr lang="en-GB"/>
              <a:t>Lu</a:t>
            </a:r>
            <a:r>
              <a:rPr lang="en-GB"/>
              <a:t>ật</a:t>
            </a:r>
            <a:endParaRPr/>
          </a:p>
        </p:txBody>
      </p:sp>
      <p:sp>
        <p:nvSpPr>
          <p:cNvPr id="70" name="Google Shape;70;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a:t>
            </a:r>
            <a:r>
              <a:rPr lang="en-GB"/>
              <a:t>ội dung</a:t>
            </a:r>
            <a:endParaRPr/>
          </a:p>
        </p:txBody>
      </p:sp>
      <p:sp>
        <p:nvSpPr>
          <p:cNvPr id="76" name="Google Shape;76;p17"/>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7.1. Khái niệm luật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7.2. Datalog như ngôn ngữ luật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7.3. Kết hợp luật với OWL DL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7.4. Định dạng trao đổi luật RIF</a:t>
            </a:r>
            <a:endParaRPr>
              <a:solidFill>
                <a:schemeClr val="dk1"/>
              </a:solidFill>
              <a:latin typeface="Times New Roman"/>
              <a:ea typeface="Times New Roman"/>
              <a:cs typeface="Times New Roman"/>
              <a:sym typeface="Times New Roman"/>
            </a:endParaRPr>
          </a:p>
        </p:txBody>
      </p:sp>
      <p:sp>
        <p:nvSpPr>
          <p:cNvPr id="77" name="Google Shape;77;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83" name="Google Shape;83;p18"/>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7.1. Khái niệm luật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7.2. Datalog như ngôn ngữ luật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7.3. Kết hợp luật với OWL DL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7.4. Định dạng trao đổi luật RIF</a:t>
            </a:r>
            <a:endParaRPr>
              <a:solidFill>
                <a:schemeClr val="dk1"/>
              </a:solidFill>
              <a:latin typeface="Times New Roman"/>
              <a:ea typeface="Times New Roman"/>
              <a:cs typeface="Times New Roman"/>
              <a:sym typeface="Times New Roman"/>
            </a:endParaRPr>
          </a:p>
        </p:txBody>
      </p:sp>
      <p:sp>
        <p:nvSpPr>
          <p:cNvPr id="84" name="Google Shape;84;p18"/>
          <p:cNvSpPr/>
          <p:nvPr/>
        </p:nvSpPr>
        <p:spPr>
          <a:xfrm>
            <a:off x="318450" y="878000"/>
            <a:ext cx="54777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Luật là gì?</a:t>
            </a:r>
            <a:endParaRPr/>
          </a:p>
        </p:txBody>
      </p:sp>
      <p:sp>
        <p:nvSpPr>
          <p:cNvPr id="91" name="Google Shape;91;p19"/>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Luật lô-gic (1 phần của lô-gic b</a:t>
            </a:r>
            <a:r>
              <a:rPr lang="en-GB"/>
              <a:t>ậc nhất</a:t>
            </a:r>
            <a:r>
              <a:rPr lang="en-GB"/>
              <a:t>):</a:t>
            </a:r>
            <a:endParaRPr/>
          </a:p>
          <a:p>
            <a:pPr indent="-368300" lvl="1" marL="914400" rtl="0" algn="l">
              <a:spcBef>
                <a:spcPts val="0"/>
              </a:spcBef>
              <a:spcAft>
                <a:spcPts val="0"/>
              </a:spcAft>
              <a:buSzPts val="2200"/>
              <a:buChar char="○"/>
            </a:pPr>
            <a:r>
              <a:rPr lang="en-GB"/>
              <a:t>F →G  tương đương với ¬F ∨ G</a:t>
            </a:r>
            <a:endParaRPr/>
          </a:p>
          <a:p>
            <a:pPr indent="-368300" lvl="1" marL="914400" rtl="0" algn="l">
              <a:spcBef>
                <a:spcPts val="0"/>
              </a:spcBef>
              <a:spcAft>
                <a:spcPts val="0"/>
              </a:spcAft>
              <a:buSzPts val="2200"/>
              <a:buChar char="○"/>
            </a:pPr>
            <a:r>
              <a:rPr lang="en-GB"/>
              <a:t>Mở rộng lô-gic của cơ sở tri thức ⇝ t</a:t>
            </a:r>
            <a:r>
              <a:rPr lang="en-GB"/>
              <a:t>ĩnh/ngoại tuyến</a:t>
            </a:r>
            <a:endParaRPr/>
          </a:p>
          <a:p>
            <a:pPr indent="-368300" lvl="1" marL="914400" rtl="0" algn="l">
              <a:spcBef>
                <a:spcPts val="0"/>
              </a:spcBef>
              <a:spcAft>
                <a:spcPts val="0"/>
              </a:spcAft>
              <a:buSzPts val="2200"/>
              <a:buChar char="○"/>
            </a:pPr>
            <a:r>
              <a:rPr lang="en-GB"/>
              <a:t>Thế giới mở</a:t>
            </a:r>
            <a:endParaRPr/>
          </a:p>
          <a:p>
            <a:pPr indent="-368300" lvl="1" marL="914400" rtl="0" algn="l">
              <a:spcBef>
                <a:spcPts val="0"/>
              </a:spcBef>
              <a:spcAft>
                <a:spcPts val="0"/>
              </a:spcAft>
              <a:buClr>
                <a:schemeClr val="dk1"/>
              </a:buClr>
              <a:buSzPts val="2200"/>
              <a:buChar char="○"/>
            </a:pPr>
            <a:r>
              <a:rPr lang="en-GB"/>
              <a:t>Ngôn ngữ khai báo (declarative/describing)</a:t>
            </a:r>
            <a:endParaRPr/>
          </a:p>
          <a:p>
            <a:pPr indent="-381000" lvl="0" marL="457200" rtl="0" algn="l">
              <a:spcBef>
                <a:spcPts val="0"/>
              </a:spcBef>
              <a:spcAft>
                <a:spcPts val="0"/>
              </a:spcAft>
              <a:buSzPts val="2400"/>
              <a:buChar char="●"/>
            </a:pPr>
            <a:r>
              <a:rPr lang="en-GB"/>
              <a:t>Luật sinh (production rules):</a:t>
            </a:r>
            <a:endParaRPr/>
          </a:p>
          <a:p>
            <a:pPr indent="-368300" lvl="1" marL="914400" rtl="0" algn="l">
              <a:spcBef>
                <a:spcPts val="0"/>
              </a:spcBef>
              <a:spcAft>
                <a:spcPts val="0"/>
              </a:spcAft>
              <a:buSzPts val="2200"/>
              <a:buChar char="○"/>
            </a:pPr>
            <a:r>
              <a:rPr lang="en-GB"/>
              <a:t>if X then Y else Z</a:t>
            </a:r>
            <a:endParaRPr/>
          </a:p>
          <a:p>
            <a:pPr indent="-368300" lvl="1" marL="914400" rtl="0" algn="l">
              <a:spcBef>
                <a:spcPts val="0"/>
              </a:spcBef>
              <a:spcAft>
                <a:spcPts val="0"/>
              </a:spcAft>
              <a:buSzPts val="2200"/>
              <a:buChar char="○"/>
            </a:pPr>
            <a:r>
              <a:rPr lang="en-GB"/>
              <a:t>Các lệnh thực thi ⇝ </a:t>
            </a:r>
            <a:r>
              <a:rPr lang="en-GB"/>
              <a:t>động/trực tuyến</a:t>
            </a:r>
            <a:endParaRPr/>
          </a:p>
          <a:p>
            <a:pPr indent="-368300" lvl="1" marL="914400" rtl="0" algn="l">
              <a:spcBef>
                <a:spcPts val="0"/>
              </a:spcBef>
              <a:spcAft>
                <a:spcPts val="0"/>
              </a:spcAft>
              <a:buSzPts val="2200"/>
              <a:buChar char="○"/>
            </a:pPr>
            <a:r>
              <a:rPr lang="en-GB"/>
              <a:t>Thao tác (ý nghĩa = hiệu ứng khi thực hiện)</a:t>
            </a:r>
            <a:endParaRPr/>
          </a:p>
          <a:p>
            <a:pPr indent="-381000" lvl="0" marL="457200" rtl="0" algn="l">
              <a:spcBef>
                <a:spcPts val="0"/>
              </a:spcBef>
              <a:spcAft>
                <a:spcPts val="0"/>
              </a:spcAft>
              <a:buSzPts val="2400"/>
              <a:buChar char="●"/>
            </a:pPr>
            <a:r>
              <a:rPr lang="en-GB"/>
              <a:t>Lập trình lô-gic (ví dụ, PROLOG, F-Logic):</a:t>
            </a:r>
            <a:endParaRPr/>
          </a:p>
          <a:p>
            <a:pPr indent="-368300" lvl="1" marL="914400" rtl="0" algn="l">
              <a:spcBef>
                <a:spcPts val="0"/>
              </a:spcBef>
              <a:spcAft>
                <a:spcPts val="0"/>
              </a:spcAft>
              <a:buSzPts val="2200"/>
              <a:buChar char="○"/>
            </a:pPr>
            <a:r>
              <a:rPr lang="en-GB"/>
              <a:t>man (X) &lt;- person(X) AND NOT woman(X)</a:t>
            </a:r>
            <a:endParaRPr/>
          </a:p>
          <a:p>
            <a:pPr indent="-368300" lvl="1" marL="914400" rtl="0" algn="l">
              <a:spcBef>
                <a:spcPts val="0"/>
              </a:spcBef>
              <a:spcAft>
                <a:spcPts val="0"/>
              </a:spcAft>
              <a:buSzPts val="2200"/>
              <a:buChar char="○"/>
            </a:pPr>
            <a:r>
              <a:rPr lang="en-GB"/>
              <a:t>Kết nối</a:t>
            </a:r>
            <a:r>
              <a:rPr lang="en-GB"/>
              <a:t> ngữ nghĩa lô-gic với các khía cạnh tính toán</a:t>
            </a:r>
            <a:endParaRPr/>
          </a:p>
          <a:p>
            <a:pPr indent="-368300" lvl="1" marL="914400" rtl="0" algn="l">
              <a:spcBef>
                <a:spcPts val="0"/>
              </a:spcBef>
              <a:spcAft>
                <a:spcPts val="0"/>
              </a:spcAft>
              <a:buSzPts val="2200"/>
              <a:buChar char="○"/>
            </a:pPr>
            <a:r>
              <a:rPr lang="en-GB"/>
              <a:t>Thường là thế giới đóng</a:t>
            </a:r>
            <a:endParaRPr/>
          </a:p>
          <a:p>
            <a:pPr indent="-368300" lvl="1" marL="914400" rtl="0" algn="l">
              <a:spcBef>
                <a:spcPts val="0"/>
              </a:spcBef>
              <a:spcAft>
                <a:spcPts val="0"/>
              </a:spcAft>
              <a:buSzPts val="2200"/>
              <a:buChar char="○"/>
            </a:pPr>
            <a:r>
              <a:rPr lang="en-GB"/>
              <a:t>Bán khai báo</a:t>
            </a:r>
            <a:endParaRPr/>
          </a:p>
        </p:txBody>
      </p:sp>
      <p:sp>
        <p:nvSpPr>
          <p:cNvPr id="92" name="Google Shape;92;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Luật trong </a:t>
            </a:r>
            <a:r>
              <a:rPr lang="en-GB"/>
              <a:t>Lô-gic b</a:t>
            </a:r>
            <a:r>
              <a:rPr lang="en-GB"/>
              <a:t>ậc nhất</a:t>
            </a:r>
            <a:endParaRPr/>
          </a:p>
        </p:txBody>
      </p:sp>
      <p:sp>
        <p:nvSpPr>
          <p:cNvPr id="98" name="Google Shape;98;p20"/>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Luật như công thức suy diễn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68300" lvl="1" marL="914400" rtl="0" algn="l">
              <a:spcBef>
                <a:spcPts val="0"/>
              </a:spcBef>
              <a:spcAft>
                <a:spcPts val="0"/>
              </a:spcAft>
              <a:buSzPts val="2200"/>
              <a:buChar char="○"/>
            </a:pPr>
            <a:r>
              <a:rPr lang="en-GB"/>
              <a:t>⇝ </a:t>
            </a:r>
            <a:r>
              <a:rPr lang="en-GB"/>
              <a:t>có giá trị chân lý</a:t>
            </a:r>
            <a:r>
              <a:rPr lang="en-GB"/>
              <a:t> tương đương với</a:t>
            </a:r>
            <a:endParaRPr/>
          </a:p>
          <a:p>
            <a:pPr indent="0" lvl="0" marL="0" rtl="0" algn="ctr">
              <a:spcBef>
                <a:spcPts val="0"/>
              </a:spcBef>
              <a:spcAft>
                <a:spcPts val="0"/>
              </a:spcAft>
              <a:buNone/>
            </a:pPr>
            <a:r>
              <a:rPr lang="en-GB"/>
              <a:t>H ∨ ¬A</a:t>
            </a:r>
            <a:r>
              <a:rPr baseline="-25000" lang="en-GB"/>
              <a:t>1</a:t>
            </a:r>
            <a:r>
              <a:rPr lang="en-GB"/>
              <a:t> ∨ ¬A</a:t>
            </a:r>
            <a:r>
              <a:rPr baseline="-25000" lang="en-GB"/>
              <a:t>2</a:t>
            </a:r>
            <a:r>
              <a:rPr lang="en-GB"/>
              <a:t> ∨ . . . ∨ ¬A</a:t>
            </a:r>
            <a:r>
              <a:rPr baseline="-25000" lang="en-GB"/>
              <a:t>n</a:t>
            </a:r>
            <a:endParaRPr baseline="-25000"/>
          </a:p>
          <a:p>
            <a:pPr indent="-381000" lvl="0" marL="457200" rtl="0" algn="l">
              <a:spcBef>
                <a:spcPts val="0"/>
              </a:spcBef>
              <a:spcAft>
                <a:spcPts val="0"/>
              </a:spcAft>
              <a:buSzPts val="2400"/>
              <a:buChar char="●"/>
            </a:pPr>
            <a:r>
              <a:rPr lang="en-GB"/>
              <a:t>Suy diễn thường được viết theo chiều từ phải qua trái</a:t>
            </a:r>
            <a:endParaRPr/>
          </a:p>
          <a:p>
            <a:pPr indent="-381000" lvl="0" marL="457200" rtl="0" algn="l">
              <a:spcBef>
                <a:spcPts val="0"/>
              </a:spcBef>
              <a:spcAft>
                <a:spcPts val="0"/>
              </a:spcAft>
              <a:buSzPts val="2400"/>
              <a:buChar char="●"/>
            </a:pPr>
            <a:r>
              <a:rPr lang="en-GB"/>
              <a:t>Được phép sử dụng các hằng, biến và hàm ký tự</a:t>
            </a:r>
            <a:endParaRPr/>
          </a:p>
          <a:p>
            <a:pPr indent="-381000" lvl="0" marL="457200" rtl="0" algn="l">
              <a:spcBef>
                <a:spcPts val="0"/>
              </a:spcBef>
              <a:spcAft>
                <a:spcPts val="0"/>
              </a:spcAft>
              <a:buSzPts val="2400"/>
              <a:buChar char="●"/>
            </a:pPr>
            <a:r>
              <a:rPr lang="en-GB"/>
              <a:t>Các định lượng cho biến thường được bỏ qua</a:t>
            </a:r>
            <a:endParaRPr/>
          </a:p>
          <a:p>
            <a:pPr indent="-368300" lvl="1" marL="914400" rtl="0" algn="l">
              <a:spcBef>
                <a:spcPts val="0"/>
              </a:spcBef>
              <a:spcAft>
                <a:spcPts val="0"/>
              </a:spcAft>
              <a:buSzPts val="2200"/>
              <a:buChar char="○"/>
            </a:pPr>
            <a:r>
              <a:rPr lang="en-GB"/>
              <a:t>Các biến tự do thường được </a:t>
            </a:r>
            <a:r>
              <a:rPr lang="en-GB"/>
              <a:t>mặc định là</a:t>
            </a:r>
            <a:r>
              <a:rPr lang="en-GB"/>
              <a:t> các </a:t>
            </a:r>
            <a:r>
              <a:rPr lang="en-GB"/>
              <a:t>định</a:t>
            </a:r>
            <a:r>
              <a:rPr lang="en-GB"/>
              <a:t> lượng toàn thể (luật hợp lệ với tất cả các </a:t>
            </a:r>
            <a:r>
              <a:rPr lang="en-GB"/>
              <a:t>giá trị của </a:t>
            </a:r>
            <a:r>
              <a:rPr lang="en-GB"/>
              <a:t>biến)</a:t>
            </a:r>
            <a:endParaRPr/>
          </a:p>
        </p:txBody>
      </p:sp>
      <p:grpSp>
        <p:nvGrpSpPr>
          <p:cNvPr id="99" name="Google Shape;99;p20"/>
          <p:cNvGrpSpPr/>
          <p:nvPr/>
        </p:nvGrpSpPr>
        <p:grpSpPr>
          <a:xfrm>
            <a:off x="2183650" y="1346200"/>
            <a:ext cx="4018500" cy="970500"/>
            <a:chOff x="2183650" y="2032000"/>
            <a:chExt cx="4018500" cy="970500"/>
          </a:xfrm>
        </p:grpSpPr>
        <p:sp>
          <p:nvSpPr>
            <p:cNvPr id="100" name="Google Shape;100;p20"/>
            <p:cNvSpPr txBox="1"/>
            <p:nvPr/>
          </p:nvSpPr>
          <p:spPr>
            <a:xfrm>
              <a:off x="2183650" y="2032000"/>
              <a:ext cx="4018500" cy="97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t>H ← A</a:t>
              </a:r>
              <a:r>
                <a:rPr baseline="-25000" lang="en-GB" sz="2200"/>
                <a:t>1</a:t>
              </a:r>
              <a:r>
                <a:rPr lang="en-GB" sz="2200"/>
                <a:t> ∧ A</a:t>
              </a:r>
              <a:r>
                <a:rPr baseline="-25000" lang="en-GB" sz="2200"/>
                <a:t>2</a:t>
              </a:r>
              <a:r>
                <a:rPr lang="en-GB" sz="2200"/>
                <a:t> ∧ . . . ∧ A</a:t>
              </a:r>
              <a:r>
                <a:rPr baseline="-25000" lang="en-GB" sz="2200"/>
                <a:t>n</a:t>
              </a:r>
              <a:endParaRPr sz="2200"/>
            </a:p>
            <a:p>
              <a:pPr indent="0" lvl="0" marL="0" rtl="0" algn="l">
                <a:spcBef>
                  <a:spcPts val="1000"/>
                </a:spcBef>
                <a:spcAft>
                  <a:spcPts val="0"/>
                </a:spcAft>
                <a:buNone/>
              </a:pPr>
              <a:r>
                <a:rPr lang="en-GB" sz="2200"/>
                <a:t>     đầu                thân</a:t>
              </a:r>
              <a:endParaRPr sz="2200"/>
            </a:p>
          </p:txBody>
        </p:sp>
        <p:sp>
          <p:nvSpPr>
            <p:cNvPr id="101" name="Google Shape;101;p20"/>
            <p:cNvSpPr/>
            <p:nvPr/>
          </p:nvSpPr>
          <p:spPr>
            <a:xfrm rot="-5400000">
              <a:off x="2699603" y="2243150"/>
              <a:ext cx="257700" cy="4245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0"/>
            <p:cNvSpPr/>
            <p:nvPr/>
          </p:nvSpPr>
          <p:spPr>
            <a:xfrm rot="-5400000">
              <a:off x="4426084" y="1278650"/>
              <a:ext cx="257700" cy="2505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7.1. Luật</a:t>
            </a:r>
            <a:endParaRPr/>
          </a:p>
        </p:txBody>
      </p:sp>
      <p:sp>
        <p:nvSpPr>
          <p:cNvPr id="109" name="Google Shape;109;p21"/>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hasUncle(x,z) ← hasParent(x, y) ∧ hasBrother(y,z)</a:t>
            </a:r>
            <a:endParaRPr/>
          </a:p>
          <a:p>
            <a:pPr indent="-381000" lvl="0" marL="457200" rtl="0" algn="l">
              <a:spcBef>
                <a:spcPts val="0"/>
              </a:spcBef>
              <a:spcAft>
                <a:spcPts val="0"/>
              </a:spcAft>
              <a:buSzPts val="2400"/>
              <a:buChar char="●"/>
            </a:pPr>
            <a:r>
              <a:rPr lang="en-GB"/>
              <a:t>Chúng ta sử dụng các tên ngắn gọn (hasUncle) thay cho các IRIs như: http://example.org/Example#hasUncle</a:t>
            </a:r>
            <a:endParaRPr/>
          </a:p>
          <a:p>
            <a:pPr indent="-381000" lvl="0" marL="457200" rtl="0" algn="l">
              <a:spcBef>
                <a:spcPts val="0"/>
              </a:spcBef>
              <a:spcAft>
                <a:spcPts val="0"/>
              </a:spcAft>
              <a:buSzPts val="2400"/>
              <a:buChar char="●"/>
            </a:pPr>
            <a:r>
              <a:rPr lang="en-GB"/>
              <a:t>và</a:t>
            </a:r>
            <a:r>
              <a:rPr lang="en-GB"/>
              <a:t> các ký hiệu x, y, z cho các biến</a:t>
            </a:r>
            <a:endParaRPr/>
          </a:p>
        </p:txBody>
      </p:sp>
      <p:sp>
        <p:nvSpPr>
          <p:cNvPr id="110" name="Google Shape;110;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Biến đổi Lloyd-Topor</a:t>
            </a:r>
            <a:endParaRPr/>
          </a:p>
        </p:txBody>
      </p:sp>
      <p:sp>
        <p:nvSpPr>
          <p:cNvPr id="116" name="Google Shape;116;p22"/>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Liên kết mặc định cho các phần tử liên tiếp trong phần đầu </a:t>
            </a:r>
            <a:r>
              <a:rPr lang="en-GB"/>
              <a:t>luật</a:t>
            </a:r>
            <a:r>
              <a:rPr lang="en-GB"/>
              <a:t> là h</a:t>
            </a:r>
            <a:r>
              <a:rPr lang="en-GB"/>
              <a:t>ội (và)</a:t>
            </a:r>
            <a:r>
              <a:rPr lang="en-GB"/>
              <a:t>:</a:t>
            </a:r>
            <a:endParaRPr/>
          </a:p>
          <a:p>
            <a:pPr indent="0" lvl="0" marL="0" rtl="0" algn="ctr">
              <a:spcBef>
                <a:spcPts val="0"/>
              </a:spcBef>
              <a:spcAft>
                <a:spcPts val="0"/>
              </a:spcAft>
              <a:buNone/>
            </a:pPr>
            <a:r>
              <a:rPr lang="en-GB"/>
              <a:t>H</a:t>
            </a:r>
            <a:r>
              <a:rPr baseline="-25000" lang="en-GB"/>
              <a:t>1</a:t>
            </a:r>
            <a:r>
              <a:rPr lang="en-GB"/>
              <a:t>, H</a:t>
            </a:r>
            <a:r>
              <a:rPr baseline="-25000" lang="en-GB"/>
              <a:t>2</a:t>
            </a:r>
            <a:r>
              <a:rPr lang="en-GB"/>
              <a:t>, . . . , H</a:t>
            </a:r>
            <a:r>
              <a:rPr baseline="-25000" lang="en-GB"/>
              <a:t>m</a:t>
            </a:r>
            <a:r>
              <a:rPr lang="en-GB"/>
              <a:t> ← A</a:t>
            </a:r>
            <a:r>
              <a:rPr baseline="-25000" lang="en-GB"/>
              <a:t>1</a:t>
            </a:r>
            <a:r>
              <a:rPr lang="en-GB"/>
              <a:t>, A</a:t>
            </a:r>
            <a:r>
              <a:rPr baseline="-25000" lang="en-GB"/>
              <a:t>2</a:t>
            </a:r>
            <a:r>
              <a:rPr lang="en-GB"/>
              <a:t>, . . . , A</a:t>
            </a:r>
            <a:r>
              <a:rPr baseline="-25000" lang="en-GB"/>
              <a:t>n</a:t>
            </a:r>
            <a:endParaRPr baseline="-25000"/>
          </a:p>
          <a:p>
            <a:pPr indent="0" lvl="0" marL="0" rtl="0" algn="ctr">
              <a:spcBef>
                <a:spcPts val="0"/>
              </a:spcBef>
              <a:spcAft>
                <a:spcPts val="0"/>
              </a:spcAft>
              <a:buNone/>
            </a:pPr>
            <a:r>
              <a:rPr lang="en-GB"/>
              <a:t>Tương đương với</a:t>
            </a:r>
            <a:endParaRPr/>
          </a:p>
          <a:p>
            <a:pPr indent="0" lvl="0" marL="0" rtl="0" algn="ctr">
              <a:spcBef>
                <a:spcPts val="0"/>
              </a:spcBef>
              <a:spcAft>
                <a:spcPts val="0"/>
              </a:spcAft>
              <a:buClr>
                <a:schemeClr val="dk1"/>
              </a:buClr>
              <a:buSzPts val="1100"/>
              <a:buFont typeface="Arial"/>
              <a:buNone/>
            </a:pPr>
            <a:r>
              <a:rPr lang="en-GB"/>
              <a:t>H</a:t>
            </a:r>
            <a:r>
              <a:rPr baseline="-25000" lang="en-GB"/>
              <a:t>1</a:t>
            </a:r>
            <a:r>
              <a:rPr lang="en-GB"/>
              <a:t> ← A</a:t>
            </a:r>
            <a:r>
              <a:rPr baseline="-25000" lang="en-GB"/>
              <a:t>1</a:t>
            </a:r>
            <a:r>
              <a:rPr lang="en-GB"/>
              <a:t>, A</a:t>
            </a:r>
            <a:r>
              <a:rPr baseline="-25000" lang="en-GB"/>
              <a:t>2</a:t>
            </a:r>
            <a:r>
              <a:rPr lang="en-GB"/>
              <a:t>, . . . , A</a:t>
            </a:r>
            <a:r>
              <a:rPr baseline="-25000" lang="en-GB"/>
              <a:t>n</a:t>
            </a:r>
            <a:endParaRPr baseline="-25000"/>
          </a:p>
          <a:p>
            <a:pPr indent="0" lvl="0" marL="0" rtl="0" algn="ctr">
              <a:spcBef>
                <a:spcPts val="0"/>
              </a:spcBef>
              <a:spcAft>
                <a:spcPts val="0"/>
              </a:spcAft>
              <a:buClr>
                <a:schemeClr val="dk1"/>
              </a:buClr>
              <a:buSzPts val="1100"/>
              <a:buFont typeface="Arial"/>
              <a:buNone/>
            </a:pPr>
            <a:r>
              <a:rPr lang="en-GB"/>
              <a:t>H</a:t>
            </a:r>
            <a:r>
              <a:rPr baseline="-25000" lang="en-GB"/>
              <a:t>2</a:t>
            </a:r>
            <a:r>
              <a:rPr lang="en-GB"/>
              <a:t> ← A</a:t>
            </a:r>
            <a:r>
              <a:rPr baseline="-25000" lang="en-GB"/>
              <a:t>1</a:t>
            </a:r>
            <a:r>
              <a:rPr lang="en-GB"/>
              <a:t>, A</a:t>
            </a:r>
            <a:r>
              <a:rPr baseline="-25000" lang="en-GB"/>
              <a:t>2</a:t>
            </a:r>
            <a:r>
              <a:rPr lang="en-GB"/>
              <a:t>, . . . , A</a:t>
            </a:r>
            <a:r>
              <a:rPr baseline="-25000" lang="en-GB"/>
              <a:t>n</a:t>
            </a:r>
            <a:endParaRPr baseline="-25000"/>
          </a:p>
          <a:p>
            <a:pPr indent="0" lvl="0" marL="0" rtl="0" algn="ctr">
              <a:spcBef>
                <a:spcPts val="0"/>
              </a:spcBef>
              <a:spcAft>
                <a:spcPts val="0"/>
              </a:spcAft>
              <a:buClr>
                <a:schemeClr val="dk1"/>
              </a:buClr>
              <a:buSzPts val="1100"/>
              <a:buFont typeface="Arial"/>
              <a:buNone/>
            </a:pPr>
            <a:r>
              <a:rPr lang="en-GB"/>
              <a:t>. . .</a:t>
            </a:r>
            <a:endParaRPr/>
          </a:p>
          <a:p>
            <a:pPr indent="0" lvl="0" marL="0" rtl="0" algn="ctr">
              <a:spcBef>
                <a:spcPts val="0"/>
              </a:spcBef>
              <a:spcAft>
                <a:spcPts val="0"/>
              </a:spcAft>
              <a:buClr>
                <a:schemeClr val="dk1"/>
              </a:buClr>
              <a:buSzPts val="1100"/>
              <a:buFont typeface="Arial"/>
              <a:buNone/>
            </a:pPr>
            <a:r>
              <a:rPr lang="en-GB"/>
              <a:t>H</a:t>
            </a:r>
            <a:r>
              <a:rPr baseline="-25000" lang="en-GB"/>
              <a:t>m</a:t>
            </a:r>
            <a:r>
              <a:rPr lang="en-GB"/>
              <a:t> ← A</a:t>
            </a:r>
            <a:r>
              <a:rPr baseline="-25000" lang="en-GB"/>
              <a:t>1</a:t>
            </a:r>
            <a:r>
              <a:rPr lang="en-GB"/>
              <a:t>, A</a:t>
            </a:r>
            <a:r>
              <a:rPr baseline="-25000" lang="en-GB"/>
              <a:t>2</a:t>
            </a:r>
            <a:r>
              <a:rPr lang="en-GB"/>
              <a:t>, . . . , A</a:t>
            </a:r>
            <a:r>
              <a:rPr baseline="-25000" lang="en-GB"/>
              <a:t>n</a:t>
            </a:r>
            <a:endParaRPr baseline="-25000"/>
          </a:p>
          <a:p>
            <a:pPr indent="0" lvl="0" marL="0" rtl="0" algn="ctr">
              <a:spcBef>
                <a:spcPts val="0"/>
              </a:spcBef>
              <a:spcAft>
                <a:spcPts val="0"/>
              </a:spcAft>
              <a:buClr>
                <a:schemeClr val="dk1"/>
              </a:buClr>
              <a:buSzPts val="1100"/>
              <a:buFont typeface="Arial"/>
              <a:buNone/>
            </a:pPr>
            <a:r>
              <a:t/>
            </a:r>
            <a:endParaRPr baseline="-25000"/>
          </a:p>
          <a:p>
            <a:pPr indent="-381000" lvl="0" marL="457200" rtl="0" algn="l">
              <a:spcBef>
                <a:spcPts val="0"/>
              </a:spcBef>
              <a:spcAft>
                <a:spcPts val="0"/>
              </a:spcAft>
              <a:buSzPts val="2400"/>
              <a:buChar char="●"/>
            </a:pPr>
            <a:r>
              <a:rPr lang="en-GB"/>
              <a:t>Những biến đổi như vậy được gọi là biến đổi Lloyd-Topor</a:t>
            </a:r>
            <a:endParaRPr/>
          </a:p>
        </p:txBody>
      </p:sp>
      <p:sp>
        <p:nvSpPr>
          <p:cNvPr id="117" name="Google Shape;117;p22"/>
          <p:cNvSpPr/>
          <p:nvPr/>
        </p:nvSpPr>
        <p:spPr>
          <a:xfrm>
            <a:off x="2620525" y="2771075"/>
            <a:ext cx="334500" cy="16542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luật tuyển</a:t>
            </a:r>
            <a:endParaRPr/>
          </a:p>
        </p:txBody>
      </p:sp>
      <p:sp>
        <p:nvSpPr>
          <p:cNvPr id="124" name="Google Shape;124;p23"/>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Một số hệ luật sử dụng phép tuyển</a:t>
            </a:r>
            <a:endParaRPr/>
          </a:p>
          <a:p>
            <a:pPr indent="0" lvl="0" marL="0" rtl="0" algn="l">
              <a:spcBef>
                <a:spcPts val="0"/>
              </a:spcBef>
              <a:spcAft>
                <a:spcPts val="0"/>
              </a:spcAft>
              <a:buNone/>
            </a:pPr>
            <a:r>
              <a:rPr lang="en-GB"/>
              <a:t>⇝ </a:t>
            </a:r>
            <a:r>
              <a:rPr lang="en-GB"/>
              <a:t>Trong đó các</a:t>
            </a:r>
            <a:r>
              <a:rPr lang="en-GB"/>
              <a:t> phần tử trong phần đầu được coi là các lựa chọn tương đương:</a:t>
            </a:r>
            <a:endParaRPr/>
          </a:p>
          <a:p>
            <a:pPr indent="0" lvl="0" marL="0" rtl="0" algn="ctr">
              <a:spcBef>
                <a:spcPts val="0"/>
              </a:spcBef>
              <a:spcAft>
                <a:spcPts val="0"/>
              </a:spcAft>
              <a:buNone/>
            </a:pPr>
            <a:r>
              <a:rPr lang="en-GB"/>
              <a:t>H</a:t>
            </a:r>
            <a:r>
              <a:rPr baseline="-25000" lang="en-GB"/>
              <a:t>1</a:t>
            </a:r>
            <a:r>
              <a:rPr lang="en-GB"/>
              <a:t>, H</a:t>
            </a:r>
            <a:r>
              <a:rPr baseline="-25000" lang="en-GB"/>
              <a:t>2</a:t>
            </a:r>
            <a:r>
              <a:rPr lang="en-GB"/>
              <a:t>, . . . , H</a:t>
            </a:r>
            <a:r>
              <a:rPr baseline="-25000" lang="en-GB"/>
              <a:t>m</a:t>
            </a:r>
            <a:r>
              <a:rPr lang="en-GB"/>
              <a:t> ← A</a:t>
            </a:r>
            <a:r>
              <a:rPr baseline="-25000" lang="en-GB"/>
              <a:t>1</a:t>
            </a:r>
            <a:r>
              <a:rPr lang="en-GB"/>
              <a:t>, A</a:t>
            </a:r>
            <a:r>
              <a:rPr baseline="-25000" lang="en-GB"/>
              <a:t>2</a:t>
            </a:r>
            <a:r>
              <a:rPr lang="en-GB"/>
              <a:t>,..., A</a:t>
            </a:r>
            <a:r>
              <a:rPr baseline="-25000" lang="en-GB"/>
              <a:t>n</a:t>
            </a:r>
            <a:endParaRPr/>
          </a:p>
          <a:p>
            <a:pPr indent="0" lvl="0" marL="0" rtl="0" algn="l">
              <a:spcBef>
                <a:spcPts val="0"/>
              </a:spcBef>
              <a:spcAft>
                <a:spcPts val="0"/>
              </a:spcAft>
              <a:buNone/>
            </a:pPr>
            <a:r>
              <a:rPr lang="en-GB"/>
              <a:t>tương đương với</a:t>
            </a:r>
            <a:endParaRPr/>
          </a:p>
          <a:p>
            <a:pPr indent="0" lvl="0" marL="0" rtl="0" algn="ctr">
              <a:spcBef>
                <a:spcPts val="0"/>
              </a:spcBef>
              <a:spcAft>
                <a:spcPts val="0"/>
              </a:spcAft>
              <a:buNone/>
            </a:pPr>
            <a:r>
              <a:rPr lang="en-GB"/>
              <a:t>H</a:t>
            </a:r>
            <a:r>
              <a:rPr baseline="-25000" lang="en-GB"/>
              <a:t>1</a:t>
            </a:r>
            <a:r>
              <a:rPr lang="en-GB"/>
              <a:t> ∨ H</a:t>
            </a:r>
            <a:r>
              <a:rPr baseline="-25000" lang="en-GB"/>
              <a:t>2</a:t>
            </a:r>
            <a:r>
              <a:rPr lang="en-GB"/>
              <a:t> ∨ . . . ∨ H</a:t>
            </a:r>
            <a:r>
              <a:rPr baseline="-25000" lang="en-GB"/>
              <a:t>m</a:t>
            </a:r>
            <a:r>
              <a:rPr lang="en-GB"/>
              <a:t> ← A</a:t>
            </a:r>
            <a:r>
              <a:rPr baseline="-25000" lang="en-GB"/>
              <a:t>1</a:t>
            </a:r>
            <a:r>
              <a:rPr lang="en-GB"/>
              <a:t> ∧ A</a:t>
            </a:r>
            <a:r>
              <a:rPr baseline="-25000" lang="en-GB"/>
              <a:t>2</a:t>
            </a:r>
            <a:r>
              <a:rPr lang="en-GB"/>
              <a:t> ∧ . . . ∧ A</a:t>
            </a:r>
            <a:r>
              <a:rPr baseline="-25000" lang="en-GB"/>
              <a:t>n</a:t>
            </a:r>
            <a:endParaRPr/>
          </a:p>
          <a:p>
            <a:pPr indent="0" lvl="0" marL="0" rtl="0" algn="l">
              <a:spcBef>
                <a:spcPts val="0"/>
              </a:spcBef>
              <a:spcAft>
                <a:spcPts val="0"/>
              </a:spcAft>
              <a:buNone/>
            </a:pPr>
            <a:r>
              <a:rPr lang="en-GB"/>
              <a:t>tương đương với </a:t>
            </a:r>
            <a:endParaRPr/>
          </a:p>
          <a:p>
            <a:pPr indent="0" lvl="0" marL="0" rtl="0" algn="ctr">
              <a:spcBef>
                <a:spcPts val="0"/>
              </a:spcBef>
              <a:spcAft>
                <a:spcPts val="0"/>
              </a:spcAft>
              <a:buNone/>
            </a:pPr>
            <a:r>
              <a:rPr lang="en-GB"/>
              <a:t>H</a:t>
            </a:r>
            <a:r>
              <a:rPr baseline="-25000" lang="en-GB"/>
              <a:t>1</a:t>
            </a:r>
            <a:r>
              <a:rPr lang="en-GB"/>
              <a:t> ∨ H</a:t>
            </a:r>
            <a:r>
              <a:rPr baseline="-25000" lang="en-GB"/>
              <a:t>2</a:t>
            </a:r>
            <a:r>
              <a:rPr lang="en-GB"/>
              <a:t> ∨ . . . ∨ H</a:t>
            </a:r>
            <a:r>
              <a:rPr baseline="-25000" lang="en-GB"/>
              <a:t>m</a:t>
            </a:r>
            <a:r>
              <a:rPr lang="en-GB"/>
              <a:t> ∨ ¬A</a:t>
            </a:r>
            <a:r>
              <a:rPr baseline="-25000" lang="en-GB"/>
              <a:t>1</a:t>
            </a:r>
            <a:r>
              <a:rPr lang="en-GB"/>
              <a:t> ∨ ¬A</a:t>
            </a:r>
            <a:r>
              <a:rPr baseline="-25000" lang="en-GB"/>
              <a:t>2</a:t>
            </a:r>
            <a:r>
              <a:rPr lang="en-GB"/>
              <a:t> ∨ . . . ∨ ¬A</a:t>
            </a:r>
            <a:r>
              <a:rPr baseline="-25000" lang="en-GB"/>
              <a:t>n</a:t>
            </a:r>
            <a:endParaRPr baseline="-25000"/>
          </a:p>
          <a:p>
            <a:pPr indent="0" lvl="0" marL="0" rtl="0" algn="l">
              <a:spcBef>
                <a:spcPts val="0"/>
              </a:spcBef>
              <a:spcAft>
                <a:spcPts val="0"/>
              </a:spcAft>
              <a:buNone/>
            </a:pPr>
            <a:r>
              <a:rPr lang="en-GB"/>
              <a:t>⇝	(kh</a:t>
            </a:r>
            <a:r>
              <a:rPr lang="en-GB"/>
              <a:t>ông đi vào chi tiết trong bài giảng này</a:t>
            </a:r>
            <a:r>
              <a:rPr lang="en-GB"/>
              <a:t>)</a:t>
            </a:r>
            <a:endParaRPr/>
          </a:p>
        </p:txBody>
      </p:sp>
      <p:sp>
        <p:nvSpPr>
          <p:cNvPr id="125" name="Google Shape;125;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 mệnh đề</a:t>
            </a:r>
            <a:endParaRPr/>
          </a:p>
        </p:txBody>
      </p:sp>
      <p:sp>
        <p:nvSpPr>
          <p:cNvPr id="131" name="Google Shape;131;p24"/>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T</a:t>
            </a:r>
            <a:r>
              <a:rPr lang="en-GB">
                <a:solidFill>
                  <a:srgbClr val="666666"/>
                </a:solidFill>
              </a:rPr>
              <a:t>rong lô-gic b</a:t>
            </a:r>
            <a:r>
              <a:rPr lang="en-GB">
                <a:solidFill>
                  <a:srgbClr val="666666"/>
                </a:solidFill>
              </a:rPr>
              <a:t>ậc nhất</a:t>
            </a:r>
            <a:r>
              <a:rPr lang="en-GB">
                <a:solidFill>
                  <a:srgbClr val="666666"/>
                </a:solidFill>
              </a:rPr>
              <a:t>:</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Mệnh đề: </a:t>
            </a:r>
            <a:r>
              <a:rPr lang="en-GB">
                <a:solidFill>
                  <a:srgbClr val="666666"/>
                </a:solidFill>
              </a:rPr>
              <a:t>Gồm t</a:t>
            </a:r>
            <a:r>
              <a:rPr lang="en-GB">
                <a:solidFill>
                  <a:srgbClr val="666666"/>
                </a:solidFill>
              </a:rPr>
              <a:t>uyển v</a:t>
            </a:r>
            <a:r>
              <a:rPr lang="en-GB">
                <a:solidFill>
                  <a:srgbClr val="666666"/>
                </a:solidFill>
              </a:rPr>
              <a:t>à phủ định </a:t>
            </a:r>
            <a:r>
              <a:rPr lang="en-GB">
                <a:solidFill>
                  <a:srgbClr val="666666"/>
                </a:solidFill>
              </a:rPr>
              <a:t>của các m</a:t>
            </a:r>
            <a:r>
              <a:rPr lang="en-GB">
                <a:solidFill>
                  <a:srgbClr val="666666"/>
                </a:solidFill>
              </a:rPr>
              <a:t>ệnh đề</a:t>
            </a:r>
            <a:r>
              <a:rPr lang="en-GB">
                <a:solidFill>
                  <a:srgbClr val="666666"/>
                </a:solidFill>
              </a:rPr>
              <a:t> đơn vị</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a:t>
            </a:r>
            <a:r>
              <a:rPr lang="en-GB">
                <a:solidFill>
                  <a:srgbClr val="666666"/>
                </a:solidFill>
              </a:rPr>
              <a:t>Person(x) v</a:t>
            </a:r>
            <a:r>
              <a:rPr lang="en-GB">
                <a:solidFill>
                  <a:srgbClr val="666666"/>
                </a:solidFill>
              </a:rPr>
              <a:t> </a:t>
            </a:r>
            <a:r>
              <a:rPr lang="en-GB">
                <a:solidFill>
                  <a:srgbClr val="666666"/>
                </a:solidFill>
              </a:rPr>
              <a:t>Woman(x) ∨ Man(x)</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Mệnh đề Horn: Mệnh đề với tối đa 1 ph</a:t>
            </a:r>
            <a:r>
              <a:rPr lang="en-GB">
                <a:solidFill>
                  <a:srgbClr val="666666"/>
                </a:solidFill>
              </a:rPr>
              <a:t>ần tử</a:t>
            </a:r>
            <a:r>
              <a:rPr lang="en-GB">
                <a:solidFill>
                  <a:srgbClr val="666666"/>
                </a:solidFill>
              </a:rPr>
              <a:t> </a:t>
            </a:r>
            <a:r>
              <a:rPr lang="en-GB">
                <a:solidFill>
                  <a:srgbClr val="666666"/>
                </a:solidFill>
              </a:rPr>
              <a:t>khẳng định (non-negated)</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 ← Man(x) ∧ Woman(x)</a:t>
            </a:r>
            <a:endParaRPr>
              <a:solidFill>
                <a:srgbClr val="666666"/>
              </a:solidFill>
            </a:endParaRPr>
          </a:p>
          <a:p>
            <a:pPr indent="-342900" lvl="2" marL="1371600" rtl="0" algn="l">
              <a:spcBef>
                <a:spcPts val="0"/>
              </a:spcBef>
              <a:spcAft>
                <a:spcPts val="0"/>
              </a:spcAft>
              <a:buClr>
                <a:srgbClr val="666666"/>
              </a:buClr>
              <a:buSzPts val="1800"/>
              <a:buChar char="■"/>
            </a:pPr>
            <a:r>
              <a:rPr lang="en-GB" sz="2200">
                <a:solidFill>
                  <a:srgbClr val="666666"/>
                </a:solidFill>
              </a:rPr>
              <a:t>⌐(⌐Man(x) v ⌐Woman(x))</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Mệnh đề xác định: Mệnh đề Horn với đúng 1 </a:t>
            </a:r>
            <a:r>
              <a:rPr lang="en-GB">
                <a:solidFill>
                  <a:srgbClr val="666666"/>
                </a:solidFill>
              </a:rPr>
              <a:t>phần tử</a:t>
            </a:r>
            <a:r>
              <a:rPr lang="en-GB">
                <a:solidFill>
                  <a:srgbClr val="666666"/>
                </a:solidFill>
              </a:rPr>
              <a:t> </a:t>
            </a:r>
            <a:r>
              <a:rPr lang="en-GB">
                <a:solidFill>
                  <a:srgbClr val="666666"/>
                </a:solidFill>
              </a:rPr>
              <a:t>khẳng định</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Father(x) ← Man(x) ∧ hasChild(x, y)</a:t>
            </a:r>
            <a:endParaRPr>
              <a:solidFill>
                <a:srgbClr val="666666"/>
              </a:solidFill>
            </a:endParaRPr>
          </a:p>
          <a:p>
            <a:pPr indent="-342900" lvl="2" marL="1371600" rtl="0" algn="l">
              <a:spcBef>
                <a:spcPts val="0"/>
              </a:spcBef>
              <a:spcAft>
                <a:spcPts val="0"/>
              </a:spcAft>
              <a:buClr>
                <a:srgbClr val="666666"/>
              </a:buClr>
              <a:buSzPts val="1800"/>
              <a:buChar char="■"/>
            </a:pPr>
            <a:r>
              <a:rPr lang="en-GB">
                <a:solidFill>
                  <a:srgbClr val="666666"/>
                </a:solidFill>
              </a:rPr>
              <a:t>Father(x) v ⌐Man(x) v ⌐hasChild(x, y)</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Dữ kiện: Mệnh đề chứa đúng 1 </a:t>
            </a:r>
            <a:r>
              <a:rPr lang="en-GB">
                <a:solidFill>
                  <a:srgbClr val="666666"/>
                </a:solidFill>
              </a:rPr>
              <a:t>phần tử khẳng định</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Woman(gisela)</a:t>
            </a:r>
            <a:endParaRPr>
              <a:solidFill>
                <a:srgbClr val="666666"/>
              </a:solidFill>
            </a:endParaRPr>
          </a:p>
        </p:txBody>
      </p:sp>
      <p:sp>
        <p:nvSpPr>
          <p:cNvPr id="132" name="Google Shape;132;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Hàm ký tự</a:t>
            </a:r>
            <a:endParaRPr baseline="-25000"/>
          </a:p>
        </p:txBody>
      </p:sp>
      <p:sp>
        <p:nvSpPr>
          <p:cNvPr id="138" name="Google Shape;138;p25"/>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Luật có thể chứa các hàm ký tự:</a:t>
            </a:r>
            <a:endParaRPr/>
          </a:p>
          <a:p>
            <a:pPr indent="0" lvl="0" marL="360001" rtl="0" algn="l">
              <a:spcBef>
                <a:spcPts val="0"/>
              </a:spcBef>
              <a:spcAft>
                <a:spcPts val="0"/>
              </a:spcAft>
              <a:buClr>
                <a:schemeClr val="dk1"/>
              </a:buClr>
              <a:buSzPts val="1100"/>
              <a:buFont typeface="Arial"/>
              <a:buNone/>
            </a:pPr>
            <a:r>
              <a:rPr lang="en-GB"/>
              <a:t>hasUncle(x, y) ←hasBrother(mother(x), y)</a:t>
            </a:r>
            <a:endParaRPr/>
          </a:p>
          <a:p>
            <a:pPr indent="0" lvl="0" marL="360001" rtl="0" algn="l">
              <a:spcBef>
                <a:spcPts val="0"/>
              </a:spcBef>
              <a:spcAft>
                <a:spcPts val="0"/>
              </a:spcAft>
              <a:buClr>
                <a:schemeClr val="dk1"/>
              </a:buClr>
              <a:buSzPts val="1100"/>
              <a:buFont typeface="Arial"/>
              <a:buNone/>
            </a:pPr>
            <a:r>
              <a:rPr lang="en-GB"/>
              <a:t>hasFather(x, father(x)) ←Person(x)</a:t>
            </a:r>
            <a:endParaRPr/>
          </a:p>
          <a:p>
            <a:pPr indent="0" lvl="0" marL="0" rtl="0" algn="l">
              <a:spcBef>
                <a:spcPts val="0"/>
              </a:spcBef>
              <a:spcAft>
                <a:spcPts val="0"/>
              </a:spcAft>
              <a:buNone/>
            </a:pPr>
            <a:r>
              <a:rPr lang="en-GB"/>
              <a:t>⇝ Các phần tử mới được sinh</a:t>
            </a:r>
            <a:endParaRPr/>
          </a:p>
          <a:p>
            <a:pPr indent="0" lvl="0" marL="0" rtl="0" algn="l">
              <a:spcBef>
                <a:spcPts val="0"/>
              </a:spcBef>
              <a:spcAft>
                <a:spcPts val="0"/>
              </a:spcAft>
              <a:buNone/>
            </a:pPr>
            <a:r>
              <a:rPr lang="en-GB"/>
              <a:t>⇝ kh</a:t>
            </a:r>
            <a:r>
              <a:rPr lang="en-GB"/>
              <a:t>ông đi vào chi tiết trong bài giảng này</a:t>
            </a:r>
            <a:endParaRPr/>
          </a:p>
          <a:p>
            <a:pPr indent="0" lvl="0" marL="0" rtl="0" algn="l">
              <a:spcBef>
                <a:spcPts val="0"/>
              </a:spcBef>
              <a:spcAft>
                <a:spcPts val="0"/>
              </a:spcAft>
              <a:buClr>
                <a:schemeClr val="dk1"/>
              </a:buClr>
              <a:buSzPts val="1100"/>
              <a:buFont typeface="Arial"/>
              <a:buNone/>
            </a:pPr>
            <a:r>
              <a:rPr lang="en-GB"/>
              <a:t>⇝ Tham khảo thêm lập trình lô-gic</a:t>
            </a:r>
            <a:endParaRPr/>
          </a:p>
        </p:txBody>
      </p:sp>
      <p:sp>
        <p:nvSpPr>
          <p:cNvPr id="139" name="Google Shape;139;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Vì sao chúng ta cần luật?</a:t>
            </a:r>
            <a:endParaRPr/>
          </a:p>
        </p:txBody>
      </p:sp>
      <p:sp>
        <p:nvSpPr>
          <p:cNvPr id="145" name="Google Shape;145;p26"/>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Luật là 1 cách biểu diễn tri thức khác</a:t>
            </a:r>
            <a:endParaRPr/>
          </a:p>
          <a:p>
            <a:pPr indent="-381000" lvl="0" marL="457200" rtl="0" algn="l">
              <a:spcBef>
                <a:spcPts val="0"/>
              </a:spcBef>
              <a:spcAft>
                <a:spcPts val="0"/>
              </a:spcAft>
              <a:buSzPts val="2400"/>
              <a:buChar char="●"/>
            </a:pPr>
            <a:r>
              <a:rPr lang="en-GB"/>
              <a:t>Bên cạnh các tính năng tương tự OWL, luật có thể có các tính năng mạnh không được và không thể được hỗ trợ bởi OWL</a:t>
            </a:r>
            <a:endParaRPr/>
          </a:p>
          <a:p>
            <a:pPr indent="-368300" lvl="1" marL="914400" rtl="0" algn="l">
              <a:spcBef>
                <a:spcPts val="0"/>
              </a:spcBef>
              <a:spcAft>
                <a:spcPts val="0"/>
              </a:spcAft>
              <a:buSzPts val="2200"/>
              <a:buChar char="○"/>
            </a:pPr>
            <a:r>
              <a:rPr lang="en-GB"/>
              <a:t>Các luật không đơn điệu</a:t>
            </a:r>
            <a:endParaRPr/>
          </a:p>
          <a:p>
            <a:pPr indent="-368300" lvl="1" marL="914400" rtl="0" algn="l">
              <a:spcBef>
                <a:spcPts val="0"/>
              </a:spcBef>
              <a:spcAft>
                <a:spcPts val="0"/>
              </a:spcAft>
              <a:buSzPts val="2200"/>
              <a:buChar char="○"/>
            </a:pPr>
            <a:r>
              <a:rPr lang="en-GB"/>
              <a:t>Suy diễn mặc định</a:t>
            </a:r>
            <a:endParaRPr/>
          </a:p>
          <a:p>
            <a:pPr indent="-368300" lvl="1" marL="914400" rtl="0" algn="l">
              <a:spcBef>
                <a:spcPts val="0"/>
              </a:spcBef>
              <a:spcAft>
                <a:spcPts val="0"/>
              </a:spcAft>
              <a:buSzPts val="2200"/>
              <a:buChar char="○"/>
            </a:pPr>
            <a:r>
              <a:rPr lang="en-GB"/>
              <a:t>Các hàm tùy ý, bao gồm các hàm có hiệu ứng phụ</a:t>
            </a:r>
            <a:endParaRPr/>
          </a:p>
          <a:p>
            <a:pPr indent="-368300" lvl="1" marL="914400" rtl="0" algn="l">
              <a:spcBef>
                <a:spcPts val="0"/>
              </a:spcBef>
              <a:spcAft>
                <a:spcPts val="0"/>
              </a:spcAft>
              <a:buSzPts val="2200"/>
              <a:buChar char="○"/>
            </a:pPr>
            <a:r>
              <a:rPr lang="en-GB"/>
              <a:t>v.v..</a:t>
            </a:r>
            <a:endParaRPr/>
          </a:p>
        </p:txBody>
      </p:sp>
      <p:sp>
        <p:nvSpPr>
          <p:cNvPr id="146" name="Google Shape;146;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luật không đơn điệu</a:t>
            </a:r>
            <a:endParaRPr/>
          </a:p>
        </p:txBody>
      </p:sp>
      <p:sp>
        <p:nvSpPr>
          <p:cNvPr id="152" name="Google Shape;152;p27"/>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luật không đơn điệu sử dụng toán tử </a:t>
            </a:r>
            <a:r>
              <a:rPr lang="en-GB"/>
              <a:t>phủ định/</a:t>
            </a:r>
            <a:r>
              <a:rPr lang="en-GB"/>
              <a:t>không thể chứng minh</a:t>
            </a:r>
            <a:endParaRPr/>
          </a:p>
          <a:p>
            <a:pPr indent="-381000" lvl="0" marL="457200" rtl="0" algn="l">
              <a:spcBef>
                <a:spcPts val="0"/>
              </a:spcBef>
              <a:spcAft>
                <a:spcPts val="0"/>
              </a:spcAft>
              <a:buSzPts val="2400"/>
              <a:buChar char="●"/>
            </a:pPr>
            <a:r>
              <a:rPr lang="en-GB"/>
              <a:t>Có thể được sử dụng để triển khai suy diễn mặc định</a:t>
            </a:r>
            <a:endParaRPr/>
          </a:p>
          <a:p>
            <a:pPr indent="-368300" lvl="1" marL="914400" rtl="0" algn="l">
              <a:spcBef>
                <a:spcPts val="0"/>
              </a:spcBef>
              <a:spcAft>
                <a:spcPts val="0"/>
              </a:spcAft>
              <a:buSzPts val="2200"/>
              <a:buChar char="○"/>
            </a:pPr>
            <a:r>
              <a:rPr lang="en-GB"/>
              <a:t>Cho rằng P(X) đúng với một số X ngoại trừ bạn có thể chứng minh nó không đúng</a:t>
            </a:r>
            <a:endParaRPr/>
          </a:p>
          <a:p>
            <a:pPr indent="-368300" lvl="1" marL="914400" rtl="0" algn="l">
              <a:spcBef>
                <a:spcPts val="0"/>
              </a:spcBef>
              <a:spcAft>
                <a:spcPts val="0"/>
              </a:spcAft>
              <a:buSzPts val="2200"/>
              <a:buChar char="○"/>
            </a:pPr>
            <a:r>
              <a:rPr lang="en-GB"/>
              <a:t>Cho rằng chim có thể bay ngoại trừ bạn biết rằng nó không thể</a:t>
            </a:r>
            <a:endParaRPr/>
          </a:p>
        </p:txBody>
      </p:sp>
      <p:sp>
        <p:nvSpPr>
          <p:cNvPr id="153" name="Google Shape;153;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Đơn điệu</a:t>
            </a:r>
            <a:endParaRPr/>
          </a:p>
        </p:txBody>
      </p:sp>
      <p:sp>
        <p:nvSpPr>
          <p:cNvPr id="159" name="Google Shape;159;p28"/>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canFly(X) :- bird(X)</a:t>
            </a:r>
            <a:endParaRPr/>
          </a:p>
          <a:p>
            <a:pPr indent="0" lvl="0" marL="0" rtl="0" algn="l">
              <a:spcBef>
                <a:spcPts val="0"/>
              </a:spcBef>
              <a:spcAft>
                <a:spcPts val="0"/>
              </a:spcAft>
              <a:buNone/>
            </a:pPr>
            <a:r>
              <a:rPr lang="en-GB"/>
              <a:t>bird(X) := eagle(X)</a:t>
            </a:r>
            <a:endParaRPr/>
          </a:p>
          <a:p>
            <a:pPr indent="0" lvl="0" marL="0" rtl="0" algn="l">
              <a:spcBef>
                <a:spcPts val="0"/>
              </a:spcBef>
              <a:spcAft>
                <a:spcPts val="0"/>
              </a:spcAft>
              <a:buNone/>
            </a:pPr>
            <a:r>
              <a:rPr lang="en-GB"/>
              <a:t>bird(X) :- penguin(X)</a:t>
            </a:r>
            <a:endParaRPr/>
          </a:p>
          <a:p>
            <a:pPr indent="0" lvl="0" marL="0" rtl="0" algn="l">
              <a:spcBef>
                <a:spcPts val="0"/>
              </a:spcBef>
              <a:spcAft>
                <a:spcPts val="0"/>
              </a:spcAft>
              <a:buNone/>
            </a:pPr>
            <a:r>
              <a:rPr lang="en-GB"/>
              <a:t>eagle(sam)</a:t>
            </a:r>
            <a:endParaRPr/>
          </a:p>
          <a:p>
            <a:pPr indent="0" lvl="0" marL="0" rtl="0" algn="l">
              <a:spcBef>
                <a:spcPts val="0"/>
              </a:spcBef>
              <a:spcAft>
                <a:spcPts val="0"/>
              </a:spcAft>
              <a:buNone/>
            </a:pPr>
            <a:r>
              <a:rPr lang="en-GB"/>
              <a:t>penguin(tux)</a:t>
            </a:r>
            <a:endParaRPr/>
          </a:p>
        </p:txBody>
      </p:sp>
      <p:sp>
        <p:nvSpPr>
          <p:cNvPr id="160" name="Google Shape;160;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Không đơn điệu</a:t>
            </a:r>
            <a:endParaRPr/>
          </a:p>
        </p:txBody>
      </p:sp>
      <p:sp>
        <p:nvSpPr>
          <p:cNvPr id="166" name="Google Shape;166;p29"/>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canFly(X) :- bird (X), \+ not(canFly(X))</a:t>
            </a:r>
            <a:endParaRPr/>
          </a:p>
          <a:p>
            <a:pPr indent="0" lvl="0" marL="0" rtl="0" algn="l">
              <a:spcBef>
                <a:spcPts val="0"/>
              </a:spcBef>
              <a:spcAft>
                <a:spcPts val="0"/>
              </a:spcAft>
              <a:buClr>
                <a:schemeClr val="dk1"/>
              </a:buClr>
              <a:buSzPts val="1100"/>
              <a:buFont typeface="Arial"/>
              <a:buNone/>
            </a:pPr>
            <a:r>
              <a:rPr lang="en-GB"/>
              <a:t>bird(X) :- eagle(X)</a:t>
            </a:r>
            <a:endParaRPr/>
          </a:p>
          <a:p>
            <a:pPr indent="0" lvl="0" marL="0" rtl="0" algn="l">
              <a:spcBef>
                <a:spcPts val="0"/>
              </a:spcBef>
              <a:spcAft>
                <a:spcPts val="0"/>
              </a:spcAft>
              <a:buClr>
                <a:schemeClr val="dk1"/>
              </a:buClr>
              <a:buSzPts val="1100"/>
              <a:buFont typeface="Arial"/>
              <a:buNone/>
            </a:pPr>
            <a:r>
              <a:rPr lang="en-GB"/>
              <a:t>bird(X) :- penguin(X)</a:t>
            </a:r>
            <a:endParaRPr/>
          </a:p>
          <a:p>
            <a:pPr indent="0" lvl="0" marL="0" rtl="0" algn="l">
              <a:spcBef>
                <a:spcPts val="0"/>
              </a:spcBef>
              <a:spcAft>
                <a:spcPts val="0"/>
              </a:spcAft>
              <a:buClr>
                <a:schemeClr val="dk1"/>
              </a:buClr>
              <a:buSzPts val="1100"/>
              <a:buFont typeface="Arial"/>
              <a:buNone/>
            </a:pPr>
            <a:r>
              <a:rPr lang="en-GB"/>
              <a:t>not(canFly(X)) :- penguin(X)</a:t>
            </a:r>
            <a:endParaRPr/>
          </a:p>
          <a:p>
            <a:pPr indent="0" lvl="0" marL="0" rtl="0" algn="l">
              <a:spcBef>
                <a:spcPts val="0"/>
              </a:spcBef>
              <a:spcAft>
                <a:spcPts val="0"/>
              </a:spcAft>
              <a:buClr>
                <a:schemeClr val="dk1"/>
              </a:buClr>
              <a:buSzPts val="1100"/>
              <a:buFont typeface="Arial"/>
              <a:buNone/>
            </a:pPr>
            <a:r>
              <a:rPr lang="en-GB"/>
              <a:t>not(canFly(X)) :- dead(X)</a:t>
            </a:r>
            <a:endParaRPr/>
          </a:p>
          <a:p>
            <a:pPr indent="0" lvl="0" marL="0" rtl="0" algn="l">
              <a:spcBef>
                <a:spcPts val="0"/>
              </a:spcBef>
              <a:spcAft>
                <a:spcPts val="0"/>
              </a:spcAft>
              <a:buClr>
                <a:schemeClr val="dk1"/>
              </a:buClr>
              <a:buSzPts val="1100"/>
              <a:buFont typeface="Arial"/>
              <a:buNone/>
            </a:pPr>
            <a:r>
              <a:rPr lang="en-GB"/>
              <a:t>eagle(sam)</a:t>
            </a:r>
            <a:endParaRPr/>
          </a:p>
          <a:p>
            <a:pPr indent="0" lvl="0" marL="0" rtl="0" algn="l">
              <a:spcBef>
                <a:spcPts val="0"/>
              </a:spcBef>
              <a:spcAft>
                <a:spcPts val="0"/>
              </a:spcAft>
              <a:buClr>
                <a:schemeClr val="dk1"/>
              </a:buClr>
              <a:buSzPts val="1100"/>
              <a:buFont typeface="Arial"/>
              <a:buNone/>
            </a:pPr>
            <a:r>
              <a:rPr lang="en-GB"/>
              <a:t>penguin(tux)</a:t>
            </a:r>
            <a:endParaRPr/>
          </a:p>
          <a:p>
            <a:pPr indent="0" lvl="0" marL="0" rtl="0" algn="l">
              <a:spcBef>
                <a:spcPts val="0"/>
              </a:spcBef>
              <a:spcAft>
                <a:spcPts val="0"/>
              </a:spcAft>
              <a:buNone/>
            </a:pPr>
            <a:r>
              <a:t/>
            </a:r>
            <a:endParaRPr/>
          </a:p>
        </p:txBody>
      </p:sp>
      <p:sp>
        <p:nvSpPr>
          <p:cNvPr id="167" name="Google Shape;167;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Thứ tự ưu tiên luật</a:t>
            </a:r>
            <a:endParaRPr/>
          </a:p>
        </p:txBody>
      </p:sp>
      <p:sp>
        <p:nvSpPr>
          <p:cNvPr id="173" name="Google Shape;173;p30"/>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Cách tiếp cận này có thể được mở rộng để triển khai các hệ thống trong đó luật có thứ tự ưu tiên</a:t>
            </a:r>
            <a:endParaRPr/>
          </a:p>
          <a:p>
            <a:pPr indent="-381000" lvl="0" marL="457200" rtl="0" algn="l">
              <a:spcBef>
                <a:spcPts val="0"/>
              </a:spcBef>
              <a:spcAft>
                <a:spcPts val="0"/>
              </a:spcAft>
              <a:buSzPts val="2400"/>
              <a:buChar char="●"/>
            </a:pPr>
            <a:r>
              <a:rPr lang="en-GB"/>
              <a:t>Đặc điểm này khá quen thuộc với người, được sử dụng trong các tổ chức</a:t>
            </a:r>
            <a:endParaRPr/>
          </a:p>
          <a:p>
            <a:pPr indent="-368300" lvl="1" marL="914400" rtl="0" algn="l">
              <a:spcBef>
                <a:spcPts val="0"/>
              </a:spcBef>
              <a:spcAft>
                <a:spcPts val="0"/>
              </a:spcAft>
              <a:buSzPts val="2200"/>
              <a:buChar char="○"/>
            </a:pPr>
            <a:r>
              <a:rPr lang="en-GB"/>
              <a:t>Ví dụ, các quy định chung cho tổ chức cao hơn các quy định riêng của từng phòng ban.</a:t>
            </a:r>
            <a:endParaRPr/>
          </a:p>
        </p:txBody>
      </p:sp>
      <p:sp>
        <p:nvSpPr>
          <p:cNvPr id="174" name="Google Shape;174;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80" name="Google Shape;180;p31"/>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7.1. Khái niệm luật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7.2. Datalog như ngôn ngữ luật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7.3. Kết hợp luật với OWL DL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7.4. Định dạng trao đổi luật RIF</a:t>
            </a:r>
            <a:endParaRPr>
              <a:solidFill>
                <a:schemeClr val="dk1"/>
              </a:solidFill>
              <a:latin typeface="Times New Roman"/>
              <a:ea typeface="Times New Roman"/>
              <a:cs typeface="Times New Roman"/>
              <a:sym typeface="Times New Roman"/>
            </a:endParaRPr>
          </a:p>
        </p:txBody>
      </p:sp>
      <p:sp>
        <p:nvSpPr>
          <p:cNvPr id="181" name="Google Shape;181;p31"/>
          <p:cNvSpPr/>
          <p:nvPr/>
        </p:nvSpPr>
        <p:spPr>
          <a:xfrm>
            <a:off x="318450" y="1287840"/>
            <a:ext cx="55956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quan về Datalog</a:t>
            </a:r>
            <a:endParaRPr/>
          </a:p>
        </p:txBody>
      </p:sp>
      <p:sp>
        <p:nvSpPr>
          <p:cNvPr id="188" name="Google Shape;188;p32"/>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Các luật Horn không chứa hàm ký tự ⇝ Các luật Datalog</a:t>
            </a:r>
            <a:endParaRPr i="1"/>
          </a:p>
          <a:p>
            <a:pPr indent="-381000" lvl="0" marL="457200" rtl="0" algn="l">
              <a:spcBef>
                <a:spcPts val="0"/>
              </a:spcBef>
              <a:spcAft>
                <a:spcPts val="0"/>
              </a:spcAft>
              <a:buSzPts val="2400"/>
              <a:buChar char="●"/>
            </a:pPr>
            <a:r>
              <a:rPr lang="en-GB"/>
              <a:t>Lu</a:t>
            </a:r>
            <a:r>
              <a:rPr lang="en-GB"/>
              <a:t>ật Datalog chỉ chứa toán tử hội, hằng ký tự, và các biến với định lượng toàn thể. Không chứa phép tuyển, phủ định, định lượng tồn tại, hoặc hàm ký tự.</a:t>
            </a:r>
            <a:endParaRPr/>
          </a:p>
          <a:p>
            <a:pPr indent="-381000" lvl="0" marL="457200" rtl="0" algn="l">
              <a:spcBef>
                <a:spcPts val="0"/>
              </a:spcBef>
              <a:spcAft>
                <a:spcPts val="0"/>
              </a:spcAft>
              <a:buSzPts val="2400"/>
              <a:buChar char="●"/>
            </a:pPr>
            <a:r>
              <a:rPr lang="en-GB"/>
              <a:t>Datalog</a:t>
            </a:r>
            <a:r>
              <a:rPr lang="en-GB"/>
              <a:t> </a:t>
            </a:r>
            <a:r>
              <a:rPr lang="en-GB"/>
              <a:t>ban đầu được nghiên cứu cho </a:t>
            </a:r>
            <a:r>
              <a:rPr lang="en-GB"/>
              <a:t>các CS</a:t>
            </a:r>
            <a:r>
              <a:rPr lang="en-GB"/>
              <a:t>DL suy diễn (ngôn ngữ truy vấn) và TTNT (biểu diễn tri thức).</a:t>
            </a:r>
            <a:endParaRPr/>
          </a:p>
          <a:p>
            <a:pPr indent="-381000" lvl="0" marL="457200" rtl="0" algn="l">
              <a:spcBef>
                <a:spcPts val="0"/>
              </a:spcBef>
              <a:spcAft>
                <a:spcPts val="0"/>
              </a:spcAft>
              <a:buSzPts val="2400"/>
              <a:buChar char="●"/>
            </a:pPr>
            <a:r>
              <a:rPr lang="en-GB"/>
              <a:t>Khả quyết</a:t>
            </a:r>
            <a:endParaRPr/>
          </a:p>
          <a:p>
            <a:pPr indent="-381000" lvl="0" marL="457200" rtl="0" algn="l">
              <a:spcBef>
                <a:spcPts val="0"/>
              </a:spcBef>
              <a:spcAft>
                <a:spcPts val="0"/>
              </a:spcAft>
              <a:buSzPts val="2400"/>
              <a:buChar char="●"/>
            </a:pPr>
            <a:r>
              <a:rPr lang="en-GB"/>
              <a:t>Hiệu quả đối với các tập dữ liệu lớn, độ phức tạp kết hợp là hàm mũ</a:t>
            </a:r>
            <a:endParaRPr/>
          </a:p>
          <a:p>
            <a:pPr indent="-381000" lvl="0" marL="457200" rtl="0" algn="l">
              <a:spcBef>
                <a:spcPts val="0"/>
              </a:spcBef>
              <a:spcAft>
                <a:spcPts val="0"/>
              </a:spcAft>
              <a:buSzPts val="2400"/>
              <a:buChar char="●"/>
            </a:pPr>
            <a:r>
              <a:rPr lang="en-GB"/>
              <a:t>Có n</a:t>
            </a:r>
            <a:r>
              <a:rPr lang="en-GB"/>
              <a:t>hiều nghiên cứu trong những năm 198x.</a:t>
            </a:r>
            <a:endParaRPr/>
          </a:p>
        </p:txBody>
      </p:sp>
      <p:sp>
        <p:nvSpPr>
          <p:cNvPr id="189" name="Google Shape;189;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Cú pháp Datalog</a:t>
            </a:r>
            <a:endParaRPr/>
          </a:p>
        </p:txBody>
      </p:sp>
      <p:sp>
        <p:nvSpPr>
          <p:cNvPr id="195" name="Google Shape;195;p33"/>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Mỗi hằng hoặc biến là 1 từ. Mỗi công thức dạng R(t</a:t>
            </a:r>
            <a:r>
              <a:rPr baseline="-25000" lang="en-GB"/>
              <a:t>1</a:t>
            </a:r>
            <a:r>
              <a:rPr lang="en-GB"/>
              <a:t>,…,t</a:t>
            </a:r>
            <a:r>
              <a:rPr baseline="-25000" lang="en-GB"/>
              <a:t>n</a:t>
            </a:r>
            <a:r>
              <a:rPr lang="en-GB"/>
              <a:t>) trong đó R là 1 thuộc tính (hoặc quan hệ) bậc n, và t</a:t>
            </a:r>
            <a:r>
              <a:rPr baseline="-25000" lang="en-GB"/>
              <a:t>1</a:t>
            </a:r>
            <a:r>
              <a:rPr lang="en-GB"/>
              <a:t>, …, t</a:t>
            </a:r>
            <a:r>
              <a:rPr baseline="-25000" lang="en-GB"/>
              <a:t>n</a:t>
            </a:r>
            <a:r>
              <a:rPr lang="en-GB"/>
              <a:t> là các từ, được gọi là 1 nguyên tử.</a:t>
            </a:r>
            <a:endParaRPr/>
          </a:p>
          <a:p>
            <a:pPr indent="-381000" lvl="0" marL="457200" rtl="0" algn="l">
              <a:spcBef>
                <a:spcPts val="0"/>
              </a:spcBef>
              <a:spcAft>
                <a:spcPts val="0"/>
              </a:spcAft>
              <a:buSzPts val="2400"/>
              <a:buChar char="●"/>
            </a:pPr>
            <a:r>
              <a:rPr lang="en-GB"/>
              <a:t>Luật Datalog là biểu thức có dạng:</a:t>
            </a:r>
            <a:endParaRPr/>
          </a:p>
          <a:p>
            <a:pPr indent="0" lvl="0" marL="457200" rtl="0" algn="ctr">
              <a:spcBef>
                <a:spcPts val="0"/>
              </a:spcBef>
              <a:spcAft>
                <a:spcPts val="0"/>
              </a:spcAft>
              <a:buNone/>
            </a:pPr>
            <a:r>
              <a:rPr lang="en-GB"/>
              <a:t>H ← B</a:t>
            </a:r>
            <a:r>
              <a:rPr baseline="-25000" lang="en-GB"/>
              <a:t>1</a:t>
            </a:r>
            <a:r>
              <a:rPr lang="en-GB"/>
              <a:t> </a:t>
            </a:r>
            <a:r>
              <a:rPr lang="en-GB"/>
              <a:t>∧ . . . ∧ B</a:t>
            </a:r>
            <a:r>
              <a:rPr baseline="-25000" lang="en-GB"/>
              <a:t>m</a:t>
            </a:r>
            <a:endParaRPr/>
          </a:p>
          <a:p>
            <a:pPr indent="0" lvl="0" marL="457200" rtl="0" algn="l">
              <a:spcBef>
                <a:spcPts val="0"/>
              </a:spcBef>
              <a:spcAft>
                <a:spcPts val="0"/>
              </a:spcAft>
              <a:buNone/>
            </a:pPr>
            <a:r>
              <a:rPr lang="en-GB"/>
              <a:t>Trong đó H và B</a:t>
            </a:r>
            <a:r>
              <a:rPr baseline="-25000" lang="en-GB"/>
              <a:t>1</a:t>
            </a:r>
            <a:r>
              <a:rPr lang="en-GB"/>
              <a:t>, …, B</a:t>
            </a:r>
            <a:r>
              <a:rPr baseline="-25000" lang="en-GB"/>
              <a:t>m</a:t>
            </a:r>
            <a:r>
              <a:rPr lang="en-GB"/>
              <a:t> là các nguyên tử. H được gọi là đầu hoặc kết luận; B</a:t>
            </a:r>
            <a:r>
              <a:rPr baseline="-25000" lang="en-GB"/>
              <a:t>1</a:t>
            </a:r>
            <a:r>
              <a:rPr lang="en-GB"/>
              <a:t> </a:t>
            </a:r>
            <a:r>
              <a:rPr lang="en-GB"/>
              <a:t>∧ . . . ∧ B</a:t>
            </a:r>
            <a:r>
              <a:rPr baseline="-25000" lang="en-GB"/>
              <a:t>m</a:t>
            </a:r>
            <a:r>
              <a:rPr lang="en-GB"/>
              <a:t> được gọi là thân luật/tiền đề.</a:t>
            </a:r>
            <a:endParaRPr/>
          </a:p>
          <a:p>
            <a:pPr indent="-381000" lvl="0" marL="457200" rtl="0" algn="l">
              <a:spcBef>
                <a:spcPts val="0"/>
              </a:spcBef>
              <a:spcAft>
                <a:spcPts val="0"/>
              </a:spcAft>
              <a:buSzPts val="2400"/>
              <a:buChar char="●"/>
            </a:pPr>
            <a:r>
              <a:rPr lang="en-GB"/>
              <a:t>Luật với thân luật rỗng (m = 0) được gọi là dữ kiện. </a:t>
            </a:r>
            <a:endParaRPr/>
          </a:p>
          <a:p>
            <a:pPr indent="-381000" lvl="0" marL="457200" rtl="0" algn="l">
              <a:spcBef>
                <a:spcPts val="0"/>
              </a:spcBef>
              <a:spcAft>
                <a:spcPts val="0"/>
              </a:spcAft>
              <a:buSzPts val="2400"/>
              <a:buChar char="●"/>
            </a:pPr>
            <a:r>
              <a:rPr lang="en-GB"/>
              <a:t>Luật nền là luật không có biến (tất cả các từ đều là hằng).</a:t>
            </a:r>
            <a:endParaRPr/>
          </a:p>
          <a:p>
            <a:pPr indent="-381000" lvl="0" marL="457200" rtl="0" algn="l">
              <a:spcBef>
                <a:spcPts val="0"/>
              </a:spcBef>
              <a:spcAft>
                <a:spcPts val="0"/>
              </a:spcAft>
              <a:buSzPts val="2400"/>
              <a:buChar char="●"/>
            </a:pPr>
            <a:r>
              <a:rPr lang="en-GB"/>
              <a:t>Tập luật Datalog được gọi là 1 chương trình Datalog.</a:t>
            </a:r>
            <a:endParaRPr/>
          </a:p>
        </p:txBody>
      </p:sp>
      <p:sp>
        <p:nvSpPr>
          <p:cNvPr id="196" name="Google Shape;196;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7.2. Chương trình Datalog</a:t>
            </a:r>
            <a:endParaRPr/>
          </a:p>
        </p:txBody>
      </p:sp>
      <p:sp>
        <p:nvSpPr>
          <p:cNvPr id="202" name="Google Shape;202;p34"/>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father(alice, bob)</a:t>
            </a:r>
            <a:endParaRPr/>
          </a:p>
          <a:p>
            <a:pPr indent="0" lvl="0" marL="0" rtl="0" algn="l">
              <a:spcBef>
                <a:spcPts val="0"/>
              </a:spcBef>
              <a:spcAft>
                <a:spcPts val="0"/>
              </a:spcAft>
              <a:buClr>
                <a:schemeClr val="dk1"/>
              </a:buClr>
              <a:buSzPts val="1100"/>
              <a:buFont typeface="Arial"/>
              <a:buNone/>
            </a:pPr>
            <a:r>
              <a:rPr lang="en-GB"/>
              <a:t>mother(alice, carla)</a:t>
            </a:r>
            <a:endParaRPr/>
          </a:p>
          <a:p>
            <a:pPr indent="0" lvl="0" marL="0" rtl="0" algn="l">
              <a:spcBef>
                <a:spcPts val="0"/>
              </a:spcBef>
              <a:spcAft>
                <a:spcPts val="0"/>
              </a:spcAft>
              <a:buClr>
                <a:schemeClr val="dk1"/>
              </a:buClr>
              <a:buSzPts val="1100"/>
              <a:buFont typeface="Arial"/>
              <a:buNone/>
            </a:pPr>
            <a:r>
              <a:rPr lang="en-GB"/>
              <a:t>mother(evan, carla)</a:t>
            </a:r>
            <a:endParaRPr/>
          </a:p>
          <a:p>
            <a:pPr indent="0" lvl="0" marL="0" rtl="0" algn="l">
              <a:spcBef>
                <a:spcPts val="0"/>
              </a:spcBef>
              <a:spcAft>
                <a:spcPts val="0"/>
              </a:spcAft>
              <a:buClr>
                <a:schemeClr val="dk1"/>
              </a:buClr>
              <a:buSzPts val="1100"/>
              <a:buFont typeface="Arial"/>
              <a:buNone/>
            </a:pPr>
            <a:r>
              <a:rPr lang="en-GB"/>
              <a:t>father(carla, david)</a:t>
            </a:r>
            <a:endParaRPr/>
          </a:p>
          <a:p>
            <a:pPr indent="0" lvl="0" marL="0" rtl="0" algn="l">
              <a:spcBef>
                <a:spcPts val="0"/>
              </a:spcBef>
              <a:spcAft>
                <a:spcPts val="0"/>
              </a:spcAft>
              <a:buClr>
                <a:schemeClr val="dk1"/>
              </a:buClr>
              <a:buSzPts val="1100"/>
              <a:buFont typeface="Arial"/>
              <a:buNone/>
            </a:pPr>
            <a:r>
              <a:rPr lang="en-GB"/>
              <a:t>Parent(x, y) ← father(x, y)</a:t>
            </a:r>
            <a:endParaRPr/>
          </a:p>
          <a:p>
            <a:pPr indent="0" lvl="0" marL="0" rtl="0" algn="l">
              <a:spcBef>
                <a:spcPts val="0"/>
              </a:spcBef>
              <a:spcAft>
                <a:spcPts val="0"/>
              </a:spcAft>
              <a:buClr>
                <a:schemeClr val="dk1"/>
              </a:buClr>
              <a:buSzPts val="1100"/>
              <a:buFont typeface="Arial"/>
              <a:buNone/>
            </a:pPr>
            <a:r>
              <a:rPr lang="en-GB"/>
              <a:t>Parent(x, y) ← mother(x, y)</a:t>
            </a:r>
            <a:endParaRPr/>
          </a:p>
          <a:p>
            <a:pPr indent="0" lvl="0" marL="0" rtl="0" algn="l">
              <a:spcBef>
                <a:spcPts val="0"/>
              </a:spcBef>
              <a:spcAft>
                <a:spcPts val="0"/>
              </a:spcAft>
              <a:buClr>
                <a:schemeClr val="dk1"/>
              </a:buClr>
              <a:buSzPts val="1100"/>
              <a:buFont typeface="Arial"/>
              <a:buNone/>
            </a:pPr>
            <a:r>
              <a:rPr lang="en-GB"/>
              <a:t>Ancestor(x, y) ← Parent(x, y)</a:t>
            </a:r>
            <a:endParaRPr/>
          </a:p>
          <a:p>
            <a:pPr indent="0" lvl="0" marL="0" rtl="0" algn="l">
              <a:spcBef>
                <a:spcPts val="0"/>
              </a:spcBef>
              <a:spcAft>
                <a:spcPts val="0"/>
              </a:spcAft>
              <a:buClr>
                <a:schemeClr val="dk1"/>
              </a:buClr>
              <a:buSzPts val="1100"/>
              <a:buFont typeface="Arial"/>
              <a:buNone/>
            </a:pPr>
            <a:r>
              <a:rPr lang="en-GB"/>
              <a:t>Ancestor(x, z) ← Parent(x, y) ∧ Ancestor(y, z)</a:t>
            </a:r>
            <a:endParaRPr/>
          </a:p>
          <a:p>
            <a:pPr indent="0" lvl="0" marL="0" rtl="0" algn="l">
              <a:spcBef>
                <a:spcPts val="0"/>
              </a:spcBef>
              <a:spcAft>
                <a:spcPts val="0"/>
              </a:spcAft>
              <a:buClr>
                <a:schemeClr val="dk1"/>
              </a:buClr>
              <a:buSzPts val="1100"/>
              <a:buFont typeface="Arial"/>
              <a:buNone/>
            </a:pPr>
            <a:r>
              <a:rPr lang="en-GB"/>
              <a:t>SameGeneration(x, x)</a:t>
            </a:r>
            <a:endParaRPr/>
          </a:p>
          <a:p>
            <a:pPr indent="0" lvl="0" marL="0" rtl="0" algn="l">
              <a:spcBef>
                <a:spcPts val="0"/>
              </a:spcBef>
              <a:spcAft>
                <a:spcPts val="0"/>
              </a:spcAft>
              <a:buNone/>
            </a:pPr>
            <a:r>
              <a:rPr lang="en-GB"/>
              <a:t>SameGeneration(x, y) ← Parent(x, v) ∧ Parent(y, w) ∧ SameGeneration(v, w)</a:t>
            </a:r>
            <a:endParaRPr/>
          </a:p>
        </p:txBody>
      </p:sp>
      <p:sp>
        <p:nvSpPr>
          <p:cNvPr id="203" name="Google Shape;203;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Ngữ nghĩa của Datalog</a:t>
            </a:r>
            <a:endParaRPr/>
          </a:p>
        </p:txBody>
      </p:sp>
      <p:sp>
        <p:nvSpPr>
          <p:cNvPr id="209" name="Google Shape;209;p35"/>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phương pháp</a:t>
            </a:r>
            <a:r>
              <a:rPr lang="en-GB"/>
              <a:t> </a:t>
            </a:r>
            <a:r>
              <a:rPr lang="en-GB"/>
              <a:t>biểu diễn</a:t>
            </a:r>
            <a:r>
              <a:rPr lang="en-GB"/>
              <a:t> ngữ nghĩa </a:t>
            </a:r>
            <a:r>
              <a:rPr lang="en-GB"/>
              <a:t>của Datalog</a:t>
            </a:r>
            <a:endParaRPr/>
          </a:p>
          <a:p>
            <a:pPr indent="-381000" lvl="0" marL="457200" rtl="0" algn="l">
              <a:spcBef>
                <a:spcPts val="0"/>
              </a:spcBef>
              <a:spcAft>
                <a:spcPts val="0"/>
              </a:spcAft>
              <a:buSzPts val="2400"/>
              <a:buChar char="●"/>
            </a:pPr>
            <a:r>
              <a:rPr lang="en-GB"/>
              <a:t>Mô hình lý thuyết</a:t>
            </a:r>
            <a:endParaRPr/>
          </a:p>
          <a:p>
            <a:pPr indent="-381000" lvl="0" marL="457200" rtl="0" algn="l">
              <a:spcBef>
                <a:spcPts val="0"/>
              </a:spcBef>
              <a:spcAft>
                <a:spcPts val="0"/>
              </a:spcAft>
              <a:buSzPts val="2400"/>
              <a:buChar char="●"/>
            </a:pPr>
            <a:r>
              <a:rPr lang="en-GB"/>
              <a:t>Chứng minh lý thuyết</a:t>
            </a:r>
            <a:endParaRPr/>
          </a:p>
          <a:p>
            <a:pPr indent="-381000" lvl="0" marL="457200" rtl="0" algn="l">
              <a:spcBef>
                <a:spcPts val="0"/>
              </a:spcBef>
              <a:spcAft>
                <a:spcPts val="0"/>
              </a:spcAft>
              <a:buSzPts val="2400"/>
              <a:buChar char="●"/>
            </a:pPr>
            <a:r>
              <a:rPr lang="en-GB"/>
              <a:t>Điểm cố định</a:t>
            </a:r>
            <a:endParaRPr/>
          </a:p>
        </p:txBody>
      </p:sp>
      <p:sp>
        <p:nvSpPr>
          <p:cNvPr id="210" name="Google Shape;210;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Ngữ nghĩa mô hình-lý thuyết của Datalog</a:t>
            </a:r>
            <a:endParaRPr baseline="-25000"/>
          </a:p>
        </p:txBody>
      </p:sp>
      <p:sp>
        <p:nvSpPr>
          <p:cNvPr id="216" name="Google Shape;216;p36"/>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M</a:t>
            </a:r>
            <a:r>
              <a:rPr lang="en-GB">
                <a:solidFill>
                  <a:srgbClr val="666666"/>
                </a:solidFill>
              </a:rPr>
              <a:t>ỗi</a:t>
            </a:r>
            <a:r>
              <a:rPr lang="en-GB">
                <a:solidFill>
                  <a:srgbClr val="666666"/>
                </a:solidFill>
              </a:rPr>
              <a:t> luật Datalog:</a:t>
            </a:r>
            <a:endParaRPr>
              <a:solidFill>
                <a:srgbClr val="666666"/>
              </a:solidFill>
            </a:endParaRPr>
          </a:p>
          <a:p>
            <a:pPr indent="0" lvl="0" marL="0" rtl="0" algn="ctr">
              <a:spcBef>
                <a:spcPts val="0"/>
              </a:spcBef>
              <a:spcAft>
                <a:spcPts val="0"/>
              </a:spcAft>
              <a:buNone/>
            </a:pPr>
            <a:r>
              <a:rPr lang="en-GB">
                <a:solidFill>
                  <a:srgbClr val="666666"/>
                </a:solidFill>
              </a:rPr>
              <a:t>ρ: R</a:t>
            </a:r>
            <a:r>
              <a:rPr baseline="-25000" lang="en-GB">
                <a:solidFill>
                  <a:srgbClr val="666666"/>
                </a:solidFill>
              </a:rPr>
              <a:t>1</a:t>
            </a:r>
            <a:r>
              <a:rPr lang="en-GB">
                <a:solidFill>
                  <a:srgbClr val="666666"/>
                </a:solidFill>
              </a:rPr>
              <a:t>(u</a:t>
            </a:r>
            <a:r>
              <a:rPr baseline="-25000" lang="en-GB">
                <a:solidFill>
                  <a:srgbClr val="666666"/>
                </a:solidFill>
              </a:rPr>
              <a:t>1</a:t>
            </a:r>
            <a:r>
              <a:rPr lang="en-GB">
                <a:solidFill>
                  <a:srgbClr val="666666"/>
                </a:solidFill>
              </a:rPr>
              <a:t>) ← R</a:t>
            </a:r>
            <a:r>
              <a:rPr baseline="-25000" lang="en-GB">
                <a:solidFill>
                  <a:srgbClr val="666666"/>
                </a:solidFill>
              </a:rPr>
              <a:t>2</a:t>
            </a:r>
            <a:r>
              <a:rPr lang="en-GB">
                <a:solidFill>
                  <a:srgbClr val="666666"/>
                </a:solidFill>
              </a:rPr>
              <a:t>(u</a:t>
            </a:r>
            <a:r>
              <a:rPr baseline="-25000" lang="en-GB">
                <a:solidFill>
                  <a:srgbClr val="666666"/>
                </a:solidFill>
              </a:rPr>
              <a:t>2</a:t>
            </a:r>
            <a:r>
              <a:rPr lang="en-GB">
                <a:solidFill>
                  <a:srgbClr val="666666"/>
                </a:solidFill>
              </a:rPr>
              <a:t>), . . . , R</a:t>
            </a:r>
            <a:r>
              <a:rPr baseline="-25000" lang="en-GB">
                <a:solidFill>
                  <a:srgbClr val="666666"/>
                </a:solidFill>
              </a:rPr>
              <a:t>n</a:t>
            </a:r>
            <a:r>
              <a:rPr lang="en-GB">
                <a:solidFill>
                  <a:srgbClr val="666666"/>
                </a:solidFill>
              </a:rPr>
              <a:t>(u</a:t>
            </a:r>
            <a:r>
              <a:rPr baseline="-25000" lang="en-GB">
                <a:solidFill>
                  <a:srgbClr val="666666"/>
                </a:solidFill>
              </a:rPr>
              <a:t>n</a:t>
            </a:r>
            <a:r>
              <a:rPr lang="en-GB">
                <a:solidFill>
                  <a:srgbClr val="666666"/>
                </a:solidFill>
              </a:rPr>
              <a:t>)</a:t>
            </a:r>
            <a:endParaRPr>
              <a:solidFill>
                <a:srgbClr val="666666"/>
              </a:solidFill>
            </a:endParaRPr>
          </a:p>
          <a:p>
            <a:pPr indent="0" lvl="0" marL="0" rtl="0" algn="l">
              <a:spcBef>
                <a:spcPts val="0"/>
              </a:spcBef>
              <a:spcAft>
                <a:spcPts val="0"/>
              </a:spcAft>
              <a:buNone/>
            </a:pPr>
            <a:r>
              <a:rPr lang="en-GB">
                <a:solidFill>
                  <a:srgbClr val="666666"/>
                </a:solidFill>
              </a:rPr>
              <a:t>Tương đương với</a:t>
            </a:r>
            <a:r>
              <a:rPr lang="en-GB">
                <a:solidFill>
                  <a:srgbClr val="666666"/>
                </a:solidFill>
              </a:rPr>
              <a:t> 1 </a:t>
            </a:r>
            <a:r>
              <a:rPr lang="en-GB">
                <a:solidFill>
                  <a:srgbClr val="666666"/>
                </a:solidFill>
              </a:rPr>
              <a:t>công thức</a:t>
            </a:r>
            <a:r>
              <a:rPr lang="en-GB">
                <a:solidFill>
                  <a:srgbClr val="666666"/>
                </a:solidFill>
              </a:rPr>
              <a:t> lô-gic bậc nhất</a:t>
            </a:r>
            <a:endParaRPr>
              <a:solidFill>
                <a:srgbClr val="666666"/>
              </a:solidFill>
            </a:endParaRPr>
          </a:p>
          <a:p>
            <a:pPr indent="0" lvl="0" marL="0" rtl="0" algn="ctr">
              <a:spcBef>
                <a:spcPts val="0"/>
              </a:spcBef>
              <a:spcAft>
                <a:spcPts val="0"/>
              </a:spcAft>
              <a:buNone/>
            </a:pPr>
            <a:r>
              <a:rPr lang="en-GB">
                <a:solidFill>
                  <a:srgbClr val="666666"/>
                </a:solidFill>
              </a:rPr>
              <a:t>∀x</a:t>
            </a:r>
            <a:r>
              <a:rPr baseline="-25000" lang="en-GB">
                <a:solidFill>
                  <a:srgbClr val="666666"/>
                </a:solidFill>
              </a:rPr>
              <a:t>1</a:t>
            </a:r>
            <a:r>
              <a:rPr lang="en-GB">
                <a:solidFill>
                  <a:srgbClr val="666666"/>
                </a:solidFill>
              </a:rPr>
              <a:t>,... , x</a:t>
            </a:r>
            <a:r>
              <a:rPr baseline="-25000" lang="en-GB">
                <a:solidFill>
                  <a:srgbClr val="666666"/>
                </a:solidFill>
              </a:rPr>
              <a:t>n</a:t>
            </a:r>
            <a:r>
              <a:rPr lang="en-GB">
                <a:solidFill>
                  <a:srgbClr val="666666"/>
                </a:solidFill>
              </a:rPr>
              <a:t>.(R</a:t>
            </a:r>
            <a:r>
              <a:rPr baseline="-25000" lang="en-GB">
                <a:solidFill>
                  <a:srgbClr val="666666"/>
                </a:solidFill>
              </a:rPr>
              <a:t>1</a:t>
            </a:r>
            <a:r>
              <a:rPr lang="en-GB">
                <a:solidFill>
                  <a:srgbClr val="666666"/>
                </a:solidFill>
              </a:rPr>
              <a:t>(u</a:t>
            </a:r>
            <a:r>
              <a:rPr baseline="-25000" lang="en-GB">
                <a:solidFill>
                  <a:srgbClr val="666666"/>
                </a:solidFill>
              </a:rPr>
              <a:t>1</a:t>
            </a:r>
            <a:r>
              <a:rPr lang="en-GB">
                <a:solidFill>
                  <a:srgbClr val="666666"/>
                </a:solidFill>
              </a:rPr>
              <a:t>) ← R</a:t>
            </a:r>
            <a:r>
              <a:rPr baseline="-25000" lang="en-GB">
                <a:solidFill>
                  <a:srgbClr val="666666"/>
                </a:solidFill>
              </a:rPr>
              <a:t>2</a:t>
            </a:r>
            <a:r>
              <a:rPr lang="en-GB">
                <a:solidFill>
                  <a:srgbClr val="666666"/>
                </a:solidFill>
              </a:rPr>
              <a:t>(u</a:t>
            </a:r>
            <a:r>
              <a:rPr baseline="-25000" lang="en-GB">
                <a:solidFill>
                  <a:srgbClr val="666666"/>
                </a:solidFill>
              </a:rPr>
              <a:t>2</a:t>
            </a:r>
            <a:r>
              <a:rPr lang="en-GB">
                <a:solidFill>
                  <a:srgbClr val="666666"/>
                </a:solidFill>
              </a:rPr>
              <a:t>) ∧ . . . ∧ R</a:t>
            </a:r>
            <a:r>
              <a:rPr baseline="-25000" lang="en-GB">
                <a:solidFill>
                  <a:srgbClr val="666666"/>
                </a:solidFill>
              </a:rPr>
              <a:t>n</a:t>
            </a:r>
            <a:r>
              <a:rPr lang="en-GB">
                <a:solidFill>
                  <a:srgbClr val="666666"/>
                </a:solidFill>
              </a:rPr>
              <a:t>(u</a:t>
            </a:r>
            <a:r>
              <a:rPr baseline="-25000" lang="en-GB">
                <a:solidFill>
                  <a:srgbClr val="666666"/>
                </a:solidFill>
              </a:rPr>
              <a:t>n</a:t>
            </a:r>
            <a:r>
              <a:rPr lang="en-GB">
                <a:solidFill>
                  <a:srgbClr val="666666"/>
                </a:solidFill>
              </a:rPr>
              <a:t>))</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x</a:t>
            </a:r>
            <a:r>
              <a:rPr baseline="-25000" lang="en-GB">
                <a:solidFill>
                  <a:srgbClr val="666666"/>
                </a:solidFill>
              </a:rPr>
              <a:t>1</a:t>
            </a:r>
            <a:r>
              <a:rPr lang="en-GB">
                <a:solidFill>
                  <a:srgbClr val="666666"/>
                </a:solidFill>
              </a:rPr>
              <a:t>,... , x</a:t>
            </a:r>
            <a:r>
              <a:rPr baseline="-25000" lang="en-GB">
                <a:solidFill>
                  <a:srgbClr val="666666"/>
                </a:solidFill>
              </a:rPr>
              <a:t>n</a:t>
            </a:r>
            <a:r>
              <a:rPr lang="en-GB">
                <a:solidFill>
                  <a:srgbClr val="666666"/>
                </a:solidFill>
              </a:rPr>
              <a:t> là các biến luật,← là suy diễn lô-gic</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Có thể coi luật Datalog như công thức suy diễn trong lô-gic bậc nhất.</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Ngữ nghĩa mô hình lý thuyết được xây dựng trên cơ sở các biểu diễn và các ánh xạ</a:t>
            </a:r>
            <a:endParaRPr>
              <a:solidFill>
                <a:srgbClr val="666666"/>
              </a:solidFill>
            </a:endParaRPr>
          </a:p>
          <a:p>
            <a:pPr indent="-368300" lvl="1" marL="914400" rtl="0" algn="l">
              <a:spcBef>
                <a:spcPts val="0"/>
              </a:spcBef>
              <a:spcAft>
                <a:spcPts val="0"/>
              </a:spcAft>
              <a:buClr>
                <a:srgbClr val="666666"/>
              </a:buClr>
              <a:buSzPts val="2200"/>
              <a:buChar char="○"/>
            </a:pPr>
            <a:r>
              <a:rPr i="1" lang="en-GB">
                <a:solidFill>
                  <a:srgbClr val="666666"/>
                </a:solidFill>
              </a:rPr>
              <a:t>(Tham khảo ngữ nghĩa mô hình-lý thuyết của RDF, RDFS và OWL)</a:t>
            </a:r>
            <a:endParaRPr i="1">
              <a:solidFill>
                <a:srgbClr val="666666"/>
              </a:solidFill>
            </a:endParaRPr>
          </a:p>
        </p:txBody>
      </p:sp>
      <p:sp>
        <p:nvSpPr>
          <p:cNvPr id="217" name="Google Shape;217;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Ngữ nghĩa mô hình-lý thuyết của Datalog</a:t>
            </a:r>
            <a:r>
              <a:rPr baseline="-25000" lang="en-GB"/>
              <a:t>(2)</a:t>
            </a:r>
            <a:endParaRPr baseline="-25000"/>
          </a:p>
        </p:txBody>
      </p:sp>
      <p:sp>
        <p:nvSpPr>
          <p:cNvPr id="223" name="Google Shape;223;p37"/>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Một </a:t>
            </a:r>
            <a:r>
              <a:rPr lang="en-GB"/>
              <a:t>biểu diễn</a:t>
            </a:r>
            <a:r>
              <a:rPr lang="en-GB"/>
              <a:t> </a:t>
            </a:r>
            <a:r>
              <a:rPr lang="en-GB">
                <a:solidFill>
                  <a:srgbClr val="666666"/>
                </a:solidFill>
              </a:rPr>
              <a:t>𝓘</a:t>
            </a:r>
            <a:r>
              <a:rPr lang="en-GB"/>
              <a:t> </a:t>
            </a:r>
            <a:r>
              <a:rPr lang="en-GB"/>
              <a:t>là mô hình của</a:t>
            </a:r>
            <a:r>
              <a:rPr lang="en-GB"/>
              <a:t> 1 chương trình Datalog P, nếu </a:t>
            </a:r>
            <a:r>
              <a:rPr lang="en-GB">
                <a:solidFill>
                  <a:srgbClr val="666666"/>
                </a:solidFill>
              </a:rPr>
              <a:t>𝓘</a:t>
            </a:r>
            <a:r>
              <a:rPr lang="en-GB"/>
              <a:t> </a:t>
            </a:r>
            <a:r>
              <a:rPr lang="en-GB"/>
              <a:t>là mô hình của</a:t>
            </a:r>
            <a:r>
              <a:rPr lang="en-GB"/>
              <a:t> tất cả các luật trong P.</a:t>
            </a:r>
            <a:endParaRPr/>
          </a:p>
          <a:p>
            <a:pPr indent="0" lvl="0" marL="0" rtl="0" algn="l">
              <a:spcBef>
                <a:spcPts val="0"/>
              </a:spcBef>
              <a:spcAft>
                <a:spcPts val="0"/>
              </a:spcAft>
              <a:buNone/>
            </a:pPr>
            <a:r>
              <a:t/>
            </a:r>
            <a:endParaRPr/>
          </a:p>
          <a:p>
            <a:pPr indent="0" lvl="0" marL="0" rtl="0" algn="ctr">
              <a:spcBef>
                <a:spcPts val="0"/>
              </a:spcBef>
              <a:spcAft>
                <a:spcPts val="0"/>
              </a:spcAft>
              <a:buNone/>
            </a:pPr>
            <a:r>
              <a:rPr i="1" lang="en-GB">
                <a:solidFill>
                  <a:srgbClr val="1155CC"/>
                </a:solidFill>
              </a:rPr>
              <a:t>C</a:t>
            </a:r>
            <a:r>
              <a:rPr i="1" lang="en-GB">
                <a:solidFill>
                  <a:srgbClr val="1155CC"/>
                </a:solidFill>
              </a:rPr>
              <a:t>ó luôn tồn tại m</a:t>
            </a:r>
            <a:r>
              <a:rPr i="1" lang="en-GB">
                <a:solidFill>
                  <a:srgbClr val="1155CC"/>
                </a:solidFill>
              </a:rPr>
              <a:t>ô hình như vậy? Nếu có </a:t>
            </a:r>
            <a:r>
              <a:rPr i="1" lang="en-GB">
                <a:solidFill>
                  <a:srgbClr val="1155CC"/>
                </a:solidFill>
              </a:rPr>
              <a:t>thì</a:t>
            </a:r>
            <a:r>
              <a:rPr i="1" lang="en-GB">
                <a:solidFill>
                  <a:srgbClr val="1155CC"/>
                </a:solidFill>
              </a:rPr>
              <a:t> làm sao để xây dựng nó?</a:t>
            </a:r>
            <a:endParaRPr i="1">
              <a:solidFill>
                <a:srgbClr val="1155CC"/>
              </a:solidFill>
            </a:endParaRPr>
          </a:p>
        </p:txBody>
      </p:sp>
      <p:sp>
        <p:nvSpPr>
          <p:cNvPr id="224" name="Google Shape;224;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Ngữ nghĩa lý thuyết-chứng minh</a:t>
            </a:r>
            <a:endParaRPr/>
          </a:p>
        </p:txBody>
      </p:sp>
      <p:sp>
        <p:nvSpPr>
          <p:cNvPr id="230" name="Google Shape;230;p38"/>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solidFill>
                  <a:srgbClr val="666666"/>
                </a:solidFill>
              </a:rPr>
              <a:t>Kh</a:t>
            </a:r>
            <a:r>
              <a:rPr i="1" lang="en-GB">
                <a:solidFill>
                  <a:srgbClr val="666666"/>
                </a:solidFill>
              </a:rPr>
              <a:t>ả năng suy diễn các nguyên tử nền thường được quan tâm</a:t>
            </a:r>
            <a:endParaRPr i="1">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Nếu phần thân luật được đáp ứng bởi các nguyên tử nền đã có, thì luật được áp dụng và nguyên tử nền tương ứng với phần đầu của nó được suy ra.</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Tập nguyên tử nền có thể được suy ra từ 1 chương trình Datalog P là tập nhỏ nhất của các nguyên tử A sao cho có 1 luật H ← B</a:t>
            </a:r>
            <a:r>
              <a:rPr baseline="-25000" lang="en-GB">
                <a:solidFill>
                  <a:srgbClr val="666666"/>
                </a:solidFill>
              </a:rPr>
              <a:t>1</a:t>
            </a:r>
            <a:r>
              <a:rPr lang="en-GB">
                <a:solidFill>
                  <a:srgbClr val="666666"/>
                </a:solidFill>
              </a:rPr>
              <a:t> ∧ . . . ∧ B</a:t>
            </a:r>
            <a:r>
              <a:rPr baseline="-25000" lang="en-GB">
                <a:solidFill>
                  <a:srgbClr val="666666"/>
                </a:solidFill>
              </a:rPr>
              <a:t>n</a:t>
            </a:r>
            <a:r>
              <a:rPr lang="en-GB">
                <a:solidFill>
                  <a:srgbClr val="666666"/>
                </a:solidFill>
              </a:rPr>
              <a:t> và 1 thể hiện nền θ trong đó:</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A = Hθ, và </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với mỗi i ∈ {1, . . . , n}, B</a:t>
            </a:r>
            <a:r>
              <a:rPr baseline="-25000" lang="en-GB">
                <a:solidFill>
                  <a:srgbClr val="666666"/>
                </a:solidFill>
              </a:rPr>
              <a:t>i</a:t>
            </a:r>
            <a:r>
              <a:rPr lang="en-GB">
                <a:solidFill>
                  <a:srgbClr val="666666"/>
                </a:solidFill>
              </a:rPr>
              <a:t>θ có thể được suy ra từ P.</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Lưu ý:</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n = 0 đối với dữ kiện nền.</a:t>
            </a:r>
            <a:endParaRPr>
              <a:solidFill>
                <a:srgbClr val="666666"/>
              </a:solidFill>
            </a:endParaRPr>
          </a:p>
          <a:p>
            <a:pPr indent="-368300" lvl="1" marL="914400" rtl="0" algn="l">
              <a:spcBef>
                <a:spcPts val="0"/>
              </a:spcBef>
              <a:spcAft>
                <a:spcPts val="0"/>
              </a:spcAft>
              <a:buClr>
                <a:srgbClr val="666666"/>
              </a:buClr>
              <a:buSzPts val="2200"/>
              <a:buChar char="○"/>
            </a:pPr>
            <a:r>
              <a:rPr lang="en-GB">
                <a:solidFill>
                  <a:srgbClr val="666666"/>
                </a:solidFill>
              </a:rPr>
              <a:t>Nếu các biến trong đầu luật không xuất hiện trong thân luật, thì chúng có thể là bất kỳ hằng nào được biết.</a:t>
            </a:r>
            <a:endParaRPr>
              <a:solidFill>
                <a:srgbClr val="666666"/>
              </a:solidFill>
            </a:endParaRPr>
          </a:p>
        </p:txBody>
      </p:sp>
      <p:sp>
        <p:nvSpPr>
          <p:cNvPr id="231" name="Google Shape;231;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7.3. Chứng minh</a:t>
            </a:r>
            <a:endParaRPr baseline="-25000"/>
          </a:p>
        </p:txBody>
      </p:sp>
      <p:sp>
        <p:nvSpPr>
          <p:cNvPr id="237" name="Google Shape;237;p39"/>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ho : </a:t>
            </a:r>
            <a:endParaRPr/>
          </a:p>
          <a:p>
            <a:pPr indent="-381000" lvl="0" marL="457200" rtl="0" algn="l">
              <a:spcBef>
                <a:spcPts val="0"/>
              </a:spcBef>
              <a:spcAft>
                <a:spcPts val="0"/>
              </a:spcAft>
              <a:buSzPts val="2400"/>
              <a:buChar char="●"/>
            </a:pPr>
            <a:r>
              <a:rPr lang="en-GB"/>
              <a:t>E(a, b), E(b, c), E(c, d)</a:t>
            </a:r>
            <a:endParaRPr/>
          </a:p>
          <a:p>
            <a:pPr indent="-381000" lvl="0" marL="457200" rtl="0" algn="l">
              <a:spcBef>
                <a:spcPts val="0"/>
              </a:spcBef>
              <a:spcAft>
                <a:spcPts val="0"/>
              </a:spcAft>
              <a:buSzPts val="2400"/>
              <a:buChar char="●"/>
            </a:pPr>
            <a:r>
              <a:rPr lang="en-GB"/>
              <a:t>T(x, y) ← E(x, y) 				(1)</a:t>
            </a:r>
            <a:endParaRPr/>
          </a:p>
          <a:p>
            <a:pPr indent="-381000" lvl="0" marL="457200" rtl="0" algn="l">
              <a:spcBef>
                <a:spcPts val="0"/>
              </a:spcBef>
              <a:spcAft>
                <a:spcPts val="0"/>
              </a:spcAft>
              <a:buSzPts val="2400"/>
              <a:buChar char="●"/>
            </a:pPr>
            <a:r>
              <a:rPr lang="en-GB"/>
              <a:t>T(x, y) ← E(x, z) ∧ T(z, y) 	     (2)</a:t>
            </a:r>
            <a:endParaRPr/>
          </a:p>
          <a:p>
            <a:pPr indent="0" lvl="0" marL="0" rtl="0" algn="l">
              <a:spcBef>
                <a:spcPts val="0"/>
              </a:spcBef>
              <a:spcAft>
                <a:spcPts val="0"/>
              </a:spcAft>
              <a:buNone/>
            </a:pPr>
            <a:r>
              <a:rPr lang="en-GB"/>
              <a:t>Có thể suy ra:</a:t>
            </a:r>
            <a:endParaRPr/>
          </a:p>
          <a:p>
            <a:pPr indent="0" lvl="0" marL="0" rtl="0" algn="l">
              <a:spcBef>
                <a:spcPts val="0"/>
              </a:spcBef>
              <a:spcAft>
                <a:spcPts val="0"/>
              </a:spcAft>
              <a:buNone/>
            </a:pPr>
            <a:r>
              <a:rPr lang="en-GB"/>
              <a:t>(a) T(c, d) được suy ra từ (1) và E(c, d)</a:t>
            </a:r>
            <a:endParaRPr/>
          </a:p>
          <a:p>
            <a:pPr indent="0" lvl="0" marL="0" rtl="0" algn="l">
              <a:spcBef>
                <a:spcPts val="0"/>
              </a:spcBef>
              <a:spcAft>
                <a:spcPts val="0"/>
              </a:spcAft>
              <a:buNone/>
            </a:pPr>
            <a:r>
              <a:rPr lang="en-GB"/>
              <a:t>(b) T(b, d) được suy ra từ E(b, c), (a) và (2)</a:t>
            </a:r>
            <a:endParaRPr/>
          </a:p>
          <a:p>
            <a:pPr indent="0" lvl="0" marL="0" rtl="0" algn="l">
              <a:spcBef>
                <a:spcPts val="0"/>
              </a:spcBef>
              <a:spcAft>
                <a:spcPts val="0"/>
              </a:spcAft>
              <a:buNone/>
            </a:pPr>
            <a:r>
              <a:rPr lang="en-GB"/>
              <a:t>(c) ...</a:t>
            </a:r>
            <a:endParaRPr/>
          </a:p>
        </p:txBody>
      </p:sp>
      <p:sp>
        <p:nvSpPr>
          <p:cNvPr id="238" name="Google Shape;238;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sz="2200">
                <a:solidFill>
                  <a:srgbClr val="1155CC"/>
                </a:solidFill>
              </a:rPr>
              <a:t>Có thể biểu diễn các minh chứng theo cấu trúc cây, được gọi là cây chứng minh</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GB"/>
              <a:t>E(b, c) và E(c, d) là các dữ kiện nền được cho.</a:t>
            </a:r>
            <a:endParaRPr/>
          </a:p>
          <a:p>
            <a:pPr indent="0" lvl="0" marL="0" rtl="0" algn="l">
              <a:spcBef>
                <a:spcPts val="0"/>
              </a:spcBef>
              <a:spcAft>
                <a:spcPts val="0"/>
              </a:spcAft>
              <a:buClr>
                <a:schemeClr val="dk1"/>
              </a:buClr>
              <a:buSzPts val="1100"/>
              <a:buFont typeface="Arial"/>
              <a:buNone/>
            </a:pPr>
            <a:r>
              <a:rPr lang="en-GB"/>
              <a:t>(a) T(c, d) được suy ra từ (1) và E(c, d)</a:t>
            </a:r>
            <a:endParaRPr/>
          </a:p>
          <a:p>
            <a:pPr indent="0" lvl="0" marL="0" rtl="0" algn="l">
              <a:spcBef>
                <a:spcPts val="0"/>
              </a:spcBef>
              <a:spcAft>
                <a:spcPts val="0"/>
              </a:spcAft>
              <a:buClr>
                <a:schemeClr val="dk1"/>
              </a:buClr>
              <a:buSzPts val="1100"/>
              <a:buFont typeface="Arial"/>
              <a:buNone/>
            </a:pPr>
            <a:r>
              <a:rPr lang="en-GB"/>
              <a:t>(b) T(b, d) được suy ra từ E(b, c), (a) và (2)</a:t>
            </a:r>
            <a:endParaRPr/>
          </a:p>
          <a:p>
            <a:pPr indent="0" lvl="0" marL="0" rtl="0" algn="l">
              <a:spcBef>
                <a:spcPts val="0"/>
              </a:spcBef>
              <a:spcAft>
                <a:spcPts val="0"/>
              </a:spcAft>
              <a:buClr>
                <a:schemeClr val="dk1"/>
              </a:buClr>
              <a:buSzPts val="1100"/>
              <a:buFont typeface="Arial"/>
              <a:buNone/>
            </a:pPr>
            <a:r>
              <a:rPr lang="en-GB"/>
              <a:t>(c) ...</a:t>
            </a:r>
            <a:endParaRPr/>
          </a:p>
          <a:p>
            <a:pPr indent="0" lvl="0" marL="0" rtl="0" algn="l">
              <a:spcBef>
                <a:spcPts val="0"/>
              </a:spcBef>
              <a:spcAft>
                <a:spcPts val="0"/>
              </a:spcAft>
              <a:buNone/>
            </a:pPr>
            <a:r>
              <a:t/>
            </a:r>
            <a:endParaRPr sz="2200"/>
          </a:p>
          <a:p>
            <a:pPr indent="0" lvl="0" marL="0" rtl="0" algn="ctr">
              <a:spcBef>
                <a:spcPts val="0"/>
              </a:spcBef>
              <a:spcAft>
                <a:spcPts val="0"/>
              </a:spcAft>
              <a:buNone/>
            </a:pPr>
            <a:r>
              <a:t/>
            </a:r>
            <a:endParaRPr i="1" sz="2200">
              <a:solidFill>
                <a:srgbClr val="1155CC"/>
              </a:solidFill>
            </a:endParaRPr>
          </a:p>
        </p:txBody>
      </p:sp>
      <p:pic>
        <p:nvPicPr>
          <p:cNvPr id="244" name="Google Shape;244;p40"/>
          <p:cNvPicPr preferRelativeResize="0"/>
          <p:nvPr/>
        </p:nvPicPr>
        <p:blipFill>
          <a:blip r:embed="rId3">
            <a:alphaModFix/>
          </a:blip>
          <a:stretch>
            <a:fillRect/>
          </a:stretch>
        </p:blipFill>
        <p:spPr>
          <a:xfrm>
            <a:off x="4668775" y="1426125"/>
            <a:ext cx="3930775" cy="3103675"/>
          </a:xfrm>
          <a:prstGeom prst="rect">
            <a:avLst/>
          </a:prstGeom>
          <a:noFill/>
          <a:ln>
            <a:noFill/>
          </a:ln>
        </p:spPr>
      </p:pic>
      <p:sp>
        <p:nvSpPr>
          <p:cNvPr id="245" name="Google Shape;245;p4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7.3. Chứng minh</a:t>
            </a:r>
            <a:r>
              <a:rPr baseline="-25000" lang="en-GB"/>
              <a:t>(2)</a:t>
            </a:r>
            <a:endParaRPr baseline="-25000"/>
          </a:p>
        </p:txBody>
      </p:sp>
      <p:sp>
        <p:nvSpPr>
          <p:cNvPr id="246" name="Google Shape;246;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Cây chứng minh</a:t>
            </a:r>
            <a:endParaRPr baseline="-25000"/>
          </a:p>
        </p:txBody>
      </p:sp>
      <p:sp>
        <p:nvSpPr>
          <p:cNvPr id="252" name="Google Shape;252;p41"/>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2400"/>
              <a:t>Định nghĩa:</a:t>
            </a:r>
            <a:endParaRPr b="1" sz="2400"/>
          </a:p>
          <a:p>
            <a:pPr indent="0" lvl="0" marL="0" rtl="0" algn="just">
              <a:spcBef>
                <a:spcPts val="0"/>
              </a:spcBef>
              <a:spcAft>
                <a:spcPts val="0"/>
              </a:spcAft>
              <a:buNone/>
            </a:pPr>
            <a:r>
              <a:rPr lang="en-GB" sz="2400"/>
              <a:t>Cây </a:t>
            </a:r>
            <a:r>
              <a:rPr lang="en-GB"/>
              <a:t>chứng minh</a:t>
            </a:r>
            <a:r>
              <a:rPr lang="en-GB" sz="2400"/>
              <a:t> cho </a:t>
            </a:r>
            <a:r>
              <a:rPr lang="en-GB"/>
              <a:t>1</a:t>
            </a:r>
            <a:r>
              <a:rPr lang="en-GB" sz="2400"/>
              <a:t> dữ kiện A </a:t>
            </a:r>
            <a:r>
              <a:rPr lang="en-GB"/>
              <a:t>từ</a:t>
            </a:r>
            <a:r>
              <a:rPr lang="en-GB" sz="2400"/>
              <a:t> </a:t>
            </a:r>
            <a:r>
              <a:rPr lang="en-GB"/>
              <a:t>1</a:t>
            </a:r>
            <a:r>
              <a:rPr lang="en-GB" sz="2400"/>
              <a:t> chương trình Datalog P là </a:t>
            </a:r>
            <a:r>
              <a:rPr lang="en-GB"/>
              <a:t>1</a:t>
            </a:r>
            <a:r>
              <a:rPr lang="en-GB" sz="2400"/>
              <a:t> cây có nhãn tr</a:t>
            </a:r>
            <a:r>
              <a:rPr lang="en-GB" sz="2400"/>
              <a:t>ong đó</a:t>
            </a:r>
            <a:r>
              <a:rPr lang="en-GB" sz="2400"/>
              <a:t>:</a:t>
            </a:r>
            <a:endParaRPr sz="2400"/>
          </a:p>
          <a:p>
            <a:pPr indent="-381000" lvl="0" marL="457200" rtl="0" algn="just">
              <a:spcBef>
                <a:spcPts val="0"/>
              </a:spcBef>
              <a:spcAft>
                <a:spcPts val="0"/>
              </a:spcAft>
              <a:buSzPts val="2400"/>
              <a:buAutoNum type="arabicPeriod"/>
            </a:pPr>
            <a:r>
              <a:rPr lang="en-GB"/>
              <a:t>Mỗi</a:t>
            </a:r>
            <a:r>
              <a:rPr lang="en-GB" sz="2400"/>
              <a:t> nút </a:t>
            </a:r>
            <a:r>
              <a:rPr lang="en-GB"/>
              <a:t>đều </a:t>
            </a:r>
            <a:r>
              <a:rPr lang="en-GB" sz="2400"/>
              <a:t>được gán nhãn </a:t>
            </a:r>
            <a:r>
              <a:rPr lang="en-GB"/>
              <a:t>bằng</a:t>
            </a:r>
            <a:r>
              <a:rPr lang="en-GB" sz="2400"/>
              <a:t> 1 dữ kiện</a:t>
            </a:r>
            <a:endParaRPr sz="2400"/>
          </a:p>
          <a:p>
            <a:pPr indent="-381000" lvl="0" marL="457200" rtl="0" algn="just">
              <a:spcBef>
                <a:spcPts val="0"/>
              </a:spcBef>
              <a:spcAft>
                <a:spcPts val="0"/>
              </a:spcAft>
              <a:buSzPts val="2400"/>
              <a:buAutoNum type="arabicPeriod"/>
            </a:pPr>
            <a:r>
              <a:rPr lang="en-GB"/>
              <a:t>Mỗi</a:t>
            </a:r>
            <a:r>
              <a:rPr lang="en-GB" sz="2400"/>
              <a:t> nút lá </a:t>
            </a:r>
            <a:r>
              <a:rPr lang="en-GB"/>
              <a:t>đều </a:t>
            </a:r>
            <a:r>
              <a:rPr lang="en-GB" sz="2400"/>
              <a:t>được gán nhãn bằng </a:t>
            </a:r>
            <a:r>
              <a:rPr lang="en-GB"/>
              <a:t>1</a:t>
            </a:r>
            <a:r>
              <a:rPr lang="en-GB" sz="2400"/>
              <a:t> dữ kiện </a:t>
            </a:r>
            <a:r>
              <a:rPr lang="en-GB"/>
              <a:t>nền</a:t>
            </a:r>
            <a:endParaRPr sz="2400"/>
          </a:p>
          <a:p>
            <a:pPr indent="-381000" lvl="0" marL="457200" rtl="0" algn="just">
              <a:spcBef>
                <a:spcPts val="0"/>
              </a:spcBef>
              <a:spcAft>
                <a:spcPts val="0"/>
              </a:spcAft>
              <a:buSzPts val="2400"/>
              <a:buAutoNum type="arabicPeriod"/>
            </a:pPr>
            <a:r>
              <a:rPr lang="en-GB" sz="2400"/>
              <a:t>Gốc được gán nhãn A</a:t>
            </a:r>
            <a:endParaRPr sz="2400"/>
          </a:p>
          <a:p>
            <a:pPr indent="-381000" lvl="0" marL="457200" rtl="0" algn="just">
              <a:spcBef>
                <a:spcPts val="0"/>
              </a:spcBef>
              <a:spcAft>
                <a:spcPts val="0"/>
              </a:spcAft>
              <a:buSzPts val="2400"/>
              <a:buAutoNum type="arabicPeriod"/>
            </a:pPr>
            <a:r>
              <a:rPr lang="en-GB"/>
              <a:t>M</a:t>
            </a:r>
            <a:r>
              <a:rPr lang="en-GB" sz="2400"/>
              <a:t>ỗi nút nội </a:t>
            </a:r>
            <a:r>
              <a:rPr lang="en-GB"/>
              <a:t>tương ứng với</a:t>
            </a:r>
            <a:r>
              <a:rPr lang="en-GB" sz="2400"/>
              <a:t> </a:t>
            </a:r>
            <a:r>
              <a:rPr lang="en-GB"/>
              <a:t>1</a:t>
            </a:r>
            <a:r>
              <a:rPr lang="en-GB" sz="2400"/>
              <a:t> </a:t>
            </a:r>
            <a:r>
              <a:rPr lang="en-GB"/>
              <a:t>thể hiện</a:t>
            </a:r>
            <a:r>
              <a:rPr lang="en-GB" sz="2400"/>
              <a:t> A</a:t>
            </a:r>
            <a:r>
              <a:rPr baseline="-25000" lang="en-GB" sz="2400"/>
              <a:t>1</a:t>
            </a:r>
            <a:r>
              <a:rPr lang="en-GB" sz="2400"/>
              <a:t> ← A</a:t>
            </a:r>
            <a:r>
              <a:rPr baseline="-25000" lang="en-GB" sz="2400"/>
              <a:t>2</a:t>
            </a:r>
            <a:r>
              <a:rPr lang="en-GB" sz="2400"/>
              <a:t>, . . . , A</a:t>
            </a:r>
            <a:r>
              <a:rPr baseline="-25000" lang="en-GB" sz="2400"/>
              <a:t>n</a:t>
            </a:r>
            <a:r>
              <a:rPr lang="en-GB" sz="2400"/>
              <a:t> của </a:t>
            </a:r>
            <a:r>
              <a:rPr lang="en-GB"/>
              <a:t>1</a:t>
            </a:r>
            <a:r>
              <a:rPr lang="en-GB" sz="2400"/>
              <a:t> luật </a:t>
            </a:r>
            <a:r>
              <a:rPr lang="en-GB"/>
              <a:t>trong </a:t>
            </a:r>
            <a:r>
              <a:rPr lang="en-GB" sz="2400"/>
              <a:t>P, sao cho nút đó được gán nhãn A</a:t>
            </a:r>
            <a:r>
              <a:rPr baseline="-25000" lang="en-GB" sz="2400"/>
              <a:t>1</a:t>
            </a:r>
            <a:r>
              <a:rPr lang="en-GB" sz="2400"/>
              <a:t> và các con của nó là A</a:t>
            </a:r>
            <a:r>
              <a:rPr baseline="-25000" lang="en-GB" sz="2400"/>
              <a:t>2</a:t>
            </a:r>
            <a:r>
              <a:rPr lang="en-GB" sz="2400"/>
              <a:t>, ..., A</a:t>
            </a:r>
            <a:r>
              <a:rPr baseline="-25000" lang="en-GB" sz="2400"/>
              <a:t>n</a:t>
            </a:r>
            <a:endParaRPr sz="2400"/>
          </a:p>
          <a:p>
            <a:pPr indent="0" lvl="0" marL="0" rtl="0" algn="just">
              <a:spcBef>
                <a:spcPts val="0"/>
              </a:spcBef>
              <a:spcAft>
                <a:spcPts val="0"/>
              </a:spcAft>
              <a:buNone/>
            </a:pPr>
            <a:r>
              <a:t/>
            </a:r>
            <a:endParaRPr/>
          </a:p>
          <a:p>
            <a:pPr indent="0" lvl="0" marL="0" rtl="0" algn="ctr">
              <a:spcBef>
                <a:spcPts val="0"/>
              </a:spcBef>
              <a:spcAft>
                <a:spcPts val="0"/>
              </a:spcAft>
              <a:buClr>
                <a:schemeClr val="dk1"/>
              </a:buClr>
              <a:buSzPts val="1100"/>
              <a:buFont typeface="Arial"/>
              <a:buNone/>
            </a:pPr>
            <a:r>
              <a:rPr i="1" lang="en-GB"/>
              <a:t>Một dữ kiện được coi là có thể được suy ra nếu có cây chứng minh cho nó</a:t>
            </a:r>
            <a:endParaRPr/>
          </a:p>
        </p:txBody>
      </p:sp>
      <p:sp>
        <p:nvSpPr>
          <p:cNvPr id="253" name="Google Shape;253;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Ngữ nghĩa dựa trên điểm cố định</a:t>
            </a:r>
            <a:endParaRPr/>
          </a:p>
        </p:txBody>
      </p:sp>
      <p:sp>
        <p:nvSpPr>
          <p:cNvPr id="259" name="Google Shape;259;p42"/>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u="sng"/>
              <a:t>Định nghĩa:</a:t>
            </a:r>
            <a:endParaRPr b="1" u="sng"/>
          </a:p>
          <a:p>
            <a:pPr indent="0" lvl="0" marL="0" rtl="0" algn="l">
              <a:spcBef>
                <a:spcPts val="0"/>
              </a:spcBef>
              <a:spcAft>
                <a:spcPts val="0"/>
              </a:spcAft>
              <a:buNone/>
            </a:pPr>
            <a:r>
              <a:rPr i="1" lang="en-GB"/>
              <a:t>Nền của 1 chương trình Datalog P - ground(P) là tập luật nền thu được từ các luật trong P bằng cách thay tất cả các biến bằng các hằng trong không gian hằng.</a:t>
            </a:r>
            <a:endParaRPr i="1"/>
          </a:p>
          <a:p>
            <a:pPr indent="-381000" lvl="0" marL="457200" rtl="0" algn="l">
              <a:spcBef>
                <a:spcPts val="0"/>
              </a:spcBef>
              <a:spcAft>
                <a:spcPts val="0"/>
              </a:spcAft>
              <a:buSzPts val="2400"/>
              <a:buChar char="●"/>
            </a:pPr>
            <a:r>
              <a:rPr lang="en-GB"/>
              <a:t>Toán tử hệ quả trực tiếp T</a:t>
            </a:r>
            <a:r>
              <a:rPr baseline="-25000" lang="en-GB"/>
              <a:t>P</a:t>
            </a:r>
            <a:r>
              <a:rPr lang="en-GB"/>
              <a:t> ánh xạ tập dữ kiện nền I tới tập dữ kiện nền T</a:t>
            </a:r>
            <a:r>
              <a:rPr baseline="-25000" lang="en-GB"/>
              <a:t>P</a:t>
            </a:r>
            <a:r>
              <a:rPr lang="en-GB"/>
              <a:t>(I)</a:t>
            </a:r>
            <a:endParaRPr/>
          </a:p>
          <a:p>
            <a:pPr indent="-368300" lvl="1" marL="914400" rtl="0" algn="l">
              <a:spcBef>
                <a:spcPts val="0"/>
              </a:spcBef>
              <a:spcAft>
                <a:spcPts val="0"/>
              </a:spcAft>
              <a:buSzPts val="2200"/>
              <a:buChar char="○"/>
            </a:pPr>
            <a:r>
              <a:rPr lang="en-GB"/>
              <a:t>T</a:t>
            </a:r>
            <a:r>
              <a:rPr baseline="-25000" lang="en-GB"/>
              <a:t>P</a:t>
            </a:r>
            <a:r>
              <a:rPr lang="en-GB"/>
              <a:t>(I) = {H | H ← B</a:t>
            </a:r>
            <a:r>
              <a:rPr baseline="-25000" lang="en-GB"/>
              <a:t>1</a:t>
            </a:r>
            <a:r>
              <a:rPr lang="en-GB"/>
              <a:t>∧. . .∧B</a:t>
            </a:r>
            <a:r>
              <a:rPr baseline="-25000" lang="en-GB"/>
              <a:t>n</a:t>
            </a:r>
            <a:r>
              <a:rPr lang="en-GB"/>
              <a:t> ∈ ground(P) and B</a:t>
            </a:r>
            <a:r>
              <a:rPr baseline="-25000" lang="en-GB"/>
              <a:t>1</a:t>
            </a:r>
            <a:r>
              <a:rPr lang="en-GB"/>
              <a:t>, . . . ,B</a:t>
            </a:r>
            <a:r>
              <a:rPr baseline="-25000" lang="en-GB"/>
              <a:t>n</a:t>
            </a:r>
            <a:r>
              <a:rPr lang="en-GB"/>
              <a:t>∈ I}</a:t>
            </a:r>
            <a:endParaRPr/>
          </a:p>
          <a:p>
            <a:pPr indent="-368300" lvl="1" marL="914400" rtl="0" algn="l">
              <a:spcBef>
                <a:spcPts val="0"/>
              </a:spcBef>
              <a:spcAft>
                <a:spcPts val="0"/>
              </a:spcAft>
              <a:buSzPts val="2200"/>
              <a:buChar char="○"/>
            </a:pPr>
            <a:r>
              <a:rPr lang="en-GB"/>
              <a:t>Điểm cố định tối thiểu của T</a:t>
            </a:r>
            <a:r>
              <a:rPr baseline="-25000" lang="en-GB"/>
              <a:t>P</a:t>
            </a:r>
            <a:r>
              <a:rPr lang="en-GB"/>
              <a:t>: Tập L nhỏ nhất sao cho T</a:t>
            </a:r>
            <a:r>
              <a:rPr baseline="-25000" lang="en-GB"/>
              <a:t>P</a:t>
            </a:r>
            <a:r>
              <a:rPr lang="en-GB"/>
              <a:t>(L) =L</a:t>
            </a:r>
            <a:endParaRPr/>
          </a:p>
          <a:p>
            <a:pPr indent="-368300" lvl="1" marL="914400" rtl="0" algn="l">
              <a:spcBef>
                <a:spcPts val="0"/>
              </a:spcBef>
              <a:spcAft>
                <a:spcPts val="0"/>
              </a:spcAft>
              <a:buSzPts val="2200"/>
              <a:buChar char="○"/>
            </a:pPr>
            <a:r>
              <a:rPr lang="en-GB"/>
              <a:t>Tính từ đáy: T</a:t>
            </a:r>
            <a:r>
              <a:rPr baseline="-25000" lang="en-GB"/>
              <a:t>P</a:t>
            </a:r>
            <a:r>
              <a:rPr baseline="30000" lang="en-GB"/>
              <a:t>0</a:t>
            </a:r>
            <a:r>
              <a:rPr lang="en-GB"/>
              <a:t> = ∅ và T</a:t>
            </a:r>
            <a:r>
              <a:rPr baseline="-25000" lang="en-GB"/>
              <a:t>P</a:t>
            </a:r>
            <a:r>
              <a:rPr baseline="30000" lang="en-GB"/>
              <a:t>i+1</a:t>
            </a:r>
            <a:r>
              <a:rPr lang="en-GB"/>
              <a:t> = T</a:t>
            </a:r>
            <a:r>
              <a:rPr baseline="-25000" lang="en-GB"/>
              <a:t>P</a:t>
            </a:r>
            <a:r>
              <a:rPr lang="en-GB"/>
              <a:t>(T</a:t>
            </a:r>
            <a:r>
              <a:rPr baseline="-25000" lang="en-GB"/>
              <a:t>P</a:t>
            </a:r>
            <a:r>
              <a:rPr baseline="30000" lang="en-GB"/>
              <a:t>i</a:t>
            </a:r>
            <a:r>
              <a:rPr lang="en-GB"/>
              <a:t> )</a:t>
            </a:r>
            <a:endParaRPr/>
          </a:p>
          <a:p>
            <a:pPr indent="-368300" lvl="1" marL="914400" rtl="0" algn="l">
              <a:spcBef>
                <a:spcPts val="0"/>
              </a:spcBef>
              <a:spcAft>
                <a:spcPts val="0"/>
              </a:spcAft>
              <a:buSzPts val="2200"/>
              <a:buChar char="○"/>
            </a:pPr>
            <a:r>
              <a:rPr lang="en-GB"/>
              <a:t>Điểm cố định tối thiểu của T</a:t>
            </a:r>
            <a:r>
              <a:rPr baseline="-25000" lang="en-GB"/>
              <a:t>P</a:t>
            </a:r>
            <a:r>
              <a:rPr lang="en-GB"/>
              <a:t> là T</a:t>
            </a:r>
            <a:r>
              <a:rPr baseline="-25000" lang="en-GB"/>
              <a:t>P</a:t>
            </a:r>
            <a:r>
              <a:rPr baseline="30000" lang="en-GB"/>
              <a:t>∞</a:t>
            </a:r>
            <a:r>
              <a:rPr lang="en-GB"/>
              <a:t> = U</a:t>
            </a:r>
            <a:r>
              <a:rPr baseline="-25000" lang="en-GB"/>
              <a:t>i≥0</a:t>
            </a:r>
            <a:r>
              <a:rPr lang="en-GB"/>
              <a:t>T</a:t>
            </a:r>
            <a:r>
              <a:rPr baseline="-25000" lang="en-GB"/>
              <a:t>P</a:t>
            </a:r>
            <a:r>
              <a:rPr baseline="30000" lang="en-GB"/>
              <a:t>i</a:t>
            </a:r>
            <a:endParaRPr/>
          </a:p>
          <a:p>
            <a:pPr indent="0" lvl="0" marL="0" rtl="0" algn="l">
              <a:spcBef>
                <a:spcPts val="0"/>
              </a:spcBef>
              <a:spcAft>
                <a:spcPts val="0"/>
              </a:spcAft>
              <a:buNone/>
            </a:pPr>
            <a:r>
              <a:t/>
            </a:r>
            <a:endParaRPr sz="2200"/>
          </a:p>
          <a:p>
            <a:pPr indent="0" lvl="0" marL="0" rtl="0" algn="l">
              <a:spcBef>
                <a:spcPts val="0"/>
              </a:spcBef>
              <a:spcAft>
                <a:spcPts val="0"/>
              </a:spcAft>
              <a:buNone/>
            </a:pPr>
            <a:r>
              <a:rPr i="1" lang="en-GB" sz="2200"/>
              <a:t>Nguyên tử nền A được suy ra từ P khi và chỉ khi A ∈ T</a:t>
            </a:r>
            <a:r>
              <a:rPr baseline="-25000" i="1" lang="en-GB" sz="2200"/>
              <a:t>P</a:t>
            </a:r>
            <a:r>
              <a:rPr baseline="30000" i="1" lang="en-GB" sz="2200"/>
              <a:t>∞</a:t>
            </a:r>
            <a:endParaRPr baseline="30000" sz="2200"/>
          </a:p>
        </p:txBody>
      </p:sp>
      <p:sp>
        <p:nvSpPr>
          <p:cNvPr id="260" name="Google Shape;260;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Giải thuật tìm điểm cố định tối thiểu </a:t>
            </a:r>
            <a:endParaRPr/>
          </a:p>
        </p:txBody>
      </p:sp>
      <p:sp>
        <p:nvSpPr>
          <p:cNvPr id="266" name="Google Shape;266;p43"/>
          <p:cNvSpPr txBox="1"/>
          <p:nvPr>
            <p:ph idx="4294967295"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Xét giải thuật thô sơ nhất </a:t>
            </a:r>
            <a:endParaRPr i="1"/>
          </a:p>
          <a:p>
            <a:pPr indent="-381000" lvl="0" marL="457200" rtl="0" algn="l">
              <a:spcBef>
                <a:spcPts val="0"/>
              </a:spcBef>
              <a:spcAft>
                <a:spcPts val="0"/>
              </a:spcAft>
              <a:buSzPts val="2400"/>
              <a:buAutoNum type="arabicPeriod"/>
            </a:pPr>
            <a:r>
              <a:rPr lang="en-GB"/>
              <a:t>T</a:t>
            </a:r>
            <a:r>
              <a:rPr baseline="-25000" lang="en-GB"/>
              <a:t>P</a:t>
            </a:r>
            <a:r>
              <a:rPr baseline="30000" lang="en-GB"/>
              <a:t>0</a:t>
            </a:r>
            <a:r>
              <a:rPr lang="en-GB"/>
              <a:t> = ∅</a:t>
            </a:r>
            <a:endParaRPr/>
          </a:p>
          <a:p>
            <a:pPr indent="-381000" lvl="0" marL="457200" rtl="0" algn="l">
              <a:spcBef>
                <a:spcPts val="0"/>
              </a:spcBef>
              <a:spcAft>
                <a:spcPts val="0"/>
              </a:spcAft>
              <a:buSzPts val="2400"/>
              <a:buAutoNum type="arabicPeriod"/>
            </a:pPr>
            <a:r>
              <a:rPr lang="en-GB"/>
              <a:t>i = 0</a:t>
            </a:r>
            <a:endParaRPr/>
          </a:p>
          <a:p>
            <a:pPr indent="-381000" lvl="0" marL="457200" rtl="0" algn="l">
              <a:spcBef>
                <a:spcPts val="0"/>
              </a:spcBef>
              <a:spcAft>
                <a:spcPts val="0"/>
              </a:spcAft>
              <a:buSzPts val="2400"/>
              <a:buAutoNum type="arabicPeriod"/>
            </a:pPr>
            <a:r>
              <a:rPr lang="en-GB"/>
              <a:t>do</a:t>
            </a:r>
            <a:endParaRPr/>
          </a:p>
          <a:p>
            <a:pPr indent="-381000" lvl="0" marL="457200" rtl="0" algn="l">
              <a:spcBef>
                <a:spcPts val="0"/>
              </a:spcBef>
              <a:spcAft>
                <a:spcPts val="0"/>
              </a:spcAft>
              <a:buSzPts val="2400"/>
              <a:buAutoNum type="arabicPeriod"/>
            </a:pPr>
            <a:r>
              <a:rPr lang="en-GB"/>
              <a:t>  T</a:t>
            </a:r>
            <a:r>
              <a:rPr baseline="-25000" lang="en-GB"/>
              <a:t>P</a:t>
            </a:r>
            <a:r>
              <a:rPr baseline="30000" lang="en-GB"/>
              <a:t>i + 1</a:t>
            </a:r>
            <a:r>
              <a:rPr lang="en-GB"/>
              <a:t> = ∅</a:t>
            </a:r>
            <a:endParaRPr/>
          </a:p>
          <a:p>
            <a:pPr indent="-381000" lvl="0" marL="457200" rtl="0" algn="l">
              <a:spcBef>
                <a:spcPts val="0"/>
              </a:spcBef>
              <a:spcAft>
                <a:spcPts val="0"/>
              </a:spcAft>
              <a:buSzPts val="2400"/>
              <a:buAutoNum type="arabicPeriod"/>
            </a:pPr>
            <a:r>
              <a:rPr lang="en-GB"/>
              <a:t>  for H ← B</a:t>
            </a:r>
            <a:r>
              <a:rPr baseline="-25000" lang="en-GB"/>
              <a:t>1</a:t>
            </a:r>
            <a:r>
              <a:rPr lang="en-GB"/>
              <a:t> ∧ . . . ∧ B</a:t>
            </a:r>
            <a:r>
              <a:rPr baseline="-25000" lang="en-GB"/>
              <a:t>ℓ</a:t>
            </a:r>
            <a:r>
              <a:rPr lang="en-GB"/>
              <a:t> ∈ P:</a:t>
            </a:r>
            <a:endParaRPr/>
          </a:p>
          <a:p>
            <a:pPr indent="-381000" lvl="0" marL="457200" rtl="0" algn="l">
              <a:spcBef>
                <a:spcPts val="0"/>
              </a:spcBef>
              <a:spcAft>
                <a:spcPts val="0"/>
              </a:spcAft>
              <a:buSzPts val="2400"/>
              <a:buAutoNum type="arabicPeriod"/>
            </a:pPr>
            <a:r>
              <a:rPr lang="en-GB"/>
              <a:t>      for each ({B</a:t>
            </a:r>
            <a:r>
              <a:rPr baseline="-25000" lang="en-GB"/>
              <a:t>1</a:t>
            </a:r>
            <a:r>
              <a:rPr lang="en-GB"/>
              <a:t>,...,B</a:t>
            </a:r>
            <a:r>
              <a:rPr baseline="-25000" lang="en-GB"/>
              <a:t>ℓ</a:t>
            </a:r>
            <a:r>
              <a:rPr lang="en-GB"/>
              <a:t> })θ:</a:t>
            </a:r>
            <a:endParaRPr/>
          </a:p>
          <a:p>
            <a:pPr indent="-381000" lvl="0" marL="457200" rtl="0" algn="l">
              <a:spcBef>
                <a:spcPts val="0"/>
              </a:spcBef>
              <a:spcAft>
                <a:spcPts val="0"/>
              </a:spcAft>
              <a:buSzPts val="2400"/>
              <a:buAutoNum type="arabicPeriod"/>
            </a:pPr>
            <a:r>
              <a:rPr lang="en-GB"/>
              <a:t>          T</a:t>
            </a:r>
            <a:r>
              <a:rPr baseline="-25000" lang="en-GB"/>
              <a:t>P</a:t>
            </a:r>
            <a:r>
              <a:rPr baseline="30000" lang="en-GB"/>
              <a:t>i+1</a:t>
            </a:r>
            <a:r>
              <a:rPr lang="en-GB"/>
              <a:t> = T</a:t>
            </a:r>
            <a:r>
              <a:rPr baseline="-25000" lang="en-GB"/>
              <a:t>P</a:t>
            </a:r>
            <a:r>
              <a:rPr baseline="30000" lang="en-GB"/>
              <a:t>i+1</a:t>
            </a:r>
            <a:r>
              <a:rPr lang="en-GB"/>
              <a:t> ∪ {Hθ}</a:t>
            </a:r>
            <a:endParaRPr/>
          </a:p>
          <a:p>
            <a:pPr indent="-381000" lvl="0" marL="457200" rtl="0" algn="l">
              <a:spcBef>
                <a:spcPts val="0"/>
              </a:spcBef>
              <a:spcAft>
                <a:spcPts val="0"/>
              </a:spcAft>
              <a:buSzPts val="2400"/>
              <a:buAutoNum type="arabicPeriod"/>
            </a:pPr>
            <a:r>
              <a:rPr lang="en-GB"/>
              <a:t>  i  = i + 1</a:t>
            </a:r>
            <a:endParaRPr/>
          </a:p>
          <a:p>
            <a:pPr indent="-381000" lvl="0" marL="457200" rtl="0" algn="l">
              <a:spcBef>
                <a:spcPts val="0"/>
              </a:spcBef>
              <a:spcAft>
                <a:spcPts val="0"/>
              </a:spcAft>
              <a:buSzPts val="2400"/>
              <a:buAutoNum type="arabicPeriod"/>
            </a:pPr>
            <a:r>
              <a:rPr lang="en-GB"/>
              <a:t>while T</a:t>
            </a:r>
            <a:r>
              <a:rPr baseline="-25000" lang="en-GB"/>
              <a:t>P</a:t>
            </a:r>
            <a:r>
              <a:rPr baseline="30000" lang="en-GB"/>
              <a:t>i - 1</a:t>
            </a:r>
            <a:r>
              <a:rPr lang="en-GB"/>
              <a:t> != T</a:t>
            </a:r>
            <a:r>
              <a:rPr baseline="-25000" lang="en-GB"/>
              <a:t>P</a:t>
            </a:r>
            <a:r>
              <a:rPr baseline="30000" lang="en-GB"/>
              <a:t>i</a:t>
            </a:r>
            <a:endParaRPr/>
          </a:p>
          <a:p>
            <a:pPr indent="0" lvl="0" marL="0" rtl="0" algn="l">
              <a:spcBef>
                <a:spcPts val="0"/>
              </a:spcBef>
              <a:spcAft>
                <a:spcPts val="0"/>
              </a:spcAft>
              <a:buNone/>
            </a:pPr>
            <a:r>
              <a:t/>
            </a:r>
            <a:endParaRPr/>
          </a:p>
        </p:txBody>
      </p:sp>
      <p:sp>
        <p:nvSpPr>
          <p:cNvPr id="267" name="Google Shape;267;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8" name="Google Shape;268;p43"/>
          <p:cNvSpPr txBox="1"/>
          <p:nvPr/>
        </p:nvSpPr>
        <p:spPr>
          <a:xfrm>
            <a:off x="5182900" y="2817150"/>
            <a:ext cx="3649500" cy="24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u="sng">
                <a:solidFill>
                  <a:schemeClr val="dk2"/>
                </a:solidFill>
              </a:rPr>
              <a:t>Ghi chú:</a:t>
            </a:r>
            <a:endParaRPr sz="2400" u="sng">
              <a:solidFill>
                <a:schemeClr val="dk2"/>
              </a:solidFill>
            </a:endParaRPr>
          </a:p>
          <a:p>
            <a:pPr indent="0" lvl="0" marL="0" rtl="0" algn="l">
              <a:lnSpc>
                <a:spcPct val="115000"/>
              </a:lnSpc>
              <a:spcBef>
                <a:spcPts val="0"/>
              </a:spcBef>
              <a:spcAft>
                <a:spcPts val="0"/>
              </a:spcAft>
              <a:buNone/>
            </a:pPr>
            <a:r>
              <a:rPr i="1" lang="en-GB" sz="2400">
                <a:solidFill>
                  <a:schemeClr val="dk2"/>
                </a:solidFill>
              </a:rPr>
              <a:t>θ là ánh xạ thay thế các biến bằng các hằng trong không gian hằng.</a:t>
            </a:r>
            <a:endParaRPr i="1" sz="2400" u="sng">
              <a:solidFill>
                <a:schemeClr val="dk2"/>
              </a:solidFill>
            </a:endParaRPr>
          </a:p>
          <a:p>
            <a:pPr indent="0" lvl="0" marL="0" rtl="0" algn="l">
              <a:spcBef>
                <a:spcPts val="0"/>
              </a:spcBef>
              <a:spcAft>
                <a:spcPts val="0"/>
              </a:spcAft>
              <a:buNone/>
            </a:pPr>
            <a:r>
              <a:t/>
            </a:r>
            <a:endParaRPr sz="24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7.4. Tìm điểm cố định</a:t>
            </a:r>
            <a:endParaRPr/>
          </a:p>
        </p:txBody>
      </p:sp>
      <p:sp>
        <p:nvSpPr>
          <p:cNvPr id="274" name="Google Shape;274;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5" name="Google Shape;275;p44"/>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Xét chương trình Datalog:</a:t>
            </a:r>
            <a:endParaRPr/>
          </a:p>
          <a:p>
            <a:pPr indent="0" lvl="0" marL="0" rtl="0" algn="l">
              <a:spcBef>
                <a:spcPts val="0"/>
              </a:spcBef>
              <a:spcAft>
                <a:spcPts val="0"/>
              </a:spcAft>
              <a:buNone/>
            </a:pPr>
            <a:r>
              <a:rPr lang="en-GB"/>
              <a:t>e(1, 2) e(2, 3) e(3, 4) e(4, 5)</a:t>
            </a:r>
            <a:endParaRPr/>
          </a:p>
          <a:p>
            <a:pPr indent="0" lvl="0" marL="0" rtl="0" algn="l">
              <a:spcBef>
                <a:spcPts val="0"/>
              </a:spcBef>
              <a:spcAft>
                <a:spcPts val="0"/>
              </a:spcAft>
              <a:buNone/>
            </a:pPr>
            <a:r>
              <a:rPr lang="en-GB"/>
              <a:t>T(x, y) ← e(x, y)                    </a:t>
            </a:r>
            <a:r>
              <a:rPr lang="en-GB"/>
              <a:t>(R1)</a:t>
            </a:r>
            <a:endParaRPr/>
          </a:p>
          <a:p>
            <a:pPr indent="0" lvl="0" marL="0" rtl="0" algn="l">
              <a:spcBef>
                <a:spcPts val="0"/>
              </a:spcBef>
              <a:spcAft>
                <a:spcPts val="0"/>
              </a:spcAft>
              <a:buNone/>
            </a:pPr>
            <a:r>
              <a:rPr lang="en-GB"/>
              <a:t>T(x, z) ← T(x, y) ∧ T(y, z)     </a:t>
            </a:r>
            <a:r>
              <a:rPr lang="en-GB"/>
              <a:t>(R2)</a:t>
            </a:r>
            <a:endParaRPr/>
          </a:p>
          <a:p>
            <a:pPr indent="0" lvl="0" marL="0" rtl="0" algn="l">
              <a:spcBef>
                <a:spcPts val="0"/>
              </a:spcBef>
              <a:spcAft>
                <a:spcPts val="0"/>
              </a:spcAft>
              <a:buNone/>
            </a:pPr>
            <a:r>
              <a:rPr lang="en-GB"/>
              <a:t>Chúng ta có:</a:t>
            </a:r>
            <a:endParaRPr/>
          </a:p>
          <a:p>
            <a:pPr indent="0" lvl="0" marL="0" rtl="0" algn="l">
              <a:spcBef>
                <a:spcPts val="0"/>
              </a:spcBef>
              <a:spcAft>
                <a:spcPts val="0"/>
              </a:spcAft>
              <a:buClr>
                <a:schemeClr val="dk1"/>
              </a:buClr>
              <a:buSzPts val="1100"/>
              <a:buFont typeface="Arial"/>
              <a:buNone/>
            </a:pPr>
            <a:r>
              <a:rPr lang="en-GB"/>
              <a:t>T</a:t>
            </a:r>
            <a:r>
              <a:rPr baseline="-25000" lang="en-GB"/>
              <a:t>P</a:t>
            </a:r>
            <a:r>
              <a:rPr baseline="30000" lang="en-GB"/>
              <a:t>0</a:t>
            </a:r>
            <a:r>
              <a:rPr lang="en-GB"/>
              <a:t> = ∅</a:t>
            </a:r>
            <a:endParaRPr/>
          </a:p>
          <a:p>
            <a:pPr indent="0" lvl="0" marL="0" rtl="0" algn="l">
              <a:spcBef>
                <a:spcPts val="0"/>
              </a:spcBef>
              <a:spcAft>
                <a:spcPts val="0"/>
              </a:spcAft>
              <a:buClr>
                <a:schemeClr val="dk1"/>
              </a:buClr>
              <a:buSzPts val="1100"/>
              <a:buFont typeface="Arial"/>
              <a:buNone/>
            </a:pPr>
            <a:r>
              <a:rPr lang="en-GB"/>
              <a:t>T</a:t>
            </a:r>
            <a:r>
              <a:rPr baseline="-25000" lang="en-GB"/>
              <a:t>P</a:t>
            </a:r>
            <a:r>
              <a:rPr baseline="30000" lang="en-GB"/>
              <a:t>1</a:t>
            </a:r>
            <a:r>
              <a:rPr lang="en-GB"/>
              <a:t> = {T(1, 2), T(2, 3), T(3, 4), T(4, 5)}</a:t>
            </a:r>
            <a:endParaRPr/>
          </a:p>
          <a:p>
            <a:pPr indent="0" lvl="0" marL="0" rtl="0" algn="l">
              <a:spcBef>
                <a:spcPts val="0"/>
              </a:spcBef>
              <a:spcAft>
                <a:spcPts val="0"/>
              </a:spcAft>
              <a:buClr>
                <a:schemeClr val="dk1"/>
              </a:buClr>
              <a:buSzPts val="1100"/>
              <a:buFont typeface="Arial"/>
              <a:buNone/>
            </a:pPr>
            <a:r>
              <a:rPr lang="en-GB"/>
              <a:t>T</a:t>
            </a:r>
            <a:r>
              <a:rPr baseline="-25000" lang="en-GB"/>
              <a:t>P</a:t>
            </a:r>
            <a:r>
              <a:rPr baseline="30000" lang="en-GB"/>
              <a:t>2</a:t>
            </a:r>
            <a:r>
              <a:rPr lang="en-GB"/>
              <a:t> = T</a:t>
            </a:r>
            <a:r>
              <a:rPr baseline="-25000" lang="en-GB"/>
              <a:t>P</a:t>
            </a:r>
            <a:r>
              <a:rPr baseline="30000" lang="en-GB"/>
              <a:t>1</a:t>
            </a:r>
            <a:r>
              <a:rPr lang="en-GB"/>
              <a:t> ∪ {T(1, 3), T(2, 4), T(3, 5)}</a:t>
            </a:r>
            <a:endParaRPr/>
          </a:p>
          <a:p>
            <a:pPr indent="0" lvl="0" marL="0" rtl="0" algn="l">
              <a:spcBef>
                <a:spcPts val="0"/>
              </a:spcBef>
              <a:spcAft>
                <a:spcPts val="0"/>
              </a:spcAft>
              <a:buClr>
                <a:schemeClr val="dk1"/>
              </a:buClr>
              <a:buSzPts val="1100"/>
              <a:buFont typeface="Arial"/>
              <a:buNone/>
            </a:pPr>
            <a:r>
              <a:rPr lang="en-GB"/>
              <a:t>T</a:t>
            </a:r>
            <a:r>
              <a:rPr baseline="-25000" lang="en-GB"/>
              <a:t>P</a:t>
            </a:r>
            <a:r>
              <a:rPr baseline="30000" lang="en-GB"/>
              <a:t>3</a:t>
            </a:r>
            <a:r>
              <a:rPr lang="en-GB"/>
              <a:t> = T</a:t>
            </a:r>
            <a:r>
              <a:rPr baseline="-25000" lang="en-GB"/>
              <a:t>P</a:t>
            </a:r>
            <a:r>
              <a:rPr baseline="30000" lang="en-GB"/>
              <a:t>2</a:t>
            </a:r>
            <a:r>
              <a:rPr lang="en-GB"/>
              <a:t> ∪ {T(1, 4), T(2, 5), T(1, 5)}</a:t>
            </a:r>
            <a:endParaRPr/>
          </a:p>
          <a:p>
            <a:pPr indent="0" lvl="0" marL="0" rtl="0" algn="l">
              <a:spcBef>
                <a:spcPts val="0"/>
              </a:spcBef>
              <a:spcAft>
                <a:spcPts val="0"/>
              </a:spcAft>
              <a:buNone/>
            </a:pPr>
            <a:r>
              <a:rPr lang="en-GB"/>
              <a:t>T</a:t>
            </a:r>
            <a:r>
              <a:rPr baseline="-25000" lang="en-GB"/>
              <a:t>P</a:t>
            </a:r>
            <a:r>
              <a:rPr baseline="30000" lang="en-GB"/>
              <a:t>4</a:t>
            </a:r>
            <a:r>
              <a:rPr lang="en-GB"/>
              <a:t> = T</a:t>
            </a:r>
            <a:r>
              <a:rPr baseline="-25000" lang="en-GB"/>
              <a:t>P</a:t>
            </a:r>
            <a:r>
              <a:rPr baseline="30000" lang="en-GB"/>
              <a:t>3</a:t>
            </a:r>
            <a:r>
              <a:rPr lang="en-GB"/>
              <a:t> = T</a:t>
            </a:r>
            <a:r>
              <a:rPr baseline="-25000" lang="en-GB"/>
              <a:t>P</a:t>
            </a:r>
            <a:r>
              <a:rPr baseline="30000" lang="en-GB"/>
              <a:t>∞</a:t>
            </a:r>
            <a:endParaRPr/>
          </a:p>
          <a:p>
            <a:pPr indent="0" lvl="0" marL="0" rtl="0" algn="l">
              <a:spcBef>
                <a:spcPts val="0"/>
              </a:spcBef>
              <a:spcAft>
                <a:spcPts val="0"/>
              </a:spcAft>
              <a:buNone/>
            </a:pPr>
            <a:r>
              <a:t/>
            </a:r>
            <a:endParaRPr/>
          </a:p>
          <a:p>
            <a:pPr indent="0" lvl="0" marL="0" rtl="0" algn="ctr">
              <a:spcBef>
                <a:spcPts val="0"/>
              </a:spcBef>
              <a:spcAft>
                <a:spcPts val="0"/>
              </a:spcAft>
              <a:buNone/>
            </a:pPr>
            <a:r>
              <a:rPr i="1" lang="en-GB">
                <a:solidFill>
                  <a:srgbClr val="1155CC"/>
                </a:solidFill>
              </a:rPr>
              <a:t>Chúng ta chưa tìm hiểu các giải thuật hiệu quả hơn trong bài giảng này</a:t>
            </a:r>
            <a:endParaRPr/>
          </a:p>
        </p:txBody>
      </p:sp>
      <p:sp>
        <p:nvSpPr>
          <p:cNvPr id="276" name="Google Shape;276;p44"/>
          <p:cNvSpPr txBox="1"/>
          <p:nvPr/>
        </p:nvSpPr>
        <p:spPr>
          <a:xfrm>
            <a:off x="5737325" y="3530725"/>
            <a:ext cx="3190200" cy="154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i="1" lang="en-GB" sz="2200">
                <a:solidFill>
                  <a:srgbClr val="E69138"/>
                </a:solidFill>
              </a:rPr>
              <a:t>Có vấn đề gì với khối lượng tính toán?</a:t>
            </a:r>
            <a:endParaRPr sz="2200">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mở rộng của Datalog</a:t>
            </a:r>
            <a:endParaRPr/>
          </a:p>
        </p:txBody>
      </p:sp>
      <p:sp>
        <p:nvSpPr>
          <p:cNvPr id="282" name="Google Shape;282;p45"/>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Trong thực tế các tùy chỉnh có thể bổ xung thêm các tính năng khác nhau</a:t>
            </a:r>
            <a:endParaRPr i="1"/>
          </a:p>
          <a:p>
            <a:pPr indent="-381000" lvl="0" marL="457200" rtl="0" algn="l">
              <a:spcBef>
                <a:spcPts val="0"/>
              </a:spcBef>
              <a:spcAft>
                <a:spcPts val="0"/>
              </a:spcAft>
              <a:buSzPts val="2400"/>
              <a:buChar char="●"/>
            </a:pPr>
            <a:r>
              <a:rPr lang="en-GB"/>
              <a:t>T</a:t>
            </a:r>
            <a:r>
              <a:rPr lang="en-GB"/>
              <a:t>ùy chỉnh để tương thích với Web ngữ nghĩa</a:t>
            </a:r>
            <a:endParaRPr/>
          </a:p>
          <a:p>
            <a:pPr indent="-368300" lvl="1" marL="914400" rtl="0" algn="l">
              <a:spcBef>
                <a:spcPts val="0"/>
              </a:spcBef>
              <a:spcAft>
                <a:spcPts val="0"/>
              </a:spcAft>
              <a:buSzPts val="2200"/>
              <a:buChar char="○"/>
            </a:pPr>
            <a:r>
              <a:rPr lang="en-GB"/>
              <a:t>Các kiểu XSD</a:t>
            </a:r>
            <a:endParaRPr/>
          </a:p>
          <a:p>
            <a:pPr indent="-368300" lvl="1" marL="914400" rtl="0" algn="l">
              <a:spcBef>
                <a:spcPts val="0"/>
              </a:spcBef>
              <a:spcAft>
                <a:spcPts val="0"/>
              </a:spcAft>
              <a:buSzPts val="2200"/>
              <a:buChar char="○"/>
            </a:pPr>
            <a:r>
              <a:rPr lang="en-GB"/>
              <a:t>Sử dụng </a:t>
            </a:r>
            <a:r>
              <a:rPr lang="en-GB"/>
              <a:t>URIs</a:t>
            </a:r>
            <a:endParaRPr/>
          </a:p>
          <a:p>
            <a:pPr indent="-368300" lvl="1" marL="914400" rtl="0" algn="l">
              <a:spcBef>
                <a:spcPts val="0"/>
              </a:spcBef>
              <a:spcAft>
                <a:spcPts val="0"/>
              </a:spcAft>
              <a:buSzPts val="2200"/>
              <a:buChar char="○"/>
            </a:pPr>
            <a:r>
              <a:rPr lang="en-GB"/>
              <a:t>v.v..</a:t>
            </a:r>
            <a:endParaRPr/>
          </a:p>
          <a:p>
            <a:pPr indent="-381000" lvl="0" marL="457200" rtl="0" algn="l">
              <a:spcBef>
                <a:spcPts val="0"/>
              </a:spcBef>
              <a:spcAft>
                <a:spcPts val="0"/>
              </a:spcAft>
              <a:buSzPts val="2400"/>
              <a:buChar char="●"/>
            </a:pPr>
            <a:r>
              <a:rPr lang="en-GB"/>
              <a:t>Cho phép </a:t>
            </a:r>
            <a:r>
              <a:rPr lang="en-GB"/>
              <a:t>sử dụng phép </a:t>
            </a:r>
            <a:r>
              <a:rPr lang="en-GB"/>
              <a:t>tuyển trong đầu luật</a:t>
            </a:r>
            <a:endParaRPr/>
          </a:p>
          <a:p>
            <a:pPr indent="-381000" lvl="0" marL="457200" rtl="0" algn="l">
              <a:spcBef>
                <a:spcPts val="0"/>
              </a:spcBef>
              <a:spcAft>
                <a:spcPts val="0"/>
              </a:spcAft>
              <a:buSzPts val="2400"/>
              <a:buChar char="●"/>
            </a:pPr>
            <a:r>
              <a:rPr lang="en-GB"/>
              <a:t>Các phủ định không đơn điệu (kh</a:t>
            </a:r>
            <a:r>
              <a:rPr lang="en-GB"/>
              <a:t>ông</a:t>
            </a:r>
            <a:r>
              <a:rPr lang="en-GB"/>
              <a:t> có ngữ nghĩa FOL)/n</a:t>
            </a:r>
            <a:r>
              <a:rPr lang="en-GB"/>
              <a:t>on-monotonic negation</a:t>
            </a:r>
            <a:endParaRPr/>
          </a:p>
          <a:p>
            <a:pPr indent="-381000" lvl="0" marL="457200" rtl="0" algn="l">
              <a:spcBef>
                <a:spcPts val="0"/>
              </a:spcBef>
              <a:spcAft>
                <a:spcPts val="0"/>
              </a:spcAft>
              <a:buSzPts val="2400"/>
              <a:buChar char="●"/>
            </a:pPr>
            <a:r>
              <a:rPr lang="en-GB"/>
              <a:t>v.v..</a:t>
            </a:r>
            <a:endParaRPr/>
          </a:p>
        </p:txBody>
      </p:sp>
      <p:sp>
        <p:nvSpPr>
          <p:cNvPr id="283" name="Google Shape;283;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Mô phỏng ngữ nghĩa</a:t>
            </a:r>
            <a:r>
              <a:rPr lang="en-GB"/>
              <a:t> RDFS </a:t>
            </a:r>
            <a:r>
              <a:rPr lang="en-GB"/>
              <a:t>bằng luật</a:t>
            </a:r>
            <a:endParaRPr/>
          </a:p>
        </p:txBody>
      </p:sp>
      <p:sp>
        <p:nvSpPr>
          <p:cNvPr id="289" name="Google Shape;289;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luật RDF và RDFS</a:t>
            </a:r>
            <a:endParaRPr/>
          </a:p>
        </p:txBody>
      </p:sp>
      <p:sp>
        <p:nvSpPr>
          <p:cNvPr id="295" name="Google Shape;295;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96" name="Google Shape;296;p47"/>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200"/>
              <a:t>rdfs2:</a:t>
            </a:r>
            <a:r>
              <a:rPr lang="en-GB" sz="2200"/>
              <a:t> rdf:type(x, C)←rdfs:domain(p, C) ∧ p(x, y)</a:t>
            </a:r>
            <a:endParaRPr sz="2200"/>
          </a:p>
          <a:p>
            <a:pPr indent="0" lvl="0" marL="0" rtl="0" algn="l">
              <a:spcBef>
                <a:spcPts val="0"/>
              </a:spcBef>
              <a:spcAft>
                <a:spcPts val="0"/>
              </a:spcAft>
              <a:buNone/>
            </a:pPr>
            <a:r>
              <a:rPr b="1" lang="en-GB" sz="2200"/>
              <a:t>rdfs3:</a:t>
            </a:r>
            <a:r>
              <a:rPr lang="en-GB" sz="2200"/>
              <a:t> rdf:type(y, D)←rdfs:range(p, D) ∧ p(x, y)</a:t>
            </a:r>
            <a:endParaRPr sz="2200"/>
          </a:p>
          <a:p>
            <a:pPr indent="0" lvl="0" marL="0" rtl="0" algn="l">
              <a:spcBef>
                <a:spcPts val="0"/>
              </a:spcBef>
              <a:spcAft>
                <a:spcPts val="0"/>
              </a:spcAft>
              <a:buNone/>
            </a:pPr>
            <a:r>
              <a:rPr b="1" lang="en-GB" sz="2200"/>
              <a:t>rdfs4a:</a:t>
            </a:r>
            <a:r>
              <a:rPr lang="en-GB" sz="2200"/>
              <a:t> rdf:type(x, rdfs:Resource)←p(x, y)</a:t>
            </a:r>
            <a:endParaRPr sz="2200"/>
          </a:p>
          <a:p>
            <a:pPr indent="0" lvl="0" marL="0" rtl="0" algn="l">
              <a:spcBef>
                <a:spcPts val="0"/>
              </a:spcBef>
              <a:spcAft>
                <a:spcPts val="0"/>
              </a:spcAft>
              <a:buNone/>
            </a:pPr>
            <a:r>
              <a:rPr b="1" lang="en-GB" sz="2200"/>
              <a:t>rdfs4b:</a:t>
            </a:r>
            <a:r>
              <a:rPr lang="en-GB" sz="2200"/>
              <a:t> rdf:type(y, rdfs:Resource)←p(x, y)</a:t>
            </a:r>
            <a:endParaRPr sz="2200"/>
          </a:p>
          <a:p>
            <a:pPr indent="0" lvl="0" marL="0" rtl="0" algn="l">
              <a:spcBef>
                <a:spcPts val="0"/>
              </a:spcBef>
              <a:spcAft>
                <a:spcPts val="0"/>
              </a:spcAft>
              <a:buNone/>
            </a:pPr>
            <a:r>
              <a:rPr b="1" lang="en-GB" sz="2200"/>
              <a:t>rdfs5:</a:t>
            </a:r>
            <a:r>
              <a:rPr lang="en-GB" sz="2200"/>
              <a:t> rdfs:subPropertyOf(p, r)←rdfs:subPropertyOf(p, q) ∧ </a:t>
            </a:r>
            <a:br>
              <a:rPr lang="en-GB" sz="2200"/>
            </a:br>
            <a:r>
              <a:rPr lang="en-GB" sz="2200"/>
              <a:t>                                                    rdfs:subPropertyOf(q, r)</a:t>
            </a:r>
            <a:endParaRPr sz="2200"/>
          </a:p>
          <a:p>
            <a:pPr indent="0" lvl="0" marL="0" rtl="0" algn="l">
              <a:spcBef>
                <a:spcPts val="0"/>
              </a:spcBef>
              <a:spcAft>
                <a:spcPts val="0"/>
              </a:spcAft>
              <a:buNone/>
            </a:pPr>
            <a:r>
              <a:rPr b="1" lang="en-GB" sz="2200"/>
              <a:t>rdfs6:</a:t>
            </a:r>
            <a:r>
              <a:rPr lang="en-GB" sz="2200"/>
              <a:t> rdfs:subPropertyOf(p, p)←rdf:type(p, rdf:Property)</a:t>
            </a:r>
            <a:endParaRPr sz="2200"/>
          </a:p>
          <a:p>
            <a:pPr indent="0" lvl="0" marL="0" rtl="0" algn="l">
              <a:spcBef>
                <a:spcPts val="0"/>
              </a:spcBef>
              <a:spcAft>
                <a:spcPts val="0"/>
              </a:spcAft>
              <a:buNone/>
            </a:pPr>
            <a:r>
              <a:rPr b="1" lang="en-GB" sz="2200"/>
              <a:t>rdfs7: </a:t>
            </a:r>
            <a:r>
              <a:rPr lang="en-GB" sz="2200"/>
              <a:t>q(x, y)←rdfs:subPropertyOf(p, q) ∧ p(x, y)</a:t>
            </a:r>
            <a:endParaRPr sz="2200"/>
          </a:p>
          <a:p>
            <a:pPr indent="0" lvl="0" marL="0" rtl="0" algn="l">
              <a:spcBef>
                <a:spcPts val="0"/>
              </a:spcBef>
              <a:spcAft>
                <a:spcPts val="0"/>
              </a:spcAft>
              <a:buNone/>
            </a:pPr>
            <a:r>
              <a:rPr b="1" lang="en-GB" sz="2200"/>
              <a:t>rdfs8:</a:t>
            </a:r>
            <a:r>
              <a:rPr lang="en-GB" sz="2200"/>
              <a:t> rdfs:subClassOf(C, rdfs:Resource)←rdf:type(C, rdfs:Class)</a:t>
            </a:r>
            <a:endParaRPr sz="2200"/>
          </a:p>
          <a:p>
            <a:pPr indent="0" lvl="0" marL="0" rtl="0" algn="l">
              <a:spcBef>
                <a:spcPts val="0"/>
              </a:spcBef>
              <a:spcAft>
                <a:spcPts val="0"/>
              </a:spcAft>
              <a:buNone/>
            </a:pPr>
            <a:r>
              <a:rPr b="1" lang="en-GB" sz="2200"/>
              <a:t>rdfs9:</a:t>
            </a:r>
            <a:r>
              <a:rPr lang="en-GB" sz="2200"/>
              <a:t> rdf:type(x, D)←rdfs:subClassOf(C, D) ∧ rdf:type(x, C)</a:t>
            </a:r>
            <a:endParaRPr sz="2200"/>
          </a:p>
          <a:p>
            <a:pPr indent="0" lvl="0" marL="0" rtl="0" algn="l">
              <a:spcBef>
                <a:spcPts val="0"/>
              </a:spcBef>
              <a:spcAft>
                <a:spcPts val="0"/>
              </a:spcAft>
              <a:buNone/>
            </a:pPr>
            <a:r>
              <a:rPr b="1" lang="en-GB" sz="2200"/>
              <a:t>rdfs10:</a:t>
            </a:r>
            <a:r>
              <a:rPr lang="en-GB" sz="2200"/>
              <a:t> rdfs:subClassOf(C, C)←rdf:type(C, rdfs:Class)</a:t>
            </a:r>
            <a:endParaRPr sz="2200"/>
          </a:p>
          <a:p>
            <a:pPr indent="0" lvl="0" marL="0" rtl="0" algn="l">
              <a:spcBef>
                <a:spcPts val="0"/>
              </a:spcBef>
              <a:spcAft>
                <a:spcPts val="0"/>
              </a:spcAft>
              <a:buNone/>
            </a:pPr>
            <a:r>
              <a:rPr b="1" lang="en-GB" sz="2200"/>
              <a:t>rdfs11:</a:t>
            </a:r>
            <a:r>
              <a:rPr lang="en-GB" sz="2200"/>
              <a:t> rdfs:subClassOf(C, E)←rdfs:subClassOf(C, D) ∧</a:t>
            </a:r>
            <a:endParaRPr sz="2200"/>
          </a:p>
          <a:p>
            <a:pPr indent="0" lvl="0" marL="0" rtl="0" algn="l">
              <a:spcBef>
                <a:spcPts val="0"/>
              </a:spcBef>
              <a:spcAft>
                <a:spcPts val="0"/>
              </a:spcAft>
              <a:buClr>
                <a:schemeClr val="dk1"/>
              </a:buClr>
              <a:buSzPts val="1100"/>
              <a:buFont typeface="Arial"/>
              <a:buNone/>
            </a:pPr>
            <a:r>
              <a:rPr lang="en-GB" sz="2200"/>
              <a:t>                                                    rdfs:subClassOf(D, E)</a:t>
            </a:r>
            <a:endParaRPr sz="2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luật RDF và RDFS</a:t>
            </a:r>
            <a:r>
              <a:rPr baseline="-25000" lang="en-GB"/>
              <a:t>(2)</a:t>
            </a:r>
            <a:endParaRPr baseline="-25000"/>
          </a:p>
        </p:txBody>
      </p:sp>
      <p:sp>
        <p:nvSpPr>
          <p:cNvPr id="302" name="Google Shape;302;p48"/>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rdfs12:</a:t>
            </a:r>
            <a:r>
              <a:rPr lang="en-GB"/>
              <a:t> rdfs:subPropertyOf(p, rdfs:member)</a:t>
            </a:r>
            <a:r>
              <a:rPr lang="en-GB" sz="2200"/>
              <a:t>←</a:t>
            </a:r>
            <a:endParaRPr sz="2200"/>
          </a:p>
          <a:p>
            <a:pPr indent="0" lvl="0" marL="0" rtl="0" algn="l">
              <a:spcBef>
                <a:spcPts val="0"/>
              </a:spcBef>
              <a:spcAft>
                <a:spcPts val="0"/>
              </a:spcAft>
              <a:buNone/>
            </a:pPr>
            <a:r>
              <a:rPr lang="en-GB" sz="2200"/>
              <a:t>                    rdf:type(p, rdfs:ContainerMembershipProperty)</a:t>
            </a:r>
            <a:endParaRPr sz="2200"/>
          </a:p>
          <a:p>
            <a:pPr indent="0" lvl="0" marL="0" rtl="0" algn="l">
              <a:spcBef>
                <a:spcPts val="0"/>
              </a:spcBef>
              <a:spcAft>
                <a:spcPts val="0"/>
              </a:spcAft>
              <a:buNone/>
            </a:pPr>
            <a:r>
              <a:rPr b="1" lang="en-GB" sz="2200"/>
              <a:t>rdfs13:</a:t>
            </a:r>
            <a:r>
              <a:rPr lang="en-GB" sz="2200"/>
              <a:t> rdfs:subClassOf(x, rdfs:Literal)</a:t>
            </a:r>
            <a:r>
              <a:rPr lang="en-GB" sz="2200"/>
              <a:t>←rdf:type(x, rdfs:Datatype)</a:t>
            </a:r>
            <a:endParaRPr sz="2200"/>
          </a:p>
        </p:txBody>
      </p:sp>
      <p:sp>
        <p:nvSpPr>
          <p:cNvPr id="303" name="Google Shape;303;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309" name="Google Shape;309;p49"/>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7.1. Khái niệm luật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7.2. Datalog như ngôn ngữ luật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7.3. Kết hợp luật với OWL DL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7.4. Định dạng trao đổi luật RIF</a:t>
            </a:r>
            <a:endParaRPr>
              <a:solidFill>
                <a:schemeClr val="dk1"/>
              </a:solidFill>
              <a:latin typeface="Times New Roman"/>
              <a:ea typeface="Times New Roman"/>
              <a:cs typeface="Times New Roman"/>
              <a:sym typeface="Times New Roman"/>
            </a:endParaRPr>
          </a:p>
        </p:txBody>
      </p:sp>
      <p:sp>
        <p:nvSpPr>
          <p:cNvPr id="310" name="Google Shape;310;p49"/>
          <p:cNvSpPr/>
          <p:nvPr/>
        </p:nvSpPr>
        <p:spPr>
          <a:xfrm>
            <a:off x="318450" y="1708387"/>
            <a:ext cx="55956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Web ngữ nghĩa và Lô-gic</a:t>
            </a:r>
            <a:endParaRPr/>
          </a:p>
        </p:txBody>
      </p:sp>
      <p:sp>
        <p:nvSpPr>
          <p:cNvPr id="317" name="Google Shape;317;p50"/>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L</a:t>
            </a:r>
            <a:r>
              <a:rPr lang="en-GB"/>
              <a:t>ô-gic giữ vai trò nền tảng của Web ngữ nghĩa</a:t>
            </a:r>
            <a:endParaRPr/>
          </a:p>
          <a:p>
            <a:pPr indent="-368300" lvl="1" marL="914400" rtl="0" algn="l">
              <a:spcBef>
                <a:spcPts val="0"/>
              </a:spcBef>
              <a:spcAft>
                <a:spcPts val="0"/>
              </a:spcAft>
              <a:buSzPts val="2200"/>
              <a:buChar char="○"/>
            </a:pPr>
            <a:r>
              <a:rPr lang="en-GB"/>
              <a:t>OWL Full = Lô-gic bậc nhất (FOL)</a:t>
            </a:r>
            <a:endParaRPr/>
          </a:p>
          <a:p>
            <a:pPr indent="-368300" lvl="1" marL="914400" rtl="0" algn="l">
              <a:spcBef>
                <a:spcPts val="0"/>
              </a:spcBef>
              <a:spcAft>
                <a:spcPts val="0"/>
              </a:spcAft>
              <a:buSzPts val="2200"/>
              <a:buChar char="○"/>
            </a:pPr>
            <a:r>
              <a:rPr lang="en-GB"/>
              <a:t>OWL DL = Lô-gic mô tả</a:t>
            </a:r>
            <a:endParaRPr/>
          </a:p>
          <a:p>
            <a:pPr indent="-368300" lvl="1" marL="914400" rtl="0" algn="l">
              <a:spcBef>
                <a:spcPts val="0"/>
              </a:spcBef>
              <a:spcAft>
                <a:spcPts val="0"/>
              </a:spcAft>
              <a:buSzPts val="2200"/>
              <a:buChar char="○"/>
            </a:pPr>
            <a:r>
              <a:rPr lang="en-GB"/>
              <a:t>N3 rules ~= các luật lập trình lô-gic (LP - Logic programming)</a:t>
            </a:r>
            <a:endParaRPr/>
          </a:p>
          <a:p>
            <a:pPr indent="-368300" lvl="1" marL="914400" rtl="0" algn="l">
              <a:spcBef>
                <a:spcPts val="0"/>
              </a:spcBef>
              <a:spcAft>
                <a:spcPts val="0"/>
              </a:spcAft>
              <a:buSzPts val="2200"/>
              <a:buChar char="○"/>
            </a:pPr>
            <a:r>
              <a:rPr lang="en-GB"/>
              <a:t>SWRL ~= DL + LP</a:t>
            </a:r>
            <a:endParaRPr/>
          </a:p>
          <a:p>
            <a:pPr indent="-368300" lvl="1" marL="914400" rtl="0" algn="l">
              <a:spcBef>
                <a:spcPts val="0"/>
              </a:spcBef>
              <a:spcAft>
                <a:spcPts val="0"/>
              </a:spcAft>
              <a:buSzPts val="2200"/>
              <a:buChar char="○"/>
            </a:pPr>
            <a:r>
              <a:rPr lang="en-GB"/>
              <a:t>Các lựa chọn khác, ví dụ, lô-gic mờ, lô-gic xác suất, v.v…</a:t>
            </a:r>
            <a:endParaRPr/>
          </a:p>
          <a:p>
            <a:pPr indent="-381000" lvl="0" marL="457200" rtl="0" algn="l">
              <a:spcBef>
                <a:spcPts val="0"/>
              </a:spcBef>
              <a:spcAft>
                <a:spcPts val="0"/>
              </a:spcAft>
              <a:buSzPts val="2400"/>
              <a:buChar char="●"/>
            </a:pPr>
            <a:r>
              <a:rPr lang="en-GB"/>
              <a:t>Các thành phần này gắn kết với nhau như thế nào và hệ quả là gì?</a:t>
            </a:r>
            <a:endParaRPr/>
          </a:p>
        </p:txBody>
      </p:sp>
      <p:sp>
        <p:nvSpPr>
          <p:cNvPr id="318" name="Google Shape;318;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OWL và luật</a:t>
            </a:r>
            <a:endParaRPr/>
          </a:p>
        </p:txBody>
      </p:sp>
      <p:sp>
        <p:nvSpPr>
          <p:cNvPr id="324" name="Google Shape;324;p51"/>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a:t>
            </a:r>
            <a:r>
              <a:rPr lang="en-GB"/>
              <a:t>ác hệ thống dựa trên luật có vai trò quan trọng và là giải pháp hiệu quả để biểu diễn tri thức </a:t>
            </a:r>
            <a:r>
              <a:rPr lang="en-GB"/>
              <a:t>và suy diễn</a:t>
            </a:r>
            <a:r>
              <a:rPr lang="en-GB"/>
              <a:t>.</a:t>
            </a:r>
            <a:endParaRPr/>
          </a:p>
          <a:p>
            <a:pPr indent="-381000" lvl="0" marL="457200" rtl="0" algn="l">
              <a:spcBef>
                <a:spcPts val="0"/>
              </a:spcBef>
              <a:spcAft>
                <a:spcPts val="0"/>
              </a:spcAft>
              <a:buSzPts val="2400"/>
              <a:buChar char="●"/>
            </a:pPr>
            <a:r>
              <a:rPr lang="en-GB"/>
              <a:t>Cơ sở chung - lô-gic bậc nhất là tiền đề để kết hợp OWL và luật.</a:t>
            </a:r>
            <a:endParaRPr/>
          </a:p>
          <a:p>
            <a:pPr indent="-381000" lvl="0" marL="457200" rtl="0" algn="l">
              <a:spcBef>
                <a:spcPts val="0"/>
              </a:spcBef>
              <a:spcAft>
                <a:spcPts val="0"/>
              </a:spcAft>
              <a:buSzPts val="2400"/>
              <a:buChar char="●"/>
            </a:pPr>
            <a:r>
              <a:rPr lang="en-GB"/>
              <a:t>Tuy nhiên trong trường hợp tổng quát kết hợp luật với OWL có thể tạo ra lỗi</a:t>
            </a:r>
            <a:endParaRPr/>
          </a:p>
          <a:p>
            <a:pPr indent="-381000" lvl="0" marL="457200" rtl="0" algn="l">
              <a:spcBef>
                <a:spcPts val="0"/>
              </a:spcBef>
              <a:spcAft>
                <a:spcPts val="0"/>
              </a:spcAft>
              <a:buSzPts val="2400"/>
              <a:buChar char="●"/>
            </a:pPr>
            <a:r>
              <a:rPr lang="en-GB"/>
              <a:t>Chúng ta sẽ tìm hiểu về các vấn đề và một số giải pháp</a:t>
            </a:r>
            <a:endParaRPr/>
          </a:p>
          <a:p>
            <a:pPr indent="-368300" lvl="1" marL="914400" rtl="0" algn="l">
              <a:spcBef>
                <a:spcPts val="0"/>
              </a:spcBef>
              <a:spcAft>
                <a:spcPts val="0"/>
              </a:spcAft>
              <a:buSzPts val="2200"/>
              <a:buChar char="○"/>
            </a:pPr>
            <a:r>
              <a:rPr lang="en-GB"/>
              <a:t>SWRL: một đề xuất đã được sử dụng rộng rãi</a:t>
            </a:r>
            <a:endParaRPr/>
          </a:p>
          <a:p>
            <a:pPr indent="-368300" lvl="1" marL="914400" rtl="0" algn="l">
              <a:spcBef>
                <a:spcPts val="0"/>
              </a:spcBef>
              <a:spcAft>
                <a:spcPts val="0"/>
              </a:spcAft>
              <a:buSzPts val="2200"/>
              <a:buChar char="○"/>
            </a:pPr>
            <a:r>
              <a:rPr lang="en-GB"/>
              <a:t>RIF: một quy chuẩn chưa được sử dụng rộng rãi</a:t>
            </a:r>
            <a:endParaRPr/>
          </a:p>
        </p:txBody>
      </p:sp>
      <p:sp>
        <p:nvSpPr>
          <p:cNvPr id="325" name="Google Shape;325;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OWL và luật</a:t>
            </a:r>
            <a:r>
              <a:rPr baseline="-25000" lang="en-GB"/>
              <a:t>(2)</a:t>
            </a:r>
            <a:endParaRPr baseline="-25000"/>
          </a:p>
        </p:txBody>
      </p:sp>
      <p:sp>
        <p:nvSpPr>
          <p:cNvPr id="331" name="Google Shape;331;p52"/>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a:t>
            </a:r>
            <a:r>
              <a:rPr lang="en-GB"/>
              <a:t>ác ontologies OWL dựa trên DL (=&gt; dựa trên FOL)</a:t>
            </a:r>
            <a:endParaRPr/>
          </a:p>
          <a:p>
            <a:pPr indent="-368300" lvl="1" marL="914400" rtl="0" algn="l">
              <a:spcBef>
                <a:spcPts val="0"/>
              </a:spcBef>
              <a:spcAft>
                <a:spcPts val="0"/>
              </a:spcAft>
              <a:buSzPts val="2200"/>
              <a:buChar char="○"/>
            </a:pPr>
            <a:r>
              <a:rPr lang="en-GB"/>
              <a:t>Web là một môi trường mở</a:t>
            </a:r>
            <a:endParaRPr/>
          </a:p>
          <a:p>
            <a:pPr indent="-368300" lvl="1" marL="914400" rtl="0" algn="l">
              <a:spcBef>
                <a:spcPts val="0"/>
              </a:spcBef>
              <a:spcAft>
                <a:spcPts val="0"/>
              </a:spcAft>
              <a:buSzPts val="2200"/>
              <a:buChar char="○"/>
            </a:pPr>
            <a:r>
              <a:rPr lang="en-GB"/>
              <a:t>Tái sử dụng/trao đổi</a:t>
            </a:r>
            <a:endParaRPr/>
          </a:p>
          <a:p>
            <a:pPr indent="-368300" lvl="1" marL="914400" rtl="0" algn="l">
              <a:spcBef>
                <a:spcPts val="0"/>
              </a:spcBef>
              <a:spcAft>
                <a:spcPts val="0"/>
              </a:spcAft>
              <a:buSzPts val="2200"/>
              <a:buChar char="○"/>
            </a:pPr>
            <a:r>
              <a:rPr lang="en-GB"/>
              <a:t>Ontology chứa các mô tả với các diễn đạt tự nhiên.</a:t>
            </a:r>
            <a:endParaRPr/>
          </a:p>
          <a:p>
            <a:pPr indent="-381000" lvl="0" marL="457200" rtl="0" algn="l">
              <a:spcBef>
                <a:spcPts val="0"/>
              </a:spcBef>
              <a:spcAft>
                <a:spcPts val="0"/>
              </a:spcAft>
              <a:buSzPts val="2400"/>
              <a:buChar char="●"/>
            </a:pPr>
            <a:r>
              <a:rPr lang="en-GB"/>
              <a:t>Có nhiều hệ luật dựa trên lập trình lô-gic</a:t>
            </a:r>
            <a:endParaRPr/>
          </a:p>
          <a:p>
            <a:pPr indent="-368300" lvl="1" marL="914400" rtl="0" algn="l">
              <a:spcBef>
                <a:spcPts val="0"/>
              </a:spcBef>
              <a:spcAft>
                <a:spcPts val="0"/>
              </a:spcAft>
              <a:buSzPts val="2200"/>
              <a:buChar char="○"/>
            </a:pPr>
            <a:r>
              <a:rPr lang="en-GB"/>
              <a:t>Để đạt được tính khả quyết, các ngôn ngữ ontology không cung cấp khả năng diễn đạt như chúng ta muốn. Nhưng luật có khả năng diễn đạt cao.</a:t>
            </a:r>
            <a:endParaRPr/>
          </a:p>
          <a:p>
            <a:pPr indent="-368300" lvl="1" marL="914400" rtl="0" algn="l">
              <a:spcBef>
                <a:spcPts val="0"/>
              </a:spcBef>
              <a:spcAft>
                <a:spcPts val="0"/>
              </a:spcAft>
              <a:buSzPts val="2200"/>
              <a:buChar char="○"/>
            </a:pPr>
            <a:r>
              <a:rPr lang="en-GB"/>
              <a:t>Đã có các phần mềm thực hiện tốt việc suy diễn.</a:t>
            </a:r>
            <a:endParaRPr/>
          </a:p>
          <a:p>
            <a:pPr indent="-368300" lvl="1" marL="914400" rtl="0" algn="l">
              <a:spcBef>
                <a:spcPts val="0"/>
              </a:spcBef>
              <a:spcAft>
                <a:spcPts val="0"/>
              </a:spcAft>
              <a:buSzPts val="2200"/>
              <a:buChar char="○"/>
            </a:pPr>
            <a:r>
              <a:rPr lang="en-GB"/>
              <a:t>Các luật có thể dễ đọc và trực quan hơn.</a:t>
            </a:r>
            <a:endParaRPr/>
          </a:p>
        </p:txBody>
      </p:sp>
      <p:sp>
        <p:nvSpPr>
          <p:cNvPr id="332" name="Google Shape;332;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a:t>
            </a:r>
            <a:r>
              <a:rPr lang="en-GB"/>
              <a:t>ô-gic mô tả vs. luật Horn</a:t>
            </a:r>
            <a:endParaRPr/>
          </a:p>
        </p:txBody>
      </p:sp>
      <p:sp>
        <p:nvSpPr>
          <p:cNvPr id="338" name="Google Shape;338;p53"/>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a:t>
            </a:r>
            <a:r>
              <a:rPr lang="en-GB"/>
              <a:t>ông cái nào là tập con của cái </a:t>
            </a:r>
            <a:r>
              <a:rPr lang="en-GB"/>
              <a:t>nào</a:t>
            </a:r>
            <a:endParaRPr/>
          </a:p>
          <a:p>
            <a:pPr indent="-381000" lvl="0" marL="457200" rtl="0" algn="l">
              <a:spcBef>
                <a:spcPts val="0"/>
              </a:spcBef>
              <a:spcAft>
                <a:spcPts val="0"/>
              </a:spcAft>
              <a:buSzPts val="2400"/>
              <a:buChar char="●"/>
            </a:pPr>
            <a:r>
              <a:rPr lang="en-GB"/>
              <a:t>Không thể diễn đạt trong DL: Người học và sống ở cùng 1 thành phố là các sinh viên địa phương</a:t>
            </a:r>
            <a:endParaRPr/>
          </a:p>
          <a:p>
            <a:pPr indent="-368300" lvl="1" marL="914400" rtl="0" algn="l">
              <a:spcBef>
                <a:spcPts val="0"/>
              </a:spcBef>
              <a:spcAft>
                <a:spcPts val="0"/>
              </a:spcAft>
              <a:buSzPts val="2200"/>
              <a:buChar char="○"/>
            </a:pPr>
            <a:r>
              <a:rPr lang="en-GB"/>
              <a:t>Nhưng dễ dàng diễn đạt với luật:</a:t>
            </a:r>
            <a:endParaRPr/>
          </a:p>
          <a:p>
            <a:pPr indent="0" lvl="0" marL="914400" rtl="0" algn="l">
              <a:spcBef>
                <a:spcPts val="0"/>
              </a:spcBef>
              <a:spcAft>
                <a:spcPts val="0"/>
              </a:spcAft>
              <a:buNone/>
            </a:pPr>
            <a:r>
              <a:rPr lang="en-GB" sz="2200"/>
              <a:t>localStud(X) ←studiesAt(X, U), loc(U, L), lives(X, L)</a:t>
            </a:r>
            <a:endParaRPr/>
          </a:p>
          <a:p>
            <a:pPr indent="-381000" lvl="0" marL="457200" rtl="0" algn="l">
              <a:spcBef>
                <a:spcPts val="0"/>
              </a:spcBef>
              <a:spcAft>
                <a:spcPts val="0"/>
              </a:spcAft>
              <a:buSzPts val="2400"/>
              <a:buChar char="●"/>
            </a:pPr>
            <a:r>
              <a:rPr lang="en-GB"/>
              <a:t>Không thể diễn đạt bằng luật Horn: Người chỉ có thể là nam hoặc nữ</a:t>
            </a:r>
            <a:endParaRPr/>
          </a:p>
          <a:p>
            <a:pPr indent="-368300" lvl="1" marL="914400" rtl="0" algn="l">
              <a:spcBef>
                <a:spcPts val="0"/>
              </a:spcBef>
              <a:spcAft>
                <a:spcPts val="0"/>
              </a:spcAft>
              <a:buSzPts val="2200"/>
              <a:buChar char="○"/>
            </a:pPr>
            <a:r>
              <a:rPr lang="en-GB"/>
              <a:t>Dễ dàng diễn đạt bằng OWL DL</a:t>
            </a:r>
            <a:endParaRPr/>
          </a:p>
          <a:p>
            <a:pPr indent="0" lvl="0" marL="914400" rtl="0" algn="l">
              <a:spcBef>
                <a:spcPts val="0"/>
              </a:spcBef>
              <a:spcAft>
                <a:spcPts val="0"/>
              </a:spcAft>
              <a:buNone/>
            </a:pPr>
            <a:r>
              <a:rPr lang="en-GB" sz="2200"/>
              <a:t>:Person owl:disjointUnionOf (:Man :Woman) .</a:t>
            </a:r>
            <a:endParaRPr/>
          </a:p>
        </p:txBody>
      </p:sp>
      <p:sp>
        <p:nvSpPr>
          <p:cNvPr id="339" name="Google Shape;339;p53"/>
          <p:cNvSpPr/>
          <p:nvPr/>
        </p:nvSpPr>
        <p:spPr>
          <a:xfrm>
            <a:off x="6478450" y="107825"/>
            <a:ext cx="1337100" cy="13371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3"/>
          <p:cNvSpPr/>
          <p:nvPr/>
        </p:nvSpPr>
        <p:spPr>
          <a:xfrm>
            <a:off x="6859450" y="107825"/>
            <a:ext cx="1337100" cy="1337100"/>
          </a:xfrm>
          <a:prstGeom prst="ellipse">
            <a:avLst/>
          </a:prstGeom>
          <a:solidFill>
            <a:srgbClr val="6AA84F">
              <a:alpha val="5587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a:t>
            </a:r>
            <a:r>
              <a:rPr lang="en-GB"/>
              <a:t>ôn ngữ luật cho Web ngữ nghĩa - SWRL</a:t>
            </a:r>
            <a:endParaRPr/>
          </a:p>
        </p:txBody>
      </p:sp>
      <p:sp>
        <p:nvSpPr>
          <p:cNvPr id="347" name="Google Shape;347;p54"/>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S</a:t>
            </a:r>
            <a:r>
              <a:rPr lang="en-GB"/>
              <a:t>WRL là sự kết hợp của DL và lô-gic horn cùng với nhiều hàm định sẵn (ví dụ, các hàm toán học)</a:t>
            </a:r>
            <a:endParaRPr/>
          </a:p>
          <a:p>
            <a:pPr indent="-381000" lvl="0" marL="457200" rtl="0" algn="l">
              <a:spcBef>
                <a:spcPts val="0"/>
              </a:spcBef>
              <a:spcAft>
                <a:spcPts val="0"/>
              </a:spcAft>
              <a:buSzPts val="2400"/>
              <a:buChar char="●"/>
            </a:pPr>
            <a:r>
              <a:rPr lang="en-GB"/>
              <a:t>Được gửi tới W3C năm 2004, nhưng không trở thành quy chuẩn (dẫn đến RIF).</a:t>
            </a:r>
            <a:endParaRPr/>
          </a:p>
          <a:p>
            <a:pPr indent="-368300" lvl="1" marL="914400" rtl="0" algn="l">
              <a:spcBef>
                <a:spcPts val="0"/>
              </a:spcBef>
              <a:spcAft>
                <a:spcPts val="0"/>
              </a:spcAft>
              <a:buSzPts val="2200"/>
              <a:buChar char="○"/>
            </a:pPr>
            <a:r>
              <a:rPr lang="en-GB"/>
              <a:t>Vấn đề: Đặc tả đầy đủ của SWRL không khả quyết.</a:t>
            </a:r>
            <a:endParaRPr/>
          </a:p>
          <a:p>
            <a:pPr indent="-381000" lvl="0" marL="457200" rtl="0" algn="l">
              <a:spcBef>
                <a:spcPts val="0"/>
              </a:spcBef>
              <a:spcAft>
                <a:spcPts val="0"/>
              </a:spcAft>
              <a:buSzPts val="2400"/>
              <a:buChar char="●"/>
            </a:pPr>
            <a:r>
              <a:rPr lang="en-GB"/>
              <a:t>SWRL được đặc tả tốt và các tập con được hỗ trợ rộng rãi (ví dụ, trong Pellet, HermiT).</a:t>
            </a:r>
            <a:endParaRPr/>
          </a:p>
          <a:p>
            <a:pPr indent="-381000" lvl="0" marL="457200" rtl="0" algn="l">
              <a:spcBef>
                <a:spcPts val="0"/>
              </a:spcBef>
              <a:spcAft>
                <a:spcPts val="0"/>
              </a:spcAft>
              <a:buSzPts val="2400"/>
              <a:buChar char="●"/>
            </a:pPr>
            <a:r>
              <a:rPr lang="en-GB"/>
              <a:t>Dựa trên OWL: Các luật sử dụng các từ là các khái niệm OWL (lớp, thuộc tính, phần tử, hằng giá trị, v.v...)</a:t>
            </a:r>
            <a:endParaRPr/>
          </a:p>
        </p:txBody>
      </p:sp>
      <p:sp>
        <p:nvSpPr>
          <p:cNvPr id="348" name="Google Shape;348;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WRL</a:t>
            </a:r>
            <a:endParaRPr/>
          </a:p>
        </p:txBody>
      </p:sp>
      <p:sp>
        <p:nvSpPr>
          <p:cNvPr id="354" name="Google Shape;354;p55"/>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a:t>
            </a:r>
            <a:r>
              <a:rPr lang="en-GB"/>
              <a:t>ác lớp OWL là các khẳng định 1 ngôi, các thuộc tính là các khẳng định 2 ngôi.</a:t>
            </a:r>
            <a:endParaRPr/>
          </a:p>
          <a:p>
            <a:pPr indent="0" lvl="0" marL="457200" rtl="0" algn="l">
              <a:spcBef>
                <a:spcPts val="0"/>
              </a:spcBef>
              <a:spcAft>
                <a:spcPts val="0"/>
              </a:spcAft>
              <a:buNone/>
            </a:pPr>
            <a:r>
              <a:rPr lang="en-GB"/>
              <a:t>brother(?p, ?s) ←sibling(?p, ?s) ∧ Man(?s)</a:t>
            </a:r>
            <a:endParaRPr/>
          </a:p>
          <a:p>
            <a:pPr indent="-381000" lvl="0" marL="457200" rtl="0" algn="l">
              <a:spcBef>
                <a:spcPts val="0"/>
              </a:spcBef>
              <a:spcAft>
                <a:spcPts val="0"/>
              </a:spcAft>
              <a:buSzPts val="2400"/>
              <a:buChar char="●"/>
            </a:pPr>
            <a:r>
              <a:rPr lang="en-GB"/>
              <a:t>Các tính toán toán có thể dẫn đến các giá trị Boolean hoặc xác định giá trị cho các biến</a:t>
            </a:r>
            <a:endParaRPr/>
          </a:p>
          <a:p>
            <a:pPr indent="-368300" lvl="1" marL="914400" rtl="0" algn="l">
              <a:spcBef>
                <a:spcPts val="0"/>
              </a:spcBef>
              <a:spcAft>
                <a:spcPts val="0"/>
              </a:spcAft>
              <a:buSzPts val="2200"/>
              <a:buChar char="○"/>
            </a:pPr>
            <a:r>
              <a:rPr lang="en-GB"/>
              <a:t>swrlb:greaterThan(?age2, ?age1)  # age2 &gt; age1</a:t>
            </a:r>
            <a:endParaRPr/>
          </a:p>
          <a:p>
            <a:pPr indent="-368300" lvl="1" marL="914400" rtl="0" algn="l">
              <a:spcBef>
                <a:spcPts val="0"/>
              </a:spcBef>
              <a:spcAft>
                <a:spcPts val="0"/>
              </a:spcAft>
              <a:buSzPts val="2200"/>
              <a:buChar char="○"/>
            </a:pPr>
            <a:r>
              <a:rPr lang="en-GB"/>
              <a:t>swrlb:subtract(?n1, ?n2, ?diff) # diff=n1 - n2</a:t>
            </a:r>
            <a:endParaRPr/>
          </a:p>
          <a:p>
            <a:pPr indent="-381000" lvl="0" marL="457200" rtl="0" algn="l">
              <a:spcBef>
                <a:spcPts val="0"/>
              </a:spcBef>
              <a:spcAft>
                <a:spcPts val="0"/>
              </a:spcAft>
              <a:buSzPts val="2400"/>
              <a:buChar char="●"/>
            </a:pPr>
            <a:r>
              <a:rPr lang="en-GB"/>
              <a:t>Các khẳng định SWRL cho các mệnh đề OWL và các tập dữ liệu</a:t>
            </a:r>
            <a:endParaRPr/>
          </a:p>
          <a:p>
            <a:pPr indent="-368300" lvl="1" marL="914400" rtl="0" algn="l">
              <a:spcBef>
                <a:spcPts val="0"/>
              </a:spcBef>
              <a:spcAft>
                <a:spcPts val="0"/>
              </a:spcAft>
              <a:buSzPts val="2200"/>
              <a:buChar char="○"/>
            </a:pPr>
            <a:r>
              <a:rPr lang="en-GB"/>
              <a:t>differentFrom(?x, ?y), sameAs(?x, ?y), xsd:int(?x), [3, 4, 5](?x), ...</a:t>
            </a:r>
            <a:endParaRPr/>
          </a:p>
          <a:p>
            <a:pPr indent="0" lvl="0" marL="457200" rtl="0" algn="l">
              <a:spcBef>
                <a:spcPts val="0"/>
              </a:spcBef>
              <a:spcAft>
                <a:spcPts val="0"/>
              </a:spcAft>
              <a:buNone/>
            </a:pPr>
            <a:r>
              <a:t/>
            </a:r>
            <a:endParaRPr/>
          </a:p>
        </p:txBody>
      </p:sp>
      <p:sp>
        <p:nvSpPr>
          <p:cNvPr id="355" name="Google Shape;355;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SWRL</a:t>
            </a:r>
            <a:r>
              <a:rPr baseline="-25000" lang="en-GB"/>
              <a:t>(2)</a:t>
            </a:r>
            <a:endParaRPr baseline="-25000"/>
          </a:p>
        </p:txBody>
      </p:sp>
      <p:sp>
        <p:nvSpPr>
          <p:cNvPr id="361" name="Google Shape;361;p56"/>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S</a:t>
            </a:r>
            <a:r>
              <a:rPr lang="en-GB"/>
              <a:t>WRL định nghĩa 1 tập các khẳng định có sẵn cho phép so sánh, tính toán toán học, thao tác chuỗi, v.v..</a:t>
            </a:r>
            <a:endParaRPr/>
          </a:p>
          <a:p>
            <a:pPr indent="-381000" lvl="0" marL="457200" rtl="0" algn="l">
              <a:spcBef>
                <a:spcPts val="0"/>
              </a:spcBef>
              <a:spcAft>
                <a:spcPts val="0"/>
              </a:spcAft>
              <a:buSzPts val="2400"/>
              <a:buChar char="●"/>
            </a:pPr>
            <a:r>
              <a:rPr lang="en-GB"/>
              <a:t>Ví dụ:</a:t>
            </a:r>
            <a:endParaRPr/>
          </a:p>
          <a:p>
            <a:pPr indent="-368300" lvl="1" marL="914400" rtl="0" algn="l">
              <a:spcBef>
                <a:spcPts val="0"/>
              </a:spcBef>
              <a:spcAft>
                <a:spcPts val="0"/>
              </a:spcAft>
              <a:buSzPts val="2200"/>
              <a:buChar char="○"/>
            </a:pPr>
            <a:r>
              <a:rPr lang="en-GB"/>
              <a:t>Person(?p), hasAge(?p, ?age), swrlb:greaterThan(?age, 18) -&gt; Adult(?p)</a:t>
            </a:r>
            <a:endParaRPr/>
          </a:p>
          <a:p>
            <a:pPr indent="-368300" lvl="1" marL="914400" rtl="0" algn="l">
              <a:spcBef>
                <a:spcPts val="0"/>
              </a:spcBef>
              <a:spcAft>
                <a:spcPts val="0"/>
              </a:spcAft>
              <a:buSzPts val="2200"/>
              <a:buChar char="○"/>
            </a:pPr>
            <a:r>
              <a:rPr lang="en-GB"/>
              <a:t>Person(?p), bornOnDate(?p, ?date), xsd:date(?date), swrlb:date(?date, ?year, ?month, ?day, ?timezone) -&gt; bornInYear(?p, ?year)</a:t>
            </a:r>
            <a:endParaRPr/>
          </a:p>
          <a:p>
            <a:pPr indent="-381000" lvl="0" marL="457200" rtl="0" algn="l">
              <a:spcBef>
                <a:spcPts val="0"/>
              </a:spcBef>
              <a:spcAft>
                <a:spcPts val="0"/>
              </a:spcAft>
              <a:buSzPts val="2400"/>
              <a:buChar char="●"/>
            </a:pPr>
            <a:r>
              <a:rPr lang="en-GB"/>
              <a:t>Một số mô-tơ suy diễn (ví dụ, Pellet) cho phép bạn tự mở rộng tập những thành phần dựng sẵn</a:t>
            </a:r>
            <a:endParaRPr/>
          </a:p>
        </p:txBody>
      </p:sp>
      <p:sp>
        <p:nvSpPr>
          <p:cNvPr id="362" name="Google Shape;362;p56"/>
          <p:cNvSpPr txBox="1"/>
          <p:nvPr/>
        </p:nvSpPr>
        <p:spPr>
          <a:xfrm>
            <a:off x="445700" y="5430325"/>
            <a:ext cx="8386500" cy="53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en-GB" sz="2000">
                <a:solidFill>
                  <a:srgbClr val="0B5394"/>
                </a:solidFill>
              </a:rPr>
              <a:t>Xem: https://www.w3.org/Submission/2004/SUBM-SWRL-20040521/</a:t>
            </a:r>
            <a:endParaRPr sz="2000">
              <a:solidFill>
                <a:srgbClr val="0B5394"/>
              </a:solidFill>
            </a:endParaRPr>
          </a:p>
        </p:txBody>
      </p:sp>
      <p:sp>
        <p:nvSpPr>
          <p:cNvPr id="363" name="Google Shape;363;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hạn chế của SWRL đầy đủ</a:t>
            </a:r>
            <a:endParaRPr/>
          </a:p>
        </p:txBody>
      </p:sp>
      <p:sp>
        <p:nvSpPr>
          <p:cNvPr id="369" name="Google Shape;369;p57"/>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Ng</a:t>
            </a:r>
            <a:r>
              <a:rPr lang="en-GB"/>
              <a:t>uồn gốc chính của tính phức tạp:</a:t>
            </a:r>
            <a:endParaRPr/>
          </a:p>
          <a:p>
            <a:pPr indent="0" lvl="0" marL="457200" rtl="0" algn="l">
              <a:spcBef>
                <a:spcPts val="0"/>
              </a:spcBef>
              <a:spcAft>
                <a:spcPts val="0"/>
              </a:spcAft>
              <a:buNone/>
            </a:pPr>
            <a:r>
              <a:rPr lang="en-GB"/>
              <a:t>Các biểu thức OWL bất kỳ (ví dụ, các giới hạn) có thể xuất hiện trong đầu hoặc thân của một luật.</a:t>
            </a:r>
            <a:endParaRPr/>
          </a:p>
          <a:p>
            <a:pPr indent="-381000" lvl="0" marL="457200" rtl="0" algn="l">
              <a:spcBef>
                <a:spcPts val="0"/>
              </a:spcBef>
              <a:spcAft>
                <a:spcPts val="0"/>
              </a:spcAft>
              <a:buSzPts val="2400"/>
              <a:buChar char="●"/>
            </a:pPr>
            <a:r>
              <a:rPr lang="en-GB"/>
              <a:t>Làm tăng khả năng diễn tả đáng kể cho OWL, nhưng dẫn đến tính không khả quyết</a:t>
            </a:r>
            <a:endParaRPr/>
          </a:p>
          <a:p>
            <a:pPr indent="0" lvl="0" marL="450000" rtl="0" algn="l">
              <a:spcBef>
                <a:spcPts val="0"/>
              </a:spcBef>
              <a:spcAft>
                <a:spcPts val="0"/>
              </a:spcAft>
              <a:buNone/>
            </a:pPr>
            <a:r>
              <a:rPr lang="en-GB"/>
              <a:t>Không có mô-tơ suy diễn nào cho ra các kết luận tuyệt đối giống với ngữ nghĩa của SWRL</a:t>
            </a:r>
            <a:endParaRPr/>
          </a:p>
        </p:txBody>
      </p:sp>
      <p:sp>
        <p:nvSpPr>
          <p:cNvPr id="370" name="Google Shape;370;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tập con của SWRL</a:t>
            </a:r>
            <a:endParaRPr/>
          </a:p>
        </p:txBody>
      </p:sp>
      <p:sp>
        <p:nvSpPr>
          <p:cNvPr id="376" name="Google Shape;376;p58"/>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a:t>
            </a:r>
            <a:r>
              <a:rPr lang="en-GB"/>
              <a:t>ó khăn: Xác định các tập ngôn ngữ con của SWRL với sự cân đối hợp lý giữa khả năng diễn đạt và khả năng tính toán</a:t>
            </a:r>
            <a:endParaRPr/>
          </a:p>
          <a:p>
            <a:pPr indent="-381000" lvl="0" marL="457200" rtl="0" algn="l">
              <a:spcBef>
                <a:spcPts val="0"/>
              </a:spcBef>
              <a:spcAft>
                <a:spcPts val="0"/>
              </a:spcAft>
              <a:buSzPts val="2400"/>
              <a:buChar char="●"/>
            </a:pPr>
            <a:r>
              <a:rPr lang="en-GB"/>
              <a:t>Ứng viên: OWL DL + Luật DL an toàn</a:t>
            </a:r>
            <a:endParaRPr/>
          </a:p>
        </p:txBody>
      </p:sp>
      <p:sp>
        <p:nvSpPr>
          <p:cNvPr id="377" name="Google Shape;377;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giới hạn của SWRL</a:t>
            </a:r>
            <a:endParaRPr/>
          </a:p>
        </p:txBody>
      </p:sp>
      <p:sp>
        <p:nvSpPr>
          <p:cNvPr id="383" name="Google Shape;383;p59"/>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WRL không hỗ trợ nhiều tính năng hữu ích của 1 số hệ thống dựa trên luật</a:t>
            </a:r>
            <a:endParaRPr/>
          </a:p>
          <a:p>
            <a:pPr indent="-381000" lvl="0" marL="457200" rtl="0" algn="l">
              <a:spcBef>
                <a:spcPts val="0"/>
              </a:spcBef>
              <a:spcAft>
                <a:spcPts val="0"/>
              </a:spcAft>
              <a:buSzPts val="2400"/>
              <a:buChar char="●"/>
            </a:pPr>
            <a:r>
              <a:rPr lang="en-GB"/>
              <a:t>Suy diễn mặc định</a:t>
            </a:r>
            <a:endParaRPr/>
          </a:p>
          <a:p>
            <a:pPr indent="-381000" lvl="0" marL="457200" rtl="0" algn="l">
              <a:spcBef>
                <a:spcPts val="0"/>
              </a:spcBef>
              <a:spcAft>
                <a:spcPts val="0"/>
              </a:spcAft>
              <a:buSzPts val="2400"/>
              <a:buChar char="●"/>
            </a:pPr>
            <a:r>
              <a:rPr lang="en-GB"/>
              <a:t>Tính ưu tiên của luật</a:t>
            </a:r>
            <a:endParaRPr/>
          </a:p>
          <a:p>
            <a:pPr indent="-381000" lvl="0" marL="457200" rtl="0" algn="l">
              <a:spcBef>
                <a:spcPts val="0"/>
              </a:spcBef>
              <a:spcAft>
                <a:spcPts val="0"/>
              </a:spcAft>
              <a:buSzPts val="2400"/>
              <a:buChar char="●"/>
            </a:pPr>
            <a:r>
              <a:rPr lang="en-GB"/>
              <a:t>Phủ định = sai (ví dụ, ngữ nghĩa thế giới đóng)</a:t>
            </a:r>
            <a:endParaRPr/>
          </a:p>
          <a:p>
            <a:pPr indent="-381000" lvl="0" marL="457200" rtl="0" algn="l">
              <a:spcBef>
                <a:spcPts val="0"/>
              </a:spcBef>
              <a:spcAft>
                <a:spcPts val="0"/>
              </a:spcAft>
              <a:buSzPts val="2400"/>
              <a:buChar char="●"/>
            </a:pPr>
            <a:r>
              <a:rPr lang="en-GB"/>
              <a:t>Các cấu trúc dữ liệu</a:t>
            </a:r>
            <a:endParaRPr/>
          </a:p>
          <a:p>
            <a:pPr indent="-381000" lvl="0" marL="457200" rtl="0" algn="l">
              <a:spcBef>
                <a:spcPts val="0"/>
              </a:spcBef>
              <a:spcAft>
                <a:spcPts val="0"/>
              </a:spcAft>
              <a:buSzPts val="2400"/>
              <a:buChar char="●"/>
            </a:pPr>
            <a:r>
              <a:rPr lang="en-GB"/>
              <a:t>....</a:t>
            </a:r>
            <a:endParaRPr/>
          </a:p>
          <a:p>
            <a:pPr indent="0" lvl="0" marL="0" rtl="0" algn="l">
              <a:spcBef>
                <a:spcPts val="0"/>
              </a:spcBef>
              <a:spcAft>
                <a:spcPts val="0"/>
              </a:spcAft>
              <a:buNone/>
            </a:pPr>
            <a:r>
              <a:rPr lang="en-GB"/>
              <a:t>Các hạn chế dẫn tới RIF - Rule Interchange Format</a:t>
            </a:r>
            <a:endParaRPr/>
          </a:p>
        </p:txBody>
      </p:sp>
      <p:sp>
        <p:nvSpPr>
          <p:cNvPr id="384" name="Google Shape;384;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luật và OWL</a:t>
            </a:r>
            <a:endParaRPr/>
          </a:p>
        </p:txBody>
      </p:sp>
      <p:sp>
        <p:nvSpPr>
          <p:cNvPr id="390" name="Google Shape;390;p60"/>
          <p:cNvSpPr txBox="1"/>
          <p:nvPr>
            <p:ph idx="4294967295" type="body"/>
          </p:nvPr>
        </p:nvSpPr>
        <p:spPr>
          <a:xfrm>
            <a:off x="311700" y="899675"/>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Có thể biểu diễn được những cấu trúc OWL nào bằng luật?</a:t>
            </a:r>
            <a:endParaRPr/>
          </a:p>
        </p:txBody>
      </p:sp>
      <p:sp>
        <p:nvSpPr>
          <p:cNvPr id="391" name="Google Shape;391;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92" name="Google Shape;392;p60"/>
          <p:cNvGraphicFramePr/>
          <p:nvPr/>
        </p:nvGraphicFramePr>
        <p:xfrm>
          <a:off x="484250" y="1461925"/>
          <a:ext cx="3000000" cy="3000000"/>
        </p:xfrm>
        <a:graphic>
          <a:graphicData uri="http://schemas.openxmlformats.org/drawingml/2006/table">
            <a:tbl>
              <a:tblPr>
                <a:noFill/>
                <a:tableStyleId>{E6F433E2-C877-4814-8414-1239BDD90EB9}</a:tableStyleId>
              </a:tblPr>
              <a:tblGrid>
                <a:gridCol w="2999425"/>
                <a:gridCol w="5149325"/>
              </a:tblGrid>
              <a:tr h="166625">
                <a:tc>
                  <a:txBody>
                    <a:bodyPr/>
                    <a:lstStyle/>
                    <a:p>
                      <a:pPr indent="0" lvl="0" marL="0" rtl="0" algn="l">
                        <a:spcBef>
                          <a:spcPts val="0"/>
                        </a:spcBef>
                        <a:spcAft>
                          <a:spcPts val="0"/>
                        </a:spcAft>
                        <a:buNone/>
                      </a:pPr>
                      <a:r>
                        <a:rPr b="1" lang="en-GB" sz="2200">
                          <a:solidFill>
                            <a:srgbClr val="666666"/>
                          </a:solidFill>
                        </a:rPr>
                        <a:t>DL</a:t>
                      </a:r>
                      <a:endParaRPr b="1" sz="2200">
                        <a:solidFill>
                          <a:srgbClr val="666666"/>
                        </a:solidFill>
                      </a:endParaRPr>
                    </a:p>
                  </a:txBody>
                  <a:tcPr marT="36000" marB="54000" marR="91425" marL="91425"/>
                </a:tc>
                <a:tc>
                  <a:txBody>
                    <a:bodyPr/>
                    <a:lstStyle/>
                    <a:p>
                      <a:pPr indent="0" lvl="0" marL="0" rtl="0" algn="l">
                        <a:spcBef>
                          <a:spcPts val="0"/>
                        </a:spcBef>
                        <a:spcAft>
                          <a:spcPts val="0"/>
                        </a:spcAft>
                        <a:buNone/>
                      </a:pPr>
                      <a:r>
                        <a:rPr b="1" lang="en-GB" sz="2200">
                          <a:solidFill>
                            <a:srgbClr val="666666"/>
                          </a:solidFill>
                        </a:rPr>
                        <a:t>Luật Datalog</a:t>
                      </a:r>
                      <a:endParaRPr b="1" sz="2200">
                        <a:solidFill>
                          <a:srgbClr val="666666"/>
                        </a:solidFill>
                      </a:endParaRPr>
                    </a:p>
                  </a:txBody>
                  <a:tcPr marT="36000" marB="54000" marR="91425" marL="91425"/>
                </a:tc>
              </a:tr>
              <a:tr h="166625">
                <a:tc>
                  <a:txBody>
                    <a:bodyPr/>
                    <a:lstStyle/>
                    <a:p>
                      <a:pPr indent="0" lvl="0" marL="0" rtl="0" algn="l">
                        <a:spcBef>
                          <a:spcPts val="0"/>
                        </a:spcBef>
                        <a:spcAft>
                          <a:spcPts val="0"/>
                        </a:spcAft>
                        <a:buNone/>
                      </a:pPr>
                      <a:r>
                        <a:rPr lang="en-GB" sz="2200">
                          <a:solidFill>
                            <a:srgbClr val="666666"/>
                          </a:solidFill>
                        </a:rPr>
                        <a:t>A ⊑ B</a:t>
                      </a:r>
                      <a:endParaRPr sz="2200">
                        <a:solidFill>
                          <a:srgbClr val="666666"/>
                        </a:solidFill>
                      </a:endParaRPr>
                    </a:p>
                  </a:txBody>
                  <a:tcPr marT="36000" marB="54000" marR="91425" marL="91425"/>
                </a:tc>
                <a:tc>
                  <a:txBody>
                    <a:bodyPr/>
                    <a:lstStyle/>
                    <a:p>
                      <a:pPr indent="0" lvl="0" marL="0" rtl="0" algn="l">
                        <a:spcBef>
                          <a:spcPts val="0"/>
                        </a:spcBef>
                        <a:spcAft>
                          <a:spcPts val="0"/>
                        </a:spcAft>
                        <a:buNone/>
                      </a:pPr>
                      <a:r>
                        <a:rPr lang="en-GB" sz="2200">
                          <a:solidFill>
                            <a:srgbClr val="666666"/>
                          </a:solidFill>
                        </a:rPr>
                        <a:t>A(x)→B(x)</a:t>
                      </a:r>
                      <a:endParaRPr sz="2200">
                        <a:solidFill>
                          <a:srgbClr val="666666"/>
                        </a:solidFill>
                      </a:endParaRPr>
                    </a:p>
                  </a:txBody>
                  <a:tcPr marT="36000" marB="54000" marR="91425" marL="91425"/>
                </a:tc>
              </a:tr>
              <a:tr h="166625">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r</a:t>
                      </a:r>
                      <a:r>
                        <a:rPr lang="en-GB" sz="2200">
                          <a:solidFill>
                            <a:srgbClr val="666666"/>
                          </a:solidFill>
                        </a:rPr>
                        <a:t> ⊑ s</a:t>
                      </a:r>
                      <a:endParaRPr sz="2200">
                        <a:solidFill>
                          <a:srgbClr val="666666"/>
                        </a:solidFill>
                      </a:endParaRPr>
                    </a:p>
                  </a:txBody>
                  <a:tcPr marT="36000" marB="54000" marR="91425" marL="91425"/>
                </a:tc>
                <a:tc>
                  <a:txBody>
                    <a:bodyPr/>
                    <a:lstStyle/>
                    <a:p>
                      <a:pPr indent="0" lvl="0" marL="0" rtl="0" algn="l">
                        <a:spcBef>
                          <a:spcPts val="0"/>
                        </a:spcBef>
                        <a:spcAft>
                          <a:spcPts val="0"/>
                        </a:spcAft>
                        <a:buNone/>
                      </a:pPr>
                      <a:r>
                        <a:rPr lang="en-GB" sz="2200">
                          <a:solidFill>
                            <a:srgbClr val="666666"/>
                          </a:solidFill>
                        </a:rPr>
                        <a:t>r(x, y)→s(x, y)</a:t>
                      </a:r>
                      <a:endParaRPr sz="2200">
                        <a:solidFill>
                          <a:srgbClr val="666666"/>
                        </a:solidFill>
                      </a:endParaRPr>
                    </a:p>
                  </a:txBody>
                  <a:tcPr marT="36000" marB="54000" marR="91425" marL="91425"/>
                </a:tc>
              </a:tr>
              <a:tr h="166625">
                <a:tc>
                  <a:txBody>
                    <a:bodyPr/>
                    <a:lstStyle/>
                    <a:p>
                      <a:pPr indent="0" lvl="0" marL="0" rtl="0" algn="l">
                        <a:spcBef>
                          <a:spcPts val="0"/>
                        </a:spcBef>
                        <a:spcAft>
                          <a:spcPts val="0"/>
                        </a:spcAft>
                        <a:buNone/>
                      </a:pPr>
                      <a:r>
                        <a:rPr lang="en-GB" sz="2200">
                          <a:solidFill>
                            <a:srgbClr val="666666"/>
                          </a:solidFill>
                        </a:rPr>
                        <a:t>A ⊓ ∃R.∃S.B ⊑ C</a:t>
                      </a:r>
                      <a:endParaRPr sz="2200">
                        <a:solidFill>
                          <a:srgbClr val="666666"/>
                        </a:solidFill>
                      </a:endParaRPr>
                    </a:p>
                  </a:txBody>
                  <a:tcPr marT="36000" marB="54000" marR="91425" marL="91425"/>
                </a:tc>
                <a:tc>
                  <a:txBody>
                    <a:bodyPr/>
                    <a:lstStyle/>
                    <a:p>
                      <a:pPr indent="0" lvl="0" marL="0" rtl="0" algn="l">
                        <a:spcBef>
                          <a:spcPts val="0"/>
                        </a:spcBef>
                        <a:spcAft>
                          <a:spcPts val="0"/>
                        </a:spcAft>
                        <a:buNone/>
                      </a:pPr>
                      <a:r>
                        <a:rPr lang="en-GB" sz="2200">
                          <a:solidFill>
                            <a:srgbClr val="666666"/>
                          </a:solidFill>
                        </a:rPr>
                        <a:t>A(x) ∧ R(x, y) </a:t>
                      </a:r>
                      <a:r>
                        <a:rPr lang="en-GB" sz="2200">
                          <a:solidFill>
                            <a:srgbClr val="666666"/>
                          </a:solidFill>
                        </a:rPr>
                        <a:t>∧ S(y, z) ∧ B(z)→C(x)</a:t>
                      </a:r>
                      <a:endParaRPr sz="2200">
                        <a:solidFill>
                          <a:srgbClr val="666666"/>
                        </a:solidFill>
                      </a:endParaRPr>
                    </a:p>
                  </a:txBody>
                  <a:tcPr marT="36000" marB="54000" marR="91425" marL="91425"/>
                </a:tc>
              </a:tr>
              <a:tr h="166625">
                <a:tc>
                  <a:txBody>
                    <a:bodyPr/>
                    <a:lstStyle/>
                    <a:p>
                      <a:pPr indent="0" lvl="0" marL="0" rtl="0" algn="l">
                        <a:spcBef>
                          <a:spcPts val="0"/>
                        </a:spcBef>
                        <a:spcAft>
                          <a:spcPts val="0"/>
                        </a:spcAft>
                        <a:buNone/>
                      </a:pPr>
                      <a:r>
                        <a:rPr lang="en-GB" sz="2200">
                          <a:solidFill>
                            <a:srgbClr val="666666"/>
                          </a:solidFill>
                        </a:rPr>
                        <a:t>A</a:t>
                      </a:r>
                      <a:r>
                        <a:rPr lang="en-GB" sz="2200">
                          <a:solidFill>
                            <a:srgbClr val="666666"/>
                          </a:solidFill>
                        </a:rPr>
                        <a:t> ⊑ ∀R.B</a:t>
                      </a:r>
                      <a:endParaRPr sz="2200">
                        <a:solidFill>
                          <a:srgbClr val="666666"/>
                        </a:solidFill>
                      </a:endParaRPr>
                    </a:p>
                  </a:txBody>
                  <a:tcPr marT="36000" marB="54000" marR="91425" marL="91425"/>
                </a:tc>
                <a:tc>
                  <a:txBody>
                    <a:bodyPr/>
                    <a:lstStyle/>
                    <a:p>
                      <a:pPr indent="0" lvl="0" marL="0" rtl="0" algn="l">
                        <a:spcBef>
                          <a:spcPts val="0"/>
                        </a:spcBef>
                        <a:spcAft>
                          <a:spcPts val="0"/>
                        </a:spcAft>
                        <a:buNone/>
                      </a:pPr>
                      <a:r>
                        <a:rPr lang="en-GB" sz="2200">
                          <a:solidFill>
                            <a:srgbClr val="666666"/>
                          </a:solidFill>
                        </a:rPr>
                        <a:t>A(x) </a:t>
                      </a:r>
                      <a:r>
                        <a:rPr lang="en-GB" sz="2200">
                          <a:solidFill>
                            <a:srgbClr val="666666"/>
                          </a:solidFill>
                        </a:rPr>
                        <a:t>∧ R(x, y)→B(y)</a:t>
                      </a:r>
                      <a:endParaRPr sz="2200">
                        <a:solidFill>
                          <a:srgbClr val="666666"/>
                        </a:solidFill>
                      </a:endParaRPr>
                    </a:p>
                  </a:txBody>
                  <a:tcPr marT="36000" marB="54000" marR="91425" marL="91425"/>
                </a:tc>
              </a:tr>
              <a:tr h="166625">
                <a:tc>
                  <a:txBody>
                    <a:bodyPr/>
                    <a:lstStyle/>
                    <a:p>
                      <a:pPr indent="0" lvl="0" marL="0" rtl="0" algn="l">
                        <a:spcBef>
                          <a:spcPts val="0"/>
                        </a:spcBef>
                        <a:spcAft>
                          <a:spcPts val="0"/>
                        </a:spcAft>
                        <a:buNone/>
                      </a:pPr>
                      <a:r>
                        <a:rPr lang="en-GB" sz="2200">
                          <a:solidFill>
                            <a:srgbClr val="666666"/>
                          </a:solidFill>
                        </a:rPr>
                        <a:t>A ⊑ ¬B ⊔ C</a:t>
                      </a:r>
                      <a:endParaRPr sz="2200">
                        <a:solidFill>
                          <a:srgbClr val="666666"/>
                        </a:solidFill>
                      </a:endParaRPr>
                    </a:p>
                  </a:txBody>
                  <a:tcPr marT="36000" marB="54000" marR="91425" marL="91425"/>
                </a:tc>
                <a:tc>
                  <a:txBody>
                    <a:bodyPr/>
                    <a:lstStyle/>
                    <a:p>
                      <a:pPr indent="0" lvl="0" marL="0" rtl="0" algn="l">
                        <a:spcBef>
                          <a:spcPts val="0"/>
                        </a:spcBef>
                        <a:spcAft>
                          <a:spcPts val="0"/>
                        </a:spcAft>
                        <a:buNone/>
                      </a:pPr>
                      <a:r>
                        <a:rPr lang="en-GB" sz="2200">
                          <a:solidFill>
                            <a:srgbClr val="666666"/>
                          </a:solidFill>
                        </a:rPr>
                        <a:t>A(x) </a:t>
                      </a:r>
                      <a:r>
                        <a:rPr lang="en-GB" sz="2200">
                          <a:solidFill>
                            <a:srgbClr val="666666"/>
                          </a:solidFill>
                        </a:rPr>
                        <a:t>∧ B(x) →C(x)</a:t>
                      </a:r>
                      <a:endParaRPr sz="2200">
                        <a:solidFill>
                          <a:srgbClr val="666666"/>
                        </a:solidFill>
                      </a:endParaRPr>
                    </a:p>
                  </a:txBody>
                  <a:tcPr marT="36000" marB="54000" marR="91425" marL="91425"/>
                </a:tc>
              </a:tr>
              <a:tr h="166625">
                <a:tc>
                  <a:txBody>
                    <a:bodyPr/>
                    <a:lstStyle/>
                    <a:p>
                      <a:pPr indent="0" lvl="0" marL="0" rtl="0" algn="l">
                        <a:spcBef>
                          <a:spcPts val="0"/>
                        </a:spcBef>
                        <a:spcAft>
                          <a:spcPts val="0"/>
                        </a:spcAft>
                        <a:buNone/>
                      </a:pPr>
                      <a:r>
                        <a:rPr lang="en-GB" sz="2200">
                          <a:solidFill>
                            <a:srgbClr val="666666"/>
                          </a:solidFill>
                        </a:rPr>
                        <a:t>⊤ ⊑ ≤1R.T</a:t>
                      </a:r>
                      <a:endParaRPr sz="2200">
                        <a:solidFill>
                          <a:srgbClr val="666666"/>
                        </a:solidFill>
                      </a:endParaRPr>
                    </a:p>
                  </a:txBody>
                  <a:tcPr marT="36000" marB="54000" marR="91425" marL="91425"/>
                </a:tc>
                <a:tc>
                  <a:txBody>
                    <a:bodyPr/>
                    <a:lstStyle/>
                    <a:p>
                      <a:pPr indent="0" lvl="0" marL="0" rtl="0" algn="l">
                        <a:spcBef>
                          <a:spcPts val="0"/>
                        </a:spcBef>
                        <a:spcAft>
                          <a:spcPts val="0"/>
                        </a:spcAft>
                        <a:buNone/>
                      </a:pPr>
                      <a:r>
                        <a:rPr lang="en-GB" sz="2200">
                          <a:solidFill>
                            <a:srgbClr val="666666"/>
                          </a:solidFill>
                        </a:rPr>
                        <a:t>R(x, y) </a:t>
                      </a:r>
                      <a:r>
                        <a:rPr lang="en-GB" sz="2200">
                          <a:solidFill>
                            <a:srgbClr val="666666"/>
                          </a:solidFill>
                        </a:rPr>
                        <a:t>∧ R(x, z)→y = z </a:t>
                      </a:r>
                      <a:endParaRPr sz="2200">
                        <a:solidFill>
                          <a:srgbClr val="666666"/>
                        </a:solidFill>
                      </a:endParaRPr>
                    </a:p>
                  </a:txBody>
                  <a:tcPr marT="36000" marB="54000" marR="91425" marL="91425"/>
                </a:tc>
              </a:tr>
              <a:tr h="166625">
                <a:tc>
                  <a:txBody>
                    <a:bodyPr/>
                    <a:lstStyle/>
                    <a:p>
                      <a:pPr indent="0" lvl="0" marL="0" rtl="0" algn="l">
                        <a:spcBef>
                          <a:spcPts val="0"/>
                        </a:spcBef>
                        <a:spcAft>
                          <a:spcPts val="0"/>
                        </a:spcAft>
                        <a:buNone/>
                      </a:pPr>
                      <a:r>
                        <a:rPr lang="en-GB" sz="2200">
                          <a:solidFill>
                            <a:srgbClr val="666666"/>
                          </a:solidFill>
                        </a:rPr>
                        <a:t>A </a:t>
                      </a:r>
                      <a:r>
                        <a:rPr lang="en-GB" sz="2200">
                          <a:solidFill>
                            <a:srgbClr val="666666"/>
                          </a:solidFill>
                        </a:rPr>
                        <a:t>⊓ ∃R.{b} ⊑ C</a:t>
                      </a:r>
                      <a:endParaRPr sz="2200">
                        <a:solidFill>
                          <a:srgbClr val="666666"/>
                        </a:solidFill>
                      </a:endParaRPr>
                    </a:p>
                  </a:txBody>
                  <a:tcPr marT="36000" marB="54000" marR="91425" marL="91425"/>
                </a:tc>
                <a:tc>
                  <a:txBody>
                    <a:bodyPr/>
                    <a:lstStyle/>
                    <a:p>
                      <a:pPr indent="0" lvl="0" marL="0" rtl="0" algn="l">
                        <a:spcBef>
                          <a:spcPts val="0"/>
                        </a:spcBef>
                        <a:spcAft>
                          <a:spcPts val="0"/>
                        </a:spcAft>
                        <a:buNone/>
                      </a:pPr>
                      <a:r>
                        <a:rPr lang="en-GB" sz="2200">
                          <a:solidFill>
                            <a:srgbClr val="666666"/>
                          </a:solidFill>
                        </a:rPr>
                        <a:t>A(x) </a:t>
                      </a:r>
                      <a:r>
                        <a:rPr lang="en-GB" sz="2200">
                          <a:solidFill>
                            <a:srgbClr val="666666"/>
                          </a:solidFill>
                        </a:rPr>
                        <a:t>∧ R(x, b) →C(x)</a:t>
                      </a:r>
                      <a:endParaRPr sz="2200">
                        <a:solidFill>
                          <a:srgbClr val="666666"/>
                        </a:solidFill>
                      </a:endParaRPr>
                    </a:p>
                  </a:txBody>
                  <a:tcPr marT="36000" marB="54000" marR="91425" marL="91425"/>
                </a:tc>
              </a:tr>
              <a:tr h="166625">
                <a:tc>
                  <a:txBody>
                    <a:bodyPr/>
                    <a:lstStyle/>
                    <a:p>
                      <a:pPr indent="0" lvl="0" marL="0" rtl="0" algn="l">
                        <a:spcBef>
                          <a:spcPts val="0"/>
                        </a:spcBef>
                        <a:spcAft>
                          <a:spcPts val="0"/>
                        </a:spcAft>
                        <a:buNone/>
                      </a:pPr>
                      <a:r>
                        <a:rPr lang="en-GB" sz="2200">
                          <a:solidFill>
                            <a:srgbClr val="666666"/>
                          </a:solidFill>
                        </a:rPr>
                        <a:t>{a} ≡ {b}</a:t>
                      </a:r>
                      <a:endParaRPr sz="2200">
                        <a:solidFill>
                          <a:srgbClr val="666666"/>
                        </a:solidFill>
                      </a:endParaRPr>
                    </a:p>
                  </a:txBody>
                  <a:tcPr marT="36000" marB="54000" marR="91425" marL="91425"/>
                </a:tc>
                <a:tc>
                  <a:txBody>
                    <a:bodyPr/>
                    <a:lstStyle/>
                    <a:p>
                      <a:pPr indent="0" lvl="0" marL="0" rtl="0" algn="l">
                        <a:spcBef>
                          <a:spcPts val="0"/>
                        </a:spcBef>
                        <a:spcAft>
                          <a:spcPts val="0"/>
                        </a:spcAft>
                        <a:buClr>
                          <a:schemeClr val="dk1"/>
                        </a:buClr>
                        <a:buSzPts val="1100"/>
                        <a:buFont typeface="Arial"/>
                        <a:buNone/>
                      </a:pPr>
                      <a:r>
                        <a:rPr lang="en-GB" sz="2200">
                          <a:solidFill>
                            <a:srgbClr val="666666"/>
                          </a:solidFill>
                        </a:rPr>
                        <a:t>→a = b</a:t>
                      </a:r>
                      <a:endParaRPr sz="2200">
                        <a:solidFill>
                          <a:srgbClr val="666666"/>
                        </a:solidFill>
                      </a:endParaRPr>
                    </a:p>
                  </a:txBody>
                  <a:tcPr marT="36000" marB="54000" marR="91425" marL="91425"/>
                </a:tc>
              </a:tr>
              <a:tr h="166625">
                <a:tc>
                  <a:txBody>
                    <a:bodyPr/>
                    <a:lstStyle/>
                    <a:p>
                      <a:pPr indent="0" lvl="0" marL="0" rtl="0" algn="l">
                        <a:spcBef>
                          <a:spcPts val="0"/>
                        </a:spcBef>
                        <a:spcAft>
                          <a:spcPts val="0"/>
                        </a:spcAft>
                        <a:buNone/>
                      </a:pPr>
                      <a:r>
                        <a:rPr lang="en-GB" sz="2200">
                          <a:solidFill>
                            <a:srgbClr val="666666"/>
                          </a:solidFill>
                        </a:rPr>
                        <a:t>A </a:t>
                      </a:r>
                      <a:r>
                        <a:rPr lang="en-GB" sz="2200">
                          <a:solidFill>
                            <a:srgbClr val="666666"/>
                          </a:solidFill>
                        </a:rPr>
                        <a:t>⊓ B ⊑ ⊥</a:t>
                      </a:r>
                      <a:endParaRPr sz="2200">
                        <a:solidFill>
                          <a:srgbClr val="666666"/>
                        </a:solidFill>
                      </a:endParaRPr>
                    </a:p>
                  </a:txBody>
                  <a:tcPr marT="36000" marB="54000" marR="91425" marL="91425"/>
                </a:tc>
                <a:tc>
                  <a:txBody>
                    <a:bodyPr/>
                    <a:lstStyle/>
                    <a:p>
                      <a:pPr indent="0" lvl="0" marL="0" rtl="0" algn="l">
                        <a:spcBef>
                          <a:spcPts val="0"/>
                        </a:spcBef>
                        <a:spcAft>
                          <a:spcPts val="0"/>
                        </a:spcAft>
                        <a:buNone/>
                      </a:pPr>
                      <a:r>
                        <a:rPr lang="en-GB" sz="2200">
                          <a:solidFill>
                            <a:srgbClr val="666666"/>
                          </a:solidFill>
                        </a:rPr>
                        <a:t>A(x) </a:t>
                      </a:r>
                      <a:r>
                        <a:rPr lang="en-GB" sz="2200">
                          <a:solidFill>
                            <a:srgbClr val="666666"/>
                          </a:solidFill>
                        </a:rPr>
                        <a:t>∧ B(x)  → </a:t>
                      </a:r>
                      <a:endParaRPr sz="2200">
                        <a:solidFill>
                          <a:srgbClr val="666666"/>
                        </a:solidFill>
                      </a:endParaRPr>
                    </a:p>
                  </a:txBody>
                  <a:tcPr marT="36000" marB="54000" marR="91425" marL="91425"/>
                </a:tc>
              </a:tr>
              <a:tr h="166625">
                <a:tc>
                  <a:txBody>
                    <a:bodyPr/>
                    <a:lstStyle/>
                    <a:p>
                      <a:pPr indent="0" lvl="0" marL="0" rtl="0" algn="l">
                        <a:spcBef>
                          <a:spcPts val="0"/>
                        </a:spcBef>
                        <a:spcAft>
                          <a:spcPts val="0"/>
                        </a:spcAft>
                        <a:buNone/>
                      </a:pPr>
                      <a:r>
                        <a:rPr lang="en-GB" sz="2200">
                          <a:solidFill>
                            <a:srgbClr val="666666"/>
                          </a:solidFill>
                        </a:rPr>
                        <a:t>A</a:t>
                      </a:r>
                      <a:r>
                        <a:rPr lang="en-GB" sz="2200">
                          <a:solidFill>
                            <a:srgbClr val="666666"/>
                          </a:solidFill>
                        </a:rPr>
                        <a:t> ⊑ B ∧ C</a:t>
                      </a:r>
                      <a:endParaRPr sz="2200">
                        <a:solidFill>
                          <a:srgbClr val="666666"/>
                        </a:solidFill>
                      </a:endParaRPr>
                    </a:p>
                  </a:txBody>
                  <a:tcPr marT="36000" marB="54000" marR="91425" marL="91425"/>
                </a:tc>
                <a:tc>
                  <a:txBody>
                    <a:bodyPr/>
                    <a:lstStyle/>
                    <a:p>
                      <a:pPr indent="0" lvl="0" marL="0" rtl="0" algn="l">
                        <a:spcBef>
                          <a:spcPts val="0"/>
                        </a:spcBef>
                        <a:spcAft>
                          <a:spcPts val="0"/>
                        </a:spcAft>
                        <a:buNone/>
                      </a:pPr>
                      <a:r>
                        <a:rPr lang="en-GB" sz="2200">
                          <a:solidFill>
                            <a:srgbClr val="666666"/>
                          </a:solidFill>
                        </a:rPr>
                        <a:t>A(x) </a:t>
                      </a:r>
                      <a:r>
                        <a:rPr lang="en-GB" sz="2200">
                          <a:solidFill>
                            <a:srgbClr val="666666"/>
                          </a:solidFill>
                        </a:rPr>
                        <a:t>→ B(x) và A(x) → C(x)</a:t>
                      </a:r>
                      <a:endParaRPr sz="2200">
                        <a:solidFill>
                          <a:srgbClr val="666666"/>
                        </a:solidFill>
                      </a:endParaRPr>
                    </a:p>
                  </a:txBody>
                  <a:tcPr marT="36000" marB="54000" marR="91425" marL="91425"/>
                </a:tc>
              </a:tr>
              <a:tr h="166625">
                <a:tc>
                  <a:txBody>
                    <a:bodyPr/>
                    <a:lstStyle/>
                    <a:p>
                      <a:pPr indent="0" lvl="0" marL="0" rtl="0" algn="l">
                        <a:spcBef>
                          <a:spcPts val="0"/>
                        </a:spcBef>
                        <a:spcAft>
                          <a:spcPts val="0"/>
                        </a:spcAft>
                        <a:buNone/>
                      </a:pPr>
                      <a:r>
                        <a:rPr lang="en-GB" sz="2200">
                          <a:solidFill>
                            <a:srgbClr val="666666"/>
                          </a:solidFill>
                        </a:rPr>
                        <a:t>A </a:t>
                      </a:r>
                      <a:r>
                        <a:rPr lang="en-GB" sz="2200">
                          <a:solidFill>
                            <a:srgbClr val="666666"/>
                          </a:solidFill>
                        </a:rPr>
                        <a:t>⊔ B → C</a:t>
                      </a:r>
                      <a:endParaRPr sz="2200">
                        <a:solidFill>
                          <a:srgbClr val="666666"/>
                        </a:solidFill>
                      </a:endParaRPr>
                    </a:p>
                  </a:txBody>
                  <a:tcPr marT="36000" marB="54000" marR="91425" marL="91425"/>
                </a:tc>
                <a:tc>
                  <a:txBody>
                    <a:bodyPr/>
                    <a:lstStyle/>
                    <a:p>
                      <a:pPr indent="0" lvl="0" marL="0" rtl="0" algn="l">
                        <a:spcBef>
                          <a:spcPts val="0"/>
                        </a:spcBef>
                        <a:spcAft>
                          <a:spcPts val="0"/>
                        </a:spcAft>
                        <a:buNone/>
                      </a:pPr>
                      <a:r>
                        <a:rPr lang="en-GB" sz="2200">
                          <a:solidFill>
                            <a:srgbClr val="666666"/>
                          </a:solidFill>
                        </a:rPr>
                        <a:t>A(x) </a:t>
                      </a:r>
                      <a:r>
                        <a:rPr lang="en-GB" sz="2200">
                          <a:solidFill>
                            <a:srgbClr val="666666"/>
                          </a:solidFill>
                        </a:rPr>
                        <a:t>→ C(x) và B(x) → C(x)</a:t>
                      </a:r>
                      <a:endParaRPr b="1" sz="2200">
                        <a:solidFill>
                          <a:srgbClr val="666666"/>
                        </a:solidFill>
                      </a:endParaRPr>
                    </a:p>
                  </a:txBody>
                  <a:tcPr marT="36000" marB="54000" marR="91425" marL="91425"/>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98" name="Google Shape;398;p6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Chuyển đổi lớp và thuộc tính</a:t>
            </a:r>
            <a:endParaRPr/>
          </a:p>
        </p:txBody>
      </p:sp>
      <p:sp>
        <p:nvSpPr>
          <p:cNvPr id="399" name="Google Shape;399;p61"/>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Elephant(x) ∧ Mouse(y) →biggerThan(x, y)</a:t>
            </a:r>
            <a:endParaRPr>
              <a:solidFill>
                <a:srgbClr val="666666"/>
              </a:solidFill>
            </a:endParaRPr>
          </a:p>
          <a:p>
            <a:pPr indent="0" lvl="0" marL="0" rtl="0" algn="l">
              <a:spcBef>
                <a:spcPts val="0"/>
              </a:spcBef>
              <a:spcAft>
                <a:spcPts val="0"/>
              </a:spcAft>
              <a:buNone/>
            </a:pPr>
            <a:r>
              <a:rPr lang="en-GB">
                <a:solidFill>
                  <a:srgbClr val="666666"/>
                </a:solidFill>
              </a:rPr>
              <a:t>Thuộc tính tương ứng với khái niệm A: A ≡ </a:t>
            </a:r>
            <a:r>
              <a:rPr lang="en-GB">
                <a:solidFill>
                  <a:srgbClr val="666666"/>
                </a:solidFill>
              </a:rPr>
              <a:t>∃r</a:t>
            </a:r>
            <a:r>
              <a:rPr baseline="-25000" lang="en-GB">
                <a:solidFill>
                  <a:srgbClr val="666666"/>
                </a:solidFill>
              </a:rPr>
              <a:t>A</a:t>
            </a:r>
            <a:r>
              <a:rPr lang="en-GB">
                <a:solidFill>
                  <a:srgbClr val="666666"/>
                </a:solidFill>
              </a:rPr>
              <a:t>.Self</a:t>
            </a:r>
            <a:endParaRPr>
              <a:solidFill>
                <a:srgbClr val="666666"/>
              </a:solidFill>
            </a:endParaRPr>
          </a:p>
          <a:p>
            <a:pPr indent="0" lvl="0" marL="0" rtl="0" algn="l">
              <a:spcBef>
                <a:spcPts val="0"/>
              </a:spcBef>
              <a:spcAft>
                <a:spcPts val="0"/>
              </a:spcAft>
              <a:buNone/>
            </a:pPr>
            <a:r>
              <a:rPr lang="en-GB">
                <a:solidFill>
                  <a:srgbClr val="666666"/>
                </a:solidFill>
              </a:rPr>
              <a:t>Elephant ≡ ∃r</a:t>
            </a:r>
            <a:r>
              <a:rPr baseline="-25000" lang="en-GB">
                <a:solidFill>
                  <a:srgbClr val="666666"/>
                </a:solidFill>
              </a:rPr>
              <a:t>Elephant</a:t>
            </a:r>
            <a:r>
              <a:rPr lang="en-GB">
                <a:solidFill>
                  <a:srgbClr val="666666"/>
                </a:solidFill>
              </a:rPr>
              <a:t>.Self</a:t>
            </a:r>
            <a:endParaRPr>
              <a:solidFill>
                <a:srgbClr val="666666"/>
              </a:solidFill>
            </a:endParaRPr>
          </a:p>
          <a:p>
            <a:pPr indent="0" lvl="0" marL="0" rtl="0" algn="l">
              <a:spcBef>
                <a:spcPts val="0"/>
              </a:spcBef>
              <a:spcAft>
                <a:spcPts val="0"/>
              </a:spcAft>
              <a:buNone/>
            </a:pPr>
            <a:r>
              <a:rPr lang="en-GB">
                <a:solidFill>
                  <a:srgbClr val="666666"/>
                </a:solidFill>
              </a:rPr>
              <a:t>Mouse ≡ ∃r</a:t>
            </a:r>
            <a:r>
              <a:rPr baseline="-25000" lang="en-GB">
                <a:solidFill>
                  <a:srgbClr val="666666"/>
                </a:solidFill>
              </a:rPr>
              <a:t>Mouse</a:t>
            </a:r>
            <a:r>
              <a:rPr lang="en-GB">
                <a:solidFill>
                  <a:srgbClr val="666666"/>
                </a:solidFill>
              </a:rPr>
              <a:t>.Self</a:t>
            </a:r>
            <a:endParaRPr>
              <a:solidFill>
                <a:srgbClr val="666666"/>
              </a:solidFill>
            </a:endParaRPr>
          </a:p>
          <a:p>
            <a:pPr indent="0" lvl="0" marL="0" rtl="0" algn="l">
              <a:spcBef>
                <a:spcPts val="0"/>
              </a:spcBef>
              <a:spcAft>
                <a:spcPts val="0"/>
              </a:spcAft>
              <a:buNone/>
            </a:pPr>
            <a:r>
              <a:rPr lang="en-GB">
                <a:solidFill>
                  <a:srgbClr val="666666"/>
                </a:solidFill>
              </a:rPr>
              <a:t>r</a:t>
            </a:r>
            <a:r>
              <a:rPr baseline="-25000" lang="en-GB">
                <a:solidFill>
                  <a:srgbClr val="666666"/>
                </a:solidFill>
              </a:rPr>
              <a:t>Elephant</a:t>
            </a:r>
            <a:r>
              <a:rPr lang="en-GB">
                <a:solidFill>
                  <a:srgbClr val="666666"/>
                </a:solidFill>
              </a:rPr>
              <a:t> 。u 。r</a:t>
            </a:r>
            <a:r>
              <a:rPr baseline="-25000" lang="en-GB">
                <a:solidFill>
                  <a:srgbClr val="666666"/>
                </a:solidFill>
              </a:rPr>
              <a:t>Mouse</a:t>
            </a:r>
            <a:r>
              <a:rPr lang="en-GB">
                <a:solidFill>
                  <a:srgbClr val="666666"/>
                </a:solidFill>
              </a:rPr>
              <a:t> ⊑ biggerThan</a:t>
            </a:r>
            <a:endParaRPr>
              <a:solidFill>
                <a:srgbClr val="666666"/>
              </a:solidFill>
            </a:endParaRPr>
          </a:p>
          <a:p>
            <a:pPr indent="0" lvl="0" marL="0" rtl="0" algn="l">
              <a:spcBef>
                <a:spcPts val="0"/>
              </a:spcBef>
              <a:spcAft>
                <a:spcPts val="0"/>
              </a:spcAft>
              <a:buNone/>
            </a:pPr>
            <a:r>
              <a:t/>
            </a:r>
            <a:endParaRPr>
              <a:solidFill>
                <a:srgbClr val="666666"/>
              </a:solidFill>
            </a:endParaRPr>
          </a:p>
          <a:p>
            <a:pPr indent="0" lvl="0" marL="0" rtl="0" algn="l">
              <a:spcBef>
                <a:spcPts val="0"/>
              </a:spcBef>
              <a:spcAft>
                <a:spcPts val="0"/>
              </a:spcAft>
              <a:buNone/>
            </a:pPr>
            <a:r>
              <a:rPr lang="en-GB">
                <a:solidFill>
                  <a:srgbClr val="666666"/>
                </a:solidFill>
              </a:rPr>
              <a:t>A(x) Λ r(x, y) → s(x, y) Trở thành r</a:t>
            </a:r>
            <a:r>
              <a:rPr baseline="-25000" lang="en-GB">
                <a:solidFill>
                  <a:srgbClr val="666666"/>
                </a:solidFill>
              </a:rPr>
              <a:t>A</a:t>
            </a:r>
            <a:r>
              <a:rPr lang="en-GB">
                <a:solidFill>
                  <a:srgbClr val="666666"/>
                </a:solidFill>
              </a:rPr>
              <a:t> 。r  ⊑ s</a:t>
            </a:r>
            <a:endParaRPr>
              <a:solidFill>
                <a:srgbClr val="666666"/>
              </a:solidFill>
            </a:endParaRPr>
          </a:p>
          <a:p>
            <a:pPr indent="0" lvl="0" marL="0" rtl="0" algn="l">
              <a:spcBef>
                <a:spcPts val="0"/>
              </a:spcBef>
              <a:spcAft>
                <a:spcPts val="0"/>
              </a:spcAft>
              <a:buNone/>
            </a:pPr>
            <a:r>
              <a:rPr lang="en-GB">
                <a:solidFill>
                  <a:srgbClr val="666666"/>
                </a:solidFill>
              </a:rPr>
              <a:t>A(y) Λ r(x, y) → s(x, y) Trở thành r 。r</a:t>
            </a:r>
            <a:r>
              <a:rPr baseline="-25000" lang="en-GB">
                <a:solidFill>
                  <a:srgbClr val="666666"/>
                </a:solidFill>
              </a:rPr>
              <a:t>A</a:t>
            </a:r>
            <a:r>
              <a:rPr lang="en-GB">
                <a:solidFill>
                  <a:srgbClr val="666666"/>
                </a:solidFill>
              </a:rPr>
              <a:t>  ⊑ s</a:t>
            </a:r>
            <a:endParaRPr>
              <a:solidFill>
                <a:srgbClr val="666666"/>
              </a:solidFill>
            </a:endParaRPr>
          </a:p>
          <a:p>
            <a:pPr indent="0" lvl="0" marL="0" rtl="0" algn="l">
              <a:spcBef>
                <a:spcPts val="0"/>
              </a:spcBef>
              <a:spcAft>
                <a:spcPts val="0"/>
              </a:spcAft>
              <a:buNone/>
            </a:pPr>
            <a:r>
              <a:rPr lang="en-GB">
                <a:solidFill>
                  <a:srgbClr val="666666"/>
                </a:solidFill>
              </a:rPr>
              <a:t>A(x) Λ B(y) Λ r(x, y) →s(x, y) Trở thành r</a:t>
            </a:r>
            <a:r>
              <a:rPr baseline="-25000" lang="en-GB">
                <a:solidFill>
                  <a:srgbClr val="666666"/>
                </a:solidFill>
              </a:rPr>
              <a:t>A</a:t>
            </a:r>
            <a:r>
              <a:rPr lang="en-GB">
                <a:solidFill>
                  <a:srgbClr val="666666"/>
                </a:solidFill>
              </a:rPr>
              <a:t>  。r 。r</a:t>
            </a:r>
            <a:r>
              <a:rPr baseline="-25000" lang="en-GB">
                <a:solidFill>
                  <a:srgbClr val="666666"/>
                </a:solidFill>
              </a:rPr>
              <a:t>B</a:t>
            </a:r>
            <a:r>
              <a:rPr lang="en-GB">
                <a:solidFill>
                  <a:srgbClr val="666666"/>
                </a:solidFill>
              </a:rPr>
              <a:t> ⊑ s</a:t>
            </a:r>
            <a:endParaRPr>
              <a:solidFill>
                <a:srgbClr val="666666"/>
              </a:solidFill>
            </a:endParaRPr>
          </a:p>
          <a:p>
            <a:pPr indent="0" lvl="0" marL="0" rtl="0" algn="l">
              <a:spcBef>
                <a:spcPts val="0"/>
              </a:spcBef>
              <a:spcAft>
                <a:spcPts val="0"/>
              </a:spcAft>
              <a:buNone/>
            </a:pPr>
            <a:r>
              <a:t/>
            </a:r>
            <a:endParaRPr>
              <a:solidFill>
                <a:srgbClr val="666666"/>
              </a:solidFill>
            </a:endParaRPr>
          </a:p>
          <a:p>
            <a:pPr indent="0" lvl="0" marL="0" rtl="0" algn="l">
              <a:spcBef>
                <a:spcPts val="0"/>
              </a:spcBef>
              <a:spcAft>
                <a:spcPts val="0"/>
              </a:spcAft>
              <a:buNone/>
            </a:pPr>
            <a:r>
              <a:rPr lang="en-GB">
                <a:solidFill>
                  <a:srgbClr val="666666"/>
                </a:solidFill>
              </a:rPr>
              <a:t>Woman(x) Λ marriedTo(x, y) Λ Man(y) →hasHusband(x, y)</a:t>
            </a:r>
            <a:endParaRPr>
              <a:solidFill>
                <a:srgbClr val="666666"/>
              </a:solidFill>
            </a:endParaRPr>
          </a:p>
          <a:p>
            <a:pPr indent="0" lvl="0" marL="0" rtl="0" algn="l">
              <a:spcBef>
                <a:spcPts val="0"/>
              </a:spcBef>
              <a:spcAft>
                <a:spcPts val="0"/>
              </a:spcAft>
              <a:buClr>
                <a:schemeClr val="dk1"/>
              </a:buClr>
              <a:buSzPts val="1100"/>
              <a:buFont typeface="Arial"/>
              <a:buNone/>
            </a:pPr>
            <a:r>
              <a:rPr lang="en-GB">
                <a:solidFill>
                  <a:srgbClr val="666666"/>
                </a:solidFill>
              </a:rPr>
              <a:t>r</a:t>
            </a:r>
            <a:r>
              <a:rPr baseline="-25000" lang="en-GB">
                <a:solidFill>
                  <a:srgbClr val="666666"/>
                </a:solidFill>
              </a:rPr>
              <a:t>Woman</a:t>
            </a:r>
            <a:r>
              <a:rPr lang="en-GB">
                <a:solidFill>
                  <a:srgbClr val="666666"/>
                </a:solidFill>
              </a:rPr>
              <a:t> 。marriedTo 。r</a:t>
            </a:r>
            <a:r>
              <a:rPr baseline="-25000" lang="en-GB">
                <a:solidFill>
                  <a:srgbClr val="666666"/>
                </a:solidFill>
              </a:rPr>
              <a:t>Man</a:t>
            </a:r>
            <a:r>
              <a:rPr lang="en-GB">
                <a:solidFill>
                  <a:srgbClr val="666666"/>
                </a:solidFill>
              </a:rPr>
              <a:t> ⊑ hasHusband</a:t>
            </a:r>
            <a:endParaRPr>
              <a:solidFill>
                <a:srgbClr val="666666"/>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giới hạn</a:t>
            </a:r>
            <a:endParaRPr/>
          </a:p>
        </p:txBody>
      </p:sp>
      <p:sp>
        <p:nvSpPr>
          <p:cNvPr id="405" name="Google Shape;405;p62"/>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hỗ trợ suy diễn theo luật có thể không tương thích với các lớp OWL</a:t>
            </a:r>
            <a:endParaRPr/>
          </a:p>
          <a:p>
            <a:pPr indent="-368300" lvl="1" marL="914400" rtl="0" algn="l">
              <a:spcBef>
                <a:spcPts val="0"/>
              </a:spcBef>
              <a:spcAft>
                <a:spcPts val="0"/>
              </a:spcAft>
              <a:buSzPts val="2200"/>
              <a:buChar char="○"/>
            </a:pPr>
            <a:r>
              <a:rPr lang="en-GB"/>
              <a:t>Các khẳng định mới được phát hiện bởi luật có thể vi phạm các giới hạn đang có trong ontology</a:t>
            </a:r>
            <a:endParaRPr/>
          </a:p>
          <a:p>
            <a:pPr indent="-368300" lvl="1" marL="914400" rtl="0" algn="l">
              <a:spcBef>
                <a:spcPts val="0"/>
              </a:spcBef>
              <a:spcAft>
                <a:spcPts val="0"/>
              </a:spcAft>
              <a:buSzPts val="2200"/>
              <a:buChar char="○"/>
            </a:pPr>
            <a:r>
              <a:rPr lang="en-GB"/>
              <a:t>Các tri thức mới được suy ra từ phân </a:t>
            </a:r>
            <a:r>
              <a:rPr lang="en-GB"/>
              <a:t>lớp</a:t>
            </a:r>
            <a:r>
              <a:rPr lang="en-GB"/>
              <a:t> có thể cung cấp tri thức hữu ích cho các luật.</a:t>
            </a:r>
            <a:endParaRPr/>
          </a:p>
        </p:txBody>
      </p:sp>
      <p:sp>
        <p:nvSpPr>
          <p:cNvPr id="406" name="Google Shape;406;p62"/>
          <p:cNvSpPr/>
          <p:nvPr/>
        </p:nvSpPr>
        <p:spPr>
          <a:xfrm>
            <a:off x="3585725" y="3398800"/>
            <a:ext cx="2358000" cy="11790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Tri thức được suy ra</a:t>
            </a:r>
            <a:endParaRPr sz="2400"/>
          </a:p>
        </p:txBody>
      </p:sp>
      <p:sp>
        <p:nvSpPr>
          <p:cNvPr id="407" name="Google Shape;407;p62"/>
          <p:cNvSpPr/>
          <p:nvPr/>
        </p:nvSpPr>
        <p:spPr>
          <a:xfrm>
            <a:off x="3585725" y="5075200"/>
            <a:ext cx="2358000" cy="11790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Tri thức được suy ra</a:t>
            </a:r>
            <a:endParaRPr sz="2400"/>
          </a:p>
        </p:txBody>
      </p:sp>
      <p:sp>
        <p:nvSpPr>
          <p:cNvPr id="408" name="Google Shape;408;p62"/>
          <p:cNvSpPr/>
          <p:nvPr/>
        </p:nvSpPr>
        <p:spPr>
          <a:xfrm>
            <a:off x="766325" y="4237000"/>
            <a:ext cx="2358000" cy="11790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Phân loại Ontology</a:t>
            </a:r>
            <a:endParaRPr sz="2400"/>
          </a:p>
        </p:txBody>
      </p:sp>
      <p:sp>
        <p:nvSpPr>
          <p:cNvPr id="409" name="Google Shape;409;p62"/>
          <p:cNvSpPr/>
          <p:nvPr/>
        </p:nvSpPr>
        <p:spPr>
          <a:xfrm>
            <a:off x="6481325" y="4237000"/>
            <a:ext cx="2358000" cy="11790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Suy diễn luật</a:t>
            </a:r>
            <a:endParaRPr sz="2400"/>
          </a:p>
        </p:txBody>
      </p:sp>
      <p:cxnSp>
        <p:nvCxnSpPr>
          <p:cNvPr id="410" name="Google Shape;410;p62"/>
          <p:cNvCxnSpPr>
            <a:stCxn id="408" idx="7"/>
            <a:endCxn id="406" idx="2"/>
          </p:cNvCxnSpPr>
          <p:nvPr/>
        </p:nvCxnSpPr>
        <p:spPr>
          <a:xfrm flipH="1" rot="10800000">
            <a:off x="2779004" y="3988161"/>
            <a:ext cx="806700" cy="421500"/>
          </a:xfrm>
          <a:prstGeom prst="straightConnector1">
            <a:avLst/>
          </a:prstGeom>
          <a:noFill/>
          <a:ln cap="flat" cmpd="sng" w="9525">
            <a:solidFill>
              <a:schemeClr val="dk2"/>
            </a:solidFill>
            <a:prstDash val="solid"/>
            <a:round/>
            <a:headEnd len="med" w="med" type="none"/>
            <a:tailEnd len="med" w="med" type="triangle"/>
          </a:ln>
        </p:spPr>
      </p:cxnSp>
      <p:cxnSp>
        <p:nvCxnSpPr>
          <p:cNvPr id="411" name="Google Shape;411;p62"/>
          <p:cNvCxnSpPr>
            <a:stCxn id="409" idx="1"/>
            <a:endCxn id="406" idx="6"/>
          </p:cNvCxnSpPr>
          <p:nvPr/>
        </p:nvCxnSpPr>
        <p:spPr>
          <a:xfrm rot="10800000">
            <a:off x="5943746" y="3988161"/>
            <a:ext cx="882900" cy="421500"/>
          </a:xfrm>
          <a:prstGeom prst="straightConnector1">
            <a:avLst/>
          </a:prstGeom>
          <a:noFill/>
          <a:ln cap="flat" cmpd="sng" w="9525">
            <a:solidFill>
              <a:schemeClr val="dk2"/>
            </a:solidFill>
            <a:prstDash val="solid"/>
            <a:round/>
            <a:headEnd len="med" w="med" type="none"/>
            <a:tailEnd len="med" w="med" type="triangle"/>
          </a:ln>
        </p:spPr>
      </p:cxnSp>
      <p:cxnSp>
        <p:nvCxnSpPr>
          <p:cNvPr id="412" name="Google Shape;412;p62"/>
          <p:cNvCxnSpPr>
            <a:stCxn id="409" idx="3"/>
            <a:endCxn id="407" idx="6"/>
          </p:cNvCxnSpPr>
          <p:nvPr/>
        </p:nvCxnSpPr>
        <p:spPr>
          <a:xfrm flipH="1">
            <a:off x="5943746" y="5243339"/>
            <a:ext cx="882900" cy="421500"/>
          </a:xfrm>
          <a:prstGeom prst="straightConnector1">
            <a:avLst/>
          </a:prstGeom>
          <a:noFill/>
          <a:ln cap="flat" cmpd="sng" w="9525">
            <a:solidFill>
              <a:schemeClr val="dk2"/>
            </a:solidFill>
            <a:prstDash val="solid"/>
            <a:round/>
            <a:headEnd len="med" w="med" type="none"/>
            <a:tailEnd len="med" w="med" type="triangle"/>
          </a:ln>
        </p:spPr>
      </p:cxnSp>
      <p:cxnSp>
        <p:nvCxnSpPr>
          <p:cNvPr id="413" name="Google Shape;413;p62"/>
          <p:cNvCxnSpPr>
            <a:stCxn id="407" idx="2"/>
            <a:endCxn id="408" idx="5"/>
          </p:cNvCxnSpPr>
          <p:nvPr/>
        </p:nvCxnSpPr>
        <p:spPr>
          <a:xfrm rot="10800000">
            <a:off x="2779025" y="5243200"/>
            <a:ext cx="806700" cy="421500"/>
          </a:xfrm>
          <a:prstGeom prst="straightConnector1">
            <a:avLst/>
          </a:prstGeom>
          <a:noFill/>
          <a:ln cap="flat" cmpd="sng" w="9525">
            <a:solidFill>
              <a:schemeClr val="dk2"/>
            </a:solidFill>
            <a:prstDash val="solid"/>
            <a:round/>
            <a:headEnd len="med" w="med" type="none"/>
            <a:tailEnd len="med" w="med" type="triangle"/>
          </a:ln>
        </p:spPr>
      </p:cxnSp>
      <p:sp>
        <p:nvSpPr>
          <p:cNvPr id="414" name="Google Shape;414;p62"/>
          <p:cNvSpPr/>
          <p:nvPr/>
        </p:nvSpPr>
        <p:spPr>
          <a:xfrm>
            <a:off x="2472900" y="3574200"/>
            <a:ext cx="651300" cy="5463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1</a:t>
            </a:r>
            <a:endParaRPr sz="2400"/>
          </a:p>
        </p:txBody>
      </p:sp>
      <p:sp>
        <p:nvSpPr>
          <p:cNvPr id="415" name="Google Shape;415;p62"/>
          <p:cNvSpPr/>
          <p:nvPr/>
        </p:nvSpPr>
        <p:spPr>
          <a:xfrm>
            <a:off x="6282900" y="3574200"/>
            <a:ext cx="651300" cy="5463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2</a:t>
            </a:r>
            <a:endParaRPr sz="2400"/>
          </a:p>
        </p:txBody>
      </p:sp>
      <p:sp>
        <p:nvSpPr>
          <p:cNvPr id="416" name="Google Shape;416;p62"/>
          <p:cNvSpPr/>
          <p:nvPr/>
        </p:nvSpPr>
        <p:spPr>
          <a:xfrm>
            <a:off x="6282900" y="5479200"/>
            <a:ext cx="651300" cy="5463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3</a:t>
            </a:r>
            <a:endParaRPr sz="2400"/>
          </a:p>
        </p:txBody>
      </p:sp>
      <p:sp>
        <p:nvSpPr>
          <p:cNvPr id="417" name="Google Shape;417;p62"/>
          <p:cNvSpPr/>
          <p:nvPr/>
        </p:nvSpPr>
        <p:spPr>
          <a:xfrm>
            <a:off x="2472900" y="5479200"/>
            <a:ext cx="651300" cy="5463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4</a:t>
            </a:r>
            <a:endParaRPr sz="2400"/>
          </a:p>
        </p:txBody>
      </p:sp>
      <p:sp>
        <p:nvSpPr>
          <p:cNvPr id="418" name="Google Shape;418;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giới hạn</a:t>
            </a:r>
            <a:r>
              <a:rPr baseline="-25000" lang="en-GB"/>
              <a:t>(2)</a:t>
            </a:r>
            <a:endParaRPr baseline="-25000"/>
          </a:p>
        </p:txBody>
      </p:sp>
      <p:sp>
        <p:nvSpPr>
          <p:cNvPr id="424" name="Google Shape;424;p63"/>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Các giải pháp hiện có: Giải quyết các xung đột có thể xảy ra theo cách thủ công</a:t>
            </a:r>
            <a:endParaRPr/>
          </a:p>
          <a:p>
            <a:pPr indent="-381000" lvl="0" marL="457200" rtl="0" algn="l">
              <a:spcBef>
                <a:spcPts val="0"/>
              </a:spcBef>
              <a:spcAft>
                <a:spcPts val="0"/>
              </a:spcAft>
              <a:buSzPts val="2400"/>
              <a:buChar char="●"/>
            </a:pPr>
            <a:r>
              <a:rPr lang="en-GB"/>
              <a:t>Giải pháp lý tưởng: Một mô-đun đồng thời cho cả phân lớp ontology và suy diễn luật</a:t>
            </a:r>
            <a:endParaRPr/>
          </a:p>
          <a:p>
            <a:pPr indent="-381000" lvl="0" marL="457200" rtl="0" algn="l">
              <a:spcBef>
                <a:spcPts val="0"/>
              </a:spcBef>
              <a:spcAft>
                <a:spcPts val="0"/>
              </a:spcAft>
              <a:buSzPts val="2400"/>
              <a:buChar char="●"/>
            </a:pPr>
            <a:r>
              <a:rPr lang="en-GB"/>
              <a:t>Sẽ thế nào nếu chúng ta muốn kết hợp các tính năng không đơn điệu với lô-gic cổ điển?</a:t>
            </a:r>
            <a:endParaRPr/>
          </a:p>
          <a:p>
            <a:pPr indent="-381000" lvl="0" marL="457200" rtl="0" algn="l">
              <a:spcBef>
                <a:spcPts val="0"/>
              </a:spcBef>
              <a:spcAft>
                <a:spcPts val="0"/>
              </a:spcAft>
              <a:buSzPts val="2400"/>
              <a:buChar char="●"/>
            </a:pPr>
            <a:r>
              <a:rPr lang="en-GB"/>
              <a:t>Giải pháp bộ phận:</a:t>
            </a:r>
            <a:endParaRPr/>
          </a:p>
          <a:p>
            <a:pPr indent="-368300" lvl="1" marL="914400" rtl="0" algn="l">
              <a:spcBef>
                <a:spcPts val="0"/>
              </a:spcBef>
              <a:spcAft>
                <a:spcPts val="0"/>
              </a:spcAft>
              <a:buSzPts val="2200"/>
              <a:buChar char="○"/>
            </a:pPr>
            <a:r>
              <a:rPr lang="en-GB"/>
              <a:t>C</a:t>
            </a:r>
            <a:r>
              <a:rPr lang="en-GB"/>
              <a:t>ác mô-đun luật phù hợp.</a:t>
            </a:r>
            <a:endParaRPr/>
          </a:p>
          <a:p>
            <a:pPr indent="-368300" lvl="1" marL="914400" rtl="0" algn="l">
              <a:spcBef>
                <a:spcPts val="0"/>
              </a:spcBef>
              <a:spcAft>
                <a:spcPts val="0"/>
              </a:spcAft>
              <a:buSzPts val="2200"/>
              <a:buChar char="○"/>
            </a:pPr>
            <a:r>
              <a:rPr lang="en-GB"/>
              <a:t>Lập trình tập câu trả lời</a:t>
            </a:r>
            <a:endParaRPr/>
          </a:p>
          <a:p>
            <a:pPr indent="-368300" lvl="1" marL="914400" rtl="0" algn="l">
              <a:spcBef>
                <a:spcPts val="0"/>
              </a:spcBef>
              <a:spcAft>
                <a:spcPts val="0"/>
              </a:spcAft>
              <a:buSzPts val="2200"/>
              <a:buChar char="○"/>
            </a:pPr>
            <a:r>
              <a:rPr lang="en-GB"/>
              <a:t>v.v..</a:t>
            </a:r>
            <a:endParaRPr/>
          </a:p>
        </p:txBody>
      </p:sp>
      <p:sp>
        <p:nvSpPr>
          <p:cNvPr id="425" name="Google Shape;425;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431" name="Google Shape;431;p64"/>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7.1. Khái niệm luật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7.2. Datalog như ngôn ngữ luật bậc nhất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7.3. Kết hợp luật với OWL DL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7.4. Định dạng trao đổi luật RIF</a:t>
            </a:r>
            <a:endParaRPr>
              <a:solidFill>
                <a:schemeClr val="dk1"/>
              </a:solidFill>
              <a:latin typeface="Times New Roman"/>
              <a:ea typeface="Times New Roman"/>
              <a:cs typeface="Times New Roman"/>
              <a:sym typeface="Times New Roman"/>
            </a:endParaRPr>
          </a:p>
        </p:txBody>
      </p:sp>
      <p:sp>
        <p:nvSpPr>
          <p:cNvPr id="432" name="Google Shape;432;p64"/>
          <p:cNvSpPr/>
          <p:nvPr/>
        </p:nvSpPr>
        <p:spPr>
          <a:xfrm>
            <a:off x="318450" y="2079400"/>
            <a:ext cx="55956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Nh</a:t>
            </a:r>
            <a:r>
              <a:rPr lang="en-GB"/>
              <a:t>iều ngôn ngữ luật khác nhau</a:t>
            </a:r>
            <a:endParaRPr/>
          </a:p>
        </p:txBody>
      </p:sp>
      <p:sp>
        <p:nvSpPr>
          <p:cNvPr id="439" name="Google Shape;439;p65"/>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a:t>
            </a:r>
            <a:r>
              <a:rPr lang="en-GB"/>
              <a:t>ó nhiều hệ luật: Lô-gic, Lập trình lô-gic, luật sinh, thủ tục, v.v…</a:t>
            </a:r>
            <a:endParaRPr/>
          </a:p>
          <a:p>
            <a:pPr indent="-368300" lvl="1" marL="914400" rtl="0" algn="l">
              <a:spcBef>
                <a:spcPts val="0"/>
              </a:spcBef>
              <a:spcAft>
                <a:spcPts val="0"/>
              </a:spcAft>
              <a:buSzPts val="2200"/>
              <a:buChar char="○"/>
            </a:pPr>
            <a:r>
              <a:rPr lang="en-GB"/>
              <a:t>Các phiên bản trong 1 hệ có thể khác biệt về cú pháp, ngữ nghĩa hoặc các khía cạnh khác</a:t>
            </a:r>
            <a:endParaRPr/>
          </a:p>
          <a:p>
            <a:pPr indent="-381000" lvl="0" marL="457200" rtl="0" algn="l">
              <a:spcBef>
                <a:spcPts val="0"/>
              </a:spcBef>
              <a:spcAft>
                <a:spcPts val="0"/>
              </a:spcAft>
              <a:buSzPts val="2400"/>
              <a:buChar char="●"/>
            </a:pPr>
            <a:r>
              <a:rPr lang="en-GB"/>
              <a:t>Jess là ngôn ngữ luật sinh</a:t>
            </a:r>
            <a:endParaRPr/>
          </a:p>
          <a:p>
            <a:pPr indent="-368300" lvl="1" marL="914400" rtl="0" algn="l">
              <a:spcBef>
                <a:spcPts val="0"/>
              </a:spcBef>
              <a:spcAft>
                <a:spcPts val="0"/>
              </a:spcAft>
              <a:buSzPts val="2200"/>
              <a:buChar char="○"/>
            </a:pPr>
            <a:r>
              <a:rPr lang="en-GB"/>
              <a:t>(defrule r42 (parent ?a ?b) (male ?a) =&gt; (assert(father ?a ?b)))</a:t>
            </a:r>
            <a:endParaRPr/>
          </a:p>
          <a:p>
            <a:pPr indent="-381000" lvl="0" marL="457200" rtl="0" algn="l">
              <a:spcBef>
                <a:spcPts val="0"/>
              </a:spcBef>
              <a:spcAft>
                <a:spcPts val="0"/>
              </a:spcAft>
              <a:buSzPts val="2400"/>
              <a:buChar char="●"/>
            </a:pPr>
            <a:r>
              <a:rPr lang="en-GB"/>
              <a:t>Prolog - ngôn ngữ lập trình lô-gic</a:t>
            </a:r>
            <a:endParaRPr/>
          </a:p>
          <a:p>
            <a:pPr indent="-368300" lvl="1" marL="914400" rtl="0" algn="l">
              <a:spcBef>
                <a:spcPts val="0"/>
              </a:spcBef>
              <a:spcAft>
                <a:spcPts val="0"/>
              </a:spcAft>
              <a:buSzPts val="2200"/>
              <a:buChar char="○"/>
            </a:pPr>
            <a:r>
              <a:rPr lang="en-GB"/>
              <a:t>father(A, B) :- parent(A, B), Male(A) .</a:t>
            </a:r>
            <a:endParaRPr/>
          </a:p>
          <a:p>
            <a:pPr indent="-381000" lvl="0" marL="457200" rtl="0" algn="l">
              <a:spcBef>
                <a:spcPts val="0"/>
              </a:spcBef>
              <a:spcAft>
                <a:spcPts val="0"/>
              </a:spcAft>
              <a:buSzPts val="2400"/>
              <a:buChar char="●"/>
            </a:pPr>
            <a:r>
              <a:rPr lang="en-GB"/>
              <a:t>Định dạng lô-gic phổ thông / Common Logic</a:t>
            </a:r>
            <a:endParaRPr/>
          </a:p>
          <a:p>
            <a:pPr indent="-368300" lvl="1" marL="914400" rtl="0" algn="l">
              <a:spcBef>
                <a:spcPts val="0"/>
              </a:spcBef>
              <a:spcAft>
                <a:spcPts val="0"/>
              </a:spcAft>
              <a:buSzPts val="2200"/>
              <a:buChar char="○"/>
            </a:pPr>
            <a:r>
              <a:rPr lang="en-GB"/>
              <a:t>(=&gt; (and (parent ?a ?b)(male ?a)) (father ?a ?b))</a:t>
            </a:r>
            <a:endParaRPr/>
          </a:p>
        </p:txBody>
      </p:sp>
      <p:sp>
        <p:nvSpPr>
          <p:cNvPr id="440" name="Google Shape;440;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Định dạng trao đổi luật</a:t>
            </a:r>
            <a:endParaRPr/>
          </a:p>
        </p:txBody>
      </p:sp>
      <p:sp>
        <p:nvSpPr>
          <p:cNvPr id="446" name="Google Shape;446;p66"/>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Th</a:t>
            </a:r>
            <a:r>
              <a:rPr lang="en-GB"/>
              <a:t>ay vì tạo N</a:t>
            </a:r>
            <a:r>
              <a:rPr baseline="30000" lang="en-GB"/>
              <a:t>2</a:t>
            </a:r>
            <a:r>
              <a:rPr lang="en-GB"/>
              <a:t> công cụ chuyển đổi cho N ngôn ngữ, vì sao không phát triển 1 ngôn ngữ chung để trao đổi luật?</a:t>
            </a:r>
            <a:endParaRPr/>
          </a:p>
          <a:p>
            <a:pPr indent="-368300" lvl="1" marL="914400" rtl="0" algn="l">
              <a:spcBef>
                <a:spcPts val="0"/>
              </a:spcBef>
              <a:spcAft>
                <a:spcPts val="0"/>
              </a:spcAft>
              <a:buSzPts val="2200"/>
              <a:buChar char="○"/>
            </a:pPr>
            <a:r>
              <a:rPr lang="en-GB"/>
              <a:t>và phát triển các cơ chế ánh xạ tới các ngôn ngữ luật chuyên dụng</a:t>
            </a:r>
            <a:endParaRPr/>
          </a:p>
          <a:p>
            <a:pPr indent="-381000" lvl="0" marL="457200" rtl="0" algn="l">
              <a:spcBef>
                <a:spcPts val="0"/>
              </a:spcBef>
              <a:spcAft>
                <a:spcPts val="0"/>
              </a:spcAft>
              <a:buSzPts val="2400"/>
              <a:buChar char="●"/>
            </a:pPr>
            <a:r>
              <a:rPr lang="en-GB"/>
              <a:t>Các định dạng trao đổi luật tiêu biểu hiện nay:</a:t>
            </a:r>
            <a:endParaRPr/>
          </a:p>
          <a:p>
            <a:pPr indent="-368300" lvl="1" marL="914400" rtl="0" algn="l">
              <a:spcBef>
                <a:spcPts val="0"/>
              </a:spcBef>
              <a:spcAft>
                <a:spcPts val="0"/>
              </a:spcAft>
              <a:buSzPts val="2200"/>
              <a:buChar char="○"/>
            </a:pPr>
            <a:r>
              <a:rPr lang="en-GB"/>
              <a:t>RuleML: Ngôn ngữ đánh dấu luật, một cách tiếp cận XML để biểu diễn luật</a:t>
            </a:r>
            <a:endParaRPr/>
          </a:p>
          <a:p>
            <a:pPr indent="-368300" lvl="1" marL="914400" rtl="0" algn="l">
              <a:spcBef>
                <a:spcPts val="0"/>
              </a:spcBef>
              <a:spcAft>
                <a:spcPts val="0"/>
              </a:spcAft>
              <a:buSzPts val="2200"/>
              <a:buChar char="○"/>
            </a:pPr>
            <a:r>
              <a:rPr lang="en-GB"/>
              <a:t>RIF: Định dạng trao đổi luật, một quy chuẩn W3C để trao đổi luật.</a:t>
            </a:r>
            <a:endParaRPr i="1"/>
          </a:p>
        </p:txBody>
      </p:sp>
      <p:sp>
        <p:nvSpPr>
          <p:cNvPr id="447" name="Google Shape;447;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a:t>
            </a:r>
            <a:r>
              <a:rPr lang="en-GB"/>
              <a:t>uleML</a:t>
            </a:r>
            <a:endParaRPr/>
          </a:p>
        </p:txBody>
      </p:sp>
      <p:sp>
        <p:nvSpPr>
          <p:cNvPr id="453" name="Google Shape;453;p67"/>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a:t>
            </a:r>
            <a:r>
              <a:rPr lang="en-GB"/>
              <a:t>ục tiêu của RuleML: Biểu diễn đồng thời cả các luật tiến (từ dưới lên) và lui (từ trên xuống) bằng XML</a:t>
            </a:r>
            <a:endParaRPr/>
          </a:p>
          <a:p>
            <a:pPr indent="-381000" lvl="0" marL="457200" rtl="0" algn="l">
              <a:spcBef>
                <a:spcPts val="0"/>
              </a:spcBef>
              <a:spcAft>
                <a:spcPts val="0"/>
              </a:spcAft>
              <a:buSzPts val="2400"/>
              <a:buChar char="●"/>
            </a:pPr>
            <a:r>
              <a:rPr lang="en-GB"/>
              <a:t>Các nỗ lực bắt đầu từ 2001</a:t>
            </a:r>
            <a:endParaRPr/>
          </a:p>
          <a:p>
            <a:pPr indent="-381000" lvl="0" marL="457200" rtl="0" algn="l">
              <a:spcBef>
                <a:spcPts val="0"/>
              </a:spcBef>
              <a:spcAft>
                <a:spcPts val="0"/>
              </a:spcAft>
              <a:buSzPts val="2400"/>
              <a:buChar char="●"/>
            </a:pPr>
            <a:r>
              <a:rPr lang="en-GB"/>
              <a:t>Có mạng lưới mở gồm những cá nhân và các tổ chức từ các môi trường doanh nghiệp và hàn lâm.</a:t>
            </a:r>
            <a:endParaRPr/>
          </a:p>
          <a:p>
            <a:pPr indent="0" lvl="0" marL="0" rtl="0" algn="r">
              <a:spcBef>
                <a:spcPts val="0"/>
              </a:spcBef>
              <a:spcAft>
                <a:spcPts val="0"/>
              </a:spcAft>
              <a:buNone/>
            </a:pPr>
            <a:r>
              <a:rPr lang="en-GB">
                <a:solidFill>
                  <a:srgbClr val="1155CC"/>
                </a:solidFill>
              </a:rPr>
              <a:t>[https://www.w3.org/2005/rules/wg/wiki/RuleML]</a:t>
            </a:r>
            <a:endParaRPr>
              <a:solidFill>
                <a:srgbClr val="1155CC"/>
              </a:solidFill>
            </a:endParaRPr>
          </a:p>
        </p:txBody>
      </p:sp>
      <p:sp>
        <p:nvSpPr>
          <p:cNvPr id="454" name="Google Shape;454;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a:t>
            </a:r>
            <a:r>
              <a:rPr lang="en-GB"/>
              <a:t>IF</a:t>
            </a:r>
            <a:endParaRPr/>
          </a:p>
        </p:txBody>
      </p:sp>
      <p:sp>
        <p:nvSpPr>
          <p:cNvPr id="460" name="Google Shape;460;p68"/>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Định dạng trao đổi luật của W3C</a:t>
            </a:r>
            <a:endParaRPr/>
          </a:p>
          <a:p>
            <a:pPr indent="-381000" lvl="0" marL="457200" rtl="0" algn="l">
              <a:spcBef>
                <a:spcPts val="0"/>
              </a:spcBef>
              <a:spcAft>
                <a:spcPts val="0"/>
              </a:spcAft>
              <a:buSzPts val="2400"/>
              <a:buChar char="●"/>
            </a:pPr>
            <a:r>
              <a:rPr lang="en-GB"/>
              <a:t>Ba phiên bản: Core, BLD, và PRD</a:t>
            </a:r>
            <a:endParaRPr/>
          </a:p>
          <a:p>
            <a:pPr indent="-368300" lvl="1" marL="914400" rtl="0" algn="l">
              <a:spcBef>
                <a:spcPts val="0"/>
              </a:spcBef>
              <a:spcAft>
                <a:spcPts val="0"/>
              </a:spcAft>
              <a:buSzPts val="2200"/>
              <a:buChar char="○"/>
            </a:pPr>
            <a:r>
              <a:rPr lang="en-GB"/>
              <a:t>Core: Tập con chung của hầu hết các mô-tơ luật, 1 ngôn ngữ datalog an toàn với nhiều dựng sẵn.</a:t>
            </a:r>
            <a:endParaRPr/>
          </a:p>
          <a:p>
            <a:pPr indent="-368300" lvl="1" marL="914400" rtl="0" algn="l">
              <a:spcBef>
                <a:spcPts val="0"/>
              </a:spcBef>
              <a:spcAft>
                <a:spcPts val="0"/>
              </a:spcAft>
              <a:buSzPts val="2200"/>
              <a:buChar char="○"/>
            </a:pPr>
            <a:r>
              <a:rPr lang="en-GB"/>
              <a:t>BLD - Basic Logic Dialect: Thêm vào các hàm lô-gic, tính tương đương và các tham số có tên</a:t>
            </a:r>
            <a:endParaRPr/>
          </a:p>
          <a:p>
            <a:pPr indent="-368300" lvl="1" marL="914400" rtl="0" algn="l">
              <a:spcBef>
                <a:spcPts val="0"/>
              </a:spcBef>
              <a:spcAft>
                <a:spcPts val="0"/>
              </a:spcAft>
              <a:buSzPts val="2200"/>
              <a:buChar char="○"/>
            </a:pPr>
            <a:r>
              <a:rPr lang="en-GB"/>
              <a:t>PRD - Production Rules Dialect: Thêm vào các hành động với hiệu ứng phụ trong kết luận luật</a:t>
            </a:r>
            <a:endParaRPr/>
          </a:p>
          <a:p>
            <a:pPr indent="-381000" lvl="0" marL="457200" rtl="0" algn="l">
              <a:spcBef>
                <a:spcPts val="0"/>
              </a:spcBef>
              <a:spcAft>
                <a:spcPts val="0"/>
              </a:spcAft>
              <a:buSzPts val="2400"/>
              <a:buChar char="●"/>
            </a:pPr>
            <a:r>
              <a:rPr lang="en-GB"/>
              <a:t>Có ánh xạ tới RDF</a:t>
            </a:r>
            <a:endParaRPr/>
          </a:p>
          <a:p>
            <a:pPr indent="0" lvl="0" marL="0" rtl="0" algn="l">
              <a:spcBef>
                <a:spcPts val="0"/>
              </a:spcBef>
              <a:spcAft>
                <a:spcPts val="0"/>
              </a:spcAft>
              <a:buNone/>
            </a:pPr>
            <a:r>
              <a:t/>
            </a:r>
            <a:endParaRPr/>
          </a:p>
          <a:p>
            <a:pPr indent="0" lvl="0" marL="0" rtl="0" algn="r">
              <a:spcBef>
                <a:spcPts val="0"/>
              </a:spcBef>
              <a:spcAft>
                <a:spcPts val="0"/>
              </a:spcAft>
              <a:buNone/>
            </a:pPr>
            <a:r>
              <a:rPr lang="en-GB"/>
              <a:t>[</a:t>
            </a:r>
            <a:r>
              <a:rPr lang="en-GB" u="sng">
                <a:solidFill>
                  <a:schemeClr val="hlink"/>
                </a:solidFill>
                <a:hlinkClick r:id="rId3"/>
              </a:rPr>
              <a:t>https://www.w3.org/TR/2013/NOTE-rif-primer-20130205/</a:t>
            </a:r>
            <a:r>
              <a:rPr lang="en-GB"/>
              <a:t>]</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sp>
        <p:nvSpPr>
          <p:cNvPr id="461" name="Google Shape;461;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7.5. Luật được biểu diễn bằng RIF</a:t>
            </a:r>
            <a:endParaRPr/>
          </a:p>
        </p:txBody>
      </p:sp>
      <p:sp>
        <p:nvSpPr>
          <p:cNvPr id="467" name="Google Shape;467;p69"/>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666666"/>
                </a:solidFill>
              </a:rPr>
              <a:t>Document(</a:t>
            </a:r>
            <a:endParaRPr>
              <a:solidFill>
                <a:srgbClr val="666666"/>
              </a:solidFill>
            </a:endParaRPr>
          </a:p>
          <a:p>
            <a:pPr indent="0" lvl="0" marL="0" rtl="0" algn="l">
              <a:spcBef>
                <a:spcPts val="0"/>
              </a:spcBef>
              <a:spcAft>
                <a:spcPts val="0"/>
              </a:spcAft>
              <a:buNone/>
            </a:pPr>
            <a:r>
              <a:rPr lang="en-GB">
                <a:solidFill>
                  <a:srgbClr val="666666"/>
                </a:solidFill>
              </a:rPr>
              <a:t>  Prefix(rdfs &lt;</a:t>
            </a:r>
            <a:r>
              <a:rPr lang="en-GB" u="sng">
                <a:solidFill>
                  <a:srgbClr val="666666"/>
                </a:solidFill>
                <a:hlinkClick r:id="rId3">
                  <a:extLst>
                    <a:ext uri="{A12FA001-AC4F-418D-AE19-62706E023703}">
                      <ahyp:hlinkClr val="tx"/>
                    </a:ext>
                  </a:extLst>
                </a:hlinkClick>
              </a:rPr>
              <a:t>http://www.w3.org/2000/01/rdf-schema#</a:t>
            </a:r>
            <a:r>
              <a:rPr lang="en-GB">
                <a:solidFill>
                  <a:srgbClr val="666666"/>
                </a:solidFill>
              </a:rPr>
              <a:t>&gt;)</a:t>
            </a:r>
            <a:endParaRPr>
              <a:solidFill>
                <a:srgbClr val="666666"/>
              </a:solidFill>
            </a:endParaRPr>
          </a:p>
          <a:p>
            <a:pPr indent="0" lvl="0" marL="0" rtl="0" algn="l">
              <a:spcBef>
                <a:spcPts val="0"/>
              </a:spcBef>
              <a:spcAft>
                <a:spcPts val="0"/>
              </a:spcAft>
              <a:buNone/>
            </a:pPr>
            <a:r>
              <a:rPr lang="en-GB">
                <a:solidFill>
                  <a:srgbClr val="666666"/>
                </a:solidFill>
              </a:rPr>
              <a:t>  Prefix(imdbrel &lt;http://example.com/imdbrelations#&gt;)</a:t>
            </a:r>
            <a:endParaRPr>
              <a:solidFill>
                <a:srgbClr val="666666"/>
              </a:solidFill>
            </a:endParaRPr>
          </a:p>
          <a:p>
            <a:pPr indent="0" lvl="0" marL="0" rtl="0" algn="l">
              <a:spcBef>
                <a:spcPts val="0"/>
              </a:spcBef>
              <a:spcAft>
                <a:spcPts val="0"/>
              </a:spcAft>
              <a:buNone/>
            </a:pPr>
            <a:r>
              <a:rPr lang="en-GB">
                <a:solidFill>
                  <a:srgbClr val="666666"/>
                </a:solidFill>
              </a:rPr>
              <a:t>  Prefix(dbpedia &lt;</a:t>
            </a:r>
            <a:r>
              <a:rPr lang="en-GB" u="sng">
                <a:solidFill>
                  <a:srgbClr val="666666"/>
                </a:solidFill>
                <a:hlinkClick r:id="rId4">
                  <a:extLst>
                    <a:ext uri="{A12FA001-AC4F-418D-AE19-62706E023703}">
                      <ahyp:hlinkClr val="tx"/>
                    </a:ext>
                  </a:extLst>
                </a:hlinkClick>
              </a:rPr>
              <a:t>http://dbpedia.org/ontology/</a:t>
            </a:r>
            <a:r>
              <a:rPr lang="en-GB">
                <a:solidFill>
                  <a:srgbClr val="666666"/>
                </a:solidFill>
              </a:rPr>
              <a:t>&gt;)</a:t>
            </a:r>
            <a:endParaRPr>
              <a:solidFill>
                <a:srgbClr val="666666"/>
              </a:solidFill>
            </a:endParaRPr>
          </a:p>
          <a:p>
            <a:pPr indent="0" lvl="0" marL="0" rtl="0" algn="l">
              <a:spcBef>
                <a:spcPts val="0"/>
              </a:spcBef>
              <a:spcAft>
                <a:spcPts val="0"/>
              </a:spcAft>
              <a:buNone/>
            </a:pPr>
            <a:r>
              <a:rPr lang="en-GB">
                <a:solidFill>
                  <a:srgbClr val="666666"/>
                </a:solidFill>
              </a:rPr>
              <a:t> </a:t>
            </a:r>
            <a:endParaRPr>
              <a:solidFill>
                <a:srgbClr val="666666"/>
              </a:solidFill>
            </a:endParaRPr>
          </a:p>
          <a:p>
            <a:pPr indent="0" lvl="0" marL="0" rtl="0" algn="l">
              <a:spcBef>
                <a:spcPts val="0"/>
              </a:spcBef>
              <a:spcAft>
                <a:spcPts val="0"/>
              </a:spcAft>
              <a:buNone/>
            </a:pPr>
            <a:r>
              <a:rPr lang="en-GB">
                <a:solidFill>
                  <a:srgbClr val="666666"/>
                </a:solidFill>
              </a:rPr>
              <a:t>  Group(</a:t>
            </a:r>
            <a:endParaRPr>
              <a:solidFill>
                <a:srgbClr val="666666"/>
              </a:solidFill>
            </a:endParaRPr>
          </a:p>
          <a:p>
            <a:pPr indent="0" lvl="0" marL="0" rtl="0" algn="l">
              <a:spcBef>
                <a:spcPts val="0"/>
              </a:spcBef>
              <a:spcAft>
                <a:spcPts val="0"/>
              </a:spcAft>
              <a:buNone/>
            </a:pPr>
            <a:r>
              <a:rPr lang="en-GB">
                <a:solidFill>
                  <a:srgbClr val="666666"/>
                </a:solidFill>
              </a:rPr>
              <a:t>    Forall ?Actor ?Film ?Role (</a:t>
            </a:r>
            <a:endParaRPr>
              <a:solidFill>
                <a:srgbClr val="666666"/>
              </a:solidFill>
            </a:endParaRPr>
          </a:p>
          <a:p>
            <a:pPr indent="0" lvl="0" marL="0" rtl="0" algn="l">
              <a:spcBef>
                <a:spcPts val="0"/>
              </a:spcBef>
              <a:spcAft>
                <a:spcPts val="0"/>
              </a:spcAft>
              <a:buNone/>
            </a:pPr>
            <a:r>
              <a:rPr lang="en-GB">
                <a:solidFill>
                  <a:srgbClr val="666666"/>
                </a:solidFill>
              </a:rPr>
              <a:t>      If   And(imdbrel:playsRole(?Actor ?Role) </a:t>
            </a:r>
            <a:endParaRPr>
              <a:solidFill>
                <a:srgbClr val="666666"/>
              </a:solidFill>
            </a:endParaRPr>
          </a:p>
          <a:p>
            <a:pPr indent="0" lvl="0" marL="0" rtl="0" algn="l">
              <a:spcBef>
                <a:spcPts val="0"/>
              </a:spcBef>
              <a:spcAft>
                <a:spcPts val="0"/>
              </a:spcAft>
              <a:buNone/>
            </a:pPr>
            <a:r>
              <a:rPr lang="en-GB">
                <a:solidFill>
                  <a:srgbClr val="666666"/>
                </a:solidFill>
              </a:rPr>
              <a:t>                   imdbrel:roleInFilm(?Role ?Film)) </a:t>
            </a:r>
            <a:endParaRPr>
              <a:solidFill>
                <a:srgbClr val="666666"/>
              </a:solidFill>
            </a:endParaRPr>
          </a:p>
          <a:p>
            <a:pPr indent="0" lvl="0" marL="0" rtl="0" algn="l">
              <a:spcBef>
                <a:spcPts val="0"/>
              </a:spcBef>
              <a:spcAft>
                <a:spcPts val="0"/>
              </a:spcAft>
              <a:buNone/>
            </a:pPr>
            <a:r>
              <a:rPr lang="en-GB">
                <a:solidFill>
                  <a:srgbClr val="666666"/>
                </a:solidFill>
              </a:rPr>
              <a:t>      Then dbpedia:starring(?Film ?Actor)</a:t>
            </a:r>
            <a:endParaRPr>
              <a:solidFill>
                <a:srgbClr val="666666"/>
              </a:solidFill>
            </a:endParaRPr>
          </a:p>
          <a:p>
            <a:pPr indent="0" lvl="0" marL="0" rtl="0" algn="l">
              <a:spcBef>
                <a:spcPts val="0"/>
              </a:spcBef>
              <a:spcAft>
                <a:spcPts val="0"/>
              </a:spcAft>
              <a:buNone/>
            </a:pPr>
            <a:r>
              <a:rPr lang="en-GB">
                <a:solidFill>
                  <a:srgbClr val="666666"/>
                </a:solidFill>
              </a:rPr>
              <a:t>    )</a:t>
            </a:r>
            <a:endParaRPr>
              <a:solidFill>
                <a:srgbClr val="666666"/>
              </a:solidFill>
            </a:endParaRPr>
          </a:p>
          <a:p>
            <a:pPr indent="0" lvl="0" marL="0" rtl="0" algn="l">
              <a:spcBef>
                <a:spcPts val="0"/>
              </a:spcBef>
              <a:spcAft>
                <a:spcPts val="0"/>
              </a:spcAft>
              <a:buNone/>
            </a:pPr>
            <a:r>
              <a:rPr lang="en-GB">
                <a:solidFill>
                  <a:srgbClr val="666666"/>
                </a:solidFill>
              </a:rPr>
              <a:t>  )</a:t>
            </a:r>
            <a:endParaRPr>
              <a:solidFill>
                <a:srgbClr val="666666"/>
              </a:solidFill>
            </a:endParaRPr>
          </a:p>
          <a:p>
            <a:pPr indent="0" lvl="0" marL="0" rtl="0" algn="l">
              <a:spcBef>
                <a:spcPts val="0"/>
              </a:spcBef>
              <a:spcAft>
                <a:spcPts val="0"/>
              </a:spcAft>
              <a:buNone/>
            </a:pPr>
            <a:r>
              <a:rPr lang="en-GB">
                <a:solidFill>
                  <a:srgbClr val="666666"/>
                </a:solidFill>
              </a:rPr>
              <a:t>)</a:t>
            </a:r>
            <a:endParaRPr>
              <a:solidFill>
                <a:srgbClr val="666666"/>
              </a:solidFill>
            </a:endParaRPr>
          </a:p>
        </p:txBody>
      </p:sp>
      <p:sp>
        <p:nvSpPr>
          <p:cNvPr id="468" name="Google Shape;468;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luật RDFS </a:t>
            </a:r>
            <a:r>
              <a:rPr lang="en-GB"/>
              <a:t>bằng RIF</a:t>
            </a:r>
            <a:endParaRPr/>
          </a:p>
        </p:txBody>
      </p:sp>
      <p:sp>
        <p:nvSpPr>
          <p:cNvPr id="474" name="Google Shape;474;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75" name="Google Shape;475;p70"/>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rdfs2:</a:t>
            </a:r>
            <a:r>
              <a:rPr lang="en-GB" sz="1800"/>
              <a:t> </a:t>
            </a:r>
            <a:r>
              <a:rPr i="1" lang="en-GB" sz="1800"/>
              <a:t>rdf:type(x, C)←rdfs:domain(p, C) ∧ p(x, y)</a:t>
            </a:r>
            <a:endParaRPr i="1" sz="1800"/>
          </a:p>
          <a:p>
            <a:pPr indent="0" lvl="0" marL="0" rtl="0" algn="l">
              <a:spcBef>
                <a:spcPts val="0"/>
              </a:spcBef>
              <a:spcAft>
                <a:spcPts val="0"/>
              </a:spcAft>
              <a:buNone/>
            </a:pPr>
            <a:r>
              <a:rPr lang="en-GB" sz="1800"/>
              <a:t>   Forall ?x ?y ?p ?C (?x[rdf:type-&gt;?C] :- And(?x[rdfs:domain-&gt;?C] ?x[?p-&gt; ?y]))</a:t>
            </a:r>
            <a:endParaRPr sz="1800"/>
          </a:p>
          <a:p>
            <a:pPr indent="0" lvl="0" marL="0" rtl="0" algn="l">
              <a:spcBef>
                <a:spcPts val="0"/>
              </a:spcBef>
              <a:spcAft>
                <a:spcPts val="0"/>
              </a:spcAft>
              <a:buNone/>
            </a:pPr>
            <a:r>
              <a:rPr b="1" lang="en-GB" sz="1800"/>
              <a:t>rdfs3:</a:t>
            </a:r>
            <a:r>
              <a:rPr lang="en-GB" sz="1800"/>
              <a:t> </a:t>
            </a:r>
            <a:r>
              <a:rPr i="1" lang="en-GB" sz="1800"/>
              <a:t>rdf:type(y, D)←rdfs:range(p, D) ∧ p(x, y)</a:t>
            </a:r>
            <a:endParaRPr i="1" sz="1800"/>
          </a:p>
          <a:p>
            <a:pPr indent="0" lvl="0" marL="0" rtl="0" algn="l">
              <a:spcBef>
                <a:spcPts val="0"/>
              </a:spcBef>
              <a:spcAft>
                <a:spcPts val="0"/>
              </a:spcAft>
              <a:buNone/>
            </a:pPr>
            <a:r>
              <a:rPr lang="en-GB" sz="1800"/>
              <a:t>   Forall ?x ?y ?p ?D (?y[rdf:type -&gt; ?D] :- And(?p[rdfs:range -&gt; ?D] ?x[?p -&gt; ?y]))</a:t>
            </a:r>
            <a:endParaRPr sz="1800"/>
          </a:p>
          <a:p>
            <a:pPr indent="0" lvl="0" marL="0" rtl="0" algn="l">
              <a:spcBef>
                <a:spcPts val="0"/>
              </a:spcBef>
              <a:spcAft>
                <a:spcPts val="0"/>
              </a:spcAft>
              <a:buNone/>
            </a:pPr>
            <a:r>
              <a:rPr b="1" lang="en-GB" sz="1800"/>
              <a:t>rdfs4a:</a:t>
            </a:r>
            <a:r>
              <a:rPr lang="en-GB" sz="1800"/>
              <a:t> </a:t>
            </a:r>
            <a:r>
              <a:rPr i="1" lang="en-GB" sz="1800"/>
              <a:t>rdf:type(x, rdfs:Resource)←p(x, y)</a:t>
            </a:r>
            <a:endParaRPr i="1" sz="1800"/>
          </a:p>
          <a:p>
            <a:pPr indent="0" lvl="0" marL="0" rtl="0" algn="l">
              <a:spcBef>
                <a:spcPts val="0"/>
              </a:spcBef>
              <a:spcAft>
                <a:spcPts val="0"/>
              </a:spcAft>
              <a:buNone/>
            </a:pPr>
            <a:r>
              <a:rPr lang="en-GB" sz="1800"/>
              <a:t>   Forall ?x (?x[rdf:type -&gt; rdfs:Resource] :- Exists ?p ?y (?x[?p -&gt; ?y]))</a:t>
            </a:r>
            <a:endParaRPr sz="1800"/>
          </a:p>
          <a:p>
            <a:pPr indent="0" lvl="0" marL="0" rtl="0" algn="l">
              <a:spcBef>
                <a:spcPts val="0"/>
              </a:spcBef>
              <a:spcAft>
                <a:spcPts val="0"/>
              </a:spcAft>
              <a:buNone/>
            </a:pPr>
            <a:r>
              <a:rPr b="1" lang="en-GB" sz="1800"/>
              <a:t>rdfs4b:</a:t>
            </a:r>
            <a:r>
              <a:rPr lang="en-GB" sz="1800"/>
              <a:t> rdf:type(y, rdfs:Resource)←p(x, y)</a:t>
            </a:r>
            <a:endParaRPr sz="1800"/>
          </a:p>
          <a:p>
            <a:pPr indent="0" lvl="0" marL="0" rtl="0" algn="l">
              <a:spcBef>
                <a:spcPts val="0"/>
              </a:spcBef>
              <a:spcAft>
                <a:spcPts val="0"/>
              </a:spcAft>
              <a:buNone/>
            </a:pPr>
            <a:r>
              <a:rPr lang="en-GB" sz="1800"/>
              <a:t>   Forall ?y (?y[rdf:type -&gt; rdfs:Resource] :- Exists ?p ?x (?x[?p -&gt; ?y]))</a:t>
            </a:r>
            <a:endParaRPr sz="1800"/>
          </a:p>
          <a:p>
            <a:pPr indent="0" lvl="0" marL="0" rtl="0" algn="l">
              <a:spcBef>
                <a:spcPts val="0"/>
              </a:spcBef>
              <a:spcAft>
                <a:spcPts val="0"/>
              </a:spcAft>
              <a:buNone/>
            </a:pPr>
            <a:r>
              <a:rPr b="1" lang="en-GB" sz="1800"/>
              <a:t>rdfs5:</a:t>
            </a:r>
            <a:r>
              <a:rPr lang="en-GB" sz="1800"/>
              <a:t> rdfs:subPropertyOf(p, r)←rdfs:subPropertyOf(p, q)∧rdfs:subPropertyOf(q,r)</a:t>
            </a:r>
            <a:endParaRPr sz="1800"/>
          </a:p>
          <a:p>
            <a:pPr indent="0" lvl="0" marL="0" rtl="0" algn="l">
              <a:spcBef>
                <a:spcPts val="0"/>
              </a:spcBef>
              <a:spcAft>
                <a:spcPts val="0"/>
              </a:spcAft>
              <a:buNone/>
            </a:pPr>
            <a:r>
              <a:rPr lang="en-GB" sz="1800"/>
              <a:t>   Forall ?p ?q ?r (?p[rdfs:subPropertyOf -&gt; ?r] :- And (?p[rdfs:subPropertyOf-&gt;?q] ?q[rdfs:subPropertyOf -&gt; ?r]))</a:t>
            </a:r>
            <a:endParaRPr sz="1800"/>
          </a:p>
          <a:p>
            <a:pPr indent="0" lvl="0" marL="0" rtl="0" algn="l">
              <a:spcBef>
                <a:spcPts val="0"/>
              </a:spcBef>
              <a:spcAft>
                <a:spcPts val="0"/>
              </a:spcAft>
              <a:buNone/>
            </a:pPr>
            <a:r>
              <a:rPr b="1" lang="en-GB" sz="1800"/>
              <a:t>rdfs6:</a:t>
            </a:r>
            <a:r>
              <a:rPr lang="en-GB" sz="1800"/>
              <a:t> </a:t>
            </a:r>
            <a:r>
              <a:rPr i="1" lang="en-GB" sz="1800"/>
              <a:t>rdfs:subPropertyOf(p, p)←rdf:type(p, rdf:Property)</a:t>
            </a:r>
            <a:endParaRPr i="1" sz="1800"/>
          </a:p>
          <a:p>
            <a:pPr indent="0" lvl="0" marL="0" rtl="0" algn="l">
              <a:spcBef>
                <a:spcPts val="0"/>
              </a:spcBef>
              <a:spcAft>
                <a:spcPts val="0"/>
              </a:spcAft>
              <a:buNone/>
            </a:pPr>
            <a:r>
              <a:rPr lang="en-GB" sz="1800"/>
              <a:t>   </a:t>
            </a:r>
            <a:r>
              <a:rPr lang="en-GB" sz="1800"/>
              <a:t>Forall ?p (?p[rdfs:subPropertyOf -&gt; ?p] :- ?p[rdf:type -&gt; rdf:Property])</a:t>
            </a:r>
            <a:endParaRPr sz="1800"/>
          </a:p>
          <a:p>
            <a:pPr indent="0" lvl="0" marL="0" rtl="0" algn="l">
              <a:spcBef>
                <a:spcPts val="0"/>
              </a:spcBef>
              <a:spcAft>
                <a:spcPts val="0"/>
              </a:spcAft>
              <a:buNone/>
            </a:pPr>
            <a:r>
              <a:rPr b="1" lang="en-GB" sz="1800"/>
              <a:t>rdfs7: </a:t>
            </a:r>
            <a:r>
              <a:rPr i="1" lang="en-GB" sz="1800"/>
              <a:t>q(x, y)←rdfs:subPropertyOf(p, q) ∧ p(x, y)</a:t>
            </a:r>
            <a:endParaRPr i="1" sz="1800"/>
          </a:p>
          <a:p>
            <a:pPr indent="0" lvl="0" marL="0" rtl="0" algn="l">
              <a:spcBef>
                <a:spcPts val="0"/>
              </a:spcBef>
              <a:spcAft>
                <a:spcPts val="0"/>
              </a:spcAft>
              <a:buNone/>
            </a:pPr>
            <a:r>
              <a:rPr lang="en-GB" sz="1800"/>
              <a:t>   Forall ?x ?y ?p ?q (?x[?q -&gt; ?y] :- And (?p[rdfs:subPropertyOf-&gt;?q] ?x[?p-&gt;?y])</a:t>
            </a:r>
            <a:r>
              <a:rPr lang="en-GB" sz="1800"/>
              <a:t>)</a:t>
            </a:r>
            <a:endParaRPr sz="1800"/>
          </a:p>
        </p:txBody>
      </p:sp>
      <p:sp>
        <p:nvSpPr>
          <p:cNvPr id="476" name="Google Shape;476;p70"/>
          <p:cNvSpPr txBox="1"/>
          <p:nvPr/>
        </p:nvSpPr>
        <p:spPr>
          <a:xfrm>
            <a:off x="320375" y="5875450"/>
            <a:ext cx="8285400" cy="86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rPr>
              <a:t>Ghi chú:</a:t>
            </a:r>
            <a:r>
              <a:rPr lang="en-GB" sz="2400">
                <a:solidFill>
                  <a:schemeClr val="dk2"/>
                </a:solidFill>
              </a:rPr>
              <a:t> Cấu trúc s[p -&gt; o] được gọi là khung, tương đương với bộ-3 (s p o)</a:t>
            </a:r>
            <a:endParaRPr sz="2400">
              <a:solidFill>
                <a:schemeClr val="dk2"/>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luật RDF và RDFS </a:t>
            </a:r>
            <a:r>
              <a:rPr lang="en-GB"/>
              <a:t>bằng RIF</a:t>
            </a:r>
            <a:r>
              <a:rPr baseline="-25000" lang="en-GB"/>
              <a:t>(2)</a:t>
            </a:r>
            <a:endParaRPr baseline="-25000"/>
          </a:p>
        </p:txBody>
      </p:sp>
      <p:sp>
        <p:nvSpPr>
          <p:cNvPr id="482" name="Google Shape;482;p71"/>
          <p:cNvSpPr txBox="1"/>
          <p:nvPr>
            <p:ph idx="1" type="body"/>
          </p:nvPr>
        </p:nvSpPr>
        <p:spPr>
          <a:xfrm>
            <a:off x="311700" y="975875"/>
            <a:ext cx="86157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rdfs8:</a:t>
            </a:r>
            <a:r>
              <a:rPr lang="en-GB" sz="1800"/>
              <a:t> </a:t>
            </a:r>
            <a:r>
              <a:rPr i="1" lang="en-GB" sz="1800"/>
              <a:t>rdfs:subClassOf(C, rdfs:Resource)←rdf:type(C, rdfs:Class)</a:t>
            </a:r>
            <a:endParaRPr i="1" sz="1800"/>
          </a:p>
          <a:p>
            <a:pPr indent="0" lvl="0" marL="0" rtl="0" algn="l">
              <a:spcBef>
                <a:spcPts val="0"/>
              </a:spcBef>
              <a:spcAft>
                <a:spcPts val="0"/>
              </a:spcAft>
              <a:buClr>
                <a:schemeClr val="dk1"/>
              </a:buClr>
              <a:buSzPts val="1100"/>
              <a:buFont typeface="Arial"/>
              <a:buNone/>
            </a:pPr>
            <a:r>
              <a:rPr lang="en-GB" sz="1800"/>
              <a:t>   Forall ?C (?C[rdfs:subClassOf -&gt; rdfs:Resource] :- ?C[rdf:type -&gt; rdfs:Class])</a:t>
            </a:r>
            <a:endParaRPr sz="1800"/>
          </a:p>
          <a:p>
            <a:pPr indent="0" lvl="0" marL="0" rtl="0" algn="l">
              <a:spcBef>
                <a:spcPts val="0"/>
              </a:spcBef>
              <a:spcAft>
                <a:spcPts val="0"/>
              </a:spcAft>
              <a:buNone/>
            </a:pPr>
            <a:r>
              <a:rPr b="1" lang="en-GB" sz="1800"/>
              <a:t>rdfs9:</a:t>
            </a:r>
            <a:r>
              <a:rPr lang="en-GB" sz="1800"/>
              <a:t> </a:t>
            </a:r>
            <a:r>
              <a:rPr i="1" lang="en-GB" sz="1800"/>
              <a:t>rdf:type(x, D)←rdfs:subClassOf(C, D) ∧ rdf:type(x, C)</a:t>
            </a:r>
            <a:endParaRPr i="1" sz="1800"/>
          </a:p>
          <a:p>
            <a:pPr indent="0" lvl="0" marL="0" rtl="0" algn="l">
              <a:spcBef>
                <a:spcPts val="0"/>
              </a:spcBef>
              <a:spcAft>
                <a:spcPts val="0"/>
              </a:spcAft>
              <a:buNone/>
            </a:pPr>
            <a:r>
              <a:rPr lang="en-GB" sz="1800"/>
              <a:t>   Forall ?x ?C ?D (?x[rdf:type-&gt;?D]:-And(?C[rdfs:subClassOf-&gt;?D]  </a:t>
            </a:r>
            <a:endParaRPr sz="1800"/>
          </a:p>
          <a:p>
            <a:pPr indent="0" lvl="0" marL="0" rtl="0" algn="l">
              <a:spcBef>
                <a:spcPts val="0"/>
              </a:spcBef>
              <a:spcAft>
                <a:spcPts val="0"/>
              </a:spcAft>
              <a:buClr>
                <a:schemeClr val="dk1"/>
              </a:buClr>
              <a:buSzPts val="1100"/>
              <a:buFont typeface="Arial"/>
              <a:buNone/>
            </a:pPr>
            <a:r>
              <a:rPr lang="en-GB" sz="1800"/>
              <a:t>                                                                  ?x[rdf:type-&gt;?C]))</a:t>
            </a:r>
            <a:endParaRPr sz="1800"/>
          </a:p>
          <a:p>
            <a:pPr indent="0" lvl="0" marL="0" rtl="0" algn="l">
              <a:spcBef>
                <a:spcPts val="0"/>
              </a:spcBef>
              <a:spcAft>
                <a:spcPts val="0"/>
              </a:spcAft>
              <a:buNone/>
            </a:pPr>
            <a:r>
              <a:rPr b="1" lang="en-GB" sz="1800"/>
              <a:t>rdfs10:</a:t>
            </a:r>
            <a:r>
              <a:rPr lang="en-GB" sz="1800"/>
              <a:t> </a:t>
            </a:r>
            <a:r>
              <a:rPr i="1" lang="en-GB" sz="1800"/>
              <a:t>rdfs:subClassOf(C, C)←rdf:type(C, rdfs:Class)</a:t>
            </a:r>
            <a:endParaRPr i="1" sz="1800"/>
          </a:p>
          <a:p>
            <a:pPr indent="0" lvl="0" marL="0" rtl="0" algn="l">
              <a:spcBef>
                <a:spcPts val="0"/>
              </a:spcBef>
              <a:spcAft>
                <a:spcPts val="0"/>
              </a:spcAft>
              <a:buClr>
                <a:schemeClr val="dk1"/>
              </a:buClr>
              <a:buSzPts val="1100"/>
              <a:buFont typeface="Arial"/>
              <a:buNone/>
            </a:pPr>
            <a:r>
              <a:rPr lang="en-GB" sz="1800"/>
              <a:t>   Forall ?C (?C[rdfs:subClassOf -&gt; ?C] :- ?C[rdf:type -&gt; rdfs:Class])</a:t>
            </a:r>
            <a:endParaRPr sz="1800"/>
          </a:p>
          <a:p>
            <a:pPr indent="0" lvl="0" marL="0" rtl="0" algn="l">
              <a:spcBef>
                <a:spcPts val="0"/>
              </a:spcBef>
              <a:spcAft>
                <a:spcPts val="0"/>
              </a:spcAft>
              <a:buNone/>
            </a:pPr>
            <a:r>
              <a:rPr b="1" lang="en-GB" sz="1800"/>
              <a:t>rdfs11:</a:t>
            </a:r>
            <a:r>
              <a:rPr lang="en-GB" sz="1800"/>
              <a:t> </a:t>
            </a:r>
            <a:r>
              <a:rPr i="1" lang="en-GB" sz="1800"/>
              <a:t>rdfs:subClassOf(C, E)←rdfs:subClassOf(C, D) ∧ rdfs:subClassOf(D, E)</a:t>
            </a:r>
            <a:endParaRPr i="1" sz="1800"/>
          </a:p>
          <a:p>
            <a:pPr indent="0" lvl="0" marL="0" rtl="0" algn="l">
              <a:spcBef>
                <a:spcPts val="0"/>
              </a:spcBef>
              <a:spcAft>
                <a:spcPts val="0"/>
              </a:spcAft>
              <a:buNone/>
            </a:pPr>
            <a:r>
              <a:rPr lang="en-GB" sz="1800"/>
              <a:t>   Forall ?C ?D ?E (?C[rdfs:subClassOf -&gt; ?E] :- And (?C[rdfs:subClassOf -&gt; ?D] </a:t>
            </a:r>
            <a:endParaRPr sz="1800"/>
          </a:p>
          <a:p>
            <a:pPr indent="0" lvl="0" marL="0" rtl="0" algn="l">
              <a:spcBef>
                <a:spcPts val="0"/>
              </a:spcBef>
              <a:spcAft>
                <a:spcPts val="0"/>
              </a:spcAft>
              <a:buNone/>
            </a:pPr>
            <a:r>
              <a:rPr lang="en-GB" sz="1800"/>
              <a:t>                                                                                      ?D[rdfs:subClassOf-&gt;?E]))</a:t>
            </a:r>
            <a:endParaRPr sz="1800"/>
          </a:p>
          <a:p>
            <a:pPr indent="0" lvl="0" marL="0" rtl="0" algn="l">
              <a:spcBef>
                <a:spcPts val="0"/>
              </a:spcBef>
              <a:spcAft>
                <a:spcPts val="0"/>
              </a:spcAft>
              <a:buNone/>
            </a:pPr>
            <a:r>
              <a:rPr b="1" lang="en-GB" sz="1800"/>
              <a:t>rdfs12:</a:t>
            </a:r>
            <a:r>
              <a:rPr lang="en-GB" sz="1800"/>
              <a:t> </a:t>
            </a:r>
            <a:r>
              <a:rPr i="1" lang="en-GB" sz="1800"/>
              <a:t>rdfs:subPropertyOf(p, rdfs:member)←</a:t>
            </a:r>
            <a:endParaRPr i="1" sz="1800"/>
          </a:p>
          <a:p>
            <a:pPr indent="0" lvl="0" marL="0" rtl="0" algn="l">
              <a:spcBef>
                <a:spcPts val="0"/>
              </a:spcBef>
              <a:spcAft>
                <a:spcPts val="0"/>
              </a:spcAft>
              <a:buNone/>
            </a:pPr>
            <a:r>
              <a:rPr i="1" lang="en-GB" sz="1800"/>
              <a:t>                         rdf:type(p, rdfs:ContainerMembershipProperty)</a:t>
            </a:r>
            <a:endParaRPr i="1" sz="1800"/>
          </a:p>
          <a:p>
            <a:pPr indent="0" lvl="0" marL="0" rtl="0" algn="l">
              <a:spcBef>
                <a:spcPts val="0"/>
              </a:spcBef>
              <a:spcAft>
                <a:spcPts val="0"/>
              </a:spcAft>
              <a:buNone/>
            </a:pPr>
            <a:r>
              <a:rPr lang="en-GB" sz="1800"/>
              <a:t>    Forall ?p (?p[rdfs:subPropertyOf -&gt; rdfs:member] :- </a:t>
            </a:r>
            <a:endParaRPr sz="1800"/>
          </a:p>
          <a:p>
            <a:pPr indent="0" lvl="0" marL="0" rtl="0" algn="l">
              <a:spcBef>
                <a:spcPts val="0"/>
              </a:spcBef>
              <a:spcAft>
                <a:spcPts val="0"/>
              </a:spcAft>
              <a:buNone/>
            </a:pPr>
            <a:r>
              <a:rPr lang="en-GB" sz="1800"/>
              <a:t>                        ?p[rdf:type -&gt; rdfs:ContainerMembershipProperty])</a:t>
            </a:r>
            <a:endParaRPr sz="1800"/>
          </a:p>
          <a:p>
            <a:pPr indent="0" lvl="0" marL="0" rtl="0" algn="l">
              <a:spcBef>
                <a:spcPts val="0"/>
              </a:spcBef>
              <a:spcAft>
                <a:spcPts val="0"/>
              </a:spcAft>
              <a:buNone/>
            </a:pPr>
            <a:r>
              <a:rPr b="1" lang="en-GB" sz="1800"/>
              <a:t>rdfs13:</a:t>
            </a:r>
            <a:r>
              <a:rPr lang="en-GB" sz="1800"/>
              <a:t> </a:t>
            </a:r>
            <a:r>
              <a:rPr i="1" lang="en-GB" sz="1800"/>
              <a:t>rdfs:subClassOf(x, rdfs:Literal)←rdf:type(x, rdfs:Datatype)</a:t>
            </a:r>
            <a:endParaRPr i="1" sz="1800"/>
          </a:p>
          <a:p>
            <a:pPr indent="0" lvl="0" marL="0" rtl="0" algn="l">
              <a:spcBef>
                <a:spcPts val="0"/>
              </a:spcBef>
              <a:spcAft>
                <a:spcPts val="0"/>
              </a:spcAft>
              <a:buNone/>
            </a:pPr>
            <a:r>
              <a:rPr lang="en-GB" sz="1800"/>
              <a:t>   Forall ?x (?x[rdfs:subClassOf -&gt; rdfs:Literal] :- ?x[rdf:type -&gt; rdfs:Datatype])</a:t>
            </a:r>
            <a:endParaRPr sz="1800"/>
          </a:p>
        </p:txBody>
      </p:sp>
      <p:sp>
        <p:nvSpPr>
          <p:cNvPr id="483" name="Google Shape;483;p7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84" name="Google Shape;484;p71"/>
          <p:cNvSpPr txBox="1"/>
          <p:nvPr/>
        </p:nvSpPr>
        <p:spPr>
          <a:xfrm>
            <a:off x="320375" y="6104050"/>
            <a:ext cx="81558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rPr>
              <a:t>Ghi chú:</a:t>
            </a:r>
            <a:r>
              <a:rPr lang="en-GB" sz="2400">
                <a:solidFill>
                  <a:schemeClr val="dk2"/>
                </a:solidFill>
              </a:rPr>
              <a:t> cú pháp A :- B tương đương If B Then A</a:t>
            </a:r>
            <a:endParaRPr sz="2400">
              <a:solidFill>
                <a:schemeClr val="dk2"/>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t>
            </a:r>
            <a:r>
              <a:rPr lang="en-GB"/>
              <a:t>ài liệu RIF có thể chứa dữ kiện</a:t>
            </a:r>
            <a:endParaRPr/>
          </a:p>
        </p:txBody>
      </p:sp>
      <p:sp>
        <p:nvSpPr>
          <p:cNvPr id="490" name="Google Shape;490;p72"/>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Document(</a:t>
            </a:r>
            <a:endParaRPr/>
          </a:p>
          <a:p>
            <a:pPr indent="0" lvl="0" marL="0" rtl="0" algn="l">
              <a:spcBef>
                <a:spcPts val="0"/>
              </a:spcBef>
              <a:spcAft>
                <a:spcPts val="0"/>
              </a:spcAft>
              <a:buClr>
                <a:schemeClr val="dk1"/>
              </a:buClr>
              <a:buSzPts val="1100"/>
              <a:buFont typeface="Arial"/>
              <a:buNone/>
            </a:pPr>
            <a:r>
              <a:rPr lang="en-GB"/>
              <a:t>  Prefix(bio &lt;http://example.com/biology#&gt;)</a:t>
            </a:r>
            <a:endParaRPr/>
          </a:p>
          <a:p>
            <a:pPr indent="0" lvl="0" marL="0" rtl="0" algn="l">
              <a:spcBef>
                <a:spcPts val="0"/>
              </a:spcBef>
              <a:spcAft>
                <a:spcPts val="0"/>
              </a:spcAft>
              <a:buClr>
                <a:schemeClr val="dk1"/>
              </a:buClr>
              <a:buSzPts val="1100"/>
              <a:buFont typeface="Arial"/>
              <a:buNone/>
            </a:pPr>
            <a:r>
              <a:rPr lang="en-GB"/>
              <a:t>  Prefix(phil &lt;http://example.com/philosophers#&gt;)</a:t>
            </a:r>
            <a:endParaRPr/>
          </a:p>
          <a:p>
            <a:pPr indent="0" lvl="0" marL="0" rtl="0" algn="l">
              <a:spcBef>
                <a:spcPts val="0"/>
              </a:spcBef>
              <a:spcAft>
                <a:spcPts val="0"/>
              </a:spcAft>
              <a:buClr>
                <a:schemeClr val="dk1"/>
              </a:buClr>
              <a:buSzPts val="1100"/>
              <a:buFont typeface="Arial"/>
              <a:buNone/>
            </a:pPr>
            <a:r>
              <a:rPr lang="en-GB"/>
              <a:t>  Group(</a:t>
            </a:r>
            <a:endParaRPr/>
          </a:p>
          <a:p>
            <a:pPr indent="0" lvl="0" marL="0" rtl="0" algn="l">
              <a:spcBef>
                <a:spcPts val="0"/>
              </a:spcBef>
              <a:spcAft>
                <a:spcPts val="0"/>
              </a:spcAft>
              <a:buClr>
                <a:schemeClr val="dk1"/>
              </a:buClr>
              <a:buSzPts val="1100"/>
              <a:buFont typeface="Arial"/>
              <a:buNone/>
            </a:pPr>
            <a:r>
              <a:rPr lang="en-GB"/>
              <a:t>    If bio:human(?x)</a:t>
            </a:r>
            <a:endParaRPr/>
          </a:p>
          <a:p>
            <a:pPr indent="0" lvl="0" marL="0" rtl="0" algn="l">
              <a:spcBef>
                <a:spcPts val="0"/>
              </a:spcBef>
              <a:spcAft>
                <a:spcPts val="0"/>
              </a:spcAft>
              <a:buClr>
                <a:schemeClr val="dk1"/>
              </a:buClr>
              <a:buSzPts val="1100"/>
              <a:buFont typeface="Arial"/>
              <a:buNone/>
            </a:pPr>
            <a:r>
              <a:rPr lang="en-GB"/>
              <a:t>    Then bio:mortal(?x) )</a:t>
            </a:r>
            <a:endParaRPr/>
          </a:p>
          <a:p>
            <a:pPr indent="0" lvl="0" marL="0" rtl="0" algn="l">
              <a:spcBef>
                <a:spcPts val="0"/>
              </a:spcBef>
              <a:spcAft>
                <a:spcPts val="0"/>
              </a:spcAft>
              <a:buClr>
                <a:schemeClr val="dk1"/>
              </a:buClr>
              <a:buSzPts val="1100"/>
              <a:buFont typeface="Arial"/>
              <a:buNone/>
            </a:pPr>
            <a:r>
              <a:rPr lang="en-GB"/>
              <a:t>  Group(bio:human(phil:Socrates))</a:t>
            </a:r>
            <a:endParaRPr/>
          </a:p>
          <a:p>
            <a:pPr indent="0" lvl="0" marL="0" rtl="0" algn="l">
              <a:spcBef>
                <a:spcPts val="0"/>
              </a:spcBef>
              <a:spcAft>
                <a:spcPts val="0"/>
              </a:spcAft>
              <a:buClr>
                <a:schemeClr val="dk1"/>
              </a:buClr>
              <a:buSzPts val="1100"/>
              <a:buFont typeface="Arial"/>
              <a:buNone/>
            </a:pPr>
            <a:r>
              <a:rPr lang="en-GB"/>
              <a: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solidFill>
                  <a:srgbClr val="1155CC"/>
                </a:solidFill>
              </a:rPr>
              <a:t>Dẫn đến kết luận: bio:mortal(phil:Socrates)</a:t>
            </a:r>
            <a:endParaRPr>
              <a:solidFill>
                <a:srgbClr val="1155CC"/>
              </a:solidFill>
            </a:endParaRPr>
          </a:p>
          <a:p>
            <a:pPr indent="0" lvl="0" marL="0" rtl="0" algn="l">
              <a:spcBef>
                <a:spcPts val="0"/>
              </a:spcBef>
              <a:spcAft>
                <a:spcPts val="0"/>
              </a:spcAft>
              <a:buNone/>
            </a:pPr>
            <a:r>
              <a:t/>
            </a:r>
            <a:endParaRPr/>
          </a:p>
        </p:txBody>
      </p:sp>
      <p:sp>
        <p:nvSpPr>
          <p:cNvPr id="491" name="Google Shape;491;p7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7.6. RIF PRD</a:t>
            </a:r>
            <a:endParaRPr/>
          </a:p>
        </p:txBody>
      </p:sp>
      <p:sp>
        <p:nvSpPr>
          <p:cNvPr id="497" name="Google Shape;497;p73"/>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400"/>
              <a:t>Document(</a:t>
            </a:r>
            <a:endParaRPr sz="2400"/>
          </a:p>
          <a:p>
            <a:pPr indent="0" lvl="0" marL="0" rtl="0" algn="l">
              <a:spcBef>
                <a:spcPts val="0"/>
              </a:spcBef>
              <a:spcAft>
                <a:spcPts val="0"/>
              </a:spcAft>
              <a:buClr>
                <a:schemeClr val="dk1"/>
              </a:buClr>
              <a:buSzPts val="1100"/>
              <a:buFont typeface="Arial"/>
              <a:buNone/>
            </a:pPr>
            <a:r>
              <a:rPr lang="en-GB" sz="2400"/>
              <a:t>  Prefix(rdfs &lt;http://www.w3.org/2000/01/rdf-schema#&gt;)</a:t>
            </a:r>
            <a:endParaRPr sz="2400"/>
          </a:p>
          <a:p>
            <a:pPr indent="0" lvl="0" marL="0" rtl="0" algn="l">
              <a:spcBef>
                <a:spcPts val="0"/>
              </a:spcBef>
              <a:spcAft>
                <a:spcPts val="0"/>
              </a:spcAft>
              <a:buClr>
                <a:schemeClr val="dk1"/>
              </a:buClr>
              <a:buSzPts val="1100"/>
              <a:buFont typeface="Arial"/>
              <a:buNone/>
            </a:pPr>
            <a:r>
              <a:rPr lang="en-GB" sz="2400"/>
              <a:t>  Prefix(imdbrelf &lt;http://example.com/fauximdbrelations#&gt;)</a:t>
            </a:r>
            <a:endParaRPr sz="2400"/>
          </a:p>
          <a:p>
            <a:pPr indent="0" lvl="0" marL="0" rtl="0" algn="l">
              <a:spcBef>
                <a:spcPts val="0"/>
              </a:spcBef>
              <a:spcAft>
                <a:spcPts val="0"/>
              </a:spcAft>
              <a:buClr>
                <a:schemeClr val="dk1"/>
              </a:buClr>
              <a:buSzPts val="1100"/>
              <a:buFont typeface="Arial"/>
              <a:buNone/>
            </a:pPr>
            <a:r>
              <a:rPr lang="en-GB" sz="2400"/>
              <a:t>  Prefix(dbpediaf &lt;http://example.com/fauxibdbrelations&gt;)</a:t>
            </a:r>
            <a:endParaRPr sz="2400"/>
          </a:p>
          <a:p>
            <a:pPr indent="0" lvl="0" marL="0" rtl="0" algn="l">
              <a:spcBef>
                <a:spcPts val="0"/>
              </a:spcBef>
              <a:spcAft>
                <a:spcPts val="0"/>
              </a:spcAft>
              <a:buClr>
                <a:schemeClr val="dk1"/>
              </a:buClr>
              <a:buSzPts val="1100"/>
              <a:buFont typeface="Arial"/>
              <a:buNone/>
            </a:pPr>
            <a:r>
              <a:rPr lang="en-GB" sz="2400"/>
              <a:t>  Prefix(ibdbrelf &lt;http://example.com/fauxibdbrelations#&gt;)</a:t>
            </a:r>
            <a:endParaRPr sz="2400"/>
          </a:p>
          <a:p>
            <a:pPr indent="0" lvl="0" marL="0" rtl="0" algn="l">
              <a:spcBef>
                <a:spcPts val="0"/>
              </a:spcBef>
              <a:spcAft>
                <a:spcPts val="0"/>
              </a:spcAft>
              <a:buClr>
                <a:schemeClr val="dk1"/>
              </a:buClr>
              <a:buSzPts val="1100"/>
              <a:buFont typeface="Arial"/>
              <a:buNone/>
            </a:pPr>
            <a:r>
              <a:rPr lang="en-GB" sz="2400"/>
              <a:t>  Group(</a:t>
            </a:r>
            <a:endParaRPr sz="2400"/>
          </a:p>
          <a:p>
            <a:pPr indent="0" lvl="0" marL="0" rtl="0" algn="l">
              <a:spcBef>
                <a:spcPts val="0"/>
              </a:spcBef>
              <a:spcAft>
                <a:spcPts val="0"/>
              </a:spcAft>
              <a:buClr>
                <a:schemeClr val="dk1"/>
              </a:buClr>
              <a:buSzPts val="1100"/>
              <a:buFont typeface="Arial"/>
              <a:buNone/>
            </a:pPr>
            <a:r>
              <a:rPr lang="en-GB" sz="2400"/>
              <a:t>    Forall ?Actor (</a:t>
            </a:r>
            <a:endParaRPr sz="2400"/>
          </a:p>
          <a:p>
            <a:pPr indent="0" lvl="0" marL="0" rtl="0" algn="l">
              <a:spcBef>
                <a:spcPts val="0"/>
              </a:spcBef>
              <a:spcAft>
                <a:spcPts val="0"/>
              </a:spcAft>
              <a:buClr>
                <a:schemeClr val="dk1"/>
              </a:buClr>
              <a:buSzPts val="1100"/>
              <a:buFont typeface="Arial"/>
              <a:buNone/>
            </a:pPr>
            <a:r>
              <a:rPr lang="en-GB" sz="2400"/>
              <a:t>      If Or(Exists ?Film (imdbrelf:winAward(?Actor ?Film))</a:t>
            </a:r>
            <a:endParaRPr sz="2400"/>
          </a:p>
          <a:p>
            <a:pPr indent="0" lvl="0" marL="0" rtl="0" algn="l">
              <a:spcBef>
                <a:spcPts val="0"/>
              </a:spcBef>
              <a:spcAft>
                <a:spcPts val="0"/>
              </a:spcAft>
              <a:buClr>
                <a:schemeClr val="dk1"/>
              </a:buClr>
              <a:buSzPts val="1100"/>
              <a:buFont typeface="Arial"/>
              <a:buNone/>
            </a:pPr>
            <a:r>
              <a:rPr lang="en-GB" sz="2400"/>
              <a:t>    </a:t>
            </a:r>
            <a:r>
              <a:rPr lang="en-GB"/>
              <a:t>           </a:t>
            </a:r>
            <a:r>
              <a:rPr lang="en-GB" sz="2400"/>
              <a:t>Exists ?Play (ibdbrelf:winAward(?Actor ?Play)))</a:t>
            </a:r>
            <a:endParaRPr sz="2400"/>
          </a:p>
          <a:p>
            <a:pPr indent="0" lvl="0" marL="0" rtl="0" algn="l">
              <a:spcBef>
                <a:spcPts val="0"/>
              </a:spcBef>
              <a:spcAft>
                <a:spcPts val="0"/>
              </a:spcAft>
              <a:buClr>
                <a:schemeClr val="dk1"/>
              </a:buClr>
              <a:buSzPts val="1100"/>
              <a:buFont typeface="Arial"/>
              <a:buNone/>
            </a:pPr>
            <a:r>
              <a:rPr lang="en-GB" sz="2400"/>
              <a:t>      Then assert(dbpediaf:awardWinner(?Actor))</a:t>
            </a:r>
            <a:endParaRPr/>
          </a:p>
          <a:p>
            <a:pPr indent="0" lvl="0" marL="0" rtl="0" algn="l">
              <a:spcBef>
                <a:spcPts val="0"/>
              </a:spcBef>
              <a:spcAft>
                <a:spcPts val="0"/>
              </a:spcAft>
              <a:buClr>
                <a:schemeClr val="dk1"/>
              </a:buClr>
              <a:buSzPts val="1100"/>
              <a:buFont typeface="Arial"/>
              <a:buNone/>
            </a:pPr>
            <a:r>
              <a:rPr lang="en-GB"/>
              <a:t>     </a:t>
            </a:r>
            <a:r>
              <a:rPr lang="en-GB" sz="2400"/>
              <a:t>)</a:t>
            </a:r>
            <a:endParaRPr sz="2400"/>
          </a:p>
          <a:p>
            <a:pPr indent="0" lvl="0" marL="0" rtl="0" algn="l">
              <a:spcBef>
                <a:spcPts val="0"/>
              </a:spcBef>
              <a:spcAft>
                <a:spcPts val="0"/>
              </a:spcAft>
              <a:buNone/>
            </a:pPr>
            <a:r>
              <a:rPr lang="en-GB" sz="2400"/>
              <a:t>  imdbrelf:winAward(RobertoBenigni LifeIsBeautiful) </a:t>
            </a:r>
            <a:endParaRPr sz="2400"/>
          </a:p>
          <a:p>
            <a:pPr indent="0" lvl="0" marL="0" rtl="0" algn="l">
              <a:spcBef>
                <a:spcPts val="0"/>
              </a:spcBef>
              <a:spcAft>
                <a:spcPts val="0"/>
              </a:spcAft>
              <a:buNone/>
            </a:pPr>
            <a:r>
              <a:rPr lang="en-GB"/>
              <a:t> </a:t>
            </a:r>
            <a:r>
              <a:rPr lang="en-GB" sz="2400"/>
              <a:t>))</a:t>
            </a:r>
            <a:endParaRPr sz="2400"/>
          </a:p>
        </p:txBody>
      </p:sp>
      <p:sp>
        <p:nvSpPr>
          <p:cNvPr id="498" name="Google Shape;498;p7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Có nhiều phiên bản của Web ngữ nghĩa?</a:t>
            </a:r>
            <a:endParaRPr/>
          </a:p>
        </p:txBody>
      </p:sp>
      <p:sp>
        <p:nvSpPr>
          <p:cNvPr id="504" name="Google Shape;504;p7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505" name="Google Shape;505;p74"/>
          <p:cNvPicPr preferRelativeResize="0"/>
          <p:nvPr/>
        </p:nvPicPr>
        <p:blipFill>
          <a:blip r:embed="rId3">
            <a:alphaModFix/>
          </a:blip>
          <a:stretch>
            <a:fillRect/>
          </a:stretch>
        </p:blipFill>
        <p:spPr>
          <a:xfrm>
            <a:off x="387900" y="1120866"/>
            <a:ext cx="8604400" cy="4944358"/>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Phụ lục: Luật trong Apache Jena</a:t>
            </a:r>
            <a:endParaRPr/>
          </a:p>
        </p:txBody>
      </p:sp>
      <p:sp>
        <p:nvSpPr>
          <p:cNvPr id="511" name="Google Shape;511;p7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12" name="Google Shape;512;p75"/>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Rule      :=   bare-rule .</a:t>
            </a:r>
            <a:endParaRPr/>
          </a:p>
          <a:p>
            <a:pPr indent="0" lvl="0" marL="0" rtl="0" algn="l">
              <a:spcBef>
                <a:spcPts val="0"/>
              </a:spcBef>
              <a:spcAft>
                <a:spcPts val="0"/>
              </a:spcAft>
              <a:buClr>
                <a:schemeClr val="dk1"/>
              </a:buClr>
              <a:buSzPts val="1100"/>
              <a:buFont typeface="Arial"/>
              <a:buNone/>
            </a:pPr>
            <a:r>
              <a:rPr lang="en-GB"/>
              <a:t>          or   [ bare-rule ]</a:t>
            </a:r>
            <a:endParaRPr/>
          </a:p>
          <a:p>
            <a:pPr indent="0" lvl="0" marL="0" rtl="0" algn="l">
              <a:spcBef>
                <a:spcPts val="0"/>
              </a:spcBef>
              <a:spcAft>
                <a:spcPts val="0"/>
              </a:spcAft>
              <a:buClr>
                <a:schemeClr val="dk1"/>
              </a:buClr>
              <a:buSzPts val="1100"/>
              <a:buFont typeface="Arial"/>
              <a:buNone/>
            </a:pPr>
            <a:r>
              <a:rPr lang="en-GB"/>
              <a:t>       or   [ ruleName : bare-rule ]</a:t>
            </a:r>
            <a:endParaRPr/>
          </a:p>
          <a:p>
            <a:pPr indent="0" lvl="0" marL="0" rtl="0" algn="l">
              <a:spcBef>
                <a:spcPts val="0"/>
              </a:spcBef>
              <a:spcAft>
                <a:spcPts val="0"/>
              </a:spcAft>
              <a:buClr>
                <a:schemeClr val="dk1"/>
              </a:buClr>
              <a:buSzPts val="1100"/>
              <a:buFont typeface="Arial"/>
              <a:buNone/>
            </a:pPr>
            <a:r>
              <a:rPr lang="en-GB"/>
              <a:t>bare-rule :=   term, … term -&gt; hterm, … hterm    // FW rule</a:t>
            </a:r>
            <a:endParaRPr/>
          </a:p>
          <a:p>
            <a:pPr indent="0" lvl="0" marL="0" rtl="0" algn="l">
              <a:spcBef>
                <a:spcPts val="0"/>
              </a:spcBef>
              <a:spcAft>
                <a:spcPts val="0"/>
              </a:spcAft>
              <a:buClr>
                <a:schemeClr val="dk1"/>
              </a:buClr>
              <a:buSzPts val="1100"/>
              <a:buFont typeface="Arial"/>
              <a:buNone/>
            </a:pPr>
            <a:r>
              <a:rPr lang="en-GB"/>
              <a:t>or   bhterm &lt;- term, … term    // BW rule</a:t>
            </a:r>
            <a:endParaRPr/>
          </a:p>
          <a:p>
            <a:pPr indent="0" lvl="0" marL="0" rtl="0" algn="l">
              <a:spcBef>
                <a:spcPts val="0"/>
              </a:spcBef>
              <a:spcAft>
                <a:spcPts val="0"/>
              </a:spcAft>
              <a:buClr>
                <a:schemeClr val="dk1"/>
              </a:buClr>
              <a:buSzPts val="1100"/>
              <a:buFont typeface="Arial"/>
              <a:buNone/>
            </a:pPr>
            <a:r>
              <a:rPr lang="en-GB"/>
              <a:t>hterm     :=   term</a:t>
            </a:r>
            <a:endParaRPr/>
          </a:p>
          <a:p>
            <a:pPr indent="0" lvl="0" marL="0" rtl="0" algn="l">
              <a:spcBef>
                <a:spcPts val="0"/>
              </a:spcBef>
              <a:spcAft>
                <a:spcPts val="0"/>
              </a:spcAft>
              <a:buClr>
                <a:schemeClr val="dk1"/>
              </a:buClr>
              <a:buSzPts val="1100"/>
              <a:buFont typeface="Arial"/>
              <a:buNone/>
            </a:pPr>
            <a:r>
              <a:rPr lang="en-GB"/>
              <a:t>                    or   [ bare-rule ]</a:t>
            </a:r>
            <a:endParaRPr/>
          </a:p>
          <a:p>
            <a:pPr indent="0" lvl="0" marL="0" rtl="0" algn="l">
              <a:spcBef>
                <a:spcPts val="0"/>
              </a:spcBef>
              <a:spcAft>
                <a:spcPts val="0"/>
              </a:spcAft>
              <a:buClr>
                <a:schemeClr val="dk1"/>
              </a:buClr>
              <a:buSzPts val="1100"/>
              <a:buFont typeface="Arial"/>
              <a:buNone/>
            </a:pPr>
            <a:r>
              <a:rPr lang="en-GB"/>
              <a:t>term      :=   (node, node, node)           // triple pattern</a:t>
            </a:r>
            <a:endParaRPr/>
          </a:p>
          <a:p>
            <a:pPr indent="0" lvl="0" marL="0" rtl="0" algn="l">
              <a:spcBef>
                <a:spcPts val="0"/>
              </a:spcBef>
              <a:spcAft>
                <a:spcPts val="0"/>
              </a:spcAft>
              <a:buClr>
                <a:schemeClr val="dk1"/>
              </a:buClr>
              <a:buSzPts val="1100"/>
              <a:buFont typeface="Arial"/>
              <a:buNone/>
            </a:pPr>
            <a:r>
              <a:rPr lang="en-GB"/>
              <a:t>    or   (node, node, functor)        // extended triple pattern</a:t>
            </a:r>
            <a:endParaRPr/>
          </a:p>
          <a:p>
            <a:pPr indent="0" lvl="0" marL="0" rtl="0" algn="l">
              <a:spcBef>
                <a:spcPts val="0"/>
              </a:spcBef>
              <a:spcAft>
                <a:spcPts val="0"/>
              </a:spcAft>
              <a:buClr>
                <a:schemeClr val="dk1"/>
              </a:buClr>
              <a:buSzPts val="1100"/>
              <a:buFont typeface="Arial"/>
              <a:buNone/>
            </a:pPr>
            <a:r>
              <a:rPr lang="en-GB"/>
              <a:t>    or   builtin(node, … node)      // invoke procedural primitive</a:t>
            </a:r>
            <a:endParaRPr/>
          </a:p>
          <a:p>
            <a:pPr indent="0" lvl="0" marL="0" rtl="0" algn="l">
              <a:spcBef>
                <a:spcPts val="0"/>
              </a:spcBef>
              <a:spcAft>
                <a:spcPts val="0"/>
              </a:spcAft>
              <a:buClr>
                <a:schemeClr val="dk1"/>
              </a:buClr>
              <a:buSzPts val="1100"/>
              <a:buFont typeface="Arial"/>
              <a:buNone/>
            </a:pPr>
            <a:r>
              <a:rPr lang="en-GB"/>
              <a:t>bhterm      :=   (node, node, node)           // triple pattern</a:t>
            </a:r>
            <a:endParaRPr/>
          </a:p>
          <a:p>
            <a:pPr indent="0" lvl="0" marL="0" rtl="0" algn="l">
              <a:spcBef>
                <a:spcPts val="0"/>
              </a:spcBef>
              <a:spcAft>
                <a:spcPts val="0"/>
              </a:spcAft>
              <a:buClr>
                <a:schemeClr val="dk1"/>
              </a:buClr>
              <a:buSzPts val="1100"/>
              <a:buFont typeface="Arial"/>
              <a:buNone/>
            </a:pPr>
            <a:r>
              <a:rPr lang="en-GB"/>
              <a:t>functor   :=   functorName(node, … node)  // structured literal</a:t>
            </a:r>
            <a:endParaRPr/>
          </a:p>
          <a:p>
            <a:pPr indent="0" lvl="0" marL="0" rtl="0" algn="l">
              <a:spcBef>
                <a:spcPts val="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Phụ lục: Luật trong Apache Jena</a:t>
            </a:r>
            <a:r>
              <a:rPr baseline="-25000" lang="en-GB"/>
              <a:t>(2)</a:t>
            </a:r>
            <a:endParaRPr baseline="-25000"/>
          </a:p>
        </p:txBody>
      </p:sp>
      <p:sp>
        <p:nvSpPr>
          <p:cNvPr id="518" name="Google Shape;518;p7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19" name="Google Shape;519;p76"/>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node      :=   uri-ref           // e.g. http://foo.com/eg</a:t>
            </a:r>
            <a:endParaRPr/>
          </a:p>
          <a:p>
            <a:pPr indent="0" lvl="0" marL="0" rtl="0" algn="l">
              <a:spcBef>
                <a:spcPts val="0"/>
              </a:spcBef>
              <a:spcAft>
                <a:spcPts val="0"/>
              </a:spcAft>
              <a:buClr>
                <a:schemeClr val="dk1"/>
              </a:buClr>
              <a:buSzPts val="1100"/>
              <a:buFont typeface="Arial"/>
              <a:buNone/>
            </a:pPr>
            <a:r>
              <a:rPr lang="en-GB"/>
              <a:t>or   prefix:localname        // e.g. rdf:type</a:t>
            </a:r>
            <a:endParaRPr/>
          </a:p>
          <a:p>
            <a:pPr indent="0" lvl="0" marL="0" rtl="0" algn="l">
              <a:spcBef>
                <a:spcPts val="0"/>
              </a:spcBef>
              <a:spcAft>
                <a:spcPts val="0"/>
              </a:spcAft>
              <a:buClr>
                <a:schemeClr val="dk1"/>
              </a:buClr>
              <a:buSzPts val="1100"/>
              <a:buFont typeface="Arial"/>
              <a:buNone/>
            </a:pPr>
            <a:r>
              <a:rPr lang="en-GB"/>
              <a:t>or   &lt;uri-ref&gt;             // e.g. &lt;myscheme:myuri&gt;</a:t>
            </a:r>
            <a:endParaRPr/>
          </a:p>
          <a:p>
            <a:pPr indent="0" lvl="0" marL="0" rtl="0" algn="l">
              <a:spcBef>
                <a:spcPts val="0"/>
              </a:spcBef>
              <a:spcAft>
                <a:spcPts val="0"/>
              </a:spcAft>
              <a:buClr>
                <a:schemeClr val="dk1"/>
              </a:buClr>
              <a:buSzPts val="1100"/>
              <a:buFont typeface="Arial"/>
              <a:buNone/>
            </a:pPr>
            <a:r>
              <a:rPr lang="en-GB"/>
              <a:t>or   ?varname          // variable</a:t>
            </a:r>
            <a:endParaRPr/>
          </a:p>
          <a:p>
            <a:pPr indent="0" lvl="0" marL="0" rtl="0" algn="l">
              <a:spcBef>
                <a:spcPts val="0"/>
              </a:spcBef>
              <a:spcAft>
                <a:spcPts val="0"/>
              </a:spcAft>
              <a:buClr>
                <a:schemeClr val="dk1"/>
              </a:buClr>
              <a:buSzPts val="1100"/>
              <a:buFont typeface="Arial"/>
              <a:buNone/>
            </a:pPr>
            <a:r>
              <a:rPr lang="en-GB"/>
              <a:t>or   ‘a literal’             // a plain string literal</a:t>
            </a:r>
            <a:endParaRPr/>
          </a:p>
          <a:p>
            <a:pPr indent="0" lvl="0" marL="0" rtl="0" algn="l">
              <a:spcBef>
                <a:spcPts val="0"/>
              </a:spcBef>
              <a:spcAft>
                <a:spcPts val="0"/>
              </a:spcAft>
              <a:buClr>
                <a:schemeClr val="dk1"/>
              </a:buClr>
              <a:buSzPts val="1100"/>
              <a:buFont typeface="Arial"/>
              <a:buNone/>
            </a:pPr>
            <a:r>
              <a:rPr lang="en-GB"/>
              <a:t>or   ’lex’^^typeURI    </a:t>
            </a:r>
            <a:r>
              <a:rPr lang="en-GB" sz="2200"/>
              <a:t>// a typed literal, xsd:* type names supported</a:t>
            </a:r>
            <a:endParaRPr sz="2200"/>
          </a:p>
          <a:p>
            <a:pPr indent="0" lvl="0" marL="0" rtl="0" algn="l">
              <a:spcBef>
                <a:spcPts val="0"/>
              </a:spcBef>
              <a:spcAft>
                <a:spcPts val="0"/>
              </a:spcAft>
              <a:buNone/>
            </a:pPr>
            <a:r>
              <a:rPr lang="en-GB"/>
              <a:t>or   number              // e.g. 42 or 25.5</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rPr lang="en-GB"/>
              <a:t>                  [https://jena.apache.org/documentation/inference/]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thành phần dựng sẵn</a:t>
            </a:r>
            <a:endParaRPr/>
          </a:p>
        </p:txBody>
      </p:sp>
      <p:sp>
        <p:nvSpPr>
          <p:cNvPr id="525" name="Google Shape;525;p77"/>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builtin</a:t>
            </a:r>
            <a:endParaRPr i="1"/>
          </a:p>
          <a:p>
            <a:pPr indent="0" lvl="0" marL="0" rtl="0" algn="l">
              <a:spcBef>
                <a:spcPts val="0"/>
              </a:spcBef>
              <a:spcAft>
                <a:spcPts val="0"/>
              </a:spcAft>
              <a:buClr>
                <a:schemeClr val="dk1"/>
              </a:buClr>
              <a:buSzPts val="1100"/>
              <a:buFont typeface="Arial"/>
              <a:buNone/>
            </a:pPr>
            <a:r>
              <a:rPr lang="en-GB">
                <a:solidFill>
                  <a:srgbClr val="212529"/>
                </a:solidFill>
                <a:highlight>
                  <a:srgbClr val="FFFFFF"/>
                </a:highlight>
              </a:rPr>
              <a:t>sum(?a, ?b, ?c)</a:t>
            </a:r>
            <a:endParaRPr>
              <a:solidFill>
                <a:srgbClr val="212529"/>
              </a:solidFill>
              <a:highlight>
                <a:srgbClr val="FFFFFF"/>
              </a:highlight>
            </a:endParaRPr>
          </a:p>
          <a:p>
            <a:pPr indent="0" lvl="0" marL="0" rtl="0" algn="l">
              <a:spcBef>
                <a:spcPts val="0"/>
              </a:spcBef>
              <a:spcAft>
                <a:spcPts val="0"/>
              </a:spcAft>
              <a:buClr>
                <a:schemeClr val="dk1"/>
              </a:buClr>
              <a:buSzPts val="1100"/>
              <a:buFont typeface="Arial"/>
              <a:buNone/>
            </a:pPr>
            <a:r>
              <a:rPr lang="en-GB">
                <a:solidFill>
                  <a:srgbClr val="212529"/>
                </a:solidFill>
                <a:highlight>
                  <a:srgbClr val="FFFFFF"/>
                </a:highlight>
              </a:rPr>
              <a:t>addOne(?a, ?c)</a:t>
            </a:r>
            <a:endParaRPr>
              <a:solidFill>
                <a:srgbClr val="212529"/>
              </a:solidFill>
              <a:highlight>
                <a:srgbClr val="FFFFFF"/>
              </a:highlight>
            </a:endParaRPr>
          </a:p>
          <a:p>
            <a:pPr indent="0" lvl="0" marL="0" rtl="0" algn="l">
              <a:spcBef>
                <a:spcPts val="0"/>
              </a:spcBef>
              <a:spcAft>
                <a:spcPts val="0"/>
              </a:spcAft>
              <a:buClr>
                <a:schemeClr val="dk1"/>
              </a:buClr>
              <a:buSzPts val="1100"/>
              <a:buFont typeface="Arial"/>
              <a:buNone/>
            </a:pPr>
            <a:r>
              <a:rPr lang="en-GB">
                <a:solidFill>
                  <a:srgbClr val="212529"/>
                </a:solidFill>
                <a:highlight>
                  <a:srgbClr val="FFFFFF"/>
                </a:highlight>
              </a:rPr>
              <a:t>difference(?a, ?b, ?c)</a:t>
            </a:r>
            <a:endParaRPr>
              <a:solidFill>
                <a:srgbClr val="212529"/>
              </a:solidFill>
              <a:highlight>
                <a:srgbClr val="FFFFFF"/>
              </a:highlight>
            </a:endParaRPr>
          </a:p>
          <a:p>
            <a:pPr indent="0" lvl="0" marL="0" rtl="0" algn="l">
              <a:spcBef>
                <a:spcPts val="0"/>
              </a:spcBef>
              <a:spcAft>
                <a:spcPts val="0"/>
              </a:spcAft>
              <a:buClr>
                <a:schemeClr val="dk1"/>
              </a:buClr>
              <a:buSzPts val="1100"/>
              <a:buFont typeface="Arial"/>
              <a:buNone/>
            </a:pPr>
            <a:r>
              <a:rPr lang="en-GB">
                <a:solidFill>
                  <a:srgbClr val="212529"/>
                </a:solidFill>
                <a:highlight>
                  <a:srgbClr val="FFFFFF"/>
                </a:highlight>
              </a:rPr>
              <a:t>min(?a, ?b, ?c)</a:t>
            </a:r>
            <a:endParaRPr>
              <a:solidFill>
                <a:srgbClr val="212529"/>
              </a:solidFill>
              <a:highlight>
                <a:srgbClr val="FFFFFF"/>
              </a:highlight>
            </a:endParaRPr>
          </a:p>
          <a:p>
            <a:pPr indent="0" lvl="0" marL="0" rtl="0" algn="l">
              <a:spcBef>
                <a:spcPts val="0"/>
              </a:spcBef>
              <a:spcAft>
                <a:spcPts val="0"/>
              </a:spcAft>
              <a:buClr>
                <a:schemeClr val="dk1"/>
              </a:buClr>
              <a:buSzPts val="1100"/>
              <a:buFont typeface="Arial"/>
              <a:buNone/>
            </a:pPr>
            <a:r>
              <a:rPr lang="en-GB">
                <a:solidFill>
                  <a:srgbClr val="212529"/>
                </a:solidFill>
                <a:highlight>
                  <a:srgbClr val="FFFFFF"/>
                </a:highlight>
              </a:rPr>
              <a:t>max(?a, ?b, ?c)</a:t>
            </a:r>
            <a:endParaRPr>
              <a:solidFill>
                <a:srgbClr val="212529"/>
              </a:solidFill>
              <a:highlight>
                <a:srgbClr val="FFFFFF"/>
              </a:highlight>
            </a:endParaRPr>
          </a:p>
          <a:p>
            <a:pPr indent="0" lvl="0" marL="0" rtl="0" algn="l">
              <a:spcBef>
                <a:spcPts val="0"/>
              </a:spcBef>
              <a:spcAft>
                <a:spcPts val="0"/>
              </a:spcAft>
              <a:buClr>
                <a:schemeClr val="dk1"/>
              </a:buClr>
              <a:buSzPts val="1100"/>
              <a:buFont typeface="Arial"/>
              <a:buNone/>
            </a:pPr>
            <a:r>
              <a:rPr lang="en-GB">
                <a:solidFill>
                  <a:srgbClr val="212529"/>
                </a:solidFill>
                <a:highlight>
                  <a:srgbClr val="FFFFFF"/>
                </a:highlight>
              </a:rPr>
              <a:t>product(?a, ?b, ?c)</a:t>
            </a:r>
            <a:endParaRPr>
              <a:solidFill>
                <a:srgbClr val="212529"/>
              </a:solidFill>
              <a:highlight>
                <a:srgbClr val="FFFFFF"/>
              </a:highlight>
            </a:endParaRPr>
          </a:p>
          <a:p>
            <a:pPr indent="0" lvl="0" marL="0" rtl="0" algn="l">
              <a:spcBef>
                <a:spcPts val="0"/>
              </a:spcBef>
              <a:spcAft>
                <a:spcPts val="0"/>
              </a:spcAft>
              <a:buNone/>
            </a:pPr>
            <a:r>
              <a:rPr lang="en-GB">
                <a:solidFill>
                  <a:srgbClr val="212529"/>
                </a:solidFill>
                <a:highlight>
                  <a:srgbClr val="FFFFFF"/>
                </a:highlight>
              </a:rPr>
              <a:t>quotient(?a, ?b, ?c)</a:t>
            </a:r>
            <a:endParaRPr>
              <a:solidFill>
                <a:srgbClr val="212529"/>
              </a:solidFill>
              <a:highlight>
                <a:srgbClr val="FFFFFF"/>
              </a:highlight>
            </a:endParaRPr>
          </a:p>
          <a:p>
            <a:pPr indent="0" lvl="0" marL="0" rtl="0" algn="l">
              <a:spcBef>
                <a:spcPts val="0"/>
              </a:spcBef>
              <a:spcAft>
                <a:spcPts val="0"/>
              </a:spcAft>
              <a:buNone/>
            </a:pPr>
            <a:r>
              <a:rPr lang="en-GB">
                <a:solidFill>
                  <a:srgbClr val="212529"/>
                </a:solidFill>
                <a:highlight>
                  <a:srgbClr val="FFFFFF"/>
                </a:highlight>
              </a:rPr>
              <a:t>v.v..</a:t>
            </a:r>
            <a:endParaRPr>
              <a:solidFill>
                <a:srgbClr val="212529"/>
              </a:solidFill>
              <a:highlight>
                <a:srgbClr val="FFFFFF"/>
              </a:highlight>
            </a:endParaRPr>
          </a:p>
        </p:txBody>
      </p:sp>
      <p:sp>
        <p:nvSpPr>
          <p:cNvPr id="526" name="Google Shape;526;p7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7.7. Luật trong Apache Jena</a:t>
            </a:r>
            <a:endParaRPr/>
          </a:p>
        </p:txBody>
      </p:sp>
      <p:sp>
        <p:nvSpPr>
          <p:cNvPr id="532" name="Google Shape;532;p78"/>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[allID: (?C rdf:type owl:Restriction), (?C owl:onProperty ?P),</a:t>
            </a:r>
            <a:endParaRPr/>
          </a:p>
          <a:p>
            <a:pPr indent="0" lvl="0" marL="0" rtl="0" algn="l">
              <a:spcBef>
                <a:spcPts val="0"/>
              </a:spcBef>
              <a:spcAft>
                <a:spcPts val="0"/>
              </a:spcAft>
              <a:buNone/>
            </a:pPr>
            <a:r>
              <a:rPr lang="en-GB"/>
              <a:t>          (?C owl:allValuesFrom ?D)  -&gt; </a:t>
            </a:r>
            <a:endParaRPr/>
          </a:p>
          <a:p>
            <a:pPr indent="0" lvl="0" marL="0" rtl="0" algn="l">
              <a:spcBef>
                <a:spcPts val="0"/>
              </a:spcBef>
              <a:spcAft>
                <a:spcPts val="0"/>
              </a:spcAft>
              <a:buClr>
                <a:schemeClr val="dk1"/>
              </a:buClr>
              <a:buSzPts val="1100"/>
              <a:buFont typeface="Arial"/>
              <a:buNone/>
            </a:pPr>
            <a:r>
              <a:rPr lang="en-GB"/>
              <a:t>                      (?C owl:equivalentClass all(?P, ?D)) ]</a:t>
            </a:r>
            <a:endParaRPr/>
          </a:p>
          <a:p>
            <a:pPr indent="0" lvl="0" marL="0" rtl="0" algn="l">
              <a:spcBef>
                <a:spcPts val="0"/>
              </a:spcBef>
              <a:spcAft>
                <a:spcPts val="0"/>
              </a:spcAft>
              <a:buClr>
                <a:schemeClr val="dk1"/>
              </a:buClr>
              <a:buSzPts val="1100"/>
              <a:buFont typeface="Arial"/>
              <a:buNone/>
            </a:pPr>
            <a:r>
              <a:rPr lang="en-GB"/>
              <a:t>[all2: (?C rdfs:subClassOf all(?P, ?D)) -&gt; print(‘Rule for ‘, ?C)</a:t>
            </a:r>
            <a:endParaRPr/>
          </a:p>
          <a:p>
            <a:pPr indent="0" lvl="0" marL="0" rtl="0" algn="l">
              <a:spcBef>
                <a:spcPts val="0"/>
              </a:spcBef>
              <a:spcAft>
                <a:spcPts val="0"/>
              </a:spcAft>
              <a:buNone/>
            </a:pPr>
            <a:r>
              <a:rPr lang="en-GB"/>
              <a:t>         [all1b: (?Y rdf:type ?D) &lt;- (?X ?P ?Y), (?X rdf:type ?C) ] </a:t>
            </a:r>
            <a:endParaRPr/>
          </a:p>
          <a:p>
            <a:pPr indent="0" lvl="0" marL="0" rtl="0" algn="l">
              <a:spcBef>
                <a:spcPts val="0"/>
              </a:spcBef>
              <a:spcAft>
                <a:spcPts val="0"/>
              </a:spcAft>
              <a:buClr>
                <a:schemeClr val="dk1"/>
              </a:buClr>
              <a:buSzPts val="1100"/>
              <a:buFont typeface="Arial"/>
              <a:buNone/>
            </a:pPr>
            <a:r>
              <a:rPr lang="en-GB"/>
              <a:t>]</a:t>
            </a:r>
            <a:endParaRPr/>
          </a:p>
          <a:p>
            <a:pPr indent="0" lvl="0" marL="0" rtl="0" algn="l">
              <a:spcBef>
                <a:spcPts val="0"/>
              </a:spcBef>
              <a:spcAft>
                <a:spcPts val="0"/>
              </a:spcAft>
              <a:buClr>
                <a:schemeClr val="dk1"/>
              </a:buClr>
              <a:buSzPts val="1100"/>
              <a:buFont typeface="Arial"/>
              <a:buNone/>
            </a:pPr>
            <a:r>
              <a:rPr lang="en-GB"/>
              <a:t>[max1: (?A rdf:type max(?P, 1)), (?A ?P ?B), (?A ?P ?C)</a:t>
            </a:r>
            <a:endParaRPr/>
          </a:p>
          <a:p>
            <a:pPr indent="0" lvl="0" marL="0" rtl="0" algn="l">
              <a:spcBef>
                <a:spcPts val="0"/>
              </a:spcBef>
              <a:spcAft>
                <a:spcPts val="0"/>
              </a:spcAft>
              <a:buClr>
                <a:schemeClr val="dk1"/>
              </a:buClr>
              <a:buSzPts val="1100"/>
              <a:buFont typeface="Arial"/>
              <a:buNone/>
            </a:pPr>
            <a:r>
              <a:rPr lang="en-GB"/>
              <a:t>            -&gt; (?B owl:sameAs ?C) ]</a:t>
            </a:r>
            <a:endParaRPr/>
          </a:p>
          <a:p>
            <a:pPr indent="0" lvl="0" marL="0" rtl="0" algn="l">
              <a:spcBef>
                <a:spcPts val="0"/>
              </a:spcBef>
              <a:spcAft>
                <a:spcPts val="0"/>
              </a:spcAft>
              <a:buNone/>
            </a:pPr>
            <a:r>
              <a:t/>
            </a:r>
            <a:endParaRPr/>
          </a:p>
        </p:txBody>
      </p:sp>
      <p:sp>
        <p:nvSpPr>
          <p:cNvPr id="533" name="Google Shape;533;p7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7.8. Kết hợp Ontology và luật</a:t>
            </a:r>
            <a:endParaRPr/>
          </a:p>
        </p:txBody>
      </p:sp>
      <p:sp>
        <p:nvSpPr>
          <p:cNvPr id="539" name="Google Shape;539;p79"/>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 Example rule file</a:t>
            </a:r>
            <a:endParaRPr/>
          </a:p>
          <a:p>
            <a:pPr indent="0" lvl="0" marL="0" rtl="0" algn="l">
              <a:spcBef>
                <a:spcPts val="0"/>
              </a:spcBef>
              <a:spcAft>
                <a:spcPts val="0"/>
              </a:spcAft>
              <a:buClr>
                <a:schemeClr val="dk1"/>
              </a:buClr>
              <a:buSzPts val="1100"/>
              <a:buFont typeface="Arial"/>
              <a:buNone/>
            </a:pPr>
            <a:r>
              <a:rPr lang="en-GB"/>
              <a:t>@prefix pre: &lt;http://jena.hpl.hp.com/prefix#&gt;.</a:t>
            </a:r>
            <a:endParaRPr/>
          </a:p>
          <a:p>
            <a:pPr indent="0" lvl="0" marL="0" rtl="0" algn="l">
              <a:spcBef>
                <a:spcPts val="0"/>
              </a:spcBef>
              <a:spcAft>
                <a:spcPts val="0"/>
              </a:spcAft>
              <a:buClr>
                <a:schemeClr val="dk1"/>
              </a:buClr>
              <a:buSzPts val="1100"/>
              <a:buFont typeface="Arial"/>
              <a:buNone/>
            </a:pPr>
            <a:r>
              <a:rPr lang="en-GB"/>
              <a:t>@include &lt;RDFS&gt;.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GB"/>
              <a:t>[rule1: (?f pre:father ?a) (?u pre:brother ?f) -&gt; </a:t>
            </a:r>
            <a:endParaRPr/>
          </a:p>
          <a:p>
            <a:pPr indent="0" lvl="0" marL="0" rtl="0" algn="l">
              <a:spcBef>
                <a:spcPts val="0"/>
              </a:spcBef>
              <a:spcAft>
                <a:spcPts val="0"/>
              </a:spcAft>
              <a:buClr>
                <a:schemeClr val="dk1"/>
              </a:buClr>
              <a:buSzPts val="1100"/>
              <a:buFont typeface="Arial"/>
              <a:buNone/>
            </a:pPr>
            <a:r>
              <a:rPr lang="en-GB"/>
              <a:t>            (?u pre:uncle ?a)]</a:t>
            </a:r>
            <a:endParaRPr/>
          </a:p>
          <a:p>
            <a:pPr indent="0" lvl="0" marL="0" rtl="0" algn="l">
              <a:spcBef>
                <a:spcPts val="0"/>
              </a:spcBef>
              <a:spcAft>
                <a:spcPts val="0"/>
              </a:spcAft>
              <a:buNone/>
            </a:pPr>
            <a:r>
              <a:t/>
            </a:r>
            <a:endParaRPr/>
          </a:p>
        </p:txBody>
      </p:sp>
      <p:sp>
        <p:nvSpPr>
          <p:cNvPr id="540" name="Google Shape;540;p7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8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 suy diễn luật trong Apache Jena</a:t>
            </a:r>
            <a:endParaRPr/>
          </a:p>
        </p:txBody>
      </p:sp>
      <p:sp>
        <p:nvSpPr>
          <p:cNvPr id="546" name="Google Shape;546;p80"/>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@prefix owl: &lt;http://www.w3.org/2002/07/owl#&gt; .</a:t>
            </a:r>
            <a:endParaRPr/>
          </a:p>
          <a:p>
            <a:pPr indent="0" lvl="0" marL="0" rtl="0" algn="l">
              <a:spcBef>
                <a:spcPts val="0"/>
              </a:spcBef>
              <a:spcAft>
                <a:spcPts val="0"/>
              </a:spcAft>
              <a:buClr>
                <a:schemeClr val="dk1"/>
              </a:buClr>
              <a:buSzPts val="1100"/>
              <a:buFont typeface="Arial"/>
              <a:buNone/>
            </a:pPr>
            <a:r>
              <a:rPr lang="en-GB"/>
              <a:t>@prefix rdf: &lt;http://www.w3.org/1999/02/22-rdf-syntax-ns#&gt; .</a:t>
            </a:r>
            <a:endParaRPr/>
          </a:p>
          <a:p>
            <a:pPr indent="0" lvl="0" marL="0" rtl="0" algn="l">
              <a:spcBef>
                <a:spcPts val="0"/>
              </a:spcBef>
              <a:spcAft>
                <a:spcPts val="0"/>
              </a:spcAft>
              <a:buClr>
                <a:schemeClr val="dk1"/>
              </a:buClr>
              <a:buSzPts val="1100"/>
              <a:buFont typeface="Arial"/>
              <a:buNone/>
            </a:pPr>
            <a:r>
              <a:rPr lang="en-GB"/>
              <a:t>@prefix rdfs: &lt;http://www.w3.org/2000/01/rdf-schema#&gt; .</a:t>
            </a:r>
            <a:endParaRPr/>
          </a:p>
          <a:p>
            <a:pPr indent="0" lvl="0" marL="0" rtl="0" algn="l">
              <a:spcBef>
                <a:spcPts val="0"/>
              </a:spcBef>
              <a:spcAft>
                <a:spcPts val="0"/>
              </a:spcAft>
              <a:buClr>
                <a:schemeClr val="dk1"/>
              </a:buClr>
              <a:buSzPts val="1100"/>
              <a:buFont typeface="Arial"/>
              <a:buNone/>
            </a:pPr>
            <a:r>
              <a:rPr lang="en-GB"/>
              <a:t>@prefix : &lt;http://semweb.edu.vn/rule-demo#&gt;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:a :p :b.</a:t>
            </a:r>
            <a:endParaRPr/>
          </a:p>
          <a:p>
            <a:pPr indent="0" lvl="0" marL="0" rtl="0" algn="l">
              <a:spcBef>
                <a:spcPts val="0"/>
              </a:spcBef>
              <a:spcAft>
                <a:spcPts val="0"/>
              </a:spcAft>
              <a:buClr>
                <a:schemeClr val="dk1"/>
              </a:buClr>
              <a:buSzPts val="1100"/>
              <a:buFont typeface="Arial"/>
              <a:buNone/>
            </a:pPr>
            <a:r>
              <a:rPr lang="en-GB"/>
              <a:t>:b :p :c.</a:t>
            </a:r>
            <a:endParaRPr/>
          </a:p>
          <a:p>
            <a:pPr indent="0" lvl="0" marL="0" rtl="0" algn="l">
              <a:spcBef>
                <a:spcPts val="0"/>
              </a:spcBef>
              <a:spcAft>
                <a:spcPts val="0"/>
              </a:spcAft>
              <a:buClr>
                <a:schemeClr val="dk1"/>
              </a:buClr>
              <a:buSzPts val="1100"/>
              <a:buFont typeface="Arial"/>
              <a:buNone/>
            </a:pPr>
            <a:r>
              <a:rPr lang="en-GB"/>
              <a:t>:b :p :d.</a:t>
            </a:r>
            <a:endParaRPr/>
          </a:p>
          <a:p>
            <a:pPr indent="0" lvl="0" marL="0" rtl="0" algn="l">
              <a:spcBef>
                <a:spcPts val="0"/>
              </a:spcBef>
              <a:spcAft>
                <a:spcPts val="0"/>
              </a:spcAft>
              <a:buClr>
                <a:schemeClr val="dk1"/>
              </a:buClr>
              <a:buSzPts val="1100"/>
              <a:buFont typeface="Arial"/>
              <a:buNone/>
            </a:pPr>
            <a:r>
              <a:rPr lang="en-GB"/>
              <a:t>:c :p :d.</a:t>
            </a:r>
            <a:endParaRPr/>
          </a:p>
          <a:p>
            <a:pPr indent="0" lvl="0" marL="0" rtl="0" algn="l">
              <a:spcBef>
                <a:spcPts val="0"/>
              </a:spcBef>
              <a:spcAft>
                <a:spcPts val="0"/>
              </a:spcAft>
              <a:buNone/>
            </a:pPr>
            <a:r>
              <a:t/>
            </a:r>
            <a:endParaRPr/>
          </a:p>
        </p:txBody>
      </p:sp>
      <p:sp>
        <p:nvSpPr>
          <p:cNvPr id="547" name="Google Shape;547;p8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48" name="Google Shape;548;p80"/>
          <p:cNvSpPr txBox="1"/>
          <p:nvPr/>
        </p:nvSpPr>
        <p:spPr>
          <a:xfrm>
            <a:off x="282525" y="5359525"/>
            <a:ext cx="8520600" cy="90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2400">
                <a:solidFill>
                  <a:schemeClr val="dk2"/>
                </a:solidFill>
              </a:rPr>
              <a:t>@prefix : &lt;http://semweb.edu.vn/rule-demo#&gt; .</a:t>
            </a:r>
            <a:endParaRPr sz="24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en-GB" sz="2400">
                <a:solidFill>
                  <a:schemeClr val="dk2"/>
                </a:solidFill>
              </a:rPr>
              <a:t>[rule1: (?a :p ?b) (?b :p ?c) -&gt; (?a :p ?c)]</a:t>
            </a:r>
            <a:endParaRPr sz="2400">
              <a:solidFill>
                <a:schemeClr val="dk2"/>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8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 suy diễn luật trong Apache Jena</a:t>
            </a:r>
            <a:r>
              <a:rPr baseline="-25000" lang="en-GB"/>
              <a:t>(2)</a:t>
            </a:r>
            <a:endParaRPr baseline="-25000"/>
          </a:p>
        </p:txBody>
      </p:sp>
      <p:sp>
        <p:nvSpPr>
          <p:cNvPr id="554" name="Google Shape;554;p81"/>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@prefix owl: &lt;http://www.w3.org/2002/07/owl#&gt; .</a:t>
            </a:r>
            <a:endParaRPr/>
          </a:p>
          <a:p>
            <a:pPr indent="0" lvl="0" marL="0" rtl="0" algn="l">
              <a:spcBef>
                <a:spcPts val="0"/>
              </a:spcBef>
              <a:spcAft>
                <a:spcPts val="0"/>
              </a:spcAft>
              <a:buClr>
                <a:schemeClr val="dk1"/>
              </a:buClr>
              <a:buSzPts val="1100"/>
              <a:buFont typeface="Arial"/>
              <a:buNone/>
            </a:pPr>
            <a:r>
              <a:rPr lang="en-GB"/>
              <a:t>@prefix rdf: &lt;http://www.w3.org/1999/02/22-rdf-syntax-ns#&gt; .</a:t>
            </a:r>
            <a:endParaRPr/>
          </a:p>
          <a:p>
            <a:pPr indent="0" lvl="0" marL="0" rtl="0" algn="l">
              <a:spcBef>
                <a:spcPts val="0"/>
              </a:spcBef>
              <a:spcAft>
                <a:spcPts val="0"/>
              </a:spcAft>
              <a:buClr>
                <a:schemeClr val="dk1"/>
              </a:buClr>
              <a:buSzPts val="1100"/>
              <a:buFont typeface="Arial"/>
              <a:buNone/>
            </a:pPr>
            <a:r>
              <a:rPr lang="en-GB"/>
              <a:t>@prefix rdfs: &lt;http://www.w3.org/2000/01/rdf-schema#&gt; .</a:t>
            </a:r>
            <a:endParaRPr/>
          </a:p>
          <a:p>
            <a:pPr indent="0" lvl="0" marL="0" rtl="0" algn="l">
              <a:spcBef>
                <a:spcPts val="0"/>
              </a:spcBef>
              <a:spcAft>
                <a:spcPts val="0"/>
              </a:spcAft>
              <a:buClr>
                <a:schemeClr val="dk1"/>
              </a:buClr>
              <a:buSzPts val="1100"/>
              <a:buFont typeface="Arial"/>
              <a:buNone/>
            </a:pPr>
            <a:r>
              <a:rPr lang="en-GB"/>
              <a:t>@prefix : &lt;http://semweb.edu.vn/rule-demo#&gt;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:a :p :b.</a:t>
            </a:r>
            <a:endParaRPr/>
          </a:p>
          <a:p>
            <a:pPr indent="0" lvl="0" marL="0" rtl="0" algn="l">
              <a:spcBef>
                <a:spcPts val="0"/>
              </a:spcBef>
              <a:spcAft>
                <a:spcPts val="0"/>
              </a:spcAft>
              <a:buClr>
                <a:schemeClr val="dk1"/>
              </a:buClr>
              <a:buSzPts val="1100"/>
              <a:buFont typeface="Arial"/>
              <a:buNone/>
            </a:pPr>
            <a:r>
              <a:rPr lang="en-GB"/>
              <a:t>:b :p :c.</a:t>
            </a:r>
            <a:endParaRPr/>
          </a:p>
          <a:p>
            <a:pPr indent="0" lvl="0" marL="0" rtl="0" algn="l">
              <a:spcBef>
                <a:spcPts val="0"/>
              </a:spcBef>
              <a:spcAft>
                <a:spcPts val="0"/>
              </a:spcAft>
              <a:buClr>
                <a:schemeClr val="dk1"/>
              </a:buClr>
              <a:buSzPts val="1100"/>
              <a:buFont typeface="Arial"/>
              <a:buNone/>
            </a:pPr>
            <a:r>
              <a:rPr lang="en-GB"/>
              <a:t>:b :p :d.</a:t>
            </a:r>
            <a:endParaRPr/>
          </a:p>
          <a:p>
            <a:pPr indent="0" lvl="0" marL="0" rtl="0" algn="l">
              <a:spcBef>
                <a:spcPts val="0"/>
              </a:spcBef>
              <a:spcAft>
                <a:spcPts val="0"/>
              </a:spcAft>
              <a:buClr>
                <a:schemeClr val="dk1"/>
              </a:buClr>
              <a:buSzPts val="1100"/>
              <a:buFont typeface="Arial"/>
              <a:buNone/>
            </a:pPr>
            <a:r>
              <a:rPr lang="en-GB"/>
              <a:t>:c :p :d.</a:t>
            </a:r>
            <a:endParaRPr/>
          </a:p>
          <a:p>
            <a:pPr indent="0" lvl="0" marL="0" rtl="0" algn="l">
              <a:spcBef>
                <a:spcPts val="0"/>
              </a:spcBef>
              <a:spcAft>
                <a:spcPts val="0"/>
              </a:spcAft>
              <a:buNone/>
            </a:pPr>
            <a:r>
              <a:t/>
            </a:r>
            <a:endParaRPr/>
          </a:p>
        </p:txBody>
      </p:sp>
      <p:sp>
        <p:nvSpPr>
          <p:cNvPr id="555" name="Google Shape;555;p8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56" name="Google Shape;556;p81"/>
          <p:cNvSpPr txBox="1"/>
          <p:nvPr/>
        </p:nvSpPr>
        <p:spPr>
          <a:xfrm>
            <a:off x="282525" y="5359525"/>
            <a:ext cx="8520600" cy="90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2400">
                <a:solidFill>
                  <a:schemeClr val="dk2"/>
                </a:solidFill>
              </a:rPr>
              <a:t>@prefix : &lt;http://semweb.edu.vn/rule-demo#&gt; .</a:t>
            </a:r>
            <a:endParaRPr sz="24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en-GB" sz="2400">
                <a:solidFill>
                  <a:schemeClr val="dk2"/>
                </a:solidFill>
              </a:rPr>
              <a:t>[rule1: (?a :p ?b) (?b :p ?c) -&gt; (?a :p ?c)]</a:t>
            </a:r>
            <a:endParaRPr sz="2400">
              <a:solidFill>
                <a:schemeClr val="dk2"/>
              </a:solidFill>
            </a:endParaRPr>
          </a:p>
        </p:txBody>
      </p:sp>
      <p:sp>
        <p:nvSpPr>
          <p:cNvPr id="557" name="Google Shape;557;p81"/>
          <p:cNvSpPr txBox="1"/>
          <p:nvPr/>
        </p:nvSpPr>
        <p:spPr>
          <a:xfrm>
            <a:off x="4053425" y="3139375"/>
            <a:ext cx="4525200" cy="199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1155CC"/>
                </a:solidFill>
              </a:rPr>
              <a:t>:a :p :c. :a :p :d.</a:t>
            </a:r>
            <a:endParaRPr sz="2400">
              <a:solidFill>
                <a:srgbClr val="1155CC"/>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8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Tùy chỉnh Fuseki</a:t>
            </a:r>
            <a:endParaRPr/>
          </a:p>
        </p:txBody>
      </p:sp>
      <p:sp>
        <p:nvSpPr>
          <p:cNvPr id="563" name="Google Shape;563;p82"/>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ja:reasoner [</a:t>
            </a:r>
            <a:endParaRPr/>
          </a:p>
          <a:p>
            <a:pPr indent="0" lvl="0" marL="0" rtl="0" algn="l">
              <a:spcBef>
                <a:spcPts val="0"/>
              </a:spcBef>
              <a:spcAft>
                <a:spcPts val="0"/>
              </a:spcAft>
              <a:buClr>
                <a:schemeClr val="dk1"/>
              </a:buClr>
              <a:buSzPts val="1100"/>
              <a:buFont typeface="Arial"/>
              <a:buNone/>
            </a:pPr>
            <a:r>
              <a:rPr lang="en-GB"/>
              <a:t>        </a:t>
            </a:r>
            <a:r>
              <a:rPr lang="en-GB"/>
              <a:t> ja:rulesFrom &lt;file:demo.rules&gt; ;</a:t>
            </a:r>
            <a:endParaRPr/>
          </a:p>
          <a:p>
            <a:pPr indent="0" lvl="0" marL="0" rtl="0" algn="l">
              <a:spcBef>
                <a:spcPts val="0"/>
              </a:spcBef>
              <a:spcAft>
                <a:spcPts val="0"/>
              </a:spcAft>
              <a:buNone/>
            </a:pPr>
            <a:r>
              <a:rPr lang="en-GB"/>
              <a:t>     ]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r">
              <a:spcBef>
                <a:spcPts val="0"/>
              </a:spcBef>
              <a:spcAft>
                <a:spcPts val="0"/>
              </a:spcAft>
              <a:buNone/>
            </a:pPr>
            <a:r>
              <a:rPr lang="en-GB" sz="2200"/>
              <a:t>[https://github.com/bangoc/semweb/blob/master/rules-config.ttl]</a:t>
            </a:r>
            <a:endParaRPr sz="2200"/>
          </a:p>
        </p:txBody>
      </p:sp>
      <p:sp>
        <p:nvSpPr>
          <p:cNvPr id="564" name="Google Shape;564;p8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65" name="Google Shape;565;p82"/>
          <p:cNvSpPr txBox="1"/>
          <p:nvPr/>
        </p:nvSpPr>
        <p:spPr>
          <a:xfrm>
            <a:off x="272475" y="4034350"/>
            <a:ext cx="8658000" cy="593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2400">
                <a:solidFill>
                  <a:srgbClr val="1155CC"/>
                </a:solidFill>
              </a:rPr>
              <a:t>fuseki-server --config rules-config.ttl</a:t>
            </a:r>
            <a:endParaRPr sz="2400">
              <a:solidFill>
                <a:srgbClr val="1155CC"/>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Truy </a:t>
            </a:r>
            <a:r>
              <a:rPr lang="en-GB"/>
              <a:t>vấn </a:t>
            </a:r>
            <a:endParaRPr/>
          </a:p>
        </p:txBody>
      </p:sp>
      <p:sp>
        <p:nvSpPr>
          <p:cNvPr id="571" name="Google Shape;571;p83"/>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PREFIX rdf: &lt;http://www.w3.org/1999/02/22-rdf-syntax-ns#&gt;</a:t>
            </a:r>
            <a:endParaRPr/>
          </a:p>
          <a:p>
            <a:pPr indent="0" lvl="0" marL="0" rtl="0" algn="l">
              <a:spcBef>
                <a:spcPts val="0"/>
              </a:spcBef>
              <a:spcAft>
                <a:spcPts val="0"/>
              </a:spcAft>
              <a:buClr>
                <a:schemeClr val="dk1"/>
              </a:buClr>
              <a:buSzPts val="1100"/>
              <a:buFont typeface="Arial"/>
              <a:buNone/>
            </a:pPr>
            <a:r>
              <a:rPr lang="en-GB"/>
              <a:t>PREFIX rdfs: &lt;http://www.w3.org/2000/01/rdf-schema#&gt;</a:t>
            </a:r>
            <a:endParaRPr/>
          </a:p>
          <a:p>
            <a:pPr indent="0" lvl="0" marL="0" rtl="0" algn="l">
              <a:spcBef>
                <a:spcPts val="0"/>
              </a:spcBef>
              <a:spcAft>
                <a:spcPts val="0"/>
              </a:spcAft>
              <a:buClr>
                <a:schemeClr val="dk1"/>
              </a:buClr>
              <a:buSzPts val="1100"/>
              <a:buFont typeface="Arial"/>
              <a:buNone/>
            </a:pPr>
            <a:r>
              <a:rPr lang="en-GB"/>
              <a:t>prefix : &lt;http://semweb.edu.vn/rule-demo#&gt;</a:t>
            </a:r>
            <a:endParaRPr/>
          </a:p>
          <a:p>
            <a:pPr indent="0" lvl="0" marL="0" rtl="0" algn="l">
              <a:spcBef>
                <a:spcPts val="0"/>
              </a:spcBef>
              <a:spcAft>
                <a:spcPts val="0"/>
              </a:spcAft>
              <a:buClr>
                <a:schemeClr val="dk1"/>
              </a:buClr>
              <a:buSzPts val="1100"/>
              <a:buFont typeface="Arial"/>
              <a:buNone/>
            </a:pPr>
            <a:r>
              <a:rPr lang="en-GB"/>
              <a:t>construct {?s :p ?o} WHERE {</a:t>
            </a:r>
            <a:endParaRPr/>
          </a:p>
          <a:p>
            <a:pPr indent="0" lvl="0" marL="0" rtl="0" algn="l">
              <a:spcBef>
                <a:spcPts val="0"/>
              </a:spcBef>
              <a:spcAft>
                <a:spcPts val="0"/>
              </a:spcAft>
              <a:buClr>
                <a:schemeClr val="dk1"/>
              </a:buClr>
              <a:buSzPts val="1100"/>
              <a:buFont typeface="Arial"/>
              <a:buNone/>
            </a:pPr>
            <a:r>
              <a:rPr lang="en-GB"/>
              <a:t>  ?s :p ?o.</a:t>
            </a:r>
            <a:endParaRPr/>
          </a:p>
          <a:p>
            <a:pPr indent="0" lvl="0" marL="0" rtl="0" algn="l">
              <a:spcBef>
                <a:spcPts val="0"/>
              </a:spcBef>
              <a:spcAft>
                <a:spcPts val="0"/>
              </a:spcAft>
              <a:buClr>
                <a:schemeClr val="dk1"/>
              </a:buClr>
              <a:buSzPts val="1100"/>
              <a:buFont typeface="Arial"/>
              <a:buNone/>
            </a:pPr>
            <a:r>
              <a:rPr lang="en-GB"/>
              <a:t>} LIMIT 10</a:t>
            </a:r>
            <a:endParaRPr/>
          </a:p>
          <a:p>
            <a:pPr indent="0" lvl="0" marL="0" rtl="0" algn="l">
              <a:spcBef>
                <a:spcPts val="0"/>
              </a:spcBef>
              <a:spcAft>
                <a:spcPts val="0"/>
              </a:spcAft>
              <a:buNone/>
            </a:pPr>
            <a:r>
              <a:t/>
            </a:r>
            <a:endParaRPr/>
          </a:p>
        </p:txBody>
      </p:sp>
      <p:sp>
        <p:nvSpPr>
          <p:cNvPr id="572" name="Google Shape;572;p8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8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Áp dụng ngữ nghĩa RDFS trong Jena</a:t>
            </a:r>
            <a:endParaRPr/>
          </a:p>
        </p:txBody>
      </p:sp>
      <p:sp>
        <p:nvSpPr>
          <p:cNvPr id="578" name="Google Shape;578;p84"/>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200"/>
              <a:t>[</a:t>
            </a:r>
            <a:r>
              <a:rPr b="1" lang="en-GB" sz="2200"/>
              <a:t>rdfs2:</a:t>
            </a:r>
            <a:r>
              <a:rPr lang="en-GB" sz="2200"/>
              <a:t>  (?x ?p ?y), (?p rdfs:domain ?c) -&gt; (?x rdf:type ?c)] </a:t>
            </a:r>
            <a:endParaRPr sz="2200"/>
          </a:p>
          <a:p>
            <a:pPr indent="0" lvl="0" marL="0" rtl="0" algn="l">
              <a:spcBef>
                <a:spcPts val="0"/>
              </a:spcBef>
              <a:spcAft>
                <a:spcPts val="0"/>
              </a:spcAft>
              <a:buClr>
                <a:schemeClr val="dk1"/>
              </a:buClr>
              <a:buSzPts val="1100"/>
              <a:buFont typeface="Arial"/>
              <a:buNone/>
            </a:pPr>
            <a:r>
              <a:rPr lang="en-GB" sz="2200"/>
              <a:t>[</a:t>
            </a:r>
            <a:r>
              <a:rPr b="1" lang="en-GB" sz="2200"/>
              <a:t>rdfs3:</a:t>
            </a:r>
            <a:r>
              <a:rPr lang="en-GB" sz="2200"/>
              <a:t>  (?x ?p ?y), (?p rdfs:range ?c) -&gt; (?y rdf:type ?c)] </a:t>
            </a:r>
            <a:endParaRPr sz="2200"/>
          </a:p>
          <a:p>
            <a:pPr indent="0" lvl="0" marL="0" rtl="0" algn="l">
              <a:spcBef>
                <a:spcPts val="0"/>
              </a:spcBef>
              <a:spcAft>
                <a:spcPts val="0"/>
              </a:spcAft>
              <a:buNone/>
            </a:pPr>
            <a:r>
              <a:rPr lang="en-GB" sz="2200"/>
              <a:t>[</a:t>
            </a:r>
            <a:r>
              <a:rPr b="1" lang="en-GB" sz="2200"/>
              <a:t>rdfs5a:</a:t>
            </a:r>
            <a:r>
              <a:rPr lang="en-GB" sz="2200"/>
              <a:t> (?a rdfs:subPropertyOf ?b), (?b rdfs:subPropertyOf ?c) -&gt; </a:t>
            </a:r>
            <a:endParaRPr sz="2200"/>
          </a:p>
          <a:p>
            <a:pPr indent="0" lvl="0" marL="0" rtl="0" algn="l">
              <a:spcBef>
                <a:spcPts val="0"/>
              </a:spcBef>
              <a:spcAft>
                <a:spcPts val="0"/>
              </a:spcAft>
              <a:buClr>
                <a:schemeClr val="dk1"/>
              </a:buClr>
              <a:buSzPts val="1100"/>
              <a:buFont typeface="Arial"/>
              <a:buNone/>
            </a:pPr>
            <a:r>
              <a:rPr lang="en-GB" sz="2200"/>
              <a:t>              (?a rdfs:subPropertyOf ?c)] </a:t>
            </a:r>
            <a:endParaRPr sz="2200"/>
          </a:p>
          <a:p>
            <a:pPr indent="0" lvl="0" marL="0" rtl="0" algn="l">
              <a:spcBef>
                <a:spcPts val="0"/>
              </a:spcBef>
              <a:spcAft>
                <a:spcPts val="0"/>
              </a:spcAft>
              <a:buClr>
                <a:schemeClr val="dk1"/>
              </a:buClr>
              <a:buSzPts val="1100"/>
              <a:buFont typeface="Arial"/>
              <a:buNone/>
            </a:pPr>
            <a:r>
              <a:rPr lang="en-GB" sz="2200"/>
              <a:t>[</a:t>
            </a:r>
            <a:r>
              <a:rPr b="1" lang="en-GB" sz="2200"/>
              <a:t>rdfs5b:</a:t>
            </a:r>
            <a:r>
              <a:rPr lang="en-GB" sz="2200"/>
              <a:t> (?a rdf:type rdf:Property) -&gt; (?a rdfs:subPropertyOf ?a)] </a:t>
            </a:r>
            <a:endParaRPr sz="2200"/>
          </a:p>
          <a:p>
            <a:pPr indent="0" lvl="0" marL="0" rtl="0" algn="l">
              <a:spcBef>
                <a:spcPts val="0"/>
              </a:spcBef>
              <a:spcAft>
                <a:spcPts val="0"/>
              </a:spcAft>
              <a:buClr>
                <a:schemeClr val="dk1"/>
              </a:buClr>
              <a:buSzPts val="1100"/>
              <a:buFont typeface="Arial"/>
              <a:buNone/>
            </a:pPr>
            <a:r>
              <a:rPr lang="en-GB" sz="2200"/>
              <a:t>[</a:t>
            </a:r>
            <a:r>
              <a:rPr b="1" lang="en-GB" sz="2200"/>
              <a:t>rdfs6:</a:t>
            </a:r>
            <a:r>
              <a:rPr lang="en-GB" sz="2200"/>
              <a:t>  (?a ?p ?b), (?p rdfs:subPropertyOf ?q) -&gt; (?a ?q ?b)] </a:t>
            </a:r>
            <a:endParaRPr sz="2200"/>
          </a:p>
          <a:p>
            <a:pPr indent="0" lvl="0" marL="0" rtl="0" algn="l">
              <a:spcBef>
                <a:spcPts val="0"/>
              </a:spcBef>
              <a:spcAft>
                <a:spcPts val="0"/>
              </a:spcAft>
              <a:buClr>
                <a:schemeClr val="dk1"/>
              </a:buClr>
              <a:buSzPts val="1100"/>
              <a:buFont typeface="Arial"/>
              <a:buNone/>
            </a:pPr>
            <a:r>
              <a:rPr lang="en-GB" sz="2200"/>
              <a:t>[</a:t>
            </a:r>
            <a:r>
              <a:rPr b="1" lang="en-GB" sz="2200"/>
              <a:t>rdfs7:</a:t>
            </a:r>
            <a:r>
              <a:rPr lang="en-GB" sz="2200"/>
              <a:t>  (?a rdf:type rdfs:Class) -&gt; (?a rdfs:subClassOf ?a)]</a:t>
            </a:r>
            <a:endParaRPr sz="2200"/>
          </a:p>
          <a:p>
            <a:pPr indent="0" lvl="0" marL="0" rtl="0" algn="l">
              <a:spcBef>
                <a:spcPts val="0"/>
              </a:spcBef>
              <a:spcAft>
                <a:spcPts val="0"/>
              </a:spcAft>
              <a:buNone/>
            </a:pPr>
            <a:r>
              <a:rPr lang="en-GB" sz="2200"/>
              <a:t>[</a:t>
            </a:r>
            <a:r>
              <a:rPr b="1" lang="en-GB" sz="2200"/>
              <a:t>rdfs8:</a:t>
            </a:r>
            <a:r>
              <a:rPr lang="en-GB" sz="2200"/>
              <a:t>  (?a rdfs:subClassOf ?b), (?b rdfs:subClassOf ?c) -&gt; </a:t>
            </a:r>
            <a:endParaRPr sz="2200"/>
          </a:p>
          <a:p>
            <a:pPr indent="0" lvl="0" marL="0" rtl="0" algn="l">
              <a:spcBef>
                <a:spcPts val="0"/>
              </a:spcBef>
              <a:spcAft>
                <a:spcPts val="0"/>
              </a:spcAft>
              <a:buClr>
                <a:schemeClr val="dk1"/>
              </a:buClr>
              <a:buSzPts val="1100"/>
              <a:buFont typeface="Arial"/>
              <a:buNone/>
            </a:pPr>
            <a:r>
              <a:rPr lang="en-GB" sz="2200"/>
              <a:t>             (?a rdfs:subClassOf ?c)] </a:t>
            </a:r>
            <a:endParaRPr sz="2200"/>
          </a:p>
          <a:p>
            <a:pPr indent="0" lvl="0" marL="0" rtl="0" algn="l">
              <a:spcBef>
                <a:spcPts val="0"/>
              </a:spcBef>
              <a:spcAft>
                <a:spcPts val="0"/>
              </a:spcAft>
              <a:buClr>
                <a:schemeClr val="dk1"/>
              </a:buClr>
              <a:buSzPts val="1100"/>
              <a:buFont typeface="Arial"/>
              <a:buNone/>
            </a:pPr>
            <a:r>
              <a:rPr lang="en-GB" sz="2200"/>
              <a:t>[</a:t>
            </a:r>
            <a:r>
              <a:rPr b="1" lang="en-GB" sz="2200"/>
              <a:t>rdfs9:</a:t>
            </a:r>
            <a:r>
              <a:rPr lang="en-GB" sz="2200"/>
              <a:t>  (?x rdfs:subClassOf ?y), (?a rdf:type ?x) -&gt; (?a rdf:type ?y)] </a:t>
            </a:r>
            <a:endParaRPr sz="2200"/>
          </a:p>
          <a:p>
            <a:pPr indent="0" lvl="0" marL="0" rtl="0" algn="l">
              <a:spcBef>
                <a:spcPts val="0"/>
              </a:spcBef>
              <a:spcAft>
                <a:spcPts val="0"/>
              </a:spcAft>
              <a:buNone/>
            </a:pPr>
            <a:r>
              <a:rPr lang="en-GB" sz="2200"/>
              <a:t>[</a:t>
            </a:r>
            <a:r>
              <a:rPr b="1" lang="en-GB" sz="2200"/>
              <a:t>rdfs10:</a:t>
            </a:r>
            <a:r>
              <a:rPr lang="en-GB" sz="2200"/>
              <a:t> (?x rdf:type rdfs:ContainerMembershipProperty) -&gt; </a:t>
            </a:r>
            <a:endParaRPr sz="2200"/>
          </a:p>
          <a:p>
            <a:pPr indent="0" lvl="0" marL="0" rtl="0" algn="l">
              <a:spcBef>
                <a:spcPts val="0"/>
              </a:spcBef>
              <a:spcAft>
                <a:spcPts val="0"/>
              </a:spcAft>
              <a:buNone/>
            </a:pPr>
            <a:r>
              <a:rPr lang="en-GB" sz="2200"/>
              <a:t>              (?x rdfs:subPropertyOf rdfs:member)] </a:t>
            </a:r>
            <a:endParaRPr/>
          </a:p>
          <a:p>
            <a:pPr indent="0" lvl="0" marL="0" rtl="0" algn="r">
              <a:spcBef>
                <a:spcPts val="0"/>
              </a:spcBef>
              <a:spcAft>
                <a:spcPts val="0"/>
              </a:spcAft>
              <a:buNone/>
            </a:pPr>
            <a:r>
              <a:rPr lang="en-GB" sz="2200"/>
              <a:t>[https://github.com/apache/jena/blob/main/jena-core/src/main/resources/etc/rdfs.rules]</a:t>
            </a:r>
            <a:endParaRPr sz="2200"/>
          </a:p>
        </p:txBody>
      </p:sp>
      <p:sp>
        <p:nvSpPr>
          <p:cNvPr id="579" name="Google Shape;579;p8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Mở rộng tập luật trong Jena</a:t>
            </a:r>
            <a:endParaRPr/>
          </a:p>
        </p:txBody>
      </p:sp>
      <p:sp>
        <p:nvSpPr>
          <p:cNvPr id="585" name="Google Shape;585;p85"/>
          <p:cNvSpPr txBox="1"/>
          <p:nvPr>
            <p:ph idx="1" type="body"/>
          </p:nvPr>
        </p:nvSpPr>
        <p:spPr>
          <a:xfrm>
            <a:off x="311700" y="975875"/>
            <a:ext cx="8520600" cy="54054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GB"/>
              <a:t># Example rule file</a:t>
            </a:r>
            <a:endParaRPr/>
          </a:p>
          <a:p>
            <a:pPr indent="0" lvl="0" marL="0" rtl="0" algn="l">
              <a:spcBef>
                <a:spcPts val="0"/>
              </a:spcBef>
              <a:spcAft>
                <a:spcPts val="0"/>
              </a:spcAft>
              <a:buNone/>
            </a:pPr>
            <a:r>
              <a:rPr lang="en-GB"/>
              <a:t>@prefix pre: &lt;http://jena.hpl.hp.com/prefix#&gt;.</a:t>
            </a:r>
            <a:endParaRPr/>
          </a:p>
          <a:p>
            <a:pPr indent="0" lvl="0" marL="0" rtl="0" algn="l">
              <a:spcBef>
                <a:spcPts val="0"/>
              </a:spcBef>
              <a:spcAft>
                <a:spcPts val="0"/>
              </a:spcAft>
              <a:buNone/>
            </a:pPr>
            <a:r>
              <a:rPr lang="en-GB"/>
              <a:t>@include &lt;RDFS&gt;.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t>[rule1: (?f pre:father ?a) (?u pre:brother ?f) -&gt; </a:t>
            </a:r>
            <a:endParaRPr/>
          </a:p>
          <a:p>
            <a:pPr indent="0" lvl="0" marL="0" rtl="0" algn="l">
              <a:spcBef>
                <a:spcPts val="0"/>
              </a:spcBef>
              <a:spcAft>
                <a:spcPts val="0"/>
              </a:spcAft>
              <a:buClr>
                <a:schemeClr val="dk1"/>
              </a:buClr>
              <a:buSzPts val="1100"/>
              <a:buFont typeface="Arial"/>
              <a:buNone/>
            </a:pPr>
            <a:r>
              <a:rPr lang="en-GB"/>
              <a:t>           (?u pre:uncle ?a)]</a:t>
            </a:r>
            <a:endParaRPr>
              <a:solidFill>
                <a:srgbClr val="222222"/>
              </a:solidFill>
              <a:highlight>
                <a:srgbClr val="F5F5F5"/>
              </a:highlight>
            </a:endParaRPr>
          </a:p>
          <a:p>
            <a:pPr indent="0" lvl="0" marL="0" rtl="0" algn="l">
              <a:spcBef>
                <a:spcPts val="0"/>
              </a:spcBef>
              <a:spcAft>
                <a:spcPts val="0"/>
              </a:spcAft>
              <a:buNone/>
            </a:pPr>
            <a:r>
              <a:t/>
            </a:r>
            <a:endParaRPr/>
          </a:p>
        </p:txBody>
      </p:sp>
      <p:sp>
        <p:nvSpPr>
          <p:cNvPr id="586" name="Google Shape;586;p8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8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 suy diễn</a:t>
            </a:r>
            <a:endParaRPr/>
          </a:p>
        </p:txBody>
      </p:sp>
      <p:sp>
        <p:nvSpPr>
          <p:cNvPr id="592" name="Google Shape;592;p86"/>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Cho dữ kiện:</a:t>
            </a:r>
            <a:endParaRPr/>
          </a:p>
          <a:p>
            <a:pPr indent="0" lvl="0" marL="0" rtl="0" algn="l">
              <a:spcBef>
                <a:spcPts val="0"/>
              </a:spcBef>
              <a:spcAft>
                <a:spcPts val="0"/>
              </a:spcAft>
              <a:buNone/>
            </a:pPr>
            <a:r>
              <a:rPr lang="en-GB"/>
              <a:t>:john :fatherOf :mary .</a:t>
            </a:r>
            <a:endParaRPr/>
          </a:p>
          <a:p>
            <a:pPr indent="0" lvl="0" marL="0" rtl="0" algn="l">
              <a:spcBef>
                <a:spcPts val="0"/>
              </a:spcBef>
              <a:spcAft>
                <a:spcPts val="0"/>
              </a:spcAft>
              <a:buNone/>
            </a:pPr>
            <a:r>
              <a:rPr lang="en-GB"/>
              <a:t>:laura :motherOf :mary .</a:t>
            </a:r>
            <a:endParaRPr/>
          </a:p>
          <a:p>
            <a:pPr indent="0" lvl="0" marL="0" rtl="0" algn="l">
              <a:spcBef>
                <a:spcPts val="0"/>
              </a:spcBef>
              <a:spcAft>
                <a:spcPts val="0"/>
              </a:spcAft>
              <a:buNone/>
            </a:pPr>
            <a:r>
              <a:rPr lang="en-GB"/>
              <a:t>:peter :brotherOf :john .</a:t>
            </a:r>
            <a:endParaRPr/>
          </a:p>
          <a:p>
            <a:pPr indent="0" lvl="0" marL="0" rtl="0" algn="l">
              <a:spcBef>
                <a:spcPts val="0"/>
              </a:spcBef>
              <a:spcAft>
                <a:spcPts val="0"/>
              </a:spcAft>
              <a:buNone/>
            </a:pPr>
            <a:r>
              <a:rPr lang="en-GB"/>
              <a:t>:david :brotherOf :laura .</a:t>
            </a:r>
            <a:endParaRPr/>
          </a:p>
          <a:p>
            <a:pPr indent="0" lvl="0" marL="0" rtl="0" algn="l">
              <a:spcBef>
                <a:spcPts val="0"/>
              </a:spcBef>
              <a:spcAft>
                <a:spcPts val="0"/>
              </a:spcAft>
              <a:buNone/>
            </a:pPr>
            <a:br>
              <a:rPr lang="en-GB"/>
            </a:br>
            <a:r>
              <a:rPr lang="en-GB"/>
              <a:t>Yêu cầu: Tìm </a:t>
            </a:r>
            <a:r>
              <a:rPr lang="en-GB"/>
              <a:t>những ai là </a:t>
            </a:r>
            <a:r>
              <a:rPr lang="en-GB"/>
              <a:t>c</a:t>
            </a:r>
            <a:r>
              <a:rPr lang="en-GB"/>
              <a:t>ậu hoặc </a:t>
            </a:r>
            <a:r>
              <a:rPr lang="en-GB"/>
              <a:t>chú </a:t>
            </a:r>
            <a:r>
              <a:rPr lang="en-GB"/>
              <a:t>hoặc</a:t>
            </a:r>
            <a:r>
              <a:rPr lang="en-GB"/>
              <a:t> bác của Mary (:mary)</a:t>
            </a:r>
            <a:endParaRPr/>
          </a:p>
          <a:p>
            <a:pPr indent="-381000" lvl="0" marL="457200" rtl="0" algn="l">
              <a:spcBef>
                <a:spcPts val="0"/>
              </a:spcBef>
              <a:spcAft>
                <a:spcPts val="0"/>
              </a:spcAft>
              <a:buSzPts val="2400"/>
              <a:buAutoNum type="alphaLcParenR"/>
            </a:pPr>
            <a:r>
              <a:rPr lang="en-GB"/>
              <a:t>Sử dụng owl;</a:t>
            </a:r>
            <a:endParaRPr/>
          </a:p>
          <a:p>
            <a:pPr indent="-381000" lvl="0" marL="457200" rtl="0" algn="l">
              <a:spcBef>
                <a:spcPts val="0"/>
              </a:spcBef>
              <a:spcAft>
                <a:spcPts val="0"/>
              </a:spcAft>
              <a:buSzPts val="2400"/>
              <a:buAutoNum type="alphaLcParenR"/>
            </a:pPr>
            <a:r>
              <a:rPr lang="en-GB"/>
              <a:t>Sử dụng luật.</a:t>
            </a:r>
            <a:endParaRPr/>
          </a:p>
          <a:p>
            <a:pPr indent="-381000" lvl="0" marL="457200" rtl="0" algn="l">
              <a:spcBef>
                <a:spcPts val="0"/>
              </a:spcBef>
              <a:spcAft>
                <a:spcPts val="0"/>
              </a:spcAft>
              <a:buSzPts val="2400"/>
              <a:buAutoNum type="alphaLcParenR"/>
            </a:pPr>
            <a:r>
              <a:rPr lang="en-GB"/>
              <a:t>Lập trình lô-gic</a:t>
            </a:r>
            <a:endParaRPr/>
          </a:p>
          <a:p>
            <a:pPr indent="0" lvl="0" marL="0" rtl="0" algn="l">
              <a:spcBef>
                <a:spcPts val="0"/>
              </a:spcBef>
              <a:spcAft>
                <a:spcPts val="0"/>
              </a:spcAft>
              <a:buNone/>
            </a:pPr>
            <a:r>
              <a:t/>
            </a:r>
            <a:endParaRPr/>
          </a:p>
        </p:txBody>
      </p:sp>
      <p:sp>
        <p:nvSpPr>
          <p:cNvPr id="593" name="Google Shape;593;p8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 suy diễn</a:t>
            </a:r>
            <a:r>
              <a:rPr baseline="-25000" lang="en-GB"/>
              <a:t>(2)</a:t>
            </a:r>
            <a:endParaRPr baseline="-25000"/>
          </a:p>
        </p:txBody>
      </p:sp>
      <p:sp>
        <p:nvSpPr>
          <p:cNvPr id="599" name="Google Shape;599;p87"/>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2200"/>
              <a:t># 1a</a:t>
            </a:r>
            <a:endParaRPr sz="2200"/>
          </a:p>
          <a:p>
            <a:pPr indent="0" lvl="0" marL="0" rtl="0" algn="l">
              <a:lnSpc>
                <a:spcPct val="100000"/>
              </a:lnSpc>
              <a:spcBef>
                <a:spcPts val="0"/>
              </a:spcBef>
              <a:spcAft>
                <a:spcPts val="0"/>
              </a:spcAft>
              <a:buClr>
                <a:schemeClr val="dk1"/>
              </a:buClr>
              <a:buSzPts val="1100"/>
              <a:buFont typeface="Arial"/>
              <a:buNone/>
            </a:pPr>
            <a:r>
              <a:rPr lang="en-GB" sz="2200"/>
              <a:t>:uncleOf owl:propertyChainAxiom (:brotherOf :motherOf);</a:t>
            </a:r>
            <a:endParaRPr sz="2200"/>
          </a:p>
          <a:p>
            <a:pPr indent="0" lvl="0" marL="0" rtl="0" algn="l">
              <a:lnSpc>
                <a:spcPct val="100000"/>
              </a:lnSpc>
              <a:spcBef>
                <a:spcPts val="0"/>
              </a:spcBef>
              <a:spcAft>
                <a:spcPts val="0"/>
              </a:spcAft>
              <a:buClr>
                <a:schemeClr val="dk1"/>
              </a:buClr>
              <a:buSzPts val="1100"/>
              <a:buFont typeface="Arial"/>
              <a:buNone/>
            </a:pPr>
            <a:r>
              <a:rPr lang="en-GB" sz="2200"/>
              <a:t>         owl:propertyChainAxiom (:brotherOf :fatherOf).</a:t>
            </a:r>
            <a:endParaRPr sz="2200"/>
          </a:p>
          <a:p>
            <a:pPr indent="0" lvl="0" marL="0" rtl="0" algn="l">
              <a:lnSpc>
                <a:spcPct val="100000"/>
              </a:lnSpc>
              <a:spcBef>
                <a:spcPts val="0"/>
              </a:spcBef>
              <a:spcAft>
                <a:spcPts val="0"/>
              </a:spcAft>
              <a:buClr>
                <a:schemeClr val="dk1"/>
              </a:buClr>
              <a:buSzPts val="1100"/>
              <a:buFont typeface="Arial"/>
              <a:buNone/>
            </a:pPr>
            <a:r>
              <a:rPr lang="en-GB" sz="2200"/>
              <a:t># 1b</a:t>
            </a:r>
            <a:endParaRPr sz="2200"/>
          </a:p>
          <a:p>
            <a:pPr indent="0" lvl="0" marL="0" rtl="0" algn="l">
              <a:lnSpc>
                <a:spcPct val="100000"/>
              </a:lnSpc>
              <a:spcBef>
                <a:spcPts val="0"/>
              </a:spcBef>
              <a:spcAft>
                <a:spcPts val="0"/>
              </a:spcAft>
              <a:buClr>
                <a:schemeClr val="dk1"/>
              </a:buClr>
              <a:buSzPts val="1100"/>
              <a:buFont typeface="Arial"/>
              <a:buNone/>
            </a:pPr>
            <a:r>
              <a:rPr lang="en-GB" sz="2200"/>
              <a:t>:MaryFather owl:equivalentClass [a owl:Restriction; owl:onProperty :fatherOf; owl:hasValue :mary].</a:t>
            </a:r>
            <a:endParaRPr sz="2200"/>
          </a:p>
          <a:p>
            <a:pPr indent="0" lvl="0" marL="0" rtl="0" algn="l">
              <a:lnSpc>
                <a:spcPct val="100000"/>
              </a:lnSpc>
              <a:spcBef>
                <a:spcPts val="0"/>
              </a:spcBef>
              <a:spcAft>
                <a:spcPts val="0"/>
              </a:spcAft>
              <a:buClr>
                <a:schemeClr val="dk1"/>
              </a:buClr>
              <a:buSzPts val="1100"/>
              <a:buFont typeface="Arial"/>
              <a:buNone/>
            </a:pPr>
            <a:r>
              <a:rPr lang="en-GB" sz="2200"/>
              <a:t>:MaryMother owl:equivalentClass [a owl:Restriction; owl:onProperty :motherOf; owl:hasValue :mary].</a:t>
            </a:r>
            <a:endParaRPr sz="2200"/>
          </a:p>
          <a:p>
            <a:pPr indent="0" lvl="0" marL="0" rtl="0" algn="l">
              <a:lnSpc>
                <a:spcPct val="100000"/>
              </a:lnSpc>
              <a:spcBef>
                <a:spcPts val="0"/>
              </a:spcBef>
              <a:spcAft>
                <a:spcPts val="0"/>
              </a:spcAft>
              <a:buClr>
                <a:schemeClr val="dk1"/>
              </a:buClr>
              <a:buSzPts val="1100"/>
              <a:buFont typeface="Arial"/>
              <a:buNone/>
            </a:pPr>
            <a:r>
              <a:rPr lang="en-GB" sz="2200"/>
              <a:t>:ParentOfMary owl:equivalentClass [</a:t>
            </a:r>
            <a:endParaRPr sz="2200"/>
          </a:p>
          <a:p>
            <a:pPr indent="0" lvl="0" marL="0" rtl="0" algn="l">
              <a:lnSpc>
                <a:spcPct val="100000"/>
              </a:lnSpc>
              <a:spcBef>
                <a:spcPts val="0"/>
              </a:spcBef>
              <a:spcAft>
                <a:spcPts val="0"/>
              </a:spcAft>
              <a:buClr>
                <a:schemeClr val="dk1"/>
              </a:buClr>
              <a:buSzPts val="1100"/>
              <a:buFont typeface="Arial"/>
              <a:buNone/>
            </a:pPr>
            <a:r>
              <a:rPr lang="en-GB" sz="2200"/>
              <a:t>    owl:unionOf (:MaryFather :MaryMother)</a:t>
            </a:r>
            <a:endParaRPr sz="2200"/>
          </a:p>
          <a:p>
            <a:pPr indent="0" lvl="0" marL="0" rtl="0" algn="l">
              <a:lnSpc>
                <a:spcPct val="100000"/>
              </a:lnSpc>
              <a:spcBef>
                <a:spcPts val="0"/>
              </a:spcBef>
              <a:spcAft>
                <a:spcPts val="0"/>
              </a:spcAft>
              <a:buClr>
                <a:schemeClr val="dk1"/>
              </a:buClr>
              <a:buSzPts val="1100"/>
              <a:buFont typeface="Arial"/>
              <a:buNone/>
            </a:pPr>
            <a:r>
              <a:rPr lang="en-GB" sz="2200"/>
              <a:t>  ].</a:t>
            </a:r>
            <a:endParaRPr sz="2200"/>
          </a:p>
          <a:p>
            <a:pPr indent="0" lvl="0" marL="0" rtl="0" algn="l">
              <a:lnSpc>
                <a:spcPct val="100000"/>
              </a:lnSpc>
              <a:spcBef>
                <a:spcPts val="0"/>
              </a:spcBef>
              <a:spcAft>
                <a:spcPts val="0"/>
              </a:spcAft>
              <a:buClr>
                <a:schemeClr val="dk1"/>
              </a:buClr>
              <a:buSzPts val="1100"/>
              <a:buFont typeface="Arial"/>
              <a:buNone/>
            </a:pPr>
            <a:r>
              <a:rPr lang="en-GB" sz="2200"/>
              <a:t>:UncleOfMary owl:equivalentClass [</a:t>
            </a:r>
            <a:endParaRPr sz="2200"/>
          </a:p>
          <a:p>
            <a:pPr indent="0" lvl="0" marL="0" rtl="0" algn="l">
              <a:lnSpc>
                <a:spcPct val="100000"/>
              </a:lnSpc>
              <a:spcBef>
                <a:spcPts val="0"/>
              </a:spcBef>
              <a:spcAft>
                <a:spcPts val="0"/>
              </a:spcAft>
              <a:buClr>
                <a:schemeClr val="dk1"/>
              </a:buClr>
              <a:buSzPts val="1100"/>
              <a:buFont typeface="Arial"/>
              <a:buNone/>
            </a:pPr>
            <a:r>
              <a:rPr lang="en-GB" sz="2200"/>
              <a:t>  a owl:Restriction;</a:t>
            </a:r>
            <a:endParaRPr sz="2200"/>
          </a:p>
          <a:p>
            <a:pPr indent="0" lvl="0" marL="0" rtl="0" algn="l">
              <a:lnSpc>
                <a:spcPct val="100000"/>
              </a:lnSpc>
              <a:spcBef>
                <a:spcPts val="0"/>
              </a:spcBef>
              <a:spcAft>
                <a:spcPts val="0"/>
              </a:spcAft>
              <a:buClr>
                <a:schemeClr val="dk1"/>
              </a:buClr>
              <a:buSzPts val="1100"/>
              <a:buFont typeface="Arial"/>
              <a:buNone/>
            </a:pPr>
            <a:r>
              <a:rPr lang="en-GB" sz="2200"/>
              <a:t>  owl:onProperty :brotherOf;</a:t>
            </a:r>
            <a:endParaRPr sz="2200"/>
          </a:p>
          <a:p>
            <a:pPr indent="0" lvl="0" marL="0" rtl="0" algn="l">
              <a:lnSpc>
                <a:spcPct val="100000"/>
              </a:lnSpc>
              <a:spcBef>
                <a:spcPts val="0"/>
              </a:spcBef>
              <a:spcAft>
                <a:spcPts val="0"/>
              </a:spcAft>
              <a:buClr>
                <a:schemeClr val="dk1"/>
              </a:buClr>
              <a:buSzPts val="1100"/>
              <a:buFont typeface="Arial"/>
              <a:buNone/>
            </a:pPr>
            <a:r>
              <a:rPr lang="en-GB" sz="2200"/>
              <a:t>  owl:someValuesFrom :ParentOfMary</a:t>
            </a:r>
            <a:endParaRPr sz="2200"/>
          </a:p>
          <a:p>
            <a:pPr indent="0" lvl="0" marL="0" rtl="0" algn="l">
              <a:lnSpc>
                <a:spcPct val="100000"/>
              </a:lnSpc>
              <a:spcBef>
                <a:spcPts val="0"/>
              </a:spcBef>
              <a:spcAft>
                <a:spcPts val="0"/>
              </a:spcAft>
              <a:buNone/>
            </a:pPr>
            <a:r>
              <a:rPr lang="en-GB" sz="2200"/>
              <a:t>].</a:t>
            </a:r>
            <a:endParaRPr sz="2200"/>
          </a:p>
        </p:txBody>
      </p:sp>
      <p:sp>
        <p:nvSpPr>
          <p:cNvPr id="600" name="Google Shape;600;p8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88"/>
          <p:cNvSpPr txBox="1"/>
          <p:nvPr>
            <p:ph idx="4294967295" type="body"/>
          </p:nvPr>
        </p:nvSpPr>
        <p:spPr>
          <a:xfrm>
            <a:off x="245650" y="359425"/>
            <a:ext cx="8520600" cy="614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@prefix rdfs: &lt;http://www.w3.org/2000/01/rdf-schema#&gt; .</a:t>
            </a:r>
            <a:endParaRPr sz="1800"/>
          </a:p>
          <a:p>
            <a:pPr indent="0" lvl="0" marL="0" rtl="0" algn="l">
              <a:spcBef>
                <a:spcPts val="0"/>
              </a:spcBef>
              <a:spcAft>
                <a:spcPts val="0"/>
              </a:spcAft>
              <a:buClr>
                <a:schemeClr val="dk1"/>
              </a:buClr>
              <a:buSzPts val="1100"/>
              <a:buFont typeface="Arial"/>
              <a:buNone/>
            </a:pPr>
            <a:r>
              <a:rPr lang="en-GB" sz="1800"/>
              <a:t>@prefix owl: &lt;http://www.w3.org/2002/07/owl#&gt; .</a:t>
            </a:r>
            <a:endParaRPr sz="1800"/>
          </a:p>
          <a:p>
            <a:pPr indent="0" lvl="0" marL="0" rtl="0" algn="l">
              <a:spcBef>
                <a:spcPts val="0"/>
              </a:spcBef>
              <a:spcAft>
                <a:spcPts val="0"/>
              </a:spcAft>
              <a:buClr>
                <a:schemeClr val="dk1"/>
              </a:buClr>
              <a:buSzPts val="1100"/>
              <a:buFont typeface="Arial"/>
              <a:buNone/>
            </a:pPr>
            <a:r>
              <a:rPr lang="en-GB" sz="1800"/>
              <a:t>@prefix : &lt;http://semweb.edu.vn/rule-demo#&gt; .</a:t>
            </a:r>
            <a:endParaRPr sz="1800"/>
          </a:p>
          <a:p>
            <a:pPr indent="0" lvl="0" marL="0" rtl="0" algn="l">
              <a:spcBef>
                <a:spcPts val="0"/>
              </a:spcBef>
              <a:spcAft>
                <a:spcPts val="0"/>
              </a:spcAft>
              <a:buClr>
                <a:schemeClr val="dk1"/>
              </a:buClr>
              <a:buSzPts val="1100"/>
              <a:buFont typeface="Arial"/>
              <a:buNone/>
            </a:pPr>
            <a:r>
              <a:rPr lang="en-GB" sz="1800"/>
              <a:t>:MaryFather owl:equivalentClass [a owl:Restriction; owl:onProperty :fatherOf; owl:hasValue :mary].</a:t>
            </a:r>
            <a:endParaRPr sz="1800"/>
          </a:p>
          <a:p>
            <a:pPr indent="0" lvl="0" marL="0" rtl="0" algn="l">
              <a:spcBef>
                <a:spcPts val="0"/>
              </a:spcBef>
              <a:spcAft>
                <a:spcPts val="0"/>
              </a:spcAft>
              <a:buClr>
                <a:schemeClr val="dk1"/>
              </a:buClr>
              <a:buSzPts val="1100"/>
              <a:buFont typeface="Arial"/>
              <a:buNone/>
            </a:pPr>
            <a:r>
              <a:rPr lang="en-GB" sz="1800"/>
              <a:t>:MaryMother owl:equivalentClass [a owl:Restriction; owl:onProperty :motherOf; owl:hasValue :mary].</a:t>
            </a:r>
            <a:endParaRPr sz="1800"/>
          </a:p>
          <a:p>
            <a:pPr indent="0" lvl="0" marL="0" rtl="0" algn="l">
              <a:spcBef>
                <a:spcPts val="0"/>
              </a:spcBef>
              <a:spcAft>
                <a:spcPts val="0"/>
              </a:spcAft>
              <a:buClr>
                <a:schemeClr val="dk1"/>
              </a:buClr>
              <a:buSzPts val="1100"/>
              <a:buFont typeface="Arial"/>
              <a:buNone/>
            </a:pPr>
            <a:r>
              <a:rPr lang="en-GB" sz="1800"/>
              <a:t>:ParentOfMary owl:equivalentClass [</a:t>
            </a:r>
            <a:endParaRPr sz="1800"/>
          </a:p>
          <a:p>
            <a:pPr indent="0" lvl="0" marL="0" rtl="0" algn="l">
              <a:spcBef>
                <a:spcPts val="0"/>
              </a:spcBef>
              <a:spcAft>
                <a:spcPts val="0"/>
              </a:spcAft>
              <a:buClr>
                <a:schemeClr val="dk1"/>
              </a:buClr>
              <a:buSzPts val="1100"/>
              <a:buFont typeface="Arial"/>
              <a:buNone/>
            </a:pPr>
            <a:r>
              <a:rPr lang="en-GB" sz="1800"/>
              <a:t>    owl:unionOf (:MaryFather :MaryMother)</a:t>
            </a:r>
            <a:endParaRPr sz="1800"/>
          </a:p>
          <a:p>
            <a:pPr indent="0" lvl="0" marL="0" rtl="0" algn="l">
              <a:spcBef>
                <a:spcPts val="0"/>
              </a:spcBef>
              <a:spcAft>
                <a:spcPts val="0"/>
              </a:spcAft>
              <a:buClr>
                <a:schemeClr val="dk1"/>
              </a:buClr>
              <a:buSzPts val="1100"/>
              <a:buFont typeface="Arial"/>
              <a:buNone/>
            </a:pPr>
            <a:r>
              <a:rPr lang="en-GB" sz="1800"/>
              <a:t>  ].</a:t>
            </a:r>
            <a:endParaRPr sz="1800"/>
          </a:p>
          <a:p>
            <a:pPr indent="0" lvl="0" marL="0" rtl="0" algn="l">
              <a:spcBef>
                <a:spcPts val="0"/>
              </a:spcBef>
              <a:spcAft>
                <a:spcPts val="0"/>
              </a:spcAft>
              <a:buClr>
                <a:schemeClr val="dk1"/>
              </a:buClr>
              <a:buSzPts val="1100"/>
              <a:buFont typeface="Arial"/>
              <a:buNone/>
            </a:pPr>
            <a:r>
              <a:rPr lang="en-GB" sz="1800"/>
              <a:t>:UncleOfMary owl:equivalentClass [</a:t>
            </a:r>
            <a:endParaRPr sz="1800"/>
          </a:p>
          <a:p>
            <a:pPr indent="0" lvl="0" marL="0" rtl="0" algn="l">
              <a:spcBef>
                <a:spcPts val="0"/>
              </a:spcBef>
              <a:spcAft>
                <a:spcPts val="0"/>
              </a:spcAft>
              <a:buClr>
                <a:schemeClr val="dk1"/>
              </a:buClr>
              <a:buSzPts val="1100"/>
              <a:buFont typeface="Arial"/>
              <a:buNone/>
            </a:pPr>
            <a:r>
              <a:rPr lang="en-GB" sz="1800"/>
              <a:t>  a owl:Restriction;</a:t>
            </a:r>
            <a:endParaRPr sz="1800"/>
          </a:p>
          <a:p>
            <a:pPr indent="0" lvl="0" marL="0" rtl="0" algn="l">
              <a:spcBef>
                <a:spcPts val="0"/>
              </a:spcBef>
              <a:spcAft>
                <a:spcPts val="0"/>
              </a:spcAft>
              <a:buClr>
                <a:schemeClr val="dk1"/>
              </a:buClr>
              <a:buSzPts val="1100"/>
              <a:buFont typeface="Arial"/>
              <a:buNone/>
            </a:pPr>
            <a:r>
              <a:rPr lang="en-GB" sz="1800"/>
              <a:t>  owl:onProperty :brotherOf;</a:t>
            </a:r>
            <a:endParaRPr sz="1800"/>
          </a:p>
          <a:p>
            <a:pPr indent="0" lvl="0" marL="0" rtl="0" algn="l">
              <a:spcBef>
                <a:spcPts val="0"/>
              </a:spcBef>
              <a:spcAft>
                <a:spcPts val="0"/>
              </a:spcAft>
              <a:buClr>
                <a:schemeClr val="dk1"/>
              </a:buClr>
              <a:buSzPts val="1100"/>
              <a:buFont typeface="Arial"/>
              <a:buNone/>
            </a:pPr>
            <a:r>
              <a:rPr lang="en-GB" sz="1800"/>
              <a:t>  owl:someValuesFrom :ParentOfMary</a:t>
            </a:r>
            <a:endParaRPr sz="1800"/>
          </a:p>
          <a:p>
            <a:pPr indent="0" lvl="0" marL="0" rtl="0" algn="l">
              <a:spcBef>
                <a:spcPts val="0"/>
              </a:spcBef>
              <a:spcAft>
                <a:spcPts val="0"/>
              </a:spcAft>
              <a:buNone/>
            </a:pPr>
            <a:r>
              <a:rPr lang="en-GB" sz="1800"/>
              <a:t>].</a:t>
            </a:r>
            <a:endParaRPr sz="1800"/>
          </a:p>
        </p:txBody>
      </p:sp>
      <p:sp>
        <p:nvSpPr>
          <p:cNvPr id="606" name="Google Shape;606;p8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8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 suy diễn</a:t>
            </a:r>
            <a:r>
              <a:rPr baseline="-25000" lang="en-GB"/>
              <a:t>(3)</a:t>
            </a:r>
            <a:endParaRPr baseline="-25000"/>
          </a:p>
        </p:txBody>
      </p:sp>
      <p:sp>
        <p:nvSpPr>
          <p:cNvPr id="612" name="Google Shape;612;p89"/>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@prefix : &lt;http://semweb.edu.vn/rule-demo#&gt; .</a:t>
            </a:r>
            <a:endParaRPr/>
          </a:p>
          <a:p>
            <a:pPr indent="0" lvl="0" marL="0" rtl="0" algn="l">
              <a:spcBef>
                <a:spcPts val="0"/>
              </a:spcBef>
              <a:spcAft>
                <a:spcPts val="0"/>
              </a:spcAft>
              <a:buClr>
                <a:schemeClr val="dk1"/>
              </a:buClr>
              <a:buSzPts val="1100"/>
              <a:buFont typeface="Arial"/>
              <a:buNone/>
            </a:pPr>
            <a:r>
              <a:rPr lang="en-GB"/>
              <a:t>@include &lt;OWL&gt;.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GB"/>
              <a:t>[rule1: (?a :fatherOf :mary) (?b :brotherOf ?a) -&gt; </a:t>
            </a:r>
            <a:endParaRPr/>
          </a:p>
          <a:p>
            <a:pPr indent="0" lvl="0" marL="0" rtl="0" algn="l">
              <a:spcBef>
                <a:spcPts val="0"/>
              </a:spcBef>
              <a:spcAft>
                <a:spcPts val="0"/>
              </a:spcAft>
              <a:buClr>
                <a:schemeClr val="dk1"/>
              </a:buClr>
              <a:buSzPts val="1100"/>
              <a:buFont typeface="Arial"/>
              <a:buNone/>
            </a:pPr>
            <a:r>
              <a:rPr lang="en-GB"/>
              <a:t>                                                               (?b :uncleOf :mary)]</a:t>
            </a:r>
            <a:endParaRPr/>
          </a:p>
          <a:p>
            <a:pPr indent="0" lvl="0" marL="0" rtl="0" algn="l">
              <a:spcBef>
                <a:spcPts val="0"/>
              </a:spcBef>
              <a:spcAft>
                <a:spcPts val="0"/>
              </a:spcAft>
              <a:buNone/>
            </a:pPr>
            <a:r>
              <a:rPr lang="en-GB"/>
              <a:t>[rule2: (?a :motherOf :mary) (?b :brotherOf ?a) -&gt; </a:t>
            </a:r>
            <a:endParaRPr/>
          </a:p>
          <a:p>
            <a:pPr indent="0" lvl="0" marL="0" rtl="0" algn="l">
              <a:spcBef>
                <a:spcPts val="0"/>
              </a:spcBef>
              <a:spcAft>
                <a:spcPts val="0"/>
              </a:spcAft>
              <a:buClr>
                <a:schemeClr val="dk1"/>
              </a:buClr>
              <a:buSzPts val="1100"/>
              <a:buFont typeface="Arial"/>
              <a:buNone/>
            </a:pPr>
            <a:r>
              <a:rPr lang="en-GB"/>
              <a:t>                                                               (?b :uncleOf :mary)]</a:t>
            </a:r>
            <a:endParaRPr/>
          </a:p>
          <a:p>
            <a:pPr indent="0" lvl="0" marL="0" rtl="0" algn="l">
              <a:spcBef>
                <a:spcPts val="0"/>
              </a:spcBef>
              <a:spcAft>
                <a:spcPts val="0"/>
              </a:spcAft>
              <a:buNone/>
            </a:pPr>
            <a:r>
              <a:t/>
            </a:r>
            <a:endParaRPr/>
          </a:p>
        </p:txBody>
      </p:sp>
      <p:sp>
        <p:nvSpPr>
          <p:cNvPr id="613" name="Google Shape;613;p8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9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 suy diễn</a:t>
            </a:r>
            <a:r>
              <a:rPr baseline="-25000" lang="en-GB"/>
              <a:t>(3)</a:t>
            </a:r>
            <a:endParaRPr baseline="-25000"/>
          </a:p>
        </p:txBody>
      </p:sp>
      <p:sp>
        <p:nvSpPr>
          <p:cNvPr id="619" name="Google Shape;619;p90"/>
          <p:cNvSpPr txBox="1"/>
          <p:nvPr>
            <p:ph idx="1" type="body"/>
          </p:nvPr>
        </p:nvSpPr>
        <p:spPr>
          <a:xfrm>
            <a:off x="311700" y="9758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3 Lập trình lô-gic</a:t>
            </a:r>
            <a:endParaRPr/>
          </a:p>
          <a:p>
            <a:pPr indent="0" lvl="0" marL="0" rtl="0" algn="l">
              <a:spcBef>
                <a:spcPts val="0"/>
              </a:spcBef>
              <a:spcAft>
                <a:spcPts val="0"/>
              </a:spcAft>
              <a:buNone/>
            </a:pPr>
            <a:r>
              <a:rPr lang="en-GB"/>
              <a:t>https://swish.swi-prolog.org/</a:t>
            </a:r>
            <a:endParaRPr/>
          </a:p>
        </p:txBody>
      </p:sp>
      <p:sp>
        <p:nvSpPr>
          <p:cNvPr id="620" name="Google Shape;620;p9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9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 Datalog</a:t>
            </a:r>
            <a:r>
              <a:rPr baseline="-25000" lang="en-GB"/>
              <a:t>(2)</a:t>
            </a:r>
            <a:endParaRPr baseline="-25000"/>
          </a:p>
        </p:txBody>
      </p:sp>
      <p:sp>
        <p:nvSpPr>
          <p:cNvPr id="626" name="Google Shape;626;p91"/>
          <p:cNvSpPr txBox="1"/>
          <p:nvPr>
            <p:ph idx="1" type="body"/>
          </p:nvPr>
        </p:nvSpPr>
        <p:spPr>
          <a:xfrm>
            <a:off x="311700" y="823475"/>
            <a:ext cx="8520600" cy="582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200"/>
              <a:t>Sử dụng CSTT sau:</a:t>
            </a:r>
            <a:endParaRPr sz="2200"/>
          </a:p>
          <a:p>
            <a:pPr indent="0" lvl="0" marL="0" rtl="0" algn="l">
              <a:spcBef>
                <a:spcPts val="0"/>
              </a:spcBef>
              <a:spcAft>
                <a:spcPts val="0"/>
              </a:spcAft>
              <a:buClr>
                <a:schemeClr val="dk1"/>
              </a:buClr>
              <a:buSzPts val="1100"/>
              <a:buFont typeface="Arial"/>
              <a:buNone/>
            </a:pPr>
            <a:r>
              <a:rPr lang="en-GB" sz="2200"/>
              <a:t>father(alice, bob)</a:t>
            </a:r>
            <a:endParaRPr sz="2200"/>
          </a:p>
          <a:p>
            <a:pPr indent="0" lvl="0" marL="0" rtl="0" algn="l">
              <a:spcBef>
                <a:spcPts val="0"/>
              </a:spcBef>
              <a:spcAft>
                <a:spcPts val="0"/>
              </a:spcAft>
              <a:buClr>
                <a:schemeClr val="dk1"/>
              </a:buClr>
              <a:buSzPts val="1100"/>
              <a:buFont typeface="Arial"/>
              <a:buNone/>
            </a:pPr>
            <a:r>
              <a:rPr lang="en-GB" sz="2200"/>
              <a:t>mother(alice, carla)</a:t>
            </a:r>
            <a:endParaRPr sz="2200"/>
          </a:p>
          <a:p>
            <a:pPr indent="0" lvl="0" marL="0" rtl="0" algn="l">
              <a:spcBef>
                <a:spcPts val="0"/>
              </a:spcBef>
              <a:spcAft>
                <a:spcPts val="0"/>
              </a:spcAft>
              <a:buClr>
                <a:schemeClr val="dk1"/>
              </a:buClr>
              <a:buSzPts val="1100"/>
              <a:buFont typeface="Arial"/>
              <a:buNone/>
            </a:pPr>
            <a:r>
              <a:rPr lang="en-GB" sz="2200"/>
              <a:t>mother(evan, carla)</a:t>
            </a:r>
            <a:endParaRPr sz="2200"/>
          </a:p>
          <a:p>
            <a:pPr indent="0" lvl="0" marL="0" rtl="0" algn="l">
              <a:spcBef>
                <a:spcPts val="0"/>
              </a:spcBef>
              <a:spcAft>
                <a:spcPts val="0"/>
              </a:spcAft>
              <a:buClr>
                <a:schemeClr val="dk1"/>
              </a:buClr>
              <a:buSzPts val="1100"/>
              <a:buFont typeface="Arial"/>
              <a:buNone/>
            </a:pPr>
            <a:r>
              <a:rPr lang="en-GB" sz="2200"/>
              <a:t>father(carla, david)</a:t>
            </a:r>
            <a:endParaRPr sz="2200"/>
          </a:p>
          <a:p>
            <a:pPr indent="0" lvl="0" marL="0" rtl="0" algn="l">
              <a:spcBef>
                <a:spcPts val="0"/>
              </a:spcBef>
              <a:spcAft>
                <a:spcPts val="0"/>
              </a:spcAft>
              <a:buClr>
                <a:schemeClr val="dk1"/>
              </a:buClr>
              <a:buSzPts val="1100"/>
              <a:buFont typeface="Arial"/>
              <a:buNone/>
            </a:pPr>
            <a:r>
              <a:rPr lang="en-GB" sz="2200"/>
              <a:t>Parent(x, y) ← father(x, y)</a:t>
            </a:r>
            <a:endParaRPr sz="2200"/>
          </a:p>
          <a:p>
            <a:pPr indent="0" lvl="0" marL="0" rtl="0" algn="l">
              <a:spcBef>
                <a:spcPts val="0"/>
              </a:spcBef>
              <a:spcAft>
                <a:spcPts val="0"/>
              </a:spcAft>
              <a:buClr>
                <a:schemeClr val="dk1"/>
              </a:buClr>
              <a:buSzPts val="1100"/>
              <a:buFont typeface="Arial"/>
              <a:buNone/>
            </a:pPr>
            <a:r>
              <a:rPr lang="en-GB" sz="2200"/>
              <a:t>Parent(x, y) ← mother(x, y)</a:t>
            </a:r>
            <a:endParaRPr sz="2200"/>
          </a:p>
          <a:p>
            <a:pPr indent="0" lvl="0" marL="0" rtl="0" algn="l">
              <a:spcBef>
                <a:spcPts val="0"/>
              </a:spcBef>
              <a:spcAft>
                <a:spcPts val="0"/>
              </a:spcAft>
              <a:buClr>
                <a:schemeClr val="dk1"/>
              </a:buClr>
              <a:buSzPts val="1100"/>
              <a:buFont typeface="Arial"/>
              <a:buNone/>
            </a:pPr>
            <a:r>
              <a:rPr lang="en-GB" sz="2200"/>
              <a:t>Ancestor(x, y) ← Parent(x, y)</a:t>
            </a:r>
            <a:endParaRPr sz="2200"/>
          </a:p>
          <a:p>
            <a:pPr indent="0" lvl="0" marL="0" rtl="0" algn="l">
              <a:spcBef>
                <a:spcPts val="0"/>
              </a:spcBef>
              <a:spcAft>
                <a:spcPts val="0"/>
              </a:spcAft>
              <a:buClr>
                <a:schemeClr val="dk1"/>
              </a:buClr>
              <a:buSzPts val="1100"/>
              <a:buFont typeface="Arial"/>
              <a:buNone/>
            </a:pPr>
            <a:r>
              <a:rPr lang="en-GB" sz="2200"/>
              <a:t>Ancestor(x, z) ← Parent(x, y) ∧ Ancestor(y, z)</a:t>
            </a:r>
            <a:endParaRPr sz="2200"/>
          </a:p>
          <a:p>
            <a:pPr indent="0" lvl="0" marL="0" rtl="0" algn="l">
              <a:spcBef>
                <a:spcPts val="0"/>
              </a:spcBef>
              <a:spcAft>
                <a:spcPts val="0"/>
              </a:spcAft>
              <a:buClr>
                <a:schemeClr val="dk1"/>
              </a:buClr>
              <a:buSzPts val="1100"/>
              <a:buFont typeface="Arial"/>
              <a:buNone/>
            </a:pPr>
            <a:r>
              <a:rPr lang="en-GB" sz="2200"/>
              <a:t>SameGeneration(x, x)</a:t>
            </a:r>
            <a:endParaRPr sz="2200"/>
          </a:p>
          <a:p>
            <a:pPr indent="0" lvl="0" marL="0" rtl="0" algn="l">
              <a:spcBef>
                <a:spcPts val="0"/>
              </a:spcBef>
              <a:spcAft>
                <a:spcPts val="0"/>
              </a:spcAft>
              <a:buClr>
                <a:schemeClr val="dk1"/>
              </a:buClr>
              <a:buSzPts val="1100"/>
              <a:buFont typeface="Arial"/>
              <a:buNone/>
            </a:pPr>
            <a:r>
              <a:rPr lang="en-GB" sz="2200"/>
              <a:t>SameGeneration(x, y) ← Parent(x, v) ∧ Parent(y, w) ∧ SameGeneration(v, w)</a:t>
            </a:r>
            <a:endParaRPr sz="2200"/>
          </a:p>
          <a:p>
            <a:pPr indent="-368300" lvl="0" marL="457200" rtl="0" algn="l">
              <a:spcBef>
                <a:spcPts val="0"/>
              </a:spcBef>
              <a:spcAft>
                <a:spcPts val="0"/>
              </a:spcAft>
              <a:buSzPts val="2200"/>
              <a:buAutoNum type="alphaLcParenR"/>
            </a:pPr>
            <a:r>
              <a:rPr lang="en-GB" sz="2200"/>
              <a:t>Vẽ cây chứng minh SameGeneration(evan, alice)</a:t>
            </a:r>
            <a:endParaRPr sz="2200"/>
          </a:p>
          <a:p>
            <a:pPr indent="-368300" lvl="0" marL="457200" rtl="0" algn="l">
              <a:spcBef>
                <a:spcPts val="0"/>
              </a:spcBef>
              <a:spcAft>
                <a:spcPts val="0"/>
              </a:spcAft>
              <a:buSzPts val="2200"/>
              <a:buAutoNum type="alphaLcParenR"/>
            </a:pPr>
            <a:r>
              <a:rPr lang="en-GB" sz="2200"/>
              <a:t>Tính T</a:t>
            </a:r>
            <a:r>
              <a:rPr baseline="-25000" lang="en-GB" sz="2200"/>
              <a:t>P</a:t>
            </a:r>
            <a:r>
              <a:rPr baseline="30000" lang="en-GB" sz="2200"/>
              <a:t>0</a:t>
            </a:r>
            <a:r>
              <a:rPr lang="en-GB" sz="2200"/>
              <a:t>, T</a:t>
            </a:r>
            <a:r>
              <a:rPr baseline="-25000" lang="en-GB" sz="2200"/>
              <a:t>P</a:t>
            </a:r>
            <a:r>
              <a:rPr baseline="30000" lang="en-GB" sz="2200"/>
              <a:t>1</a:t>
            </a:r>
            <a:r>
              <a:rPr lang="en-GB" sz="2200"/>
              <a:t>, … cho tới điểm cố định</a:t>
            </a:r>
            <a:endParaRPr sz="2200"/>
          </a:p>
          <a:p>
            <a:pPr indent="-368300" lvl="0" marL="457200" rtl="0" algn="l">
              <a:spcBef>
                <a:spcPts val="0"/>
              </a:spcBef>
              <a:spcAft>
                <a:spcPts val="0"/>
              </a:spcAft>
              <a:buSzPts val="2200"/>
              <a:buAutoNum type="alphaLcParenR"/>
            </a:pPr>
            <a:r>
              <a:rPr lang="en-GB" sz="2200"/>
              <a:t>Thử nghiệm suy diễn với Fuseki và so sánh kết quả ở b</a:t>
            </a:r>
            <a:endParaRPr sz="2200"/>
          </a:p>
        </p:txBody>
      </p:sp>
      <p:sp>
        <p:nvSpPr>
          <p:cNvPr id="627" name="Google Shape;627;p9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9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 Datalog</a:t>
            </a:r>
            <a:r>
              <a:rPr baseline="-25000" lang="en-GB"/>
              <a:t>(</a:t>
            </a:r>
            <a:r>
              <a:rPr baseline="-25000" lang="en-GB"/>
              <a:t>3)</a:t>
            </a:r>
            <a:endParaRPr baseline="-25000"/>
          </a:p>
        </p:txBody>
      </p:sp>
      <p:sp>
        <p:nvSpPr>
          <p:cNvPr id="633" name="Google Shape;633;p92"/>
          <p:cNvSpPr txBox="1"/>
          <p:nvPr>
            <p:ph idx="1" type="body"/>
          </p:nvPr>
        </p:nvSpPr>
        <p:spPr>
          <a:xfrm>
            <a:off x="235500" y="3429000"/>
            <a:ext cx="8520600" cy="333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father(alice, bob)</a:t>
            </a:r>
            <a:endParaRPr sz="1800"/>
          </a:p>
          <a:p>
            <a:pPr indent="0" lvl="0" marL="0" rtl="0" algn="l">
              <a:spcBef>
                <a:spcPts val="0"/>
              </a:spcBef>
              <a:spcAft>
                <a:spcPts val="0"/>
              </a:spcAft>
              <a:buClr>
                <a:schemeClr val="dk1"/>
              </a:buClr>
              <a:buSzPts val="1100"/>
              <a:buFont typeface="Arial"/>
              <a:buNone/>
            </a:pPr>
            <a:r>
              <a:rPr lang="en-GB" sz="1800"/>
              <a:t>mother(alice, carla)</a:t>
            </a:r>
            <a:endParaRPr sz="1800"/>
          </a:p>
          <a:p>
            <a:pPr indent="0" lvl="0" marL="0" rtl="0" algn="l">
              <a:spcBef>
                <a:spcPts val="0"/>
              </a:spcBef>
              <a:spcAft>
                <a:spcPts val="0"/>
              </a:spcAft>
              <a:buClr>
                <a:schemeClr val="dk1"/>
              </a:buClr>
              <a:buSzPts val="1100"/>
              <a:buFont typeface="Arial"/>
              <a:buNone/>
            </a:pPr>
            <a:r>
              <a:rPr lang="en-GB" sz="1800"/>
              <a:t>mother(evan, carla)</a:t>
            </a:r>
            <a:endParaRPr sz="1800"/>
          </a:p>
          <a:p>
            <a:pPr indent="0" lvl="0" marL="0" rtl="0" algn="l">
              <a:spcBef>
                <a:spcPts val="0"/>
              </a:spcBef>
              <a:spcAft>
                <a:spcPts val="0"/>
              </a:spcAft>
              <a:buClr>
                <a:schemeClr val="dk1"/>
              </a:buClr>
              <a:buSzPts val="1100"/>
              <a:buFont typeface="Arial"/>
              <a:buNone/>
            </a:pPr>
            <a:r>
              <a:rPr lang="en-GB" sz="1800"/>
              <a:t>father(carla, david)</a:t>
            </a:r>
            <a:endParaRPr sz="1800"/>
          </a:p>
          <a:p>
            <a:pPr indent="0" lvl="0" marL="0" rtl="0" algn="l">
              <a:spcBef>
                <a:spcPts val="0"/>
              </a:spcBef>
              <a:spcAft>
                <a:spcPts val="0"/>
              </a:spcAft>
              <a:buClr>
                <a:schemeClr val="dk1"/>
              </a:buClr>
              <a:buSzPts val="1100"/>
              <a:buFont typeface="Arial"/>
              <a:buNone/>
            </a:pPr>
            <a:r>
              <a:rPr lang="en-GB" sz="1800"/>
              <a:t>Parent(x, y) ← father(x, y)</a:t>
            </a:r>
            <a:endParaRPr sz="1800"/>
          </a:p>
          <a:p>
            <a:pPr indent="0" lvl="0" marL="0" rtl="0" algn="l">
              <a:spcBef>
                <a:spcPts val="0"/>
              </a:spcBef>
              <a:spcAft>
                <a:spcPts val="0"/>
              </a:spcAft>
              <a:buClr>
                <a:schemeClr val="dk1"/>
              </a:buClr>
              <a:buSzPts val="1100"/>
              <a:buFont typeface="Arial"/>
              <a:buNone/>
            </a:pPr>
            <a:r>
              <a:rPr lang="en-GB" sz="1800"/>
              <a:t>Parent(x, y) ← mother(x, y)</a:t>
            </a:r>
            <a:endParaRPr sz="1800"/>
          </a:p>
          <a:p>
            <a:pPr indent="0" lvl="0" marL="0" rtl="0" algn="l">
              <a:spcBef>
                <a:spcPts val="0"/>
              </a:spcBef>
              <a:spcAft>
                <a:spcPts val="0"/>
              </a:spcAft>
              <a:buClr>
                <a:schemeClr val="dk1"/>
              </a:buClr>
              <a:buSzPts val="1100"/>
              <a:buFont typeface="Arial"/>
              <a:buNone/>
            </a:pPr>
            <a:r>
              <a:rPr lang="en-GB" sz="1800"/>
              <a:t>Ancestor(x, y) ← Parent(x, y)</a:t>
            </a:r>
            <a:endParaRPr sz="1800"/>
          </a:p>
          <a:p>
            <a:pPr indent="0" lvl="0" marL="0" rtl="0" algn="l">
              <a:spcBef>
                <a:spcPts val="0"/>
              </a:spcBef>
              <a:spcAft>
                <a:spcPts val="0"/>
              </a:spcAft>
              <a:buClr>
                <a:schemeClr val="dk1"/>
              </a:buClr>
              <a:buSzPts val="1100"/>
              <a:buFont typeface="Arial"/>
              <a:buNone/>
            </a:pPr>
            <a:r>
              <a:rPr lang="en-GB" sz="1800"/>
              <a:t>Ancestor(x, z) ← Parent(x, y) ∧ Ancestor(y, z)</a:t>
            </a:r>
            <a:endParaRPr sz="1800"/>
          </a:p>
          <a:p>
            <a:pPr indent="0" lvl="0" marL="0" rtl="0" algn="l">
              <a:spcBef>
                <a:spcPts val="0"/>
              </a:spcBef>
              <a:spcAft>
                <a:spcPts val="0"/>
              </a:spcAft>
              <a:buClr>
                <a:schemeClr val="dk1"/>
              </a:buClr>
              <a:buSzPts val="1100"/>
              <a:buFont typeface="Arial"/>
              <a:buNone/>
            </a:pPr>
            <a:r>
              <a:rPr lang="en-GB" sz="1800"/>
              <a:t>SameGeneration(x, x)</a:t>
            </a:r>
            <a:endParaRPr sz="1800"/>
          </a:p>
          <a:p>
            <a:pPr indent="0" lvl="0" marL="0" rtl="0" algn="l">
              <a:spcBef>
                <a:spcPts val="0"/>
              </a:spcBef>
              <a:spcAft>
                <a:spcPts val="0"/>
              </a:spcAft>
              <a:buClr>
                <a:schemeClr val="dk1"/>
              </a:buClr>
              <a:buSzPts val="1100"/>
              <a:buFont typeface="Arial"/>
              <a:buNone/>
            </a:pPr>
            <a:r>
              <a:rPr lang="en-GB" sz="1800"/>
              <a:t>SameGeneration(x, y) ← Parent(x, v) ∧ Parent(y, w) ∧ SameGeneration(v, w)</a:t>
            </a:r>
            <a:endParaRPr sz="1800"/>
          </a:p>
        </p:txBody>
      </p:sp>
      <p:sp>
        <p:nvSpPr>
          <p:cNvPr id="634" name="Google Shape;634;p9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35" name="Google Shape;635;p92"/>
          <p:cNvSpPr txBox="1"/>
          <p:nvPr/>
        </p:nvSpPr>
        <p:spPr>
          <a:xfrm>
            <a:off x="2987525" y="959975"/>
            <a:ext cx="6073200" cy="327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i="1" lang="en-GB" sz="1800">
                <a:solidFill>
                  <a:schemeClr val="dk2"/>
                </a:solidFill>
              </a:rPr>
              <a:t>b</a:t>
            </a:r>
            <a:r>
              <a:rPr b="1" i="1" lang="en-GB" sz="1800">
                <a:solidFill>
                  <a:schemeClr val="dk2"/>
                </a:solidFill>
              </a:rPr>
              <a:t>) Tìm điểm cố định</a:t>
            </a:r>
            <a:endParaRPr b="1" sz="1800">
              <a:solidFill>
                <a:schemeClr val="dk2"/>
              </a:solidFill>
            </a:endParaRPr>
          </a:p>
          <a:p>
            <a:pPr indent="0" lvl="0" marL="0" rtl="0" algn="l">
              <a:lnSpc>
                <a:spcPct val="115000"/>
              </a:lnSpc>
              <a:spcBef>
                <a:spcPts val="0"/>
              </a:spcBef>
              <a:spcAft>
                <a:spcPts val="0"/>
              </a:spcAft>
              <a:buNone/>
            </a:pPr>
            <a:r>
              <a:rPr lang="en-GB" sz="1800">
                <a:solidFill>
                  <a:schemeClr val="dk2"/>
                </a:solidFill>
              </a:rPr>
              <a:t>0: {father(alice, bob), mother{alice, carla), mother(evan, carla), father(carla, david)}</a:t>
            </a:r>
            <a:endParaRPr sz="1800">
              <a:solidFill>
                <a:schemeClr val="dk2"/>
              </a:solidFill>
            </a:endParaRPr>
          </a:p>
          <a:p>
            <a:pPr indent="0" lvl="0" marL="0" rtl="0" algn="l">
              <a:lnSpc>
                <a:spcPct val="115000"/>
              </a:lnSpc>
              <a:spcBef>
                <a:spcPts val="0"/>
              </a:spcBef>
              <a:spcAft>
                <a:spcPts val="0"/>
              </a:spcAft>
              <a:buNone/>
            </a:pPr>
            <a:r>
              <a:rPr lang="en-GB" sz="1800">
                <a:solidFill>
                  <a:schemeClr val="dk2"/>
                </a:solidFill>
              </a:rPr>
              <a:t>1: + {Parent(alice, bob), Parent(alice, carla), Parent(evan, carla), Parent(carla, david), SameGeneration(alice, alice), SG(bob, bob), SG(carla, carla), SG(evan, evan), SG(david, david)}</a:t>
            </a:r>
            <a:endParaRPr sz="1800">
              <a:solidFill>
                <a:schemeClr val="dk2"/>
              </a:solidFill>
            </a:endParaRPr>
          </a:p>
          <a:p>
            <a:pPr indent="0" lvl="0" marL="0" rtl="0" algn="l">
              <a:lnSpc>
                <a:spcPct val="115000"/>
              </a:lnSpc>
              <a:spcBef>
                <a:spcPts val="0"/>
              </a:spcBef>
              <a:spcAft>
                <a:spcPts val="0"/>
              </a:spcAft>
              <a:buNone/>
            </a:pPr>
            <a:r>
              <a:rPr lang="en-GB" sz="1800">
                <a:solidFill>
                  <a:schemeClr val="dk2"/>
                </a:solidFill>
              </a:rPr>
              <a:t>2: + {SG(alice, evan),SG(evan, alice), A(alice, bob), A(alice, carla), A(evan, carla), A(carla, david)}</a:t>
            </a:r>
            <a:endParaRPr sz="1800">
              <a:solidFill>
                <a:schemeClr val="dk2"/>
              </a:solidFill>
            </a:endParaRPr>
          </a:p>
          <a:p>
            <a:pPr indent="0" lvl="0" marL="0" rtl="0" algn="l">
              <a:lnSpc>
                <a:spcPct val="115000"/>
              </a:lnSpc>
              <a:spcBef>
                <a:spcPts val="0"/>
              </a:spcBef>
              <a:spcAft>
                <a:spcPts val="0"/>
              </a:spcAft>
              <a:buNone/>
            </a:pPr>
            <a:r>
              <a:rPr lang="en-GB" sz="1800">
                <a:solidFill>
                  <a:schemeClr val="dk2"/>
                </a:solidFill>
              </a:rPr>
              <a:t>3: + {A(alice, david), A(evan, david)} - Điểm cố định</a:t>
            </a:r>
            <a:endParaRPr sz="1800">
              <a:solidFill>
                <a:schemeClr val="dk2"/>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9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 Datalog</a:t>
            </a:r>
            <a:r>
              <a:rPr baseline="-25000" lang="en-GB"/>
              <a:t>(4)</a:t>
            </a:r>
            <a:endParaRPr baseline="-25000"/>
          </a:p>
        </p:txBody>
      </p:sp>
      <p:sp>
        <p:nvSpPr>
          <p:cNvPr id="641" name="Google Shape;641;p93"/>
          <p:cNvSpPr txBox="1"/>
          <p:nvPr>
            <p:ph idx="1" type="body"/>
          </p:nvPr>
        </p:nvSpPr>
        <p:spPr>
          <a:xfrm>
            <a:off x="235500" y="1052075"/>
            <a:ext cx="8520600" cy="5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sz="1600"/>
              <a:t>c) Thử nghiệm suy diễn với Fuseki</a:t>
            </a:r>
            <a:endParaRPr sz="1600"/>
          </a:p>
          <a:p>
            <a:pPr indent="0" lvl="0" marL="0" rtl="0" algn="l">
              <a:spcBef>
                <a:spcPts val="0"/>
              </a:spcBef>
              <a:spcAft>
                <a:spcPts val="0"/>
              </a:spcAft>
              <a:buClr>
                <a:schemeClr val="dk1"/>
              </a:buClr>
              <a:buSzPts val="1100"/>
              <a:buFont typeface="Arial"/>
              <a:buNone/>
            </a:pPr>
            <a:r>
              <a:rPr lang="en-GB" sz="1600"/>
              <a:t>data.ttl -</a:t>
            </a:r>
            <a:endParaRPr sz="1600"/>
          </a:p>
          <a:p>
            <a:pPr indent="0" lvl="0" marL="0" rtl="0" algn="l">
              <a:spcBef>
                <a:spcPts val="0"/>
              </a:spcBef>
              <a:spcAft>
                <a:spcPts val="0"/>
              </a:spcAft>
              <a:buClr>
                <a:schemeClr val="dk1"/>
              </a:buClr>
              <a:buSzPts val="1100"/>
              <a:buFont typeface="Arial"/>
              <a:buNone/>
            </a:pPr>
            <a:r>
              <a:rPr lang="en-GB" sz="1600"/>
              <a:t>@prefix rdfs: &lt;http://www.w3.org/2000/01/rdf-schema#&gt; .</a:t>
            </a:r>
            <a:endParaRPr sz="1600"/>
          </a:p>
          <a:p>
            <a:pPr indent="0" lvl="0" marL="0" rtl="0" algn="l">
              <a:spcBef>
                <a:spcPts val="0"/>
              </a:spcBef>
              <a:spcAft>
                <a:spcPts val="0"/>
              </a:spcAft>
              <a:buClr>
                <a:schemeClr val="dk1"/>
              </a:buClr>
              <a:buSzPts val="1100"/>
              <a:buFont typeface="Arial"/>
              <a:buNone/>
            </a:pPr>
            <a:r>
              <a:rPr lang="en-GB" sz="1600"/>
              <a:t>@prefix owl: &lt;http://www.w3.org/2002/07/owl#&gt; .</a:t>
            </a:r>
            <a:endParaRPr sz="1600"/>
          </a:p>
          <a:p>
            <a:pPr indent="0" lvl="0" marL="0" rtl="0" algn="l">
              <a:spcBef>
                <a:spcPts val="0"/>
              </a:spcBef>
              <a:spcAft>
                <a:spcPts val="0"/>
              </a:spcAft>
              <a:buClr>
                <a:schemeClr val="dk1"/>
              </a:buClr>
              <a:buSzPts val="1100"/>
              <a:buFont typeface="Arial"/>
              <a:buNone/>
            </a:pPr>
            <a:r>
              <a:rPr lang="en-GB" sz="1600"/>
              <a:t>@prefix : &lt;http://semweb.edu.vn/datalog-demo#&gt; .</a:t>
            </a:r>
            <a:endParaRPr sz="1600"/>
          </a:p>
          <a:p>
            <a:pPr indent="0" lvl="0" marL="0" rtl="0" algn="l">
              <a:spcBef>
                <a:spcPts val="0"/>
              </a:spcBef>
              <a:spcAft>
                <a:spcPts val="0"/>
              </a:spcAft>
              <a:buClr>
                <a:schemeClr val="dk1"/>
              </a:buClr>
              <a:buSzPts val="1100"/>
              <a:buFont typeface="Arial"/>
              <a:buNone/>
            </a:pPr>
            <a:r>
              <a:rPr lang="en-GB" sz="1600"/>
              <a:t>:alice :father :bob;</a:t>
            </a:r>
            <a:endParaRPr sz="1600"/>
          </a:p>
          <a:p>
            <a:pPr indent="0" lvl="0" marL="0" rtl="0" algn="l">
              <a:spcBef>
                <a:spcPts val="0"/>
              </a:spcBef>
              <a:spcAft>
                <a:spcPts val="0"/>
              </a:spcAft>
              <a:buClr>
                <a:schemeClr val="dk1"/>
              </a:buClr>
              <a:buSzPts val="1100"/>
              <a:buFont typeface="Arial"/>
              <a:buNone/>
            </a:pPr>
            <a:r>
              <a:rPr lang="en-GB" sz="1600"/>
              <a:t>       :mother :carla.</a:t>
            </a:r>
            <a:endParaRPr sz="1600"/>
          </a:p>
          <a:p>
            <a:pPr indent="0" lvl="0" marL="0" rtl="0" algn="l">
              <a:spcBef>
                <a:spcPts val="0"/>
              </a:spcBef>
              <a:spcAft>
                <a:spcPts val="0"/>
              </a:spcAft>
              <a:buClr>
                <a:schemeClr val="dk1"/>
              </a:buClr>
              <a:buSzPts val="1100"/>
              <a:buFont typeface="Arial"/>
              <a:buNone/>
            </a:pPr>
            <a:r>
              <a:rPr lang="en-GB" sz="1600"/>
              <a:t>:evan :mother :carla.</a:t>
            </a:r>
            <a:endParaRPr sz="1600"/>
          </a:p>
          <a:p>
            <a:pPr indent="0" lvl="0" marL="0" rtl="0" algn="l">
              <a:spcBef>
                <a:spcPts val="0"/>
              </a:spcBef>
              <a:spcAft>
                <a:spcPts val="0"/>
              </a:spcAft>
              <a:buClr>
                <a:schemeClr val="dk1"/>
              </a:buClr>
              <a:buSzPts val="1100"/>
              <a:buFont typeface="Arial"/>
              <a:buNone/>
            </a:pPr>
            <a:r>
              <a:rPr lang="en-GB" sz="1600"/>
              <a:t>:carla :father :david.</a:t>
            </a:r>
            <a:endParaRPr sz="1600"/>
          </a:p>
          <a:p>
            <a:pPr indent="0" lvl="0" marL="0" rtl="0" algn="l">
              <a:spcBef>
                <a:spcPts val="0"/>
              </a:spcBef>
              <a:spcAft>
                <a:spcPts val="0"/>
              </a:spcAft>
              <a:buClr>
                <a:schemeClr val="dk1"/>
              </a:buClr>
              <a:buSzPts val="1100"/>
              <a:buFont typeface="Arial"/>
              <a:buNone/>
            </a:pPr>
            <a:r>
              <a:rPr lang="en-GB" sz="1600"/>
              <a:t>demo.rules - </a:t>
            </a:r>
            <a:endParaRPr sz="1600"/>
          </a:p>
          <a:p>
            <a:pPr indent="0" lvl="0" marL="0" rtl="0" algn="l">
              <a:spcBef>
                <a:spcPts val="0"/>
              </a:spcBef>
              <a:spcAft>
                <a:spcPts val="0"/>
              </a:spcAft>
              <a:buClr>
                <a:schemeClr val="dk1"/>
              </a:buClr>
              <a:buSzPts val="1100"/>
              <a:buFont typeface="Arial"/>
              <a:buNone/>
            </a:pPr>
            <a:r>
              <a:rPr lang="en-GB" sz="1600"/>
              <a:t>@prefix : &lt;http://semweb.edu.vn/datalog-demo#&gt; .</a:t>
            </a:r>
            <a:endParaRPr sz="1600"/>
          </a:p>
          <a:p>
            <a:pPr indent="0" lvl="0" marL="0" rtl="0" algn="l">
              <a:spcBef>
                <a:spcPts val="0"/>
              </a:spcBef>
              <a:spcAft>
                <a:spcPts val="0"/>
              </a:spcAft>
              <a:buClr>
                <a:schemeClr val="dk1"/>
              </a:buClr>
              <a:buSzPts val="1100"/>
              <a:buFont typeface="Arial"/>
              <a:buNone/>
            </a:pPr>
            <a:r>
              <a:rPr lang="en-GB" sz="1600"/>
              <a:t>[Parent1: (?x :father ?y) -&gt; (?x :Parent ?y)]</a:t>
            </a:r>
            <a:endParaRPr sz="1600"/>
          </a:p>
          <a:p>
            <a:pPr indent="0" lvl="0" marL="0" rtl="0" algn="l">
              <a:spcBef>
                <a:spcPts val="0"/>
              </a:spcBef>
              <a:spcAft>
                <a:spcPts val="0"/>
              </a:spcAft>
              <a:buClr>
                <a:schemeClr val="dk1"/>
              </a:buClr>
              <a:buSzPts val="1100"/>
              <a:buFont typeface="Arial"/>
              <a:buNone/>
            </a:pPr>
            <a:r>
              <a:rPr lang="en-GB" sz="1600"/>
              <a:t>[Parent2: (?x :mother ?y) -&gt; (?x :Parent ?y)]</a:t>
            </a:r>
            <a:endParaRPr sz="1600"/>
          </a:p>
          <a:p>
            <a:pPr indent="0" lvl="0" marL="0" rtl="0" algn="l">
              <a:spcBef>
                <a:spcPts val="0"/>
              </a:spcBef>
              <a:spcAft>
                <a:spcPts val="0"/>
              </a:spcAft>
              <a:buClr>
                <a:schemeClr val="dk1"/>
              </a:buClr>
              <a:buSzPts val="1100"/>
              <a:buFont typeface="Arial"/>
              <a:buNone/>
            </a:pPr>
            <a:r>
              <a:rPr lang="en-GB" sz="1600"/>
              <a:t>[Ancestor1: (?x :Parent ?y) -&gt; (?x :Ancestor ?y)]</a:t>
            </a:r>
            <a:endParaRPr sz="1600"/>
          </a:p>
          <a:p>
            <a:pPr indent="0" lvl="0" marL="0" rtl="0" algn="l">
              <a:spcBef>
                <a:spcPts val="0"/>
              </a:spcBef>
              <a:spcAft>
                <a:spcPts val="0"/>
              </a:spcAft>
              <a:buClr>
                <a:schemeClr val="dk1"/>
              </a:buClr>
              <a:buSzPts val="1100"/>
              <a:buFont typeface="Arial"/>
              <a:buNone/>
            </a:pPr>
            <a:r>
              <a:rPr lang="en-GB" sz="1600"/>
              <a:t>[Ancestor2: (?x :Parent ?y), (?y :Ancestor ?z) -&gt; (?x :Ancestor ?z)]</a:t>
            </a:r>
            <a:endParaRPr sz="1600"/>
          </a:p>
          <a:p>
            <a:pPr indent="0" lvl="0" marL="0" rtl="0" algn="l">
              <a:spcBef>
                <a:spcPts val="0"/>
              </a:spcBef>
              <a:spcAft>
                <a:spcPts val="0"/>
              </a:spcAft>
              <a:buClr>
                <a:schemeClr val="dk1"/>
              </a:buClr>
              <a:buSzPts val="1100"/>
              <a:buFont typeface="Arial"/>
              <a:buNone/>
            </a:pPr>
            <a:r>
              <a:rPr lang="en-GB" sz="1600"/>
              <a:t>[SameGeneration1: (?x ?p ?y) -&gt; (?x :SameGeneration ?x), (?y :SameGeneration ?y)]</a:t>
            </a:r>
            <a:endParaRPr sz="1600"/>
          </a:p>
          <a:p>
            <a:pPr indent="0" lvl="0" marL="0" rtl="0" algn="l">
              <a:spcBef>
                <a:spcPts val="0"/>
              </a:spcBef>
              <a:spcAft>
                <a:spcPts val="0"/>
              </a:spcAft>
              <a:buClr>
                <a:schemeClr val="dk1"/>
              </a:buClr>
              <a:buSzPts val="1100"/>
              <a:buFont typeface="Arial"/>
              <a:buNone/>
            </a:pPr>
            <a:r>
              <a:rPr lang="en-GB" sz="1600"/>
              <a:t>[SameGeneration2: (?x :Parent ?v), (?y :Parent ?w), (?v :SameGeneration ?w) -&gt; (?x :SameGeneration ?y)]</a:t>
            </a:r>
            <a:endParaRPr sz="1600"/>
          </a:p>
        </p:txBody>
      </p:sp>
      <p:sp>
        <p:nvSpPr>
          <p:cNvPr id="642" name="Google Shape;642;p9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9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648" name="Google Shape;648;p94"/>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